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5a072b2e-fb23-ad38-fefc-bd8b30551e67}">
          <p14:sldIdLst>
            <p14:sldId id="256"/>
            <p14:sldId id="257"/>
            <p14:sldId id="258"/>
            <p14:sldId id="259"/>
          </p14:sldIdLst>
        </p14:section>
        <p14:section name="Python side" id="{dfed1d3f-df5b-a5a8-1f30-61019f14879b}">
          <p14:sldIdLst>
            <p14:sldId id="260"/>
            <p14:sldId id="261"/>
            <p14:sldId id="262"/>
            <p14:sldId id="263"/>
            <p14:sldId id="264"/>
          </p14:sldIdLst>
        </p14:section>
        <p14:section name="C engine" id="{3c744aab-fbf9-c354-7c7b-5cc577700e76}">
          <p14:sldIdLst>
            <p14:sldId id="265"/>
            <p14:sldId id="266"/>
            <p14:sldId id="267"/>
            <p14:sldId id="268"/>
            <p14:sldId id="269"/>
            <p14:sldId id="270"/>
            <p14:sldId id="271"/>
          </p14:sldIdLst>
        </p14:section>
        <p14:section name="Quality and running" id="{0446cb56-64b6-785c-75d6-e142ff57a722}">
          <p14:sldIdLst>
            <p14:sldId id="272"/>
            <p14:sldId id="273"/>
            <p14:sldId id="274"/>
            <p14:sldId id="27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StockWise helps a small shop manage products, track stock and decide what to restock. The screens are written in Python with Streamlit, and every data structure and algorithm is written from scratch in C. This deck walks through what each file in the project is for.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There are four layers. The screens are app.py. When a screen needs an algorithm, it calls c_bridge.py, which converts Python data into C structs and calls the compiled C library. The C engine does the actual searching, sorting and planning and sends back results. All data is stored by database.py in a SQLite file, which is the single source of truth; the C engine is rebuilt from it on every page load, so it is never out of date.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all the technologies. Python with Streamlit builds the web interface, Plotly and pandas draw the charts and tables, and Graphviz draws the trees and the route map. The algorithms are in C, standard C11, compiled with GCC using a Makefile. Python's built-in ctypes module calls the C library, and SQLite, also built into Python, stores the data. Tests use Python's unittest plus a C test program.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whole project on one slide. Six groups, and each file belongs to exactly one. If someone asks where something happens, this slide answers it: screens in app.py, translation in c_bridge.py, storage in database.py, algorithms in backend, proof in the test folders, and explanations in the docs.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First the three Python files: the screens, the translator, and the database.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every Python-side file in one view. Each card says the technology it uses and what it does in one sentence. The next three slides go deeper into the three main ones: app.py, c_bridge.py and database.py.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app.py is the Streamlit frontend. It draws the eight pages you see in the sidebar. It never sorts or searches by itself: whenever it needs an algorithm, it asks the C engine through c_bridge.py and only displays the answer, including how many comparisons the algorithm needed.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Python and C cannot share data directly, so c_bridge.py translates. It checks the data first, so C never receives a bad value, packs it into C-shaped structs using Python's ctypes module, calls the C function, and converts the answer back. It also loads the compiled library and frees the C memory afterwards.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schema.sql defines two tables: products and inventory transactions. database.py is the only file that talks to SQLite. Its key rule: a stock change and its history record are saved in one database transaction, so they always agree, and the update refuses to make stock negative. It also creates realistic sample data on first 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the backend folder: ten C files, each holding one data structure or algorithm.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six files are the core of the engine. The header defines the shared structures. The engine file is what Python calls. Then search, hash table, sorting and the max-heap: the classic data structures, each in its own file.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files add the advanced structures: an AVL tree for price ranges, a trie for autocomplete, dynamic programming for the budget, a graph with Dijkstra for routes, and a circular queue for stock age. The Makefile compiles everything into one shared library.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table is the heart of the project. Read it row by row: each C file holds one concept, and the right column says which feature of the app it powers. The last row, inventory_engine.c, is not an algorithm; it is the front door that Python calls.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files hold the C side together. The header is the contract: it declares the shared structures and every function, and c_bridge.py mirrors it exactly. The engine file builds all the indexes when Python hands it the products. The Makefile compiles everything into one shared library and runs the C tests.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one real request travelling through the files. The user types cab. app.py hands it to c_bridge.py, which calls the engine, which asks the trie. The trie walks three characters and collects every product name below that point, in alphabetical order. The results travel back and app.py draws the product cards.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concept powers a visible feature. The trie and AVL tree drive search and the price slider on the Products page. Dijkstra's algorithm draws the shortest delivery route. The knapsack dynamic programme picks the best restock plan for a budget, and the lab shows its table and why the greedy shortcut can lose.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last group: three test files that prove the code works, the artwork in assets, and the documentation, including the viva preparation and this presentation.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tests are the proof. The C test program runs 283 checks directly on the algorithms, also under a memory checker that found no errors. The Python tests check the bridge and the database, including comparing the knapsack answer with a brute-force search. The lab page also runs 19 edge cases live in front of examiners.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Running it takes three commands: install the Python packages, compile the C library with make, and start Streamlit. The first run creates the database with sample data automatically.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sum up: app.py draws the screens, c_bridge.py translates, the C files do the algorithms, and SQLite keeps the data. Happy to take questions or show any page live.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2148840"/>
            <a:ext cx="7863840" cy="1188720"/>
          </a:xfrm>
          <a:prstGeom prst="rect">
            <a:avLst/>
          </a:prstGeom>
          <a:noFill/>
          <a:ln/>
        </p:spPr>
        <p:txBody>
          <a:bodyPr wrap="square" rtlCol="0"/>
          <a:lstStyle>
            <a:lvl1pPr algn="l" indent="0" marL="0">
              <a:buNone/>
              <a:defRPr lang="en-US" sz="5400" b="1" dirty="0">
                <a:solidFill>
                  <a:schemeClr val="bg1"/>
                </a:solidFill>
              </a:defRPr>
            </a:lvl1pPr>
          </a:lstStyle>
          <a:p>
            <a:pPr algn="l" indent="0" marL="0">
              <a:buNone/>
            </a:pPr>
            <a:r>
              <a:rPr lang="en-US" sz="5400" b="1" dirty="0">
                <a:solidFill>
                  <a:schemeClr val="bg1"/>
                </a:solidFill>
              </a:rPr>
              <a:t>Title</a:t>
            </a:r>
            <a:endParaRPr lang="en-US" sz="5400" dirty="0"/>
          </a:p>
        </p:txBody>
      </p:sp>
      <p:sp>
        <p:nvSpPr>
          <p:cNvPr id="3" name="Text 0"/>
          <p:cNvSpPr/>
          <p:nvPr>
            <p:ph idx="101" type="body" hasCustomPrompt="1"/>
          </p:nvPr>
        </p:nvSpPr>
        <p:spPr>
          <a:xfrm>
            <a:off x="731520" y="3474720"/>
            <a:ext cx="7498080" cy="1097280"/>
          </a:xfrm>
          <a:prstGeom prst="rect">
            <a:avLst/>
          </a:prstGeom>
          <a:noFill/>
          <a:ln/>
        </p:spPr>
        <p:txBody>
          <a:bodyPr wrap="square" rtlCol="0"/>
          <a:lstStyle>
            <a:lvl1pPr algn="l" indent="0" marL="0">
              <a:buNone/>
              <a:defRPr lang="en-US" sz="2200" dirty="0">
                <a:solidFill>
                  <a:schemeClr val="bg1"/>
                </a:solidFill>
              </a:defRPr>
            </a:lvl1pPr>
          </a:lstStyle>
          <a:p>
            <a:pPr algn="l" indent="0" marL="0">
              <a:buNone/>
            </a:pPr>
            <a:r>
              <a:rPr lang="en-US" sz="2200" dirty="0">
                <a:solidFill>
                  <a:schemeClr val="bg1"/>
                </a:solidFill>
              </a:rPr>
              <a:t>Subtitle</a:t>
            </a:r>
            <a:endParaRPr lang="en-US" sz="2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_DARK">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2377440"/>
            <a:ext cx="10698480" cy="1005840"/>
          </a:xfrm>
          <a:prstGeom prst="rect">
            <a:avLst/>
          </a:prstGeom>
          <a:noFill/>
          <a:ln/>
        </p:spPr>
        <p:txBody>
          <a:bodyPr wrap="square" rtlCol="0"/>
          <a:lstStyle>
            <a:lvl1pPr algn="l" indent="0" marL="0">
              <a:buNone/>
              <a:defRPr lang="en-US" sz="4400" b="1" dirty="0">
                <a:solidFill>
                  <a:schemeClr val="bg1"/>
                </a:solidFill>
              </a:defRPr>
            </a:lvl1pPr>
          </a:lstStyle>
          <a:p>
            <a:pPr algn="l" indent="0" marL="0">
              <a:buNone/>
            </a:pPr>
            <a:r>
              <a:rPr lang="en-US" sz="4400" b="1" dirty="0">
                <a:solidFill>
                  <a:schemeClr val="bg1"/>
                </a:solidFill>
              </a:rPr>
              <a:t>Section</a:t>
            </a:r>
            <a:endParaRPr lang="en-US" sz="4400" dirty="0"/>
          </a:p>
        </p:txBody>
      </p:sp>
      <p:sp>
        <p:nvSpPr>
          <p:cNvPr id="3" name="Text 0"/>
          <p:cNvSpPr/>
          <p:nvPr>
            <p:ph idx="101" type="body" hasCustomPrompt="1"/>
          </p:nvPr>
        </p:nvSpPr>
        <p:spPr>
          <a:xfrm>
            <a:off x="731520" y="3520440"/>
            <a:ext cx="10698480" cy="731520"/>
          </a:xfrm>
          <a:prstGeom prst="rect">
            <a:avLst/>
          </a:prstGeom>
          <a:noFill/>
          <a:ln/>
        </p:spPr>
        <p:txBody>
          <a:bodyPr wrap="square" rtlCol="0"/>
          <a:lstStyle>
            <a:lvl1pPr algn="l" indent="0" marL="0">
              <a:buNone/>
              <a:defRPr lang="en-US" sz="2200" dirty="0">
                <a:solidFill>
                  <a:schemeClr val="bg1"/>
                </a:solidFill>
              </a:defRPr>
            </a:lvl1pPr>
          </a:lstStyle>
          <a:p>
            <a:pPr algn="l" indent="0" marL="0">
              <a:buNone/>
            </a:pPr>
            <a:r>
              <a:rPr lang="en-US" sz="2200" dirty="0">
                <a:solidFill>
                  <a:schemeClr val="bg1"/>
                </a:solidFill>
              </a:rPr>
              <a:t>Subtitle</a:t>
            </a:r>
            <a:endParaRPr lang="en-US" sz="22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1"/>
                </a:solidFill>
              </a:defRPr>
            </a:lvl1pPr>
          </a:lstStyle>
          <a:p>
            <a:pPr algn="l"/>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77240"/>
          </a:xfrm>
          <a:prstGeom prst="rect">
            <a:avLst/>
          </a:prstGeom>
          <a:noFill/>
          <a:ln/>
        </p:spPr>
        <p:txBody>
          <a:bodyPr wrap="square" rtlCol="0"/>
          <a:lstStyle>
            <a:lvl1pPr algn="l" indent="0" marL="0">
              <a:buNone/>
              <a:defRPr lang="en-US" sz="3600" b="1" dirty="0">
                <a:solidFill>
                  <a:schemeClr val="tx2"/>
                </a:solidFill>
              </a:defRPr>
            </a:lvl1pPr>
          </a:lstStyle>
          <a:p>
            <a:pPr algn="l" indent="0" marL="0">
              <a:buNone/>
            </a:pPr>
            <a:r>
              <a:rPr lang="en-US" sz="3600" b="1" dirty="0">
                <a:solidFill>
                  <a:schemeClr val="tx2"/>
                </a:solidFill>
              </a:rPr>
              <a:t>Title</a:t>
            </a:r>
            <a:endParaRPr lang="en-US" sz="3600" dirty="0"/>
          </a:p>
        </p:txBody>
      </p:sp>
      <p:sp>
        <p:nvSpPr>
          <p:cNvPr id="3" name="Text 0"/>
          <p:cNvSpPr/>
          <p:nvPr/>
        </p:nvSpPr>
        <p:spPr>
          <a:xfrm>
            <a:off x="548640" y="6355080"/>
            <a:ext cx="7315200" cy="274320"/>
          </a:xfrm>
          <a:prstGeom prst="rect">
            <a:avLst/>
          </a:prstGeom>
          <a:noFill/>
          <a:ln/>
        </p:spPr>
        <p:txBody>
          <a:bodyPr wrap="square" lIns="0" tIns="0" rIns="0" bIns="0" rtlCol="0" anchor="ctr"/>
          <a:lstStyle/>
          <a:p>
            <a:pPr indent="0" marL="0">
              <a:buNone/>
            </a:pPr>
            <a:r>
              <a:rPr lang="en-US" sz="1000" dirty="0">
                <a:solidFill>
                  <a:schemeClr val="tx2"/>
                </a:solidFill>
              </a:rPr>
              <a:t>StockWise  ·  Inventory Optimization System using DSA</a:t>
            </a:r>
            <a:endParaRPr lang="en-US" sz="10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1"/>
                </a:solidFill>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slideLayout" Target="../slideLayouts/slideLayout4.xml"/><Relationship Id="rId7"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image" Target="../media/image-3-7.png"/><Relationship Id="rId8" Type="http://schemas.openxmlformats.org/officeDocument/2006/relationships/image" Target="../media/image-3-8.png"/><Relationship Id="rId9" Type="http://schemas.openxmlformats.org/officeDocument/2006/relationships/slideLayout" Target="../slideLayouts/slideLayout4.xml"/><Relationship Id="rId10"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slideLayout" Target="../slideLayouts/slideLayout4.xml"/><Relationship Id="rId8"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slideLayout" Target="../slideLayouts/slideLayout4.xml"/><Relationship Id="rId8"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4.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slideLayout" Target="../slideLayouts/slideLayout4.xml"/><Relationship Id="rId7"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slideLayout" Target="../slideLayouts/slideLayout4.xml"/><Relationship Id="rId7"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image" Target="../media/image-11-6.png"/><Relationship Id="rId7" Type="http://schemas.openxmlformats.org/officeDocument/2006/relationships/slideLayout" Target="../slideLayouts/slideLayout4.xml"/><Relationship Id="rId8"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image" Target="../media/image-12-6.png"/><Relationship Id="rId7" Type="http://schemas.openxmlformats.org/officeDocument/2006/relationships/slideLayout" Target="../slideLayouts/slideLayout4.xml"/><Relationship Id="rId8"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slideLayout" Target="../slideLayouts/slideLayout4.xml"/><Relationship Id="rId5"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4.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slideLayout" Target="../slideLayouts/slideLayout4.xml"/><Relationship Id="rId5"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image" Target="../media/image-17-4.png"/><Relationship Id="rId5" Type="http://schemas.openxmlformats.org/officeDocument/2006/relationships/image" Target="../media/image-17-5.png"/><Relationship Id="rId6" Type="http://schemas.openxmlformats.org/officeDocument/2006/relationships/image" Target="../media/image-17-6.png"/><Relationship Id="rId7" Type="http://schemas.openxmlformats.org/officeDocument/2006/relationships/slideLayout" Target="../slideLayouts/slideLayout4.xml"/><Relationship Id="rId8"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slideLayout" Target="../slideLayouts/slideLayout4.xml"/><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image" Target="../media/image-19-4.png"/><Relationship Id="rId5" Type="http://schemas.openxmlformats.org/officeDocument/2006/relationships/slideLayout" Target="../slideLayouts/slideLayout4.xml"/><Relationship Id="rId6"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731520" y="2148840"/>
            <a:ext cx="7863840" cy="1188720"/>
          </a:xfrm>
          <a:prstGeom prst="rect">
            <a:avLst/>
          </a:prstGeom>
          <a:noFill/>
          <a:ln/>
        </p:spPr>
        <p:txBody>
          <a:bodyPr wrap="square" lIns="0" tIns="0" rIns="0" bIns="0" rtlCol="0" anchor="b"/>
          <a:lstStyle/>
          <a:p>
            <a:pPr algn="l" indent="0" marL="0">
              <a:buNone/>
            </a:pPr>
            <a:r>
              <a:rPr lang="en-US" sz="5400" b="1" dirty="0">
                <a:solidFill>
                  <a:schemeClr val="bg1"/>
                </a:solidFill>
              </a:rPr>
              <a:t>StockWise</a:t>
            </a:r>
            <a:endParaRPr lang="en-US" sz="5400" dirty="0"/>
          </a:p>
        </p:txBody>
      </p:sp>
      <p:sp>
        <p:nvSpPr>
          <p:cNvPr id="3" name="Text 0"/>
          <p:cNvSpPr/>
          <p:nvPr>
            <p:ph idx="101" type="body" hasCustomPrompt="1"/>
          </p:nvPr>
        </p:nvSpPr>
        <p:spPr>
          <a:xfrm>
            <a:off x="731520" y="3474720"/>
            <a:ext cx="7498080" cy="1097280"/>
          </a:xfrm>
          <a:prstGeom prst="rect">
            <a:avLst/>
          </a:prstGeom>
          <a:noFill/>
          <a:ln/>
        </p:spPr>
        <p:txBody>
          <a:bodyPr wrap="square" lIns="0" tIns="0" rIns="0" bIns="0" rtlCol="0" anchor="t"/>
          <a:lstStyle/>
          <a:p>
            <a:pPr algn="l" indent="0" marL="0">
              <a:buNone/>
            </a:pPr>
            <a:r>
              <a:rPr lang="en-US" sz="2200" dirty="0">
                <a:solidFill>
                  <a:schemeClr val="bg1"/>
                </a:solidFill>
              </a:rPr>
              <a:t>An inventory app with a Python interface and a C engine for every data structure and algorithm</a:t>
            </a:r>
            <a:endParaRPr lang="en-US" sz="2200" dirty="0"/>
          </a:p>
        </p:txBody>
      </p:sp>
      <p:pic>
        <p:nvPicPr>
          <p:cNvPr id="4" name="logo" descr="/tmp/claude-0/-home-user-StockWise-Dsa/ffa8d720-88b5-5029-baa4-50a8a76d3601/scratchpad/deck/img/mark.png">    </p:cNvPr>
          <p:cNvPicPr>
            <a:picLocks noChangeAspect="1"/>
          </p:cNvPicPr>
          <p:nvPr/>
        </p:nvPicPr>
        <p:blipFill>
          <a:blip r:embed="rId1"/>
          <a:stretch>
            <a:fillRect/>
          </a:stretch>
        </p:blipFill>
        <p:spPr>
          <a:xfrm>
            <a:off x="9052560" y="1920240"/>
            <a:ext cx="2377440" cy="237744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77240"/>
          </a:xfrm>
          <a:prstGeom prst="rect">
            <a:avLst/>
          </a:prstGeom>
          <a:noFill/>
          <a:ln/>
        </p:spPr>
        <p:txBody>
          <a:bodyPr wrap="square" lIns="0" tIns="0" rIns="0" bIns="0" rtlCol="0" anchor="ctr"/>
          <a:lstStyle/>
          <a:p>
            <a:pPr algn="l" indent="0" marL="0">
              <a:buNone/>
            </a:pPr>
            <a:r>
              <a:rPr lang="en-US" sz="3600" b="1" dirty="0">
                <a:solidFill>
                  <a:schemeClr val="tx2"/>
                </a:solidFill>
              </a:rPr>
              <a:t>The big picture: four layers</a:t>
            </a:r>
            <a:endParaRPr lang="en-US" sz="3600" dirty="0"/>
          </a:p>
        </p:txBody>
      </p:sp>
      <p:sp>
        <p:nvSpPr>
          <p:cNvPr id="3" name="layer 1 tile"/>
          <p:cNvSpPr/>
          <p:nvPr/>
        </p:nvSpPr>
        <p:spPr>
          <a:xfrm>
            <a:off x="548640" y="1463040"/>
            <a:ext cx="777240" cy="777240"/>
          </a:xfrm>
          <a:prstGeom prst="roundRect">
            <a:avLst>
              <a:gd name="adj" fmla="val 24000"/>
            </a:avLst>
          </a:prstGeom>
          <a:solidFill>
            <a:schemeClr val="accent1">
              <a:alpha val="14000"/>
            </a:schemeClr>
          </a:solidFill>
          <a:ln/>
        </p:spPr>
      </p:sp>
      <p:pic>
        <p:nvPicPr>
          <p:cNvPr id="4" name="layer 1 icon" descr="preencoded.png">    </p:cNvPr>
          <p:cNvPicPr>
            <a:picLocks noChangeAspect="1"/>
          </p:cNvPicPr>
          <p:nvPr/>
        </p:nvPicPr>
        <p:blipFill>
          <a:blip r:embed="rId1"/>
          <a:stretch>
            <a:fillRect/>
          </a:stretch>
        </p:blipFill>
        <p:spPr>
          <a:xfrm>
            <a:off x="719633" y="1634033"/>
            <a:ext cx="435254" cy="435254"/>
          </a:xfrm>
          <a:prstGeom prst="rect">
            <a:avLst/>
          </a:prstGeom>
        </p:spPr>
      </p:pic>
      <p:sp>
        <p:nvSpPr>
          <p:cNvPr id="5" name="Text 2"/>
          <p:cNvSpPr txBox="1"/>
          <p:nvPr/>
        </p:nvSpPr>
        <p:spPr>
          <a:xfrm>
            <a:off x="1508760" y="1481328"/>
            <a:ext cx="3291840" cy="365760"/>
          </a:xfrm>
          <a:prstGeom prst="rect">
            <a:avLst/>
          </a:prstGeom>
          <a:noFill/>
          <a:ln/>
        </p:spPr>
        <p:txBody>
          <a:bodyPr wrap="square" lIns="0" tIns="0" rIns="0" bIns="0" rtlCol="0" anchor="t"/>
          <a:lstStyle/>
          <a:p>
            <a:pPr indent="0" marL="0">
              <a:buNone/>
            </a:pPr>
            <a:r>
              <a:rPr lang="en-US" sz="1800" b="1" dirty="0">
                <a:solidFill>
                  <a:schemeClr val="tx2"/>
                </a:solidFill>
              </a:rPr>
              <a:t>1  Screens</a:t>
            </a:r>
            <a:endParaRPr lang="en-US" sz="1800" dirty="0"/>
          </a:p>
        </p:txBody>
      </p:sp>
      <p:sp>
        <p:nvSpPr>
          <p:cNvPr id="6" name="Text 3"/>
          <p:cNvSpPr txBox="1"/>
          <p:nvPr/>
        </p:nvSpPr>
        <p:spPr>
          <a:xfrm>
            <a:off x="1508760" y="1865376"/>
            <a:ext cx="3383280" cy="457200"/>
          </a:xfrm>
          <a:prstGeom prst="rect">
            <a:avLst/>
          </a:prstGeom>
          <a:noFill/>
          <a:ln/>
        </p:spPr>
        <p:txBody>
          <a:bodyPr wrap="square" lIns="0" tIns="0" rIns="0" bIns="0" rtlCol="0" anchor="t"/>
          <a:lstStyle/>
          <a:p>
            <a:pPr indent="0" marL="0">
              <a:buNone/>
            </a:pPr>
            <a:r>
              <a:rPr lang="en-US" sz="1400" dirty="0">
                <a:solidFill>
                  <a:schemeClr val="tx1"/>
                </a:solidFill>
              </a:rPr>
              <a:t>app.py shows the pages and charts</a:t>
            </a:r>
            <a:endParaRPr lang="en-US" sz="1400" dirty="0"/>
          </a:p>
        </p:txBody>
      </p:sp>
      <p:sp>
        <p:nvSpPr>
          <p:cNvPr id="7" name="layer 2 tile"/>
          <p:cNvSpPr/>
          <p:nvPr/>
        </p:nvSpPr>
        <p:spPr>
          <a:xfrm>
            <a:off x="548640" y="2606040"/>
            <a:ext cx="777240" cy="777240"/>
          </a:xfrm>
          <a:prstGeom prst="roundRect">
            <a:avLst>
              <a:gd name="adj" fmla="val 24000"/>
            </a:avLst>
          </a:prstGeom>
          <a:solidFill>
            <a:schemeClr val="accent2">
              <a:alpha val="14000"/>
            </a:schemeClr>
          </a:solidFill>
          <a:ln/>
        </p:spPr>
      </p:sp>
      <p:pic>
        <p:nvPicPr>
          <p:cNvPr id="8" name="layer 2 icon" descr="preencoded.png">    </p:cNvPr>
          <p:cNvPicPr>
            <a:picLocks noChangeAspect="1"/>
          </p:cNvPicPr>
          <p:nvPr/>
        </p:nvPicPr>
        <p:blipFill>
          <a:blip r:embed="rId2"/>
          <a:stretch>
            <a:fillRect/>
          </a:stretch>
        </p:blipFill>
        <p:spPr>
          <a:xfrm>
            <a:off x="719633" y="2777033"/>
            <a:ext cx="435254" cy="435254"/>
          </a:xfrm>
          <a:prstGeom prst="rect">
            <a:avLst/>
          </a:prstGeom>
        </p:spPr>
      </p:pic>
      <p:sp>
        <p:nvSpPr>
          <p:cNvPr id="9" name="Text 5"/>
          <p:cNvSpPr txBox="1"/>
          <p:nvPr/>
        </p:nvSpPr>
        <p:spPr>
          <a:xfrm>
            <a:off x="1508760" y="2624328"/>
            <a:ext cx="3291840" cy="365760"/>
          </a:xfrm>
          <a:prstGeom prst="rect">
            <a:avLst/>
          </a:prstGeom>
          <a:noFill/>
          <a:ln/>
        </p:spPr>
        <p:txBody>
          <a:bodyPr wrap="square" lIns="0" tIns="0" rIns="0" bIns="0" rtlCol="0" anchor="t"/>
          <a:lstStyle/>
          <a:p>
            <a:pPr indent="0" marL="0">
              <a:buNone/>
            </a:pPr>
            <a:r>
              <a:rPr lang="en-US" sz="1800" b="1" dirty="0">
                <a:solidFill>
                  <a:schemeClr val="tx2"/>
                </a:solidFill>
              </a:rPr>
              <a:t>2  Translator</a:t>
            </a:r>
            <a:endParaRPr lang="en-US" sz="1800" dirty="0"/>
          </a:p>
        </p:txBody>
      </p:sp>
      <p:sp>
        <p:nvSpPr>
          <p:cNvPr id="10" name="Text 6"/>
          <p:cNvSpPr txBox="1"/>
          <p:nvPr/>
        </p:nvSpPr>
        <p:spPr>
          <a:xfrm>
            <a:off x="1508760" y="3008376"/>
            <a:ext cx="3383280" cy="457200"/>
          </a:xfrm>
          <a:prstGeom prst="rect">
            <a:avLst/>
          </a:prstGeom>
          <a:noFill/>
          <a:ln/>
        </p:spPr>
        <p:txBody>
          <a:bodyPr wrap="square" lIns="0" tIns="0" rIns="0" bIns="0" rtlCol="0" anchor="t"/>
          <a:lstStyle/>
          <a:p>
            <a:pPr indent="0" marL="0">
              <a:buNone/>
            </a:pPr>
            <a:r>
              <a:rPr lang="en-US" sz="1400" dirty="0">
                <a:solidFill>
                  <a:schemeClr val="tx1"/>
                </a:solidFill>
              </a:rPr>
              <a:t>c_bridge.py links Python and C</a:t>
            </a:r>
            <a:endParaRPr lang="en-US" sz="1400" dirty="0"/>
          </a:p>
        </p:txBody>
      </p:sp>
      <p:sp>
        <p:nvSpPr>
          <p:cNvPr id="11" name="layer 3 tile"/>
          <p:cNvSpPr/>
          <p:nvPr/>
        </p:nvSpPr>
        <p:spPr>
          <a:xfrm>
            <a:off x="548640" y="3749040"/>
            <a:ext cx="777240" cy="777240"/>
          </a:xfrm>
          <a:prstGeom prst="roundRect">
            <a:avLst>
              <a:gd name="adj" fmla="val 24000"/>
            </a:avLst>
          </a:prstGeom>
          <a:solidFill>
            <a:schemeClr val="accent4">
              <a:alpha val="14000"/>
            </a:schemeClr>
          </a:solidFill>
          <a:ln/>
        </p:spPr>
      </p:sp>
      <p:pic>
        <p:nvPicPr>
          <p:cNvPr id="12" name="layer 3 icon" descr="preencoded.png">    </p:cNvPr>
          <p:cNvPicPr>
            <a:picLocks noChangeAspect="1"/>
          </p:cNvPicPr>
          <p:nvPr/>
        </p:nvPicPr>
        <p:blipFill>
          <a:blip r:embed="rId3"/>
          <a:stretch>
            <a:fillRect/>
          </a:stretch>
        </p:blipFill>
        <p:spPr>
          <a:xfrm>
            <a:off x="719633" y="3920033"/>
            <a:ext cx="435254" cy="435254"/>
          </a:xfrm>
          <a:prstGeom prst="rect">
            <a:avLst/>
          </a:prstGeom>
        </p:spPr>
      </p:pic>
      <p:sp>
        <p:nvSpPr>
          <p:cNvPr id="13" name="Text 8"/>
          <p:cNvSpPr txBox="1"/>
          <p:nvPr/>
        </p:nvSpPr>
        <p:spPr>
          <a:xfrm>
            <a:off x="1508760" y="3767328"/>
            <a:ext cx="3291840" cy="365760"/>
          </a:xfrm>
          <a:prstGeom prst="rect">
            <a:avLst/>
          </a:prstGeom>
          <a:noFill/>
          <a:ln/>
        </p:spPr>
        <p:txBody>
          <a:bodyPr wrap="square" lIns="0" tIns="0" rIns="0" bIns="0" rtlCol="0" anchor="t"/>
          <a:lstStyle/>
          <a:p>
            <a:pPr indent="0" marL="0">
              <a:buNone/>
            </a:pPr>
            <a:r>
              <a:rPr lang="en-US" sz="1800" b="1" dirty="0">
                <a:solidFill>
                  <a:schemeClr val="tx2"/>
                </a:solidFill>
              </a:rPr>
              <a:t>3  C engine</a:t>
            </a:r>
            <a:endParaRPr lang="en-US" sz="1800" dirty="0"/>
          </a:p>
        </p:txBody>
      </p:sp>
      <p:sp>
        <p:nvSpPr>
          <p:cNvPr id="14" name="Text 9"/>
          <p:cNvSpPr txBox="1"/>
          <p:nvPr/>
        </p:nvSpPr>
        <p:spPr>
          <a:xfrm>
            <a:off x="1508760" y="4151376"/>
            <a:ext cx="3383280" cy="457200"/>
          </a:xfrm>
          <a:prstGeom prst="rect">
            <a:avLst/>
          </a:prstGeom>
          <a:noFill/>
          <a:ln/>
        </p:spPr>
        <p:txBody>
          <a:bodyPr wrap="square" lIns="0" tIns="0" rIns="0" bIns="0" rtlCol="0" anchor="t"/>
          <a:lstStyle/>
          <a:p>
            <a:pPr indent="0" marL="0">
              <a:buNone/>
            </a:pPr>
            <a:r>
              <a:rPr lang="en-US" sz="1400" dirty="0">
                <a:solidFill>
                  <a:schemeClr val="tx1"/>
                </a:solidFill>
              </a:rPr>
              <a:t>backend/*.c runs every algorithm</a:t>
            </a:r>
            <a:endParaRPr lang="en-US" sz="1400" dirty="0"/>
          </a:p>
        </p:txBody>
      </p:sp>
      <p:sp>
        <p:nvSpPr>
          <p:cNvPr id="15" name="layer 4 tile"/>
          <p:cNvSpPr/>
          <p:nvPr/>
        </p:nvSpPr>
        <p:spPr>
          <a:xfrm>
            <a:off x="548640" y="4892040"/>
            <a:ext cx="777240" cy="777240"/>
          </a:xfrm>
          <a:prstGeom prst="roundRect">
            <a:avLst>
              <a:gd name="adj" fmla="val 24000"/>
            </a:avLst>
          </a:prstGeom>
          <a:solidFill>
            <a:schemeClr val="accent3">
              <a:alpha val="14000"/>
            </a:schemeClr>
          </a:solidFill>
          <a:ln/>
        </p:spPr>
      </p:sp>
      <p:pic>
        <p:nvPicPr>
          <p:cNvPr id="16" name="layer 4 icon" descr="preencoded.png">    </p:cNvPr>
          <p:cNvPicPr>
            <a:picLocks noChangeAspect="1"/>
          </p:cNvPicPr>
          <p:nvPr/>
        </p:nvPicPr>
        <p:blipFill>
          <a:blip r:embed="rId4"/>
          <a:stretch>
            <a:fillRect/>
          </a:stretch>
        </p:blipFill>
        <p:spPr>
          <a:xfrm>
            <a:off x="719633" y="5063033"/>
            <a:ext cx="435254" cy="435254"/>
          </a:xfrm>
          <a:prstGeom prst="rect">
            <a:avLst/>
          </a:prstGeom>
        </p:spPr>
      </p:pic>
      <p:sp>
        <p:nvSpPr>
          <p:cNvPr id="17" name="Text 11"/>
          <p:cNvSpPr txBox="1"/>
          <p:nvPr/>
        </p:nvSpPr>
        <p:spPr>
          <a:xfrm>
            <a:off x="1508760" y="4910328"/>
            <a:ext cx="3291840" cy="365760"/>
          </a:xfrm>
          <a:prstGeom prst="rect">
            <a:avLst/>
          </a:prstGeom>
          <a:noFill/>
          <a:ln/>
        </p:spPr>
        <p:txBody>
          <a:bodyPr wrap="square" lIns="0" tIns="0" rIns="0" bIns="0" rtlCol="0" anchor="t"/>
          <a:lstStyle/>
          <a:p>
            <a:pPr indent="0" marL="0">
              <a:buNone/>
            </a:pPr>
            <a:r>
              <a:rPr lang="en-US" sz="1800" b="1" dirty="0">
                <a:solidFill>
                  <a:schemeClr val="tx2"/>
                </a:solidFill>
              </a:rPr>
              <a:t>4  Database</a:t>
            </a:r>
            <a:endParaRPr lang="en-US" sz="1800" dirty="0"/>
          </a:p>
        </p:txBody>
      </p:sp>
      <p:sp>
        <p:nvSpPr>
          <p:cNvPr id="18" name="Text 12"/>
          <p:cNvSpPr txBox="1"/>
          <p:nvPr/>
        </p:nvSpPr>
        <p:spPr>
          <a:xfrm>
            <a:off x="1508760" y="5294376"/>
            <a:ext cx="3383280" cy="457200"/>
          </a:xfrm>
          <a:prstGeom prst="rect">
            <a:avLst/>
          </a:prstGeom>
          <a:noFill/>
          <a:ln/>
        </p:spPr>
        <p:txBody>
          <a:bodyPr wrap="square" lIns="0" tIns="0" rIns="0" bIns="0" rtlCol="0" anchor="t"/>
          <a:lstStyle/>
          <a:p>
            <a:pPr indent="0" marL="0">
              <a:buNone/>
            </a:pPr>
            <a:r>
              <a:rPr lang="en-US" sz="1400" dirty="0">
                <a:solidFill>
                  <a:schemeClr val="tx1"/>
                </a:solidFill>
              </a:rPr>
              <a:t>database.py saves everything in SQLite</a:t>
            </a:r>
            <a:endParaRPr lang="en-US" sz="1400" dirty="0"/>
          </a:p>
        </p:txBody>
      </p:sp>
      <p:pic>
        <p:nvPicPr>
          <p:cNvPr id="19" name="architecture diagram" descr="/tmp/claude-0/-home-user-StockWise-Dsa/ffa8d720-88b5-5029-baa4-50a8a76d3601/scratchpad/deck/img/architecture.png">    </p:cNvPr>
          <p:cNvPicPr>
            <a:picLocks noChangeAspect="1"/>
          </p:cNvPicPr>
          <p:nvPr/>
        </p:nvPicPr>
        <p:blipFill>
          <a:blip r:embed="rId5"/>
          <a:stretch>
            <a:fillRect/>
          </a:stretch>
        </p:blipFill>
        <p:spPr>
          <a:xfrm>
            <a:off x="5257800" y="1417320"/>
            <a:ext cx="6355080" cy="3813048"/>
          </a:xfrm>
          <a:prstGeom prst="rect">
            <a:avLst/>
          </a:prstGeom>
        </p:spPr>
      </p:pic>
      <p:sp>
        <p:nvSpPr>
          <p:cNvPr id="20" name="Text 13"/>
          <p:cNvSpPr txBox="1"/>
          <p:nvPr/>
        </p:nvSpPr>
        <p:spPr>
          <a:xfrm>
            <a:off x="5257800" y="5440680"/>
            <a:ext cx="6355080" cy="548640"/>
          </a:xfrm>
          <a:prstGeom prst="rect">
            <a:avLst/>
          </a:prstGeom>
          <a:noFill/>
          <a:ln/>
        </p:spPr>
        <p:txBody>
          <a:bodyPr wrap="square" lIns="0" tIns="0" rIns="0" bIns="0" rtlCol="0" anchor="t"/>
          <a:lstStyle/>
          <a:p>
            <a:pPr indent="0" marL="0">
              <a:buNone/>
            </a:pPr>
            <a:r>
              <a:rPr lang="en-US" sz="1400" i="1" dirty="0">
                <a:solidFill>
                  <a:schemeClr val="tx2"/>
                </a:solidFill>
              </a:rPr>
              <a:t>Every page load: read products from SQLite, copy them into C, run the algorithm, show the result.</a:t>
            </a:r>
            <a:endParaRPr lang="en-US" sz="14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77240"/>
          </a:xfrm>
          <a:prstGeom prst="rect">
            <a:avLst/>
          </a:prstGeom>
          <a:noFill/>
          <a:ln/>
        </p:spPr>
        <p:txBody>
          <a:bodyPr wrap="square" lIns="0" tIns="0" rIns="0" bIns="0" rtlCol="0" anchor="ctr"/>
          <a:lstStyle/>
          <a:p>
            <a:pPr algn="l" indent="0" marL="0">
              <a:buNone/>
            </a:pPr>
            <a:r>
              <a:rPr lang="en-US" sz="3600" b="1" dirty="0">
                <a:solidFill>
                  <a:schemeClr val="tx2"/>
                </a:solidFill>
              </a:rPr>
              <a:t>Technology stack: what is used where</a:t>
            </a:r>
            <a:endParaRPr lang="en-US" sz="3600" dirty="0"/>
          </a:p>
        </p:txBody>
      </p:sp>
      <p:sp>
        <p:nvSpPr>
          <p:cNvPr id="3" name="Python 3.9+ card"/>
          <p:cNvSpPr/>
          <p:nvPr/>
        </p:nvSpPr>
        <p:spPr>
          <a:xfrm>
            <a:off x="548640" y="1371600"/>
            <a:ext cx="2606040" cy="2240280"/>
          </a:xfrm>
          <a:prstGeom prst="roundRect">
            <a:avLst>
              <a:gd name="adj" fmla="val 4898"/>
            </a:avLst>
          </a:prstGeom>
          <a:solidFill>
            <a:schemeClr val="bg2"/>
          </a:solidFill>
          <a:ln/>
        </p:spPr>
      </p:sp>
      <p:sp>
        <p:nvSpPr>
          <p:cNvPr id="4" name="Python 3.9+ tile"/>
          <p:cNvSpPr/>
          <p:nvPr/>
        </p:nvSpPr>
        <p:spPr>
          <a:xfrm>
            <a:off x="777240" y="1600200"/>
            <a:ext cx="566928" cy="566928"/>
          </a:xfrm>
          <a:prstGeom prst="roundRect">
            <a:avLst>
              <a:gd name="adj" fmla="val 24000"/>
            </a:avLst>
          </a:prstGeom>
          <a:solidFill>
            <a:schemeClr val="accent1">
              <a:alpha val="14000"/>
            </a:schemeClr>
          </a:solidFill>
          <a:ln/>
        </p:spPr>
      </p:sp>
      <p:pic>
        <p:nvPicPr>
          <p:cNvPr id="5" name="Python 3.9+ icon" descr="preencoded.png">    </p:cNvPr>
          <p:cNvPicPr>
            <a:picLocks noChangeAspect="1"/>
          </p:cNvPicPr>
          <p:nvPr/>
        </p:nvPicPr>
        <p:blipFill>
          <a:blip r:embed="rId1"/>
          <a:stretch>
            <a:fillRect/>
          </a:stretch>
        </p:blipFill>
        <p:spPr>
          <a:xfrm>
            <a:off x="901964" y="1724924"/>
            <a:ext cx="317480" cy="317480"/>
          </a:xfrm>
          <a:prstGeom prst="rect">
            <a:avLst/>
          </a:prstGeom>
        </p:spPr>
      </p:pic>
      <p:sp>
        <p:nvSpPr>
          <p:cNvPr id="6" name="Text 3"/>
          <p:cNvSpPr txBox="1"/>
          <p:nvPr/>
        </p:nvSpPr>
        <p:spPr>
          <a:xfrm>
            <a:off x="777240" y="2267712"/>
            <a:ext cx="2194560" cy="347472"/>
          </a:xfrm>
          <a:prstGeom prst="rect">
            <a:avLst/>
          </a:prstGeom>
          <a:noFill/>
          <a:ln/>
        </p:spPr>
        <p:txBody>
          <a:bodyPr wrap="square" lIns="0" tIns="0" rIns="0" bIns="0" rtlCol="0" anchor="t"/>
          <a:lstStyle/>
          <a:p>
            <a:pPr indent="0" marL="0">
              <a:buNone/>
            </a:pPr>
            <a:r>
              <a:rPr lang="en-US" sz="1700" b="1" dirty="0">
                <a:solidFill>
                  <a:schemeClr val="tx2"/>
                </a:solidFill>
              </a:rPr>
              <a:t>Python 3.9+</a:t>
            </a:r>
            <a:endParaRPr lang="en-US" sz="1700" dirty="0"/>
          </a:p>
        </p:txBody>
      </p:sp>
      <p:sp>
        <p:nvSpPr>
          <p:cNvPr id="7" name="Text 4"/>
          <p:cNvSpPr txBox="1"/>
          <p:nvPr/>
        </p:nvSpPr>
        <p:spPr>
          <a:xfrm>
            <a:off x="777240" y="2633472"/>
            <a:ext cx="2194560" cy="594360"/>
          </a:xfrm>
          <a:prstGeom prst="rect">
            <a:avLst/>
          </a:prstGeom>
          <a:noFill/>
          <a:ln/>
        </p:spPr>
        <p:txBody>
          <a:bodyPr wrap="square" lIns="0" tIns="0" rIns="0" bIns="0" rtlCol="0" anchor="t"/>
          <a:lstStyle/>
          <a:p>
            <a:pPr indent="0" marL="0">
              <a:buNone/>
            </a:pPr>
            <a:r>
              <a:rPr lang="en-US" sz="1400" dirty="0">
                <a:solidFill>
                  <a:schemeClr val="tx1"/>
                </a:solidFill>
              </a:rPr>
              <a:t>Main language for the app, bridge and tests</a:t>
            </a:r>
            <a:endParaRPr lang="en-US" sz="1400" dirty="0"/>
          </a:p>
        </p:txBody>
      </p:sp>
      <p:sp>
        <p:nvSpPr>
          <p:cNvPr id="8" name="Text 5"/>
          <p:cNvSpPr txBox="1"/>
          <p:nvPr/>
        </p:nvSpPr>
        <p:spPr>
          <a:xfrm>
            <a:off x="777240" y="3227832"/>
            <a:ext cx="2194560" cy="274320"/>
          </a:xfrm>
          <a:prstGeom prst="rect">
            <a:avLst/>
          </a:prstGeom>
          <a:noFill/>
          <a:ln/>
        </p:spPr>
        <p:txBody>
          <a:bodyPr wrap="square" lIns="0" tIns="0" rIns="0" bIns="0" rtlCol="0" anchor="t"/>
          <a:lstStyle/>
          <a:p>
            <a:pPr indent="0" marL="0">
              <a:buNone/>
            </a:pPr>
            <a:r>
              <a:rPr lang="en-US" sz="1100" b="1" dirty="0">
                <a:solidFill>
                  <a:schemeClr val="accent1"/>
                </a:solidFill>
                <a:latin typeface="Courier New" pitchFamily="34" charset="0"/>
                <a:ea typeface="Courier New" pitchFamily="34" charset="-122"/>
                <a:cs typeface="Courier New" pitchFamily="34" charset="-120"/>
              </a:rPr>
              <a:t>app.py, tests/</a:t>
            </a:r>
            <a:endParaRPr lang="en-US" sz="1100" dirty="0"/>
          </a:p>
        </p:txBody>
      </p:sp>
      <p:sp>
        <p:nvSpPr>
          <p:cNvPr id="9" name="Streamlit card"/>
          <p:cNvSpPr/>
          <p:nvPr/>
        </p:nvSpPr>
        <p:spPr>
          <a:xfrm>
            <a:off x="3364992" y="1371600"/>
            <a:ext cx="2606040" cy="2240280"/>
          </a:xfrm>
          <a:prstGeom prst="roundRect">
            <a:avLst>
              <a:gd name="adj" fmla="val 4898"/>
            </a:avLst>
          </a:prstGeom>
          <a:solidFill>
            <a:schemeClr val="bg2"/>
          </a:solidFill>
          <a:ln/>
        </p:spPr>
      </p:sp>
      <p:sp>
        <p:nvSpPr>
          <p:cNvPr id="10" name="Streamlit tile"/>
          <p:cNvSpPr/>
          <p:nvPr/>
        </p:nvSpPr>
        <p:spPr>
          <a:xfrm>
            <a:off x="3593592" y="1600200"/>
            <a:ext cx="566928" cy="566928"/>
          </a:xfrm>
          <a:prstGeom prst="roundRect">
            <a:avLst>
              <a:gd name="adj" fmla="val 24000"/>
            </a:avLst>
          </a:prstGeom>
          <a:solidFill>
            <a:schemeClr val="accent2">
              <a:alpha val="14000"/>
            </a:schemeClr>
          </a:solidFill>
          <a:ln/>
        </p:spPr>
      </p:sp>
      <p:pic>
        <p:nvPicPr>
          <p:cNvPr id="11" name="Streamlit icon" descr="preencoded.png">    </p:cNvPr>
          <p:cNvPicPr>
            <a:picLocks noChangeAspect="1"/>
          </p:cNvPicPr>
          <p:nvPr/>
        </p:nvPicPr>
        <p:blipFill>
          <a:blip r:embed="rId2"/>
          <a:stretch>
            <a:fillRect/>
          </a:stretch>
        </p:blipFill>
        <p:spPr>
          <a:xfrm>
            <a:off x="3718316" y="1724924"/>
            <a:ext cx="317480" cy="317480"/>
          </a:xfrm>
          <a:prstGeom prst="rect">
            <a:avLst/>
          </a:prstGeom>
        </p:spPr>
      </p:pic>
      <p:sp>
        <p:nvSpPr>
          <p:cNvPr id="12" name="Text 8"/>
          <p:cNvSpPr txBox="1"/>
          <p:nvPr/>
        </p:nvSpPr>
        <p:spPr>
          <a:xfrm>
            <a:off x="3593592" y="2267712"/>
            <a:ext cx="2194560" cy="347472"/>
          </a:xfrm>
          <a:prstGeom prst="rect">
            <a:avLst/>
          </a:prstGeom>
          <a:noFill/>
          <a:ln/>
        </p:spPr>
        <p:txBody>
          <a:bodyPr wrap="square" lIns="0" tIns="0" rIns="0" bIns="0" rtlCol="0" anchor="t"/>
          <a:lstStyle/>
          <a:p>
            <a:pPr indent="0" marL="0">
              <a:buNone/>
            </a:pPr>
            <a:r>
              <a:rPr lang="en-US" sz="1700" b="1" dirty="0">
                <a:solidFill>
                  <a:schemeClr val="tx2"/>
                </a:solidFill>
              </a:rPr>
              <a:t>Streamlit</a:t>
            </a:r>
            <a:endParaRPr lang="en-US" sz="1700" dirty="0"/>
          </a:p>
        </p:txBody>
      </p:sp>
      <p:sp>
        <p:nvSpPr>
          <p:cNvPr id="13" name="Text 9"/>
          <p:cNvSpPr txBox="1"/>
          <p:nvPr/>
        </p:nvSpPr>
        <p:spPr>
          <a:xfrm>
            <a:off x="3593592" y="2633472"/>
            <a:ext cx="2194560" cy="594360"/>
          </a:xfrm>
          <a:prstGeom prst="rect">
            <a:avLst/>
          </a:prstGeom>
          <a:noFill/>
          <a:ln/>
        </p:spPr>
        <p:txBody>
          <a:bodyPr wrap="square" lIns="0" tIns="0" rIns="0" bIns="0" rtlCol="0" anchor="t"/>
          <a:lstStyle/>
          <a:p>
            <a:pPr indent="0" marL="0">
              <a:buNone/>
            </a:pPr>
            <a:r>
              <a:rPr lang="en-US" sz="1400" dirty="0">
                <a:solidFill>
                  <a:schemeClr val="tx1"/>
                </a:solidFill>
              </a:rPr>
              <a:t>Turns Python code into a web app with pages</a:t>
            </a:r>
            <a:endParaRPr lang="en-US" sz="1400" dirty="0"/>
          </a:p>
        </p:txBody>
      </p:sp>
      <p:sp>
        <p:nvSpPr>
          <p:cNvPr id="14" name="Text 10"/>
          <p:cNvSpPr txBox="1"/>
          <p:nvPr/>
        </p:nvSpPr>
        <p:spPr>
          <a:xfrm>
            <a:off x="3593592" y="3227832"/>
            <a:ext cx="2194560" cy="274320"/>
          </a:xfrm>
          <a:prstGeom prst="rect">
            <a:avLst/>
          </a:prstGeom>
          <a:noFill/>
          <a:ln/>
        </p:spPr>
        <p:txBody>
          <a:bodyPr wrap="square" lIns="0" tIns="0" rIns="0" bIns="0" rtlCol="0" anchor="t"/>
          <a:lstStyle/>
          <a:p>
            <a:pPr indent="0" marL="0">
              <a:buNone/>
            </a:pPr>
            <a:r>
              <a:rPr lang="en-US" sz="1100" b="1" dirty="0">
                <a:solidFill>
                  <a:schemeClr val="accent1"/>
                </a:solidFill>
                <a:latin typeface="Courier New" pitchFamily="34" charset="0"/>
                <a:ea typeface="Courier New" pitchFamily="34" charset="-122"/>
                <a:cs typeface="Courier New" pitchFamily="34" charset="-120"/>
              </a:rPr>
              <a:t>app.py</a:t>
            </a:r>
            <a:endParaRPr lang="en-US" sz="1100" dirty="0"/>
          </a:p>
        </p:txBody>
      </p:sp>
      <p:sp>
        <p:nvSpPr>
          <p:cNvPr id="15" name="Plotly, pandas, Graphviz card"/>
          <p:cNvSpPr/>
          <p:nvPr/>
        </p:nvSpPr>
        <p:spPr>
          <a:xfrm>
            <a:off x="6181344" y="1371600"/>
            <a:ext cx="2606040" cy="2240280"/>
          </a:xfrm>
          <a:prstGeom prst="roundRect">
            <a:avLst>
              <a:gd name="adj" fmla="val 4898"/>
            </a:avLst>
          </a:prstGeom>
          <a:solidFill>
            <a:schemeClr val="bg2"/>
          </a:solidFill>
          <a:ln/>
        </p:spPr>
      </p:sp>
      <p:sp>
        <p:nvSpPr>
          <p:cNvPr id="16" name="Plotly, pandas, Graphviz tile"/>
          <p:cNvSpPr/>
          <p:nvPr/>
        </p:nvSpPr>
        <p:spPr>
          <a:xfrm>
            <a:off x="6409944" y="1600200"/>
            <a:ext cx="566928" cy="566928"/>
          </a:xfrm>
          <a:prstGeom prst="roundRect">
            <a:avLst>
              <a:gd name="adj" fmla="val 24000"/>
            </a:avLst>
          </a:prstGeom>
          <a:solidFill>
            <a:schemeClr val="accent3">
              <a:alpha val="14000"/>
            </a:schemeClr>
          </a:solidFill>
          <a:ln/>
        </p:spPr>
      </p:sp>
      <p:pic>
        <p:nvPicPr>
          <p:cNvPr id="17" name="Plotly, pandas, Graphviz icon" descr="preencoded.png">    </p:cNvPr>
          <p:cNvPicPr>
            <a:picLocks noChangeAspect="1"/>
          </p:cNvPicPr>
          <p:nvPr/>
        </p:nvPicPr>
        <p:blipFill>
          <a:blip r:embed="rId3"/>
          <a:stretch>
            <a:fillRect/>
          </a:stretch>
        </p:blipFill>
        <p:spPr>
          <a:xfrm>
            <a:off x="6534668" y="1724924"/>
            <a:ext cx="317480" cy="317480"/>
          </a:xfrm>
          <a:prstGeom prst="rect">
            <a:avLst/>
          </a:prstGeom>
        </p:spPr>
      </p:pic>
      <p:sp>
        <p:nvSpPr>
          <p:cNvPr id="18" name="Text 13"/>
          <p:cNvSpPr txBox="1"/>
          <p:nvPr/>
        </p:nvSpPr>
        <p:spPr>
          <a:xfrm>
            <a:off x="6409944" y="2267712"/>
            <a:ext cx="2194560" cy="347472"/>
          </a:xfrm>
          <a:prstGeom prst="rect">
            <a:avLst/>
          </a:prstGeom>
          <a:noFill/>
          <a:ln/>
        </p:spPr>
        <p:txBody>
          <a:bodyPr wrap="square" lIns="0" tIns="0" rIns="0" bIns="0" rtlCol="0" anchor="t"/>
          <a:lstStyle/>
          <a:p>
            <a:pPr indent="0" marL="0">
              <a:buNone/>
            </a:pPr>
            <a:r>
              <a:rPr lang="en-US" sz="1700" b="1" dirty="0">
                <a:solidFill>
                  <a:schemeClr val="tx2"/>
                </a:solidFill>
              </a:rPr>
              <a:t>Plotly, pandas, Graphviz</a:t>
            </a:r>
            <a:endParaRPr lang="en-US" sz="1700" dirty="0"/>
          </a:p>
        </p:txBody>
      </p:sp>
      <p:sp>
        <p:nvSpPr>
          <p:cNvPr id="19" name="Text 14"/>
          <p:cNvSpPr txBox="1"/>
          <p:nvPr/>
        </p:nvSpPr>
        <p:spPr>
          <a:xfrm>
            <a:off x="6409944" y="2633472"/>
            <a:ext cx="2194560" cy="594360"/>
          </a:xfrm>
          <a:prstGeom prst="rect">
            <a:avLst/>
          </a:prstGeom>
          <a:noFill/>
          <a:ln/>
        </p:spPr>
        <p:txBody>
          <a:bodyPr wrap="square" lIns="0" tIns="0" rIns="0" bIns="0" rtlCol="0" anchor="t"/>
          <a:lstStyle/>
          <a:p>
            <a:pPr indent="0" marL="0">
              <a:buNone/>
            </a:pPr>
            <a:r>
              <a:rPr lang="en-US" sz="1400" dirty="0">
                <a:solidFill>
                  <a:schemeClr val="tx1"/>
                </a:solidFill>
              </a:rPr>
              <a:t>Interactive charts, data tables, tree and map drawings</a:t>
            </a:r>
            <a:endParaRPr lang="en-US" sz="1400" dirty="0"/>
          </a:p>
        </p:txBody>
      </p:sp>
      <p:sp>
        <p:nvSpPr>
          <p:cNvPr id="20" name="Text 15"/>
          <p:cNvSpPr txBox="1"/>
          <p:nvPr/>
        </p:nvSpPr>
        <p:spPr>
          <a:xfrm>
            <a:off x="6409944" y="3227832"/>
            <a:ext cx="2194560" cy="274320"/>
          </a:xfrm>
          <a:prstGeom prst="rect">
            <a:avLst/>
          </a:prstGeom>
          <a:noFill/>
          <a:ln/>
        </p:spPr>
        <p:txBody>
          <a:bodyPr wrap="square" lIns="0" tIns="0" rIns="0" bIns="0" rtlCol="0" anchor="t"/>
          <a:lstStyle/>
          <a:p>
            <a:pPr indent="0" marL="0">
              <a:buNone/>
            </a:pPr>
            <a:r>
              <a:rPr lang="en-US" sz="1100" b="1" dirty="0">
                <a:solidFill>
                  <a:schemeClr val="accent1"/>
                </a:solidFill>
                <a:latin typeface="Courier New" pitchFamily="34" charset="0"/>
                <a:ea typeface="Courier New" pitchFamily="34" charset="-122"/>
                <a:cs typeface="Courier New" pitchFamily="34" charset="-120"/>
              </a:rPr>
              <a:t>app.py</a:t>
            </a:r>
            <a:endParaRPr lang="en-US" sz="1100" dirty="0"/>
          </a:p>
        </p:txBody>
      </p:sp>
      <p:sp>
        <p:nvSpPr>
          <p:cNvPr id="21" name="C11 + GCC card"/>
          <p:cNvSpPr/>
          <p:nvPr/>
        </p:nvSpPr>
        <p:spPr>
          <a:xfrm>
            <a:off x="8997696" y="1371600"/>
            <a:ext cx="2606040" cy="2240280"/>
          </a:xfrm>
          <a:prstGeom prst="roundRect">
            <a:avLst>
              <a:gd name="adj" fmla="val 4898"/>
            </a:avLst>
          </a:prstGeom>
          <a:solidFill>
            <a:schemeClr val="bg2"/>
          </a:solidFill>
          <a:ln/>
        </p:spPr>
      </p:sp>
      <p:sp>
        <p:nvSpPr>
          <p:cNvPr id="22" name="C11 + GCC tile"/>
          <p:cNvSpPr/>
          <p:nvPr/>
        </p:nvSpPr>
        <p:spPr>
          <a:xfrm>
            <a:off x="9226296" y="1600200"/>
            <a:ext cx="566928" cy="566928"/>
          </a:xfrm>
          <a:prstGeom prst="roundRect">
            <a:avLst>
              <a:gd name="adj" fmla="val 24000"/>
            </a:avLst>
          </a:prstGeom>
          <a:solidFill>
            <a:schemeClr val="accent4">
              <a:alpha val="14000"/>
            </a:schemeClr>
          </a:solidFill>
          <a:ln/>
        </p:spPr>
      </p:sp>
      <p:pic>
        <p:nvPicPr>
          <p:cNvPr id="23" name="C11 + GCC icon" descr="preencoded.png">    </p:cNvPr>
          <p:cNvPicPr>
            <a:picLocks noChangeAspect="1"/>
          </p:cNvPicPr>
          <p:nvPr/>
        </p:nvPicPr>
        <p:blipFill>
          <a:blip r:embed="rId4"/>
          <a:stretch>
            <a:fillRect/>
          </a:stretch>
        </p:blipFill>
        <p:spPr>
          <a:xfrm>
            <a:off x="9351020" y="1724924"/>
            <a:ext cx="317480" cy="317480"/>
          </a:xfrm>
          <a:prstGeom prst="rect">
            <a:avLst/>
          </a:prstGeom>
        </p:spPr>
      </p:pic>
      <p:sp>
        <p:nvSpPr>
          <p:cNvPr id="24" name="Text 18"/>
          <p:cNvSpPr txBox="1"/>
          <p:nvPr/>
        </p:nvSpPr>
        <p:spPr>
          <a:xfrm>
            <a:off x="9226296" y="2267712"/>
            <a:ext cx="2194560" cy="347472"/>
          </a:xfrm>
          <a:prstGeom prst="rect">
            <a:avLst/>
          </a:prstGeom>
          <a:noFill/>
          <a:ln/>
        </p:spPr>
        <p:txBody>
          <a:bodyPr wrap="square" lIns="0" tIns="0" rIns="0" bIns="0" rtlCol="0" anchor="t"/>
          <a:lstStyle/>
          <a:p>
            <a:pPr indent="0" marL="0">
              <a:buNone/>
            </a:pPr>
            <a:r>
              <a:rPr lang="en-US" sz="1700" b="1" dirty="0">
                <a:solidFill>
                  <a:schemeClr val="tx2"/>
                </a:solidFill>
              </a:rPr>
              <a:t>C11 + GCC</a:t>
            </a:r>
            <a:endParaRPr lang="en-US" sz="1700" dirty="0"/>
          </a:p>
        </p:txBody>
      </p:sp>
      <p:sp>
        <p:nvSpPr>
          <p:cNvPr id="25" name="Text 19"/>
          <p:cNvSpPr txBox="1"/>
          <p:nvPr/>
        </p:nvSpPr>
        <p:spPr>
          <a:xfrm>
            <a:off x="9226296" y="2633472"/>
            <a:ext cx="2194560" cy="594360"/>
          </a:xfrm>
          <a:prstGeom prst="rect">
            <a:avLst/>
          </a:prstGeom>
          <a:noFill/>
          <a:ln/>
        </p:spPr>
        <p:txBody>
          <a:bodyPr wrap="square" lIns="0" tIns="0" rIns="0" bIns="0" rtlCol="0" anchor="t"/>
          <a:lstStyle/>
          <a:p>
            <a:pPr indent="0" marL="0">
              <a:buNone/>
            </a:pPr>
            <a:r>
              <a:rPr lang="en-US" sz="1400" dirty="0">
                <a:solidFill>
                  <a:schemeClr val="tx1"/>
                </a:solidFill>
              </a:rPr>
              <a:t>Every data structure and algorithm, compiled for speed</a:t>
            </a:r>
            <a:endParaRPr lang="en-US" sz="1400" dirty="0"/>
          </a:p>
        </p:txBody>
      </p:sp>
      <p:sp>
        <p:nvSpPr>
          <p:cNvPr id="26" name="Text 20"/>
          <p:cNvSpPr txBox="1"/>
          <p:nvPr/>
        </p:nvSpPr>
        <p:spPr>
          <a:xfrm>
            <a:off x="9226296" y="3227832"/>
            <a:ext cx="2194560" cy="274320"/>
          </a:xfrm>
          <a:prstGeom prst="rect">
            <a:avLst/>
          </a:prstGeom>
          <a:noFill/>
          <a:ln/>
        </p:spPr>
        <p:txBody>
          <a:bodyPr wrap="square" lIns="0" tIns="0" rIns="0" bIns="0" rtlCol="0" anchor="t"/>
          <a:lstStyle/>
          <a:p>
            <a:pPr indent="0" marL="0">
              <a:buNone/>
            </a:pPr>
            <a:r>
              <a:rPr lang="en-US" sz="1100" b="1" dirty="0">
                <a:solidFill>
                  <a:schemeClr val="accent1"/>
                </a:solidFill>
                <a:latin typeface="Courier New" pitchFamily="34" charset="0"/>
                <a:ea typeface="Courier New" pitchFamily="34" charset="-122"/>
                <a:cs typeface="Courier New" pitchFamily="34" charset="-120"/>
              </a:rPr>
              <a:t>backend/*.c</a:t>
            </a:r>
            <a:endParaRPr lang="en-US" sz="1100" dirty="0"/>
          </a:p>
        </p:txBody>
      </p:sp>
      <p:sp>
        <p:nvSpPr>
          <p:cNvPr id="27" name="ctypes card"/>
          <p:cNvSpPr/>
          <p:nvPr/>
        </p:nvSpPr>
        <p:spPr>
          <a:xfrm>
            <a:off x="548640" y="3794760"/>
            <a:ext cx="2606040" cy="2240280"/>
          </a:xfrm>
          <a:prstGeom prst="roundRect">
            <a:avLst>
              <a:gd name="adj" fmla="val 4898"/>
            </a:avLst>
          </a:prstGeom>
          <a:solidFill>
            <a:schemeClr val="bg2"/>
          </a:solidFill>
          <a:ln/>
        </p:spPr>
      </p:sp>
      <p:sp>
        <p:nvSpPr>
          <p:cNvPr id="28" name="ctypes tile"/>
          <p:cNvSpPr/>
          <p:nvPr/>
        </p:nvSpPr>
        <p:spPr>
          <a:xfrm>
            <a:off x="777240" y="4023360"/>
            <a:ext cx="566928" cy="566928"/>
          </a:xfrm>
          <a:prstGeom prst="roundRect">
            <a:avLst>
              <a:gd name="adj" fmla="val 24000"/>
            </a:avLst>
          </a:prstGeom>
          <a:solidFill>
            <a:schemeClr val="accent2">
              <a:alpha val="14000"/>
            </a:schemeClr>
          </a:solidFill>
          <a:ln/>
        </p:spPr>
      </p:sp>
      <p:pic>
        <p:nvPicPr>
          <p:cNvPr id="29" name="ctypes icon" descr="preencoded.png">    </p:cNvPr>
          <p:cNvPicPr>
            <a:picLocks noChangeAspect="1"/>
          </p:cNvPicPr>
          <p:nvPr/>
        </p:nvPicPr>
        <p:blipFill>
          <a:blip r:embed="rId5"/>
          <a:stretch>
            <a:fillRect/>
          </a:stretch>
        </p:blipFill>
        <p:spPr>
          <a:xfrm>
            <a:off x="901964" y="4148084"/>
            <a:ext cx="317480" cy="317480"/>
          </a:xfrm>
          <a:prstGeom prst="rect">
            <a:avLst/>
          </a:prstGeom>
        </p:spPr>
      </p:pic>
      <p:sp>
        <p:nvSpPr>
          <p:cNvPr id="30" name="Text 23"/>
          <p:cNvSpPr txBox="1"/>
          <p:nvPr/>
        </p:nvSpPr>
        <p:spPr>
          <a:xfrm>
            <a:off x="777240" y="4690872"/>
            <a:ext cx="2194560" cy="347472"/>
          </a:xfrm>
          <a:prstGeom prst="rect">
            <a:avLst/>
          </a:prstGeom>
          <a:noFill/>
          <a:ln/>
        </p:spPr>
        <p:txBody>
          <a:bodyPr wrap="square" lIns="0" tIns="0" rIns="0" bIns="0" rtlCol="0" anchor="t"/>
          <a:lstStyle/>
          <a:p>
            <a:pPr indent="0" marL="0">
              <a:buNone/>
            </a:pPr>
            <a:r>
              <a:rPr lang="en-US" sz="1700" b="1" dirty="0">
                <a:solidFill>
                  <a:schemeClr val="tx2"/>
                </a:solidFill>
              </a:rPr>
              <a:t>ctypes</a:t>
            </a:r>
            <a:endParaRPr lang="en-US" sz="1700" dirty="0"/>
          </a:p>
        </p:txBody>
      </p:sp>
      <p:sp>
        <p:nvSpPr>
          <p:cNvPr id="31" name="Text 24"/>
          <p:cNvSpPr txBox="1"/>
          <p:nvPr/>
        </p:nvSpPr>
        <p:spPr>
          <a:xfrm>
            <a:off x="777240" y="5056632"/>
            <a:ext cx="2194560" cy="594360"/>
          </a:xfrm>
          <a:prstGeom prst="rect">
            <a:avLst/>
          </a:prstGeom>
          <a:noFill/>
          <a:ln/>
        </p:spPr>
        <p:txBody>
          <a:bodyPr wrap="square" lIns="0" tIns="0" rIns="0" bIns="0" rtlCol="0" anchor="t"/>
          <a:lstStyle/>
          <a:p>
            <a:pPr indent="0" marL="0">
              <a:buNone/>
            </a:pPr>
            <a:r>
              <a:rPr lang="en-US" sz="1400" dirty="0">
                <a:solidFill>
                  <a:schemeClr val="tx1"/>
                </a:solidFill>
              </a:rPr>
              <a:t>Python's built-in way to call functions in a C library</a:t>
            </a:r>
            <a:endParaRPr lang="en-US" sz="1400" dirty="0"/>
          </a:p>
        </p:txBody>
      </p:sp>
      <p:sp>
        <p:nvSpPr>
          <p:cNvPr id="32" name="Text 25"/>
          <p:cNvSpPr txBox="1"/>
          <p:nvPr/>
        </p:nvSpPr>
        <p:spPr>
          <a:xfrm>
            <a:off x="777240" y="5650992"/>
            <a:ext cx="2194560" cy="274320"/>
          </a:xfrm>
          <a:prstGeom prst="rect">
            <a:avLst/>
          </a:prstGeom>
          <a:noFill/>
          <a:ln/>
        </p:spPr>
        <p:txBody>
          <a:bodyPr wrap="square" lIns="0" tIns="0" rIns="0" bIns="0" rtlCol="0" anchor="t"/>
          <a:lstStyle/>
          <a:p>
            <a:pPr indent="0" marL="0">
              <a:buNone/>
            </a:pPr>
            <a:r>
              <a:rPr lang="en-US" sz="1100" b="1" dirty="0">
                <a:solidFill>
                  <a:schemeClr val="accent1"/>
                </a:solidFill>
                <a:latin typeface="Courier New" pitchFamily="34" charset="0"/>
                <a:ea typeface="Courier New" pitchFamily="34" charset="-122"/>
                <a:cs typeface="Courier New" pitchFamily="34" charset="-120"/>
              </a:rPr>
              <a:t>c_bridge.py</a:t>
            </a:r>
            <a:endParaRPr lang="en-US" sz="1100" dirty="0"/>
          </a:p>
        </p:txBody>
      </p:sp>
      <p:sp>
        <p:nvSpPr>
          <p:cNvPr id="33" name="SQLite card"/>
          <p:cNvSpPr/>
          <p:nvPr/>
        </p:nvSpPr>
        <p:spPr>
          <a:xfrm>
            <a:off x="3364992" y="3794760"/>
            <a:ext cx="2606040" cy="2240280"/>
          </a:xfrm>
          <a:prstGeom prst="roundRect">
            <a:avLst>
              <a:gd name="adj" fmla="val 4898"/>
            </a:avLst>
          </a:prstGeom>
          <a:solidFill>
            <a:schemeClr val="bg2"/>
          </a:solidFill>
          <a:ln/>
        </p:spPr>
      </p:sp>
      <p:sp>
        <p:nvSpPr>
          <p:cNvPr id="34" name="SQLite tile"/>
          <p:cNvSpPr/>
          <p:nvPr/>
        </p:nvSpPr>
        <p:spPr>
          <a:xfrm>
            <a:off x="3593592" y="4023360"/>
            <a:ext cx="566928" cy="566928"/>
          </a:xfrm>
          <a:prstGeom prst="roundRect">
            <a:avLst>
              <a:gd name="adj" fmla="val 24000"/>
            </a:avLst>
          </a:prstGeom>
          <a:solidFill>
            <a:schemeClr val="accent3">
              <a:alpha val="14000"/>
            </a:schemeClr>
          </a:solidFill>
          <a:ln/>
        </p:spPr>
      </p:sp>
      <p:pic>
        <p:nvPicPr>
          <p:cNvPr id="35" name="SQLite icon" descr="preencoded.png">    </p:cNvPr>
          <p:cNvPicPr>
            <a:picLocks noChangeAspect="1"/>
          </p:cNvPicPr>
          <p:nvPr/>
        </p:nvPicPr>
        <p:blipFill>
          <a:blip r:embed="rId6"/>
          <a:stretch>
            <a:fillRect/>
          </a:stretch>
        </p:blipFill>
        <p:spPr>
          <a:xfrm>
            <a:off x="3718316" y="4148084"/>
            <a:ext cx="317480" cy="317480"/>
          </a:xfrm>
          <a:prstGeom prst="rect">
            <a:avLst/>
          </a:prstGeom>
        </p:spPr>
      </p:pic>
      <p:sp>
        <p:nvSpPr>
          <p:cNvPr id="36" name="Text 28"/>
          <p:cNvSpPr txBox="1"/>
          <p:nvPr/>
        </p:nvSpPr>
        <p:spPr>
          <a:xfrm>
            <a:off x="3593592" y="4690872"/>
            <a:ext cx="2194560" cy="347472"/>
          </a:xfrm>
          <a:prstGeom prst="rect">
            <a:avLst/>
          </a:prstGeom>
          <a:noFill/>
          <a:ln/>
        </p:spPr>
        <p:txBody>
          <a:bodyPr wrap="square" lIns="0" tIns="0" rIns="0" bIns="0" rtlCol="0" anchor="t"/>
          <a:lstStyle/>
          <a:p>
            <a:pPr indent="0" marL="0">
              <a:buNone/>
            </a:pPr>
            <a:r>
              <a:rPr lang="en-US" sz="1700" b="1" dirty="0">
                <a:solidFill>
                  <a:schemeClr val="tx2"/>
                </a:solidFill>
              </a:rPr>
              <a:t>SQLite</a:t>
            </a:r>
            <a:endParaRPr lang="en-US" sz="1700" dirty="0"/>
          </a:p>
        </p:txBody>
      </p:sp>
      <p:sp>
        <p:nvSpPr>
          <p:cNvPr id="37" name="Text 29"/>
          <p:cNvSpPr txBox="1"/>
          <p:nvPr/>
        </p:nvSpPr>
        <p:spPr>
          <a:xfrm>
            <a:off x="3593592" y="5056632"/>
            <a:ext cx="2194560" cy="594360"/>
          </a:xfrm>
          <a:prstGeom prst="rect">
            <a:avLst/>
          </a:prstGeom>
          <a:noFill/>
          <a:ln/>
        </p:spPr>
        <p:txBody>
          <a:bodyPr wrap="square" lIns="0" tIns="0" rIns="0" bIns="0" rtlCol="0" anchor="t"/>
          <a:lstStyle/>
          <a:p>
            <a:pPr indent="0" marL="0">
              <a:buNone/>
            </a:pPr>
            <a:r>
              <a:rPr lang="en-US" sz="1400" dirty="0">
                <a:solidFill>
                  <a:schemeClr val="tx1"/>
                </a:solidFill>
              </a:rPr>
              <a:t>A database stored in one file, built into Python</a:t>
            </a:r>
            <a:endParaRPr lang="en-US" sz="1400" dirty="0"/>
          </a:p>
        </p:txBody>
      </p:sp>
      <p:sp>
        <p:nvSpPr>
          <p:cNvPr id="38" name="Text 30"/>
          <p:cNvSpPr txBox="1"/>
          <p:nvPr/>
        </p:nvSpPr>
        <p:spPr>
          <a:xfrm>
            <a:off x="3593592" y="5650992"/>
            <a:ext cx="2194560" cy="274320"/>
          </a:xfrm>
          <a:prstGeom prst="rect">
            <a:avLst/>
          </a:prstGeom>
          <a:noFill/>
          <a:ln/>
        </p:spPr>
        <p:txBody>
          <a:bodyPr wrap="square" lIns="0" tIns="0" rIns="0" bIns="0" rtlCol="0" anchor="t"/>
          <a:lstStyle/>
          <a:p>
            <a:pPr indent="0" marL="0">
              <a:buNone/>
            </a:pPr>
            <a:r>
              <a:rPr lang="en-US" sz="1100" b="1" dirty="0">
                <a:solidFill>
                  <a:schemeClr val="accent1"/>
                </a:solidFill>
                <a:latin typeface="Courier New" pitchFamily="34" charset="0"/>
                <a:ea typeface="Courier New" pitchFamily="34" charset="-122"/>
                <a:cs typeface="Courier New" pitchFamily="34" charset="-120"/>
              </a:rPr>
              <a:t>database.py, schema.sql</a:t>
            </a:r>
            <a:endParaRPr lang="en-US" sz="1100" dirty="0"/>
          </a:p>
        </p:txBody>
      </p:sp>
      <p:sp>
        <p:nvSpPr>
          <p:cNvPr id="39" name="Make card"/>
          <p:cNvSpPr/>
          <p:nvPr/>
        </p:nvSpPr>
        <p:spPr>
          <a:xfrm>
            <a:off x="6181344" y="3794760"/>
            <a:ext cx="2606040" cy="2240280"/>
          </a:xfrm>
          <a:prstGeom prst="roundRect">
            <a:avLst>
              <a:gd name="adj" fmla="val 4898"/>
            </a:avLst>
          </a:prstGeom>
          <a:solidFill>
            <a:schemeClr val="bg2"/>
          </a:solidFill>
          <a:ln/>
        </p:spPr>
      </p:sp>
      <p:sp>
        <p:nvSpPr>
          <p:cNvPr id="40" name="Make tile"/>
          <p:cNvSpPr/>
          <p:nvPr/>
        </p:nvSpPr>
        <p:spPr>
          <a:xfrm>
            <a:off x="6409944" y="4023360"/>
            <a:ext cx="566928" cy="566928"/>
          </a:xfrm>
          <a:prstGeom prst="roundRect">
            <a:avLst>
              <a:gd name="adj" fmla="val 24000"/>
            </a:avLst>
          </a:prstGeom>
          <a:solidFill>
            <a:schemeClr val="accent5">
              <a:alpha val="14000"/>
            </a:schemeClr>
          </a:solidFill>
          <a:ln/>
        </p:spPr>
      </p:sp>
      <p:pic>
        <p:nvPicPr>
          <p:cNvPr id="41" name="Make icon" descr="preencoded.png">    </p:cNvPr>
          <p:cNvPicPr>
            <a:picLocks noChangeAspect="1"/>
          </p:cNvPicPr>
          <p:nvPr/>
        </p:nvPicPr>
        <p:blipFill>
          <a:blip r:embed="rId7"/>
          <a:stretch>
            <a:fillRect/>
          </a:stretch>
        </p:blipFill>
        <p:spPr>
          <a:xfrm>
            <a:off x="6534668" y="4148084"/>
            <a:ext cx="317480" cy="317480"/>
          </a:xfrm>
          <a:prstGeom prst="rect">
            <a:avLst/>
          </a:prstGeom>
        </p:spPr>
      </p:pic>
      <p:sp>
        <p:nvSpPr>
          <p:cNvPr id="42" name="Text 33"/>
          <p:cNvSpPr txBox="1"/>
          <p:nvPr/>
        </p:nvSpPr>
        <p:spPr>
          <a:xfrm>
            <a:off x="6409944" y="4690872"/>
            <a:ext cx="2194560" cy="347472"/>
          </a:xfrm>
          <a:prstGeom prst="rect">
            <a:avLst/>
          </a:prstGeom>
          <a:noFill/>
          <a:ln/>
        </p:spPr>
        <p:txBody>
          <a:bodyPr wrap="square" lIns="0" tIns="0" rIns="0" bIns="0" rtlCol="0" anchor="t"/>
          <a:lstStyle/>
          <a:p>
            <a:pPr indent="0" marL="0">
              <a:buNone/>
            </a:pPr>
            <a:r>
              <a:rPr lang="en-US" sz="1700" b="1" dirty="0">
                <a:solidFill>
                  <a:schemeClr val="tx2"/>
                </a:solidFill>
              </a:rPr>
              <a:t>Make</a:t>
            </a:r>
            <a:endParaRPr lang="en-US" sz="1700" dirty="0"/>
          </a:p>
        </p:txBody>
      </p:sp>
      <p:sp>
        <p:nvSpPr>
          <p:cNvPr id="43" name="Text 34"/>
          <p:cNvSpPr txBox="1"/>
          <p:nvPr/>
        </p:nvSpPr>
        <p:spPr>
          <a:xfrm>
            <a:off x="6409944" y="5056632"/>
            <a:ext cx="2194560" cy="594360"/>
          </a:xfrm>
          <a:prstGeom prst="rect">
            <a:avLst/>
          </a:prstGeom>
          <a:noFill/>
          <a:ln/>
        </p:spPr>
        <p:txBody>
          <a:bodyPr wrap="square" lIns="0" tIns="0" rIns="0" bIns="0" rtlCol="0" anchor="t"/>
          <a:lstStyle/>
          <a:p>
            <a:pPr indent="0" marL="0">
              <a:buNone/>
            </a:pPr>
            <a:r>
              <a:rPr lang="en-US" sz="1400" dirty="0">
                <a:solidFill>
                  <a:schemeClr val="tx1"/>
                </a:solidFill>
              </a:rPr>
              <a:t>One command compiles the C library and runs C tests</a:t>
            </a:r>
            <a:endParaRPr lang="en-US" sz="1400" dirty="0"/>
          </a:p>
        </p:txBody>
      </p:sp>
      <p:sp>
        <p:nvSpPr>
          <p:cNvPr id="44" name="Text 35"/>
          <p:cNvSpPr txBox="1"/>
          <p:nvPr/>
        </p:nvSpPr>
        <p:spPr>
          <a:xfrm>
            <a:off x="6409944" y="5650992"/>
            <a:ext cx="2194560" cy="274320"/>
          </a:xfrm>
          <a:prstGeom prst="rect">
            <a:avLst/>
          </a:prstGeom>
          <a:noFill/>
          <a:ln/>
        </p:spPr>
        <p:txBody>
          <a:bodyPr wrap="square" lIns="0" tIns="0" rIns="0" bIns="0" rtlCol="0" anchor="t"/>
          <a:lstStyle/>
          <a:p>
            <a:pPr indent="0" marL="0">
              <a:buNone/>
            </a:pPr>
            <a:r>
              <a:rPr lang="en-US" sz="1100" b="1" dirty="0">
                <a:solidFill>
                  <a:schemeClr val="accent1"/>
                </a:solidFill>
                <a:latin typeface="Courier New" pitchFamily="34" charset="0"/>
                <a:ea typeface="Courier New" pitchFamily="34" charset="-122"/>
                <a:cs typeface="Courier New" pitchFamily="34" charset="-120"/>
              </a:rPr>
              <a:t>backend/Makefile</a:t>
            </a:r>
            <a:endParaRPr lang="en-US" sz="1100" dirty="0"/>
          </a:p>
        </p:txBody>
      </p:sp>
      <p:sp>
        <p:nvSpPr>
          <p:cNvPr id="45" name="unittest card"/>
          <p:cNvSpPr/>
          <p:nvPr/>
        </p:nvSpPr>
        <p:spPr>
          <a:xfrm>
            <a:off x="8997696" y="3794760"/>
            <a:ext cx="2606040" cy="2240280"/>
          </a:xfrm>
          <a:prstGeom prst="roundRect">
            <a:avLst>
              <a:gd name="adj" fmla="val 4898"/>
            </a:avLst>
          </a:prstGeom>
          <a:solidFill>
            <a:schemeClr val="bg2"/>
          </a:solidFill>
          <a:ln/>
        </p:spPr>
      </p:sp>
      <p:sp>
        <p:nvSpPr>
          <p:cNvPr id="46" name="unittest tile"/>
          <p:cNvSpPr/>
          <p:nvPr/>
        </p:nvSpPr>
        <p:spPr>
          <a:xfrm>
            <a:off x="9226296" y="4023360"/>
            <a:ext cx="566928" cy="566928"/>
          </a:xfrm>
          <a:prstGeom prst="roundRect">
            <a:avLst>
              <a:gd name="adj" fmla="val 24000"/>
            </a:avLst>
          </a:prstGeom>
          <a:solidFill>
            <a:schemeClr val="accent1">
              <a:alpha val="14000"/>
            </a:schemeClr>
          </a:solidFill>
          <a:ln/>
        </p:spPr>
      </p:sp>
      <p:pic>
        <p:nvPicPr>
          <p:cNvPr id="47" name="unittest icon" descr="preencoded.png">    </p:cNvPr>
          <p:cNvPicPr>
            <a:picLocks noChangeAspect="1"/>
          </p:cNvPicPr>
          <p:nvPr/>
        </p:nvPicPr>
        <p:blipFill>
          <a:blip r:embed="rId8"/>
          <a:stretch>
            <a:fillRect/>
          </a:stretch>
        </p:blipFill>
        <p:spPr>
          <a:xfrm>
            <a:off x="9351020" y="4148084"/>
            <a:ext cx="317480" cy="317480"/>
          </a:xfrm>
          <a:prstGeom prst="rect">
            <a:avLst/>
          </a:prstGeom>
        </p:spPr>
      </p:pic>
      <p:sp>
        <p:nvSpPr>
          <p:cNvPr id="48" name="Text 38"/>
          <p:cNvSpPr txBox="1"/>
          <p:nvPr/>
        </p:nvSpPr>
        <p:spPr>
          <a:xfrm>
            <a:off x="9226296" y="4690872"/>
            <a:ext cx="2194560" cy="347472"/>
          </a:xfrm>
          <a:prstGeom prst="rect">
            <a:avLst/>
          </a:prstGeom>
          <a:noFill/>
          <a:ln/>
        </p:spPr>
        <p:txBody>
          <a:bodyPr wrap="square" lIns="0" tIns="0" rIns="0" bIns="0" rtlCol="0" anchor="t"/>
          <a:lstStyle/>
          <a:p>
            <a:pPr indent="0" marL="0">
              <a:buNone/>
            </a:pPr>
            <a:r>
              <a:rPr lang="en-US" sz="1700" b="1" dirty="0">
                <a:solidFill>
                  <a:schemeClr val="tx2"/>
                </a:solidFill>
              </a:rPr>
              <a:t>unittest</a:t>
            </a:r>
            <a:endParaRPr lang="en-US" sz="1700" dirty="0"/>
          </a:p>
        </p:txBody>
      </p:sp>
      <p:sp>
        <p:nvSpPr>
          <p:cNvPr id="49" name="Text 39"/>
          <p:cNvSpPr txBox="1"/>
          <p:nvPr/>
        </p:nvSpPr>
        <p:spPr>
          <a:xfrm>
            <a:off x="9226296" y="5056632"/>
            <a:ext cx="2194560" cy="594360"/>
          </a:xfrm>
          <a:prstGeom prst="rect">
            <a:avLst/>
          </a:prstGeom>
          <a:noFill/>
          <a:ln/>
        </p:spPr>
        <p:txBody>
          <a:bodyPr wrap="square" lIns="0" tIns="0" rIns="0" bIns="0" rtlCol="0" anchor="t"/>
          <a:lstStyle/>
          <a:p>
            <a:pPr indent="0" marL="0">
              <a:buNone/>
            </a:pPr>
            <a:r>
              <a:rPr lang="en-US" sz="1400" dirty="0">
                <a:solidFill>
                  <a:schemeClr val="tx1"/>
                </a:solidFill>
              </a:rPr>
              <a:t>Python's test framework plus a C test program</a:t>
            </a:r>
            <a:endParaRPr lang="en-US" sz="1400" dirty="0"/>
          </a:p>
        </p:txBody>
      </p:sp>
      <p:sp>
        <p:nvSpPr>
          <p:cNvPr id="50" name="Text 40"/>
          <p:cNvSpPr txBox="1"/>
          <p:nvPr/>
        </p:nvSpPr>
        <p:spPr>
          <a:xfrm>
            <a:off x="9226296" y="5650992"/>
            <a:ext cx="2194560" cy="274320"/>
          </a:xfrm>
          <a:prstGeom prst="rect">
            <a:avLst/>
          </a:prstGeom>
          <a:noFill/>
          <a:ln/>
        </p:spPr>
        <p:txBody>
          <a:bodyPr wrap="square" lIns="0" tIns="0" rIns="0" bIns="0" rtlCol="0" anchor="t"/>
          <a:lstStyle/>
          <a:p>
            <a:pPr indent="0" marL="0">
              <a:buNone/>
            </a:pPr>
            <a:r>
              <a:rPr lang="en-US" sz="1100" b="1" dirty="0">
                <a:solidFill>
                  <a:schemeClr val="accent1"/>
                </a:solidFill>
                <a:latin typeface="Courier New" pitchFamily="34" charset="0"/>
                <a:ea typeface="Courier New" pitchFamily="34" charset="-122"/>
                <a:cs typeface="Courier New" pitchFamily="34" charset="-120"/>
              </a:rPr>
              <a:t>tests/, backend/tests/</a:t>
            </a:r>
            <a:endParaRPr lang="en-US" sz="11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77240"/>
          </a:xfrm>
          <a:prstGeom prst="rect">
            <a:avLst/>
          </a:prstGeom>
          <a:noFill/>
          <a:ln/>
        </p:spPr>
        <p:txBody>
          <a:bodyPr wrap="square" lIns="0" tIns="0" rIns="0" bIns="0" rtlCol="0" anchor="ctr"/>
          <a:lstStyle/>
          <a:p>
            <a:pPr algn="l" indent="0" marL="0">
              <a:buNone/>
            </a:pPr>
            <a:r>
              <a:rPr lang="en-US" sz="3600" b="1" dirty="0">
                <a:solidFill>
                  <a:schemeClr val="tx2"/>
                </a:solidFill>
              </a:rPr>
              <a:t>Project map: every file has one job</a:t>
            </a:r>
            <a:endParaRPr lang="en-US" sz="3600" dirty="0"/>
          </a:p>
        </p:txBody>
      </p:sp>
      <p:sp>
        <p:nvSpPr>
          <p:cNvPr id="3" name="Screens card"/>
          <p:cNvSpPr/>
          <p:nvPr/>
        </p:nvSpPr>
        <p:spPr>
          <a:xfrm>
            <a:off x="548640" y="1371600"/>
            <a:ext cx="3520440" cy="2331720"/>
          </a:xfrm>
          <a:prstGeom prst="roundRect">
            <a:avLst>
              <a:gd name="adj" fmla="val 4706"/>
            </a:avLst>
          </a:prstGeom>
          <a:solidFill>
            <a:schemeClr val="bg2"/>
          </a:solidFill>
          <a:ln/>
        </p:spPr>
      </p:sp>
      <p:sp>
        <p:nvSpPr>
          <p:cNvPr id="4" name="Screens tile"/>
          <p:cNvSpPr/>
          <p:nvPr/>
        </p:nvSpPr>
        <p:spPr>
          <a:xfrm>
            <a:off x="822960" y="1645920"/>
            <a:ext cx="640080" cy="640080"/>
          </a:xfrm>
          <a:prstGeom prst="roundRect">
            <a:avLst>
              <a:gd name="adj" fmla="val 24000"/>
            </a:avLst>
          </a:prstGeom>
          <a:solidFill>
            <a:schemeClr val="accent1">
              <a:alpha val="14000"/>
            </a:schemeClr>
          </a:solidFill>
          <a:ln/>
        </p:spPr>
      </p:sp>
      <p:pic>
        <p:nvPicPr>
          <p:cNvPr id="5" name="Screens icon" descr="preencoded.png">    </p:cNvPr>
          <p:cNvPicPr>
            <a:picLocks noChangeAspect="1"/>
          </p:cNvPicPr>
          <p:nvPr/>
        </p:nvPicPr>
        <p:blipFill>
          <a:blip r:embed="rId1"/>
          <a:stretch>
            <a:fillRect/>
          </a:stretch>
        </p:blipFill>
        <p:spPr>
          <a:xfrm>
            <a:off x="963778" y="1786738"/>
            <a:ext cx="358445" cy="358445"/>
          </a:xfrm>
          <a:prstGeom prst="rect">
            <a:avLst/>
          </a:prstGeom>
        </p:spPr>
      </p:pic>
      <p:sp>
        <p:nvSpPr>
          <p:cNvPr id="6" name="Text 3"/>
          <p:cNvSpPr txBox="1"/>
          <p:nvPr/>
        </p:nvSpPr>
        <p:spPr>
          <a:xfrm>
            <a:off x="1645920" y="1755648"/>
            <a:ext cx="2286000" cy="411480"/>
          </a:xfrm>
          <a:prstGeom prst="rect">
            <a:avLst/>
          </a:prstGeom>
          <a:noFill/>
          <a:ln/>
        </p:spPr>
        <p:txBody>
          <a:bodyPr wrap="square" lIns="0" tIns="0" rIns="0" bIns="0" rtlCol="0" anchor="t"/>
          <a:lstStyle/>
          <a:p>
            <a:pPr indent="0" marL="0">
              <a:buNone/>
            </a:pPr>
            <a:r>
              <a:rPr lang="en-US" sz="2000" b="1" dirty="0">
                <a:solidFill>
                  <a:schemeClr val="tx2"/>
                </a:solidFill>
              </a:rPr>
              <a:t>Screens</a:t>
            </a:r>
            <a:endParaRPr lang="en-US" sz="2000" dirty="0"/>
          </a:p>
        </p:txBody>
      </p:sp>
      <p:sp>
        <p:nvSpPr>
          <p:cNvPr id="7" name="Text 4"/>
          <p:cNvSpPr txBox="1"/>
          <p:nvPr/>
        </p:nvSpPr>
        <p:spPr>
          <a:xfrm>
            <a:off x="822960" y="2423160"/>
            <a:ext cx="3063240" cy="685800"/>
          </a:xfrm>
          <a:prstGeom prst="rect">
            <a:avLst/>
          </a:prstGeom>
          <a:noFill/>
          <a:ln/>
        </p:spPr>
        <p:txBody>
          <a:bodyPr wrap="square" lIns="0" tIns="0" rIns="0" bIns="0" rtlCol="0" anchor="t"/>
          <a:lstStyle/>
          <a:p>
            <a:pPr indent="0" marL="0">
              <a:buNone/>
            </a:pPr>
            <a:r>
              <a:rPr lang="en-US" sz="1300" b="1" dirty="0">
                <a:solidFill>
                  <a:schemeClr val="accent1"/>
                </a:solidFill>
                <a:latin typeface="Courier New" pitchFamily="34" charset="0"/>
                <a:ea typeface="Courier New" pitchFamily="34" charset="-122"/>
                <a:cs typeface="Courier New" pitchFamily="34" charset="-120"/>
              </a:rPr>
              <a:t>app.py</a:t>
            </a:r>
            <a:endParaRPr lang="en-US" sz="1400" dirty="0"/>
          </a:p>
        </p:txBody>
      </p:sp>
      <p:sp>
        <p:nvSpPr>
          <p:cNvPr id="8" name="Text 5"/>
          <p:cNvSpPr txBox="1"/>
          <p:nvPr/>
        </p:nvSpPr>
        <p:spPr>
          <a:xfrm>
            <a:off x="822960" y="3218688"/>
            <a:ext cx="3063240" cy="320040"/>
          </a:xfrm>
          <a:prstGeom prst="rect">
            <a:avLst/>
          </a:prstGeom>
          <a:noFill/>
          <a:ln/>
        </p:spPr>
        <p:txBody>
          <a:bodyPr wrap="square" lIns="0" tIns="0" rIns="0" bIns="0" rtlCol="0" anchor="t"/>
          <a:lstStyle/>
          <a:p>
            <a:pPr indent="0" marL="0">
              <a:buNone/>
            </a:pPr>
            <a:r>
              <a:rPr lang="en-US" sz="1400" dirty="0">
                <a:solidFill>
                  <a:schemeClr val="tx1"/>
                </a:solidFill>
              </a:rPr>
              <a:t>All 8 pages, charts and forms</a:t>
            </a:r>
            <a:endParaRPr lang="en-US" sz="1400" dirty="0"/>
          </a:p>
        </p:txBody>
      </p:sp>
      <p:sp>
        <p:nvSpPr>
          <p:cNvPr id="9" name="Bridge card"/>
          <p:cNvSpPr/>
          <p:nvPr/>
        </p:nvSpPr>
        <p:spPr>
          <a:xfrm>
            <a:off x="4297680" y="1371600"/>
            <a:ext cx="3520440" cy="2331720"/>
          </a:xfrm>
          <a:prstGeom prst="roundRect">
            <a:avLst>
              <a:gd name="adj" fmla="val 4706"/>
            </a:avLst>
          </a:prstGeom>
          <a:solidFill>
            <a:schemeClr val="bg2"/>
          </a:solidFill>
          <a:ln/>
        </p:spPr>
      </p:sp>
      <p:sp>
        <p:nvSpPr>
          <p:cNvPr id="10" name="Bridge tile"/>
          <p:cNvSpPr/>
          <p:nvPr/>
        </p:nvSpPr>
        <p:spPr>
          <a:xfrm>
            <a:off x="4572000" y="1645920"/>
            <a:ext cx="640080" cy="640080"/>
          </a:xfrm>
          <a:prstGeom prst="roundRect">
            <a:avLst>
              <a:gd name="adj" fmla="val 24000"/>
            </a:avLst>
          </a:prstGeom>
          <a:solidFill>
            <a:schemeClr val="accent2">
              <a:alpha val="14000"/>
            </a:schemeClr>
          </a:solidFill>
          <a:ln/>
        </p:spPr>
      </p:sp>
      <p:pic>
        <p:nvPicPr>
          <p:cNvPr id="11" name="Bridge icon" descr="preencoded.png">    </p:cNvPr>
          <p:cNvPicPr>
            <a:picLocks noChangeAspect="1"/>
          </p:cNvPicPr>
          <p:nvPr/>
        </p:nvPicPr>
        <p:blipFill>
          <a:blip r:embed="rId2"/>
          <a:stretch>
            <a:fillRect/>
          </a:stretch>
        </p:blipFill>
        <p:spPr>
          <a:xfrm>
            <a:off x="4712818" y="1786738"/>
            <a:ext cx="358445" cy="358445"/>
          </a:xfrm>
          <a:prstGeom prst="rect">
            <a:avLst/>
          </a:prstGeom>
        </p:spPr>
      </p:pic>
      <p:sp>
        <p:nvSpPr>
          <p:cNvPr id="12" name="Text 8"/>
          <p:cNvSpPr txBox="1"/>
          <p:nvPr/>
        </p:nvSpPr>
        <p:spPr>
          <a:xfrm>
            <a:off x="5394960" y="1755648"/>
            <a:ext cx="2286000" cy="411480"/>
          </a:xfrm>
          <a:prstGeom prst="rect">
            <a:avLst/>
          </a:prstGeom>
          <a:noFill/>
          <a:ln/>
        </p:spPr>
        <p:txBody>
          <a:bodyPr wrap="square" lIns="0" tIns="0" rIns="0" bIns="0" rtlCol="0" anchor="t"/>
          <a:lstStyle/>
          <a:p>
            <a:pPr indent="0" marL="0">
              <a:buNone/>
            </a:pPr>
            <a:r>
              <a:rPr lang="en-US" sz="2000" b="1" dirty="0">
                <a:solidFill>
                  <a:schemeClr val="tx2"/>
                </a:solidFill>
              </a:rPr>
              <a:t>Bridge</a:t>
            </a:r>
            <a:endParaRPr lang="en-US" sz="2000" dirty="0"/>
          </a:p>
        </p:txBody>
      </p:sp>
      <p:sp>
        <p:nvSpPr>
          <p:cNvPr id="13" name="Text 9"/>
          <p:cNvSpPr txBox="1"/>
          <p:nvPr/>
        </p:nvSpPr>
        <p:spPr>
          <a:xfrm>
            <a:off x="4572000" y="2423160"/>
            <a:ext cx="3063240" cy="685800"/>
          </a:xfrm>
          <a:prstGeom prst="rect">
            <a:avLst/>
          </a:prstGeom>
          <a:noFill/>
          <a:ln/>
        </p:spPr>
        <p:txBody>
          <a:bodyPr wrap="square" lIns="0" tIns="0" rIns="0" bIns="0" rtlCol="0" anchor="t"/>
          <a:lstStyle/>
          <a:p>
            <a:pPr indent="0" marL="0">
              <a:buNone/>
            </a:pPr>
            <a:r>
              <a:rPr lang="en-US" sz="1300" b="1" dirty="0">
                <a:solidFill>
                  <a:schemeClr val="accent1"/>
                </a:solidFill>
                <a:latin typeface="Courier New" pitchFamily="34" charset="0"/>
                <a:ea typeface="Courier New" pitchFamily="34" charset="-122"/>
                <a:cs typeface="Courier New" pitchFamily="34" charset="-120"/>
              </a:rPr>
              <a:t>c_bridge.py</a:t>
            </a:r>
            <a:endParaRPr lang="en-US" sz="1400" dirty="0"/>
          </a:p>
        </p:txBody>
      </p:sp>
      <p:sp>
        <p:nvSpPr>
          <p:cNvPr id="14" name="Text 10"/>
          <p:cNvSpPr txBox="1"/>
          <p:nvPr/>
        </p:nvSpPr>
        <p:spPr>
          <a:xfrm>
            <a:off x="4572000" y="3218688"/>
            <a:ext cx="3063240" cy="320040"/>
          </a:xfrm>
          <a:prstGeom prst="rect">
            <a:avLst/>
          </a:prstGeom>
          <a:noFill/>
          <a:ln/>
        </p:spPr>
        <p:txBody>
          <a:bodyPr wrap="square" lIns="0" tIns="0" rIns="0" bIns="0" rtlCol="0" anchor="t"/>
          <a:lstStyle/>
          <a:p>
            <a:pPr indent="0" marL="0">
              <a:buNone/>
            </a:pPr>
            <a:r>
              <a:rPr lang="en-US" sz="1400" dirty="0">
                <a:solidFill>
                  <a:schemeClr val="tx1"/>
                </a:solidFill>
              </a:rPr>
              <a:t>Python &lt;-&gt; C translation</a:t>
            </a:r>
            <a:endParaRPr lang="en-US" sz="1400" dirty="0"/>
          </a:p>
        </p:txBody>
      </p:sp>
      <p:sp>
        <p:nvSpPr>
          <p:cNvPr id="15" name="Data card"/>
          <p:cNvSpPr/>
          <p:nvPr/>
        </p:nvSpPr>
        <p:spPr>
          <a:xfrm>
            <a:off x="8046720" y="1371600"/>
            <a:ext cx="3520440" cy="2331720"/>
          </a:xfrm>
          <a:prstGeom prst="roundRect">
            <a:avLst>
              <a:gd name="adj" fmla="val 4706"/>
            </a:avLst>
          </a:prstGeom>
          <a:solidFill>
            <a:schemeClr val="bg2"/>
          </a:solidFill>
          <a:ln/>
        </p:spPr>
      </p:sp>
      <p:sp>
        <p:nvSpPr>
          <p:cNvPr id="16" name="Data tile"/>
          <p:cNvSpPr/>
          <p:nvPr/>
        </p:nvSpPr>
        <p:spPr>
          <a:xfrm>
            <a:off x="8321040" y="1645920"/>
            <a:ext cx="640080" cy="640080"/>
          </a:xfrm>
          <a:prstGeom prst="roundRect">
            <a:avLst>
              <a:gd name="adj" fmla="val 24000"/>
            </a:avLst>
          </a:prstGeom>
          <a:solidFill>
            <a:schemeClr val="accent3">
              <a:alpha val="14000"/>
            </a:schemeClr>
          </a:solidFill>
          <a:ln/>
        </p:spPr>
      </p:sp>
      <p:pic>
        <p:nvPicPr>
          <p:cNvPr id="17" name="Data icon" descr="preencoded.png">    </p:cNvPr>
          <p:cNvPicPr>
            <a:picLocks noChangeAspect="1"/>
          </p:cNvPicPr>
          <p:nvPr/>
        </p:nvPicPr>
        <p:blipFill>
          <a:blip r:embed="rId3"/>
          <a:stretch>
            <a:fillRect/>
          </a:stretch>
        </p:blipFill>
        <p:spPr>
          <a:xfrm>
            <a:off x="8461858" y="1786738"/>
            <a:ext cx="358445" cy="358445"/>
          </a:xfrm>
          <a:prstGeom prst="rect">
            <a:avLst/>
          </a:prstGeom>
        </p:spPr>
      </p:pic>
      <p:sp>
        <p:nvSpPr>
          <p:cNvPr id="18" name="Text 13"/>
          <p:cNvSpPr txBox="1"/>
          <p:nvPr/>
        </p:nvSpPr>
        <p:spPr>
          <a:xfrm>
            <a:off x="9144000" y="1755648"/>
            <a:ext cx="2286000" cy="411480"/>
          </a:xfrm>
          <a:prstGeom prst="rect">
            <a:avLst/>
          </a:prstGeom>
          <a:noFill/>
          <a:ln/>
        </p:spPr>
        <p:txBody>
          <a:bodyPr wrap="square" lIns="0" tIns="0" rIns="0" bIns="0" rtlCol="0" anchor="t"/>
          <a:lstStyle/>
          <a:p>
            <a:pPr indent="0" marL="0">
              <a:buNone/>
            </a:pPr>
            <a:r>
              <a:rPr lang="en-US" sz="2000" b="1" dirty="0">
                <a:solidFill>
                  <a:schemeClr val="tx2"/>
                </a:solidFill>
              </a:rPr>
              <a:t>Data</a:t>
            </a:r>
            <a:endParaRPr lang="en-US" sz="2000" dirty="0"/>
          </a:p>
        </p:txBody>
      </p:sp>
      <p:sp>
        <p:nvSpPr>
          <p:cNvPr id="19" name="Text 14"/>
          <p:cNvSpPr txBox="1"/>
          <p:nvPr/>
        </p:nvSpPr>
        <p:spPr>
          <a:xfrm>
            <a:off x="8321040" y="2423160"/>
            <a:ext cx="3063240" cy="685800"/>
          </a:xfrm>
          <a:prstGeom prst="rect">
            <a:avLst/>
          </a:prstGeom>
          <a:noFill/>
          <a:ln/>
        </p:spPr>
        <p:txBody>
          <a:bodyPr wrap="square" lIns="0" tIns="0" rIns="0" bIns="0" rtlCol="0" anchor="t"/>
          <a:lstStyle/>
          <a:p>
            <a:pPr indent="0" marL="0">
              <a:buNone/>
            </a:pPr>
            <a:r>
              <a:rPr lang="en-US" sz="1300" b="1" dirty="0">
                <a:solidFill>
                  <a:schemeClr val="accent1"/>
                </a:solidFill>
                <a:latin typeface="Courier New" pitchFamily="34" charset="0"/>
                <a:ea typeface="Courier New" pitchFamily="34" charset="-122"/>
                <a:cs typeface="Courier New" pitchFamily="34" charset="-120"/>
              </a:rPr>
              <a:t>database.py</a:t>
            </a:r>
            <a:endParaRPr lang="en-US" sz="1400" dirty="0"/>
          </a:p>
          <a:p>
            <a:pPr indent="0" marL="0">
              <a:buNone/>
            </a:pPr>
            <a:r>
              <a:rPr lang="en-US" sz="1300" b="1" dirty="0">
                <a:solidFill>
                  <a:schemeClr val="accent1"/>
                </a:solidFill>
                <a:latin typeface="Courier New" pitchFamily="34" charset="0"/>
                <a:ea typeface="Courier New" pitchFamily="34" charset="-122"/>
                <a:cs typeface="Courier New" pitchFamily="34" charset="-120"/>
              </a:rPr>
              <a:t>schema.sql</a:t>
            </a:r>
            <a:endParaRPr lang="en-US" sz="1400" dirty="0"/>
          </a:p>
        </p:txBody>
      </p:sp>
      <p:sp>
        <p:nvSpPr>
          <p:cNvPr id="20" name="Text 15"/>
          <p:cNvSpPr txBox="1"/>
          <p:nvPr/>
        </p:nvSpPr>
        <p:spPr>
          <a:xfrm>
            <a:off x="8321040" y="3218688"/>
            <a:ext cx="3063240" cy="320040"/>
          </a:xfrm>
          <a:prstGeom prst="rect">
            <a:avLst/>
          </a:prstGeom>
          <a:noFill/>
          <a:ln/>
        </p:spPr>
        <p:txBody>
          <a:bodyPr wrap="square" lIns="0" tIns="0" rIns="0" bIns="0" rtlCol="0" anchor="t"/>
          <a:lstStyle/>
          <a:p>
            <a:pPr indent="0" marL="0">
              <a:buNone/>
            </a:pPr>
            <a:r>
              <a:rPr lang="en-US" sz="1400" dirty="0">
                <a:solidFill>
                  <a:schemeClr val="tx1"/>
                </a:solidFill>
              </a:rPr>
              <a:t>Tables, saving, sample data</a:t>
            </a:r>
            <a:endParaRPr lang="en-US" sz="1400" dirty="0"/>
          </a:p>
        </p:txBody>
      </p:sp>
      <p:sp>
        <p:nvSpPr>
          <p:cNvPr id="21" name="C engine card"/>
          <p:cNvSpPr/>
          <p:nvPr/>
        </p:nvSpPr>
        <p:spPr>
          <a:xfrm>
            <a:off x="548640" y="3840480"/>
            <a:ext cx="3520440" cy="2331720"/>
          </a:xfrm>
          <a:prstGeom prst="roundRect">
            <a:avLst>
              <a:gd name="adj" fmla="val 4706"/>
            </a:avLst>
          </a:prstGeom>
          <a:solidFill>
            <a:schemeClr val="bg2"/>
          </a:solidFill>
          <a:ln/>
        </p:spPr>
      </p:sp>
      <p:sp>
        <p:nvSpPr>
          <p:cNvPr id="22" name="C engine tile"/>
          <p:cNvSpPr/>
          <p:nvPr/>
        </p:nvSpPr>
        <p:spPr>
          <a:xfrm>
            <a:off x="822960" y="4114800"/>
            <a:ext cx="640080" cy="640080"/>
          </a:xfrm>
          <a:prstGeom prst="roundRect">
            <a:avLst>
              <a:gd name="adj" fmla="val 24000"/>
            </a:avLst>
          </a:prstGeom>
          <a:solidFill>
            <a:schemeClr val="accent4">
              <a:alpha val="14000"/>
            </a:schemeClr>
          </a:solidFill>
          <a:ln/>
        </p:spPr>
      </p:sp>
      <p:pic>
        <p:nvPicPr>
          <p:cNvPr id="23" name="C engine icon" descr="preencoded.png">    </p:cNvPr>
          <p:cNvPicPr>
            <a:picLocks noChangeAspect="1"/>
          </p:cNvPicPr>
          <p:nvPr/>
        </p:nvPicPr>
        <p:blipFill>
          <a:blip r:embed="rId4"/>
          <a:stretch>
            <a:fillRect/>
          </a:stretch>
        </p:blipFill>
        <p:spPr>
          <a:xfrm>
            <a:off x="963778" y="4255618"/>
            <a:ext cx="358445" cy="358445"/>
          </a:xfrm>
          <a:prstGeom prst="rect">
            <a:avLst/>
          </a:prstGeom>
        </p:spPr>
      </p:pic>
      <p:sp>
        <p:nvSpPr>
          <p:cNvPr id="24" name="Text 18"/>
          <p:cNvSpPr txBox="1"/>
          <p:nvPr/>
        </p:nvSpPr>
        <p:spPr>
          <a:xfrm>
            <a:off x="1645920" y="4224528"/>
            <a:ext cx="2286000" cy="411480"/>
          </a:xfrm>
          <a:prstGeom prst="rect">
            <a:avLst/>
          </a:prstGeom>
          <a:noFill/>
          <a:ln/>
        </p:spPr>
        <p:txBody>
          <a:bodyPr wrap="square" lIns="0" tIns="0" rIns="0" bIns="0" rtlCol="0" anchor="t"/>
          <a:lstStyle/>
          <a:p>
            <a:pPr indent="0" marL="0">
              <a:buNone/>
            </a:pPr>
            <a:r>
              <a:rPr lang="en-US" sz="2000" b="1" dirty="0">
                <a:solidFill>
                  <a:schemeClr val="tx2"/>
                </a:solidFill>
              </a:rPr>
              <a:t>C engine</a:t>
            </a:r>
            <a:endParaRPr lang="en-US" sz="2000" dirty="0"/>
          </a:p>
        </p:txBody>
      </p:sp>
      <p:sp>
        <p:nvSpPr>
          <p:cNvPr id="25" name="Text 19"/>
          <p:cNvSpPr txBox="1"/>
          <p:nvPr/>
        </p:nvSpPr>
        <p:spPr>
          <a:xfrm>
            <a:off x="822960" y="4892040"/>
            <a:ext cx="3063240" cy="685800"/>
          </a:xfrm>
          <a:prstGeom prst="rect">
            <a:avLst/>
          </a:prstGeom>
          <a:noFill/>
          <a:ln/>
        </p:spPr>
        <p:txBody>
          <a:bodyPr wrap="square" lIns="0" tIns="0" rIns="0" bIns="0" rtlCol="0" anchor="t"/>
          <a:lstStyle/>
          <a:p>
            <a:pPr indent="0" marL="0">
              <a:buNone/>
            </a:pPr>
            <a:r>
              <a:rPr lang="en-US" sz="1300" b="1" dirty="0">
                <a:solidFill>
                  <a:schemeClr val="accent1"/>
                </a:solidFill>
                <a:latin typeface="Courier New" pitchFamily="34" charset="0"/>
                <a:ea typeface="Courier New" pitchFamily="34" charset="-122"/>
                <a:cs typeface="Courier New" pitchFamily="34" charset="-120"/>
              </a:rPr>
              <a:t>backend/*.c</a:t>
            </a:r>
            <a:endParaRPr lang="en-US" sz="1400" dirty="0"/>
          </a:p>
          <a:p>
            <a:pPr indent="0" marL="0">
              <a:buNone/>
            </a:pPr>
            <a:r>
              <a:rPr lang="en-US" sz="1300" b="1" dirty="0">
                <a:solidFill>
                  <a:schemeClr val="accent1"/>
                </a:solidFill>
                <a:latin typeface="Courier New" pitchFamily="34" charset="0"/>
                <a:ea typeface="Courier New" pitchFamily="34" charset="-122"/>
                <a:cs typeface="Courier New" pitchFamily="34" charset="-120"/>
              </a:rPr>
              <a:t>inventory_types.h</a:t>
            </a:r>
            <a:endParaRPr lang="en-US" sz="1400" dirty="0"/>
          </a:p>
          <a:p>
            <a:pPr indent="0" marL="0">
              <a:buNone/>
            </a:pPr>
            <a:r>
              <a:rPr lang="en-US" sz="1300" b="1" dirty="0">
                <a:solidFill>
                  <a:schemeClr val="accent1"/>
                </a:solidFill>
                <a:latin typeface="Courier New" pitchFamily="34" charset="0"/>
                <a:ea typeface="Courier New" pitchFamily="34" charset="-122"/>
                <a:cs typeface="Courier New" pitchFamily="34" charset="-120"/>
              </a:rPr>
              <a:t>Makefile</a:t>
            </a:r>
            <a:endParaRPr lang="en-US" sz="1400" dirty="0"/>
          </a:p>
        </p:txBody>
      </p:sp>
      <p:sp>
        <p:nvSpPr>
          <p:cNvPr id="26" name="Text 20"/>
          <p:cNvSpPr txBox="1"/>
          <p:nvPr/>
        </p:nvSpPr>
        <p:spPr>
          <a:xfrm>
            <a:off x="822960" y="5687568"/>
            <a:ext cx="3063240" cy="320040"/>
          </a:xfrm>
          <a:prstGeom prst="rect">
            <a:avLst/>
          </a:prstGeom>
          <a:noFill/>
          <a:ln/>
        </p:spPr>
        <p:txBody>
          <a:bodyPr wrap="square" lIns="0" tIns="0" rIns="0" bIns="0" rtlCol="0" anchor="t"/>
          <a:lstStyle/>
          <a:p>
            <a:pPr indent="0" marL="0">
              <a:buNone/>
            </a:pPr>
            <a:r>
              <a:rPr lang="en-US" sz="1400" dirty="0">
                <a:solidFill>
                  <a:schemeClr val="tx1"/>
                </a:solidFill>
              </a:rPr>
              <a:t>The DSA code, compiled to a library</a:t>
            </a:r>
            <a:endParaRPr lang="en-US" sz="1400" dirty="0"/>
          </a:p>
        </p:txBody>
      </p:sp>
      <p:sp>
        <p:nvSpPr>
          <p:cNvPr id="27" name="Tests card"/>
          <p:cNvSpPr/>
          <p:nvPr/>
        </p:nvSpPr>
        <p:spPr>
          <a:xfrm>
            <a:off x="4297680" y="3840480"/>
            <a:ext cx="3520440" cy="2331720"/>
          </a:xfrm>
          <a:prstGeom prst="roundRect">
            <a:avLst>
              <a:gd name="adj" fmla="val 4706"/>
            </a:avLst>
          </a:prstGeom>
          <a:solidFill>
            <a:schemeClr val="bg2"/>
          </a:solidFill>
          <a:ln/>
        </p:spPr>
      </p:sp>
      <p:sp>
        <p:nvSpPr>
          <p:cNvPr id="28" name="Tests tile"/>
          <p:cNvSpPr/>
          <p:nvPr/>
        </p:nvSpPr>
        <p:spPr>
          <a:xfrm>
            <a:off x="4572000" y="4114800"/>
            <a:ext cx="640080" cy="640080"/>
          </a:xfrm>
          <a:prstGeom prst="roundRect">
            <a:avLst>
              <a:gd name="adj" fmla="val 24000"/>
            </a:avLst>
          </a:prstGeom>
          <a:solidFill>
            <a:schemeClr val="accent5">
              <a:alpha val="14000"/>
            </a:schemeClr>
          </a:solidFill>
          <a:ln/>
        </p:spPr>
      </p:sp>
      <p:pic>
        <p:nvPicPr>
          <p:cNvPr id="29" name="Tests icon" descr="preencoded.png">    </p:cNvPr>
          <p:cNvPicPr>
            <a:picLocks noChangeAspect="1"/>
          </p:cNvPicPr>
          <p:nvPr/>
        </p:nvPicPr>
        <p:blipFill>
          <a:blip r:embed="rId5"/>
          <a:stretch>
            <a:fillRect/>
          </a:stretch>
        </p:blipFill>
        <p:spPr>
          <a:xfrm>
            <a:off x="4712818" y="4255618"/>
            <a:ext cx="358445" cy="358445"/>
          </a:xfrm>
          <a:prstGeom prst="rect">
            <a:avLst/>
          </a:prstGeom>
        </p:spPr>
      </p:pic>
      <p:sp>
        <p:nvSpPr>
          <p:cNvPr id="30" name="Text 23"/>
          <p:cNvSpPr txBox="1"/>
          <p:nvPr/>
        </p:nvSpPr>
        <p:spPr>
          <a:xfrm>
            <a:off x="5394960" y="4224528"/>
            <a:ext cx="2286000" cy="411480"/>
          </a:xfrm>
          <a:prstGeom prst="rect">
            <a:avLst/>
          </a:prstGeom>
          <a:noFill/>
          <a:ln/>
        </p:spPr>
        <p:txBody>
          <a:bodyPr wrap="square" lIns="0" tIns="0" rIns="0" bIns="0" rtlCol="0" anchor="t"/>
          <a:lstStyle/>
          <a:p>
            <a:pPr indent="0" marL="0">
              <a:buNone/>
            </a:pPr>
            <a:r>
              <a:rPr lang="en-US" sz="2000" b="1" dirty="0">
                <a:solidFill>
                  <a:schemeClr val="tx2"/>
                </a:solidFill>
              </a:rPr>
              <a:t>Tests</a:t>
            </a:r>
            <a:endParaRPr lang="en-US" sz="2000" dirty="0"/>
          </a:p>
        </p:txBody>
      </p:sp>
      <p:sp>
        <p:nvSpPr>
          <p:cNvPr id="31" name="Text 24"/>
          <p:cNvSpPr txBox="1"/>
          <p:nvPr/>
        </p:nvSpPr>
        <p:spPr>
          <a:xfrm>
            <a:off x="4572000" y="4892040"/>
            <a:ext cx="3063240" cy="685800"/>
          </a:xfrm>
          <a:prstGeom prst="rect">
            <a:avLst/>
          </a:prstGeom>
          <a:noFill/>
          <a:ln/>
        </p:spPr>
        <p:txBody>
          <a:bodyPr wrap="square" lIns="0" tIns="0" rIns="0" bIns="0" rtlCol="0" anchor="t"/>
          <a:lstStyle/>
          <a:p>
            <a:pPr indent="0" marL="0">
              <a:buNone/>
            </a:pPr>
            <a:r>
              <a:rPr lang="en-US" sz="1300" b="1" dirty="0">
                <a:solidFill>
                  <a:schemeClr val="accent1"/>
                </a:solidFill>
                <a:latin typeface="Courier New" pitchFamily="34" charset="0"/>
                <a:ea typeface="Courier New" pitchFamily="34" charset="-122"/>
                <a:cs typeface="Courier New" pitchFamily="34" charset="-120"/>
              </a:rPr>
              <a:t>backend/tests/</a:t>
            </a:r>
            <a:endParaRPr lang="en-US" sz="1400" dirty="0"/>
          </a:p>
          <a:p>
            <a:pPr indent="0" marL="0">
              <a:buNone/>
            </a:pPr>
            <a:r>
              <a:rPr lang="en-US" sz="1300" b="1" dirty="0">
                <a:solidFill>
                  <a:schemeClr val="accent1"/>
                </a:solidFill>
                <a:latin typeface="Courier New" pitchFamily="34" charset="0"/>
                <a:ea typeface="Courier New" pitchFamily="34" charset="-122"/>
                <a:cs typeface="Courier New" pitchFamily="34" charset="-120"/>
              </a:rPr>
              <a:t>tests/</a:t>
            </a:r>
            <a:endParaRPr lang="en-US" sz="1400" dirty="0"/>
          </a:p>
        </p:txBody>
      </p:sp>
      <p:sp>
        <p:nvSpPr>
          <p:cNvPr id="32" name="Text 25"/>
          <p:cNvSpPr txBox="1"/>
          <p:nvPr/>
        </p:nvSpPr>
        <p:spPr>
          <a:xfrm>
            <a:off x="4572000" y="5687568"/>
            <a:ext cx="3063240" cy="320040"/>
          </a:xfrm>
          <a:prstGeom prst="rect">
            <a:avLst/>
          </a:prstGeom>
          <a:noFill/>
          <a:ln/>
        </p:spPr>
        <p:txBody>
          <a:bodyPr wrap="square" lIns="0" tIns="0" rIns="0" bIns="0" rtlCol="0" anchor="t"/>
          <a:lstStyle/>
          <a:p>
            <a:pPr indent="0" marL="0">
              <a:buNone/>
            </a:pPr>
            <a:r>
              <a:rPr lang="en-US" sz="1400" dirty="0">
                <a:solidFill>
                  <a:schemeClr val="tx1"/>
                </a:solidFill>
              </a:rPr>
              <a:t>Prove each part works</a:t>
            </a:r>
            <a:endParaRPr lang="en-US" sz="1400" dirty="0"/>
          </a:p>
        </p:txBody>
      </p:sp>
      <p:sp>
        <p:nvSpPr>
          <p:cNvPr id="33" name="Docs and design card"/>
          <p:cNvSpPr/>
          <p:nvPr/>
        </p:nvSpPr>
        <p:spPr>
          <a:xfrm>
            <a:off x="8046720" y="3840480"/>
            <a:ext cx="3520440" cy="2331720"/>
          </a:xfrm>
          <a:prstGeom prst="roundRect">
            <a:avLst>
              <a:gd name="adj" fmla="val 4706"/>
            </a:avLst>
          </a:prstGeom>
          <a:solidFill>
            <a:schemeClr val="bg2"/>
          </a:solidFill>
          <a:ln/>
        </p:spPr>
      </p:sp>
      <p:sp>
        <p:nvSpPr>
          <p:cNvPr id="34" name="Docs and design tile"/>
          <p:cNvSpPr/>
          <p:nvPr/>
        </p:nvSpPr>
        <p:spPr>
          <a:xfrm>
            <a:off x="8321040" y="4114800"/>
            <a:ext cx="640080" cy="640080"/>
          </a:xfrm>
          <a:prstGeom prst="roundRect">
            <a:avLst>
              <a:gd name="adj" fmla="val 24000"/>
            </a:avLst>
          </a:prstGeom>
          <a:solidFill>
            <a:schemeClr val="accent6">
              <a:alpha val="14000"/>
            </a:schemeClr>
          </a:solidFill>
          <a:ln/>
        </p:spPr>
      </p:sp>
      <p:pic>
        <p:nvPicPr>
          <p:cNvPr id="35" name="Docs and design icon" descr="preencoded.png">    </p:cNvPr>
          <p:cNvPicPr>
            <a:picLocks noChangeAspect="1"/>
          </p:cNvPicPr>
          <p:nvPr/>
        </p:nvPicPr>
        <p:blipFill>
          <a:blip r:embed="rId6"/>
          <a:stretch>
            <a:fillRect/>
          </a:stretch>
        </p:blipFill>
        <p:spPr>
          <a:xfrm>
            <a:off x="8461858" y="4255618"/>
            <a:ext cx="358445" cy="358445"/>
          </a:xfrm>
          <a:prstGeom prst="rect">
            <a:avLst/>
          </a:prstGeom>
        </p:spPr>
      </p:pic>
      <p:sp>
        <p:nvSpPr>
          <p:cNvPr id="36" name="Text 28"/>
          <p:cNvSpPr txBox="1"/>
          <p:nvPr/>
        </p:nvSpPr>
        <p:spPr>
          <a:xfrm>
            <a:off x="9144000" y="4224528"/>
            <a:ext cx="2286000" cy="411480"/>
          </a:xfrm>
          <a:prstGeom prst="rect">
            <a:avLst/>
          </a:prstGeom>
          <a:noFill/>
          <a:ln/>
        </p:spPr>
        <p:txBody>
          <a:bodyPr wrap="square" lIns="0" tIns="0" rIns="0" bIns="0" rtlCol="0" anchor="t"/>
          <a:lstStyle/>
          <a:p>
            <a:pPr indent="0" marL="0">
              <a:buNone/>
            </a:pPr>
            <a:r>
              <a:rPr lang="en-US" sz="2000" b="1" dirty="0">
                <a:solidFill>
                  <a:schemeClr val="tx2"/>
                </a:solidFill>
              </a:rPr>
              <a:t>Docs and design</a:t>
            </a:r>
            <a:endParaRPr lang="en-US" sz="2000" dirty="0"/>
          </a:p>
        </p:txBody>
      </p:sp>
      <p:sp>
        <p:nvSpPr>
          <p:cNvPr id="37" name="Text 29"/>
          <p:cNvSpPr txBox="1"/>
          <p:nvPr/>
        </p:nvSpPr>
        <p:spPr>
          <a:xfrm>
            <a:off x="8321040" y="4892040"/>
            <a:ext cx="3063240" cy="685800"/>
          </a:xfrm>
          <a:prstGeom prst="rect">
            <a:avLst/>
          </a:prstGeom>
          <a:noFill/>
          <a:ln/>
        </p:spPr>
        <p:txBody>
          <a:bodyPr wrap="square" lIns="0" tIns="0" rIns="0" bIns="0" rtlCol="0" anchor="t"/>
          <a:lstStyle/>
          <a:p>
            <a:pPr indent="0" marL="0">
              <a:buNone/>
            </a:pPr>
            <a:r>
              <a:rPr lang="en-US" sz="1300" b="1" dirty="0">
                <a:solidFill>
                  <a:schemeClr val="accent1"/>
                </a:solidFill>
                <a:latin typeface="Courier New" pitchFamily="34" charset="0"/>
                <a:ea typeface="Courier New" pitchFamily="34" charset="-122"/>
                <a:cs typeface="Courier New" pitchFamily="34" charset="-120"/>
              </a:rPr>
              <a:t>README.md</a:t>
            </a:r>
            <a:endParaRPr lang="en-US" sz="1400" dirty="0"/>
          </a:p>
          <a:p>
            <a:pPr indent="0" marL="0">
              <a:buNone/>
            </a:pPr>
            <a:r>
              <a:rPr lang="en-US" sz="1300" b="1" dirty="0">
                <a:solidFill>
                  <a:schemeClr val="accent1"/>
                </a:solidFill>
                <a:latin typeface="Courier New" pitchFamily="34" charset="0"/>
                <a:ea typeface="Courier New" pitchFamily="34" charset="-122"/>
                <a:cs typeface="Courier New" pitchFamily="34" charset="-120"/>
              </a:rPr>
              <a:t>docs/</a:t>
            </a:r>
            <a:endParaRPr lang="en-US" sz="1400" dirty="0"/>
          </a:p>
          <a:p>
            <a:pPr indent="0" marL="0">
              <a:buNone/>
            </a:pPr>
            <a:r>
              <a:rPr lang="en-US" sz="1300" b="1" dirty="0">
                <a:solidFill>
                  <a:schemeClr val="accent1"/>
                </a:solidFill>
                <a:latin typeface="Courier New" pitchFamily="34" charset="0"/>
                <a:ea typeface="Courier New" pitchFamily="34" charset="-122"/>
                <a:cs typeface="Courier New" pitchFamily="34" charset="-120"/>
              </a:rPr>
              <a:t>assets/</a:t>
            </a:r>
            <a:endParaRPr lang="en-US" sz="1400" dirty="0"/>
          </a:p>
        </p:txBody>
      </p:sp>
      <p:sp>
        <p:nvSpPr>
          <p:cNvPr id="38" name="Text 30"/>
          <p:cNvSpPr txBox="1"/>
          <p:nvPr/>
        </p:nvSpPr>
        <p:spPr>
          <a:xfrm>
            <a:off x="8321040" y="5687568"/>
            <a:ext cx="3063240" cy="320040"/>
          </a:xfrm>
          <a:prstGeom prst="rect">
            <a:avLst/>
          </a:prstGeom>
          <a:noFill/>
          <a:ln/>
        </p:spPr>
        <p:txBody>
          <a:bodyPr wrap="square" lIns="0" tIns="0" rIns="0" bIns="0" rtlCol="0" anchor="t"/>
          <a:lstStyle/>
          <a:p>
            <a:pPr indent="0" marL="0">
              <a:buNone/>
            </a:pPr>
            <a:r>
              <a:rPr lang="en-US" sz="1400" dirty="0">
                <a:solidFill>
                  <a:schemeClr val="tx1"/>
                </a:solidFill>
              </a:rPr>
              <a:t>Setup guide, viva notes, artwork</a:t>
            </a:r>
            <a:endParaRPr lang="en-US" sz="14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731520" y="2377440"/>
            <a:ext cx="10698480" cy="1005840"/>
          </a:xfrm>
          <a:prstGeom prst="rect">
            <a:avLst/>
          </a:prstGeom>
          <a:noFill/>
          <a:ln/>
        </p:spPr>
        <p:txBody>
          <a:bodyPr wrap="square" lIns="0" tIns="0" rIns="0" bIns="0" rtlCol="0" anchor="b"/>
          <a:lstStyle/>
          <a:p>
            <a:pPr algn="l" indent="0" marL="0">
              <a:buNone/>
            </a:pPr>
            <a:r>
              <a:rPr lang="en-US" sz="4400" b="1" dirty="0">
                <a:solidFill>
                  <a:schemeClr val="bg1"/>
                </a:solidFill>
              </a:rPr>
              <a:t>The Python side</a:t>
            </a:r>
            <a:endParaRPr lang="en-US" sz="4400" dirty="0"/>
          </a:p>
        </p:txBody>
      </p:sp>
      <p:sp>
        <p:nvSpPr>
          <p:cNvPr id="3" name="Text 0"/>
          <p:cNvSpPr/>
          <p:nvPr>
            <p:ph idx="101" type="body" hasCustomPrompt="1"/>
          </p:nvPr>
        </p:nvSpPr>
        <p:spPr>
          <a:xfrm>
            <a:off x="731520" y="3520440"/>
            <a:ext cx="10698480" cy="731520"/>
          </a:xfrm>
          <a:prstGeom prst="rect">
            <a:avLst/>
          </a:prstGeom>
          <a:noFill/>
          <a:ln/>
        </p:spPr>
        <p:txBody>
          <a:bodyPr wrap="square" lIns="0" tIns="0" rIns="0" bIns="0" rtlCol="0" anchor="t"/>
          <a:lstStyle/>
          <a:p>
            <a:pPr algn="l" indent="0" marL="0">
              <a:buNone/>
            </a:pPr>
            <a:r>
              <a:rPr lang="en-US" sz="2200" dirty="0">
                <a:solidFill>
                  <a:schemeClr val="bg1"/>
                </a:solidFill>
              </a:rPr>
              <a:t>What the user sees, and where the data is kept</a:t>
            </a:r>
            <a:endParaRPr lang="en-US" sz="22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1"/>
                </a:solidFill>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77240"/>
          </a:xfrm>
          <a:prstGeom prst="rect">
            <a:avLst/>
          </a:prstGeom>
          <a:noFill/>
          <a:ln/>
        </p:spPr>
        <p:txBody>
          <a:bodyPr wrap="square" lIns="0" tIns="0" rIns="0" bIns="0" rtlCol="0" anchor="ctr"/>
          <a:lstStyle/>
          <a:p>
            <a:pPr algn="l" indent="0" marL="0">
              <a:buNone/>
            </a:pPr>
            <a:r>
              <a:rPr lang="en-US" sz="3600" b="1" dirty="0">
                <a:solidFill>
                  <a:schemeClr val="tx2"/>
                </a:solidFill>
              </a:rPr>
              <a:t>The Python files at a glance</a:t>
            </a:r>
            <a:endParaRPr lang="en-US" sz="3600" dirty="0"/>
          </a:p>
        </p:txBody>
      </p:sp>
      <p:sp>
        <p:nvSpPr>
          <p:cNvPr id="3" name="app.py card"/>
          <p:cNvSpPr/>
          <p:nvPr/>
        </p:nvSpPr>
        <p:spPr>
          <a:xfrm>
            <a:off x="548640" y="1371600"/>
            <a:ext cx="3520440" cy="2331720"/>
          </a:xfrm>
          <a:prstGeom prst="roundRect">
            <a:avLst>
              <a:gd name="adj" fmla="val 4706"/>
            </a:avLst>
          </a:prstGeom>
          <a:solidFill>
            <a:schemeClr val="bg2"/>
          </a:solidFill>
          <a:ln/>
        </p:spPr>
      </p:sp>
      <p:sp>
        <p:nvSpPr>
          <p:cNvPr id="4" name="app.py tile"/>
          <p:cNvSpPr/>
          <p:nvPr/>
        </p:nvSpPr>
        <p:spPr>
          <a:xfrm>
            <a:off x="822960" y="1645920"/>
            <a:ext cx="640080" cy="640080"/>
          </a:xfrm>
          <a:prstGeom prst="roundRect">
            <a:avLst>
              <a:gd name="adj" fmla="val 24000"/>
            </a:avLst>
          </a:prstGeom>
          <a:solidFill>
            <a:schemeClr val="accent1">
              <a:alpha val="14000"/>
            </a:schemeClr>
          </a:solidFill>
          <a:ln/>
        </p:spPr>
      </p:sp>
      <p:pic>
        <p:nvPicPr>
          <p:cNvPr id="5" name="app.py icon" descr="preencoded.png">    </p:cNvPr>
          <p:cNvPicPr>
            <a:picLocks noChangeAspect="1"/>
          </p:cNvPicPr>
          <p:nvPr/>
        </p:nvPicPr>
        <p:blipFill>
          <a:blip r:embed="rId1"/>
          <a:stretch>
            <a:fillRect/>
          </a:stretch>
        </p:blipFill>
        <p:spPr>
          <a:xfrm>
            <a:off x="963778" y="1786738"/>
            <a:ext cx="358445" cy="358445"/>
          </a:xfrm>
          <a:prstGeom prst="rect">
            <a:avLst/>
          </a:prstGeom>
        </p:spPr>
      </p:pic>
      <p:sp>
        <p:nvSpPr>
          <p:cNvPr id="6" name="Text 3"/>
          <p:cNvSpPr txBox="1"/>
          <p:nvPr/>
        </p:nvSpPr>
        <p:spPr>
          <a:xfrm>
            <a:off x="1645920" y="1645920"/>
            <a:ext cx="2286000" cy="310896"/>
          </a:xfrm>
          <a:prstGeom prst="rect">
            <a:avLst/>
          </a:prstGeom>
          <a:noFill/>
          <a:ln/>
        </p:spPr>
        <p:txBody>
          <a:bodyPr wrap="square" lIns="0" tIns="0" rIns="0" bIns="0" rtlCol="0" anchor="ctr"/>
          <a:lstStyle/>
          <a:p>
            <a:pPr indent="0" marL="0">
              <a:buNone/>
            </a:pPr>
            <a:r>
              <a:rPr lang="en-US" sz="1400" b="1" dirty="0">
                <a:solidFill>
                  <a:schemeClr val="accent1"/>
                </a:solidFill>
                <a:latin typeface="Courier New" pitchFamily="34" charset="0"/>
                <a:ea typeface="Courier New" pitchFamily="34" charset="-122"/>
                <a:cs typeface="Courier New" pitchFamily="34" charset="-120"/>
              </a:rPr>
              <a:t>app.py</a:t>
            </a:r>
            <a:endParaRPr lang="en-US" sz="1400" dirty="0"/>
          </a:p>
        </p:txBody>
      </p:sp>
      <p:sp>
        <p:nvSpPr>
          <p:cNvPr id="7" name="app.py tech tag"/>
          <p:cNvSpPr/>
          <p:nvPr/>
        </p:nvSpPr>
        <p:spPr>
          <a:xfrm>
            <a:off x="1645920" y="2011680"/>
            <a:ext cx="2200046" cy="292608"/>
          </a:xfrm>
          <a:prstGeom prst="roundRect">
            <a:avLst>
              <a:gd name="adj" fmla="val 50000"/>
            </a:avLst>
          </a:prstGeom>
          <a:solidFill>
            <a:schemeClr val="accent1">
              <a:alpha val="18000"/>
            </a:schemeClr>
          </a:solidFill>
          <a:ln/>
        </p:spPr>
      </p:sp>
      <p:sp>
        <p:nvSpPr>
          <p:cNvPr id="8" name="Text 5"/>
          <p:cNvSpPr txBox="1"/>
          <p:nvPr/>
        </p:nvSpPr>
        <p:spPr>
          <a:xfrm>
            <a:off x="1645920" y="2011680"/>
            <a:ext cx="2200046" cy="292608"/>
          </a:xfrm>
          <a:prstGeom prst="rect">
            <a:avLst/>
          </a:prstGeom>
          <a:noFill/>
          <a:ln/>
        </p:spPr>
        <p:txBody>
          <a:bodyPr wrap="square" lIns="0" tIns="0" rIns="0" bIns="0" rtlCol="0" anchor="ctr"/>
          <a:lstStyle/>
          <a:p>
            <a:pPr algn="ctr" indent="0" marL="0">
              <a:buNone/>
            </a:pPr>
            <a:r>
              <a:rPr lang="en-US" sz="1100" b="1" dirty="0">
                <a:solidFill>
                  <a:schemeClr val="tx2"/>
                </a:solidFill>
              </a:rPr>
              <a:t>Python · Streamlit · Plotly</a:t>
            </a:r>
            <a:endParaRPr lang="en-US" sz="1100" dirty="0"/>
          </a:p>
        </p:txBody>
      </p:sp>
      <p:sp>
        <p:nvSpPr>
          <p:cNvPr id="9" name="Text 6"/>
          <p:cNvSpPr txBox="1"/>
          <p:nvPr/>
        </p:nvSpPr>
        <p:spPr>
          <a:xfrm>
            <a:off x="822960" y="2468880"/>
            <a:ext cx="3017520" cy="1143000"/>
          </a:xfrm>
          <a:prstGeom prst="rect">
            <a:avLst/>
          </a:prstGeom>
          <a:noFill/>
          <a:ln/>
        </p:spPr>
        <p:txBody>
          <a:bodyPr wrap="square" lIns="0" tIns="0" rIns="0" bIns="0" rtlCol="0" anchor="t"/>
          <a:lstStyle/>
          <a:p>
            <a:pPr indent="0" marL="0">
              <a:buNone/>
            </a:pPr>
            <a:r>
              <a:rPr lang="en-US" sz="1400" dirty="0">
                <a:solidFill>
                  <a:schemeClr val="tx1"/>
                </a:solidFill>
              </a:rPr>
              <a:t>Draws all 8 pages, charts and forms. Asks the C engine for every search, sort and plan.</a:t>
            </a:r>
            <a:endParaRPr lang="en-US" sz="1400" dirty="0"/>
          </a:p>
        </p:txBody>
      </p:sp>
      <p:sp>
        <p:nvSpPr>
          <p:cNvPr id="10" name="c_bridge.py card"/>
          <p:cNvSpPr/>
          <p:nvPr/>
        </p:nvSpPr>
        <p:spPr>
          <a:xfrm>
            <a:off x="4297680" y="1371600"/>
            <a:ext cx="3520440" cy="2331720"/>
          </a:xfrm>
          <a:prstGeom prst="roundRect">
            <a:avLst>
              <a:gd name="adj" fmla="val 4706"/>
            </a:avLst>
          </a:prstGeom>
          <a:solidFill>
            <a:schemeClr val="bg2"/>
          </a:solidFill>
          <a:ln/>
        </p:spPr>
      </p:sp>
      <p:sp>
        <p:nvSpPr>
          <p:cNvPr id="11" name="c_bridge.py tile"/>
          <p:cNvSpPr/>
          <p:nvPr/>
        </p:nvSpPr>
        <p:spPr>
          <a:xfrm>
            <a:off x="4572000" y="1645920"/>
            <a:ext cx="640080" cy="640080"/>
          </a:xfrm>
          <a:prstGeom prst="roundRect">
            <a:avLst>
              <a:gd name="adj" fmla="val 24000"/>
            </a:avLst>
          </a:prstGeom>
          <a:solidFill>
            <a:schemeClr val="accent2">
              <a:alpha val="14000"/>
            </a:schemeClr>
          </a:solidFill>
          <a:ln/>
        </p:spPr>
      </p:sp>
      <p:pic>
        <p:nvPicPr>
          <p:cNvPr id="12" name="c_bridge.py icon" descr="preencoded.png">    </p:cNvPr>
          <p:cNvPicPr>
            <a:picLocks noChangeAspect="1"/>
          </p:cNvPicPr>
          <p:nvPr/>
        </p:nvPicPr>
        <p:blipFill>
          <a:blip r:embed="rId2"/>
          <a:stretch>
            <a:fillRect/>
          </a:stretch>
        </p:blipFill>
        <p:spPr>
          <a:xfrm>
            <a:off x="4712818" y="1786738"/>
            <a:ext cx="358445" cy="358445"/>
          </a:xfrm>
          <a:prstGeom prst="rect">
            <a:avLst/>
          </a:prstGeom>
        </p:spPr>
      </p:pic>
      <p:sp>
        <p:nvSpPr>
          <p:cNvPr id="13" name="Text 9"/>
          <p:cNvSpPr txBox="1"/>
          <p:nvPr/>
        </p:nvSpPr>
        <p:spPr>
          <a:xfrm>
            <a:off x="5394960" y="1645920"/>
            <a:ext cx="2286000" cy="310896"/>
          </a:xfrm>
          <a:prstGeom prst="rect">
            <a:avLst/>
          </a:prstGeom>
          <a:noFill/>
          <a:ln/>
        </p:spPr>
        <p:txBody>
          <a:bodyPr wrap="square" lIns="0" tIns="0" rIns="0" bIns="0" rtlCol="0" anchor="ctr"/>
          <a:lstStyle/>
          <a:p>
            <a:pPr indent="0" marL="0">
              <a:buNone/>
            </a:pPr>
            <a:r>
              <a:rPr lang="en-US" sz="1400" b="1" dirty="0">
                <a:solidFill>
                  <a:schemeClr val="accent1"/>
                </a:solidFill>
                <a:latin typeface="Courier New" pitchFamily="34" charset="0"/>
                <a:ea typeface="Courier New" pitchFamily="34" charset="-122"/>
                <a:cs typeface="Courier New" pitchFamily="34" charset="-120"/>
              </a:rPr>
              <a:t>c_bridge.py</a:t>
            </a:r>
            <a:endParaRPr lang="en-US" sz="1400" dirty="0"/>
          </a:p>
        </p:txBody>
      </p:sp>
      <p:sp>
        <p:nvSpPr>
          <p:cNvPr id="14" name="c_bridge.py tech tag"/>
          <p:cNvSpPr/>
          <p:nvPr/>
        </p:nvSpPr>
        <p:spPr>
          <a:xfrm>
            <a:off x="5394960" y="2011680"/>
            <a:ext cx="1344168" cy="292608"/>
          </a:xfrm>
          <a:prstGeom prst="roundRect">
            <a:avLst>
              <a:gd name="adj" fmla="val 50000"/>
            </a:avLst>
          </a:prstGeom>
          <a:solidFill>
            <a:schemeClr val="accent2">
              <a:alpha val="18000"/>
            </a:schemeClr>
          </a:solidFill>
          <a:ln/>
        </p:spPr>
      </p:sp>
      <p:sp>
        <p:nvSpPr>
          <p:cNvPr id="15" name="Text 11"/>
          <p:cNvSpPr txBox="1"/>
          <p:nvPr/>
        </p:nvSpPr>
        <p:spPr>
          <a:xfrm>
            <a:off x="5394960" y="2011680"/>
            <a:ext cx="1344168" cy="292608"/>
          </a:xfrm>
          <a:prstGeom prst="rect">
            <a:avLst/>
          </a:prstGeom>
          <a:noFill/>
          <a:ln/>
        </p:spPr>
        <p:txBody>
          <a:bodyPr wrap="square" lIns="0" tIns="0" rIns="0" bIns="0" rtlCol="0" anchor="ctr"/>
          <a:lstStyle/>
          <a:p>
            <a:pPr algn="ctr" indent="0" marL="0">
              <a:buNone/>
            </a:pPr>
            <a:r>
              <a:rPr lang="en-US" sz="1100" b="1" dirty="0">
                <a:solidFill>
                  <a:schemeClr val="tx2"/>
                </a:solidFill>
              </a:rPr>
              <a:t>Python · ctypes</a:t>
            </a:r>
            <a:endParaRPr lang="en-US" sz="1100" dirty="0"/>
          </a:p>
        </p:txBody>
      </p:sp>
      <p:sp>
        <p:nvSpPr>
          <p:cNvPr id="16" name="Text 12"/>
          <p:cNvSpPr txBox="1"/>
          <p:nvPr/>
        </p:nvSpPr>
        <p:spPr>
          <a:xfrm>
            <a:off x="4572000" y="2468880"/>
            <a:ext cx="3017520" cy="1143000"/>
          </a:xfrm>
          <a:prstGeom prst="rect">
            <a:avLst/>
          </a:prstGeom>
          <a:noFill/>
          <a:ln/>
        </p:spPr>
        <p:txBody>
          <a:bodyPr wrap="square" lIns="0" tIns="0" rIns="0" bIns="0" rtlCol="0" anchor="t"/>
          <a:lstStyle/>
          <a:p>
            <a:pPr indent="0" marL="0">
              <a:buNone/>
            </a:pPr>
            <a:r>
              <a:rPr lang="en-US" sz="1400" dirty="0">
                <a:solidFill>
                  <a:schemeClr val="tx1"/>
                </a:solidFill>
              </a:rPr>
              <a:t>Loads the C library, mirrors its structs, checks inputs and converts C results to dicts.</a:t>
            </a:r>
            <a:endParaRPr lang="en-US" sz="1400" dirty="0"/>
          </a:p>
        </p:txBody>
      </p:sp>
      <p:sp>
        <p:nvSpPr>
          <p:cNvPr id="17" name="database.py card"/>
          <p:cNvSpPr/>
          <p:nvPr/>
        </p:nvSpPr>
        <p:spPr>
          <a:xfrm>
            <a:off x="8046720" y="1371600"/>
            <a:ext cx="3520440" cy="2331720"/>
          </a:xfrm>
          <a:prstGeom prst="roundRect">
            <a:avLst>
              <a:gd name="adj" fmla="val 4706"/>
            </a:avLst>
          </a:prstGeom>
          <a:solidFill>
            <a:schemeClr val="bg2"/>
          </a:solidFill>
          <a:ln/>
        </p:spPr>
      </p:sp>
      <p:sp>
        <p:nvSpPr>
          <p:cNvPr id="18" name="database.py tile"/>
          <p:cNvSpPr/>
          <p:nvPr/>
        </p:nvSpPr>
        <p:spPr>
          <a:xfrm>
            <a:off x="8321040" y="1645920"/>
            <a:ext cx="640080" cy="640080"/>
          </a:xfrm>
          <a:prstGeom prst="roundRect">
            <a:avLst>
              <a:gd name="adj" fmla="val 24000"/>
            </a:avLst>
          </a:prstGeom>
          <a:solidFill>
            <a:schemeClr val="accent3">
              <a:alpha val="14000"/>
            </a:schemeClr>
          </a:solidFill>
          <a:ln/>
        </p:spPr>
      </p:sp>
      <p:pic>
        <p:nvPicPr>
          <p:cNvPr id="19" name="database.py icon" descr="preencoded.png">    </p:cNvPr>
          <p:cNvPicPr>
            <a:picLocks noChangeAspect="1"/>
          </p:cNvPicPr>
          <p:nvPr/>
        </p:nvPicPr>
        <p:blipFill>
          <a:blip r:embed="rId3"/>
          <a:stretch>
            <a:fillRect/>
          </a:stretch>
        </p:blipFill>
        <p:spPr>
          <a:xfrm>
            <a:off x="8461858" y="1786738"/>
            <a:ext cx="358445" cy="358445"/>
          </a:xfrm>
          <a:prstGeom prst="rect">
            <a:avLst/>
          </a:prstGeom>
        </p:spPr>
      </p:pic>
      <p:sp>
        <p:nvSpPr>
          <p:cNvPr id="20" name="Text 15"/>
          <p:cNvSpPr txBox="1"/>
          <p:nvPr/>
        </p:nvSpPr>
        <p:spPr>
          <a:xfrm>
            <a:off x="9144000" y="1645920"/>
            <a:ext cx="2286000" cy="310896"/>
          </a:xfrm>
          <a:prstGeom prst="rect">
            <a:avLst/>
          </a:prstGeom>
          <a:noFill/>
          <a:ln/>
        </p:spPr>
        <p:txBody>
          <a:bodyPr wrap="square" lIns="0" tIns="0" rIns="0" bIns="0" rtlCol="0" anchor="ctr"/>
          <a:lstStyle/>
          <a:p>
            <a:pPr indent="0" marL="0">
              <a:buNone/>
            </a:pPr>
            <a:r>
              <a:rPr lang="en-US" sz="1400" b="1" dirty="0">
                <a:solidFill>
                  <a:schemeClr val="accent1"/>
                </a:solidFill>
                <a:latin typeface="Courier New" pitchFamily="34" charset="0"/>
                <a:ea typeface="Courier New" pitchFamily="34" charset="-122"/>
                <a:cs typeface="Courier New" pitchFamily="34" charset="-120"/>
              </a:rPr>
              <a:t>database.py</a:t>
            </a:r>
            <a:endParaRPr lang="en-US" sz="1400" dirty="0"/>
          </a:p>
        </p:txBody>
      </p:sp>
      <p:sp>
        <p:nvSpPr>
          <p:cNvPr id="21" name="database.py tech tag"/>
          <p:cNvSpPr/>
          <p:nvPr/>
        </p:nvSpPr>
        <p:spPr>
          <a:xfrm>
            <a:off x="9144000" y="2011680"/>
            <a:ext cx="1415491" cy="292608"/>
          </a:xfrm>
          <a:prstGeom prst="roundRect">
            <a:avLst>
              <a:gd name="adj" fmla="val 50000"/>
            </a:avLst>
          </a:prstGeom>
          <a:solidFill>
            <a:schemeClr val="accent3">
              <a:alpha val="18000"/>
            </a:schemeClr>
          </a:solidFill>
          <a:ln/>
        </p:spPr>
      </p:sp>
      <p:sp>
        <p:nvSpPr>
          <p:cNvPr id="22" name="Text 17"/>
          <p:cNvSpPr txBox="1"/>
          <p:nvPr/>
        </p:nvSpPr>
        <p:spPr>
          <a:xfrm>
            <a:off x="9144000" y="2011680"/>
            <a:ext cx="1415491" cy="292608"/>
          </a:xfrm>
          <a:prstGeom prst="rect">
            <a:avLst/>
          </a:prstGeom>
          <a:noFill/>
          <a:ln/>
        </p:spPr>
        <p:txBody>
          <a:bodyPr wrap="square" lIns="0" tIns="0" rIns="0" bIns="0" rtlCol="0" anchor="ctr"/>
          <a:lstStyle/>
          <a:p>
            <a:pPr algn="ctr" indent="0" marL="0">
              <a:buNone/>
            </a:pPr>
            <a:r>
              <a:rPr lang="en-US" sz="1100" b="1" dirty="0">
                <a:solidFill>
                  <a:schemeClr val="tx2"/>
                </a:solidFill>
              </a:rPr>
              <a:t>Python · sqlite3</a:t>
            </a:r>
            <a:endParaRPr lang="en-US" sz="1100" dirty="0"/>
          </a:p>
        </p:txBody>
      </p:sp>
      <p:sp>
        <p:nvSpPr>
          <p:cNvPr id="23" name="Text 18"/>
          <p:cNvSpPr txBox="1"/>
          <p:nvPr/>
        </p:nvSpPr>
        <p:spPr>
          <a:xfrm>
            <a:off x="8321040" y="2468880"/>
            <a:ext cx="3017520" cy="1143000"/>
          </a:xfrm>
          <a:prstGeom prst="rect">
            <a:avLst/>
          </a:prstGeom>
          <a:noFill/>
          <a:ln/>
        </p:spPr>
        <p:txBody>
          <a:bodyPr wrap="square" lIns="0" tIns="0" rIns="0" bIns="0" rtlCol="0" anchor="t"/>
          <a:lstStyle/>
          <a:p>
            <a:pPr indent="0" marL="0">
              <a:buNone/>
            </a:pPr>
            <a:r>
              <a:rPr lang="en-US" sz="1400" dirty="0">
                <a:solidFill>
                  <a:schemeClr val="tx1"/>
                </a:solidFill>
              </a:rPr>
              <a:t>The only file that talks to SQLite: add, edit, delete, stock in and out, sample data.</a:t>
            </a:r>
            <a:endParaRPr lang="en-US" sz="1400" dirty="0"/>
          </a:p>
        </p:txBody>
      </p:sp>
      <p:sp>
        <p:nvSpPr>
          <p:cNvPr id="24" name="schema.sql card"/>
          <p:cNvSpPr/>
          <p:nvPr/>
        </p:nvSpPr>
        <p:spPr>
          <a:xfrm>
            <a:off x="548640" y="3840480"/>
            <a:ext cx="3520440" cy="2331720"/>
          </a:xfrm>
          <a:prstGeom prst="roundRect">
            <a:avLst>
              <a:gd name="adj" fmla="val 4706"/>
            </a:avLst>
          </a:prstGeom>
          <a:solidFill>
            <a:schemeClr val="bg2"/>
          </a:solidFill>
          <a:ln/>
        </p:spPr>
      </p:sp>
      <p:sp>
        <p:nvSpPr>
          <p:cNvPr id="25" name="schema.sql tile"/>
          <p:cNvSpPr/>
          <p:nvPr/>
        </p:nvSpPr>
        <p:spPr>
          <a:xfrm>
            <a:off x="822960" y="4114800"/>
            <a:ext cx="640080" cy="640080"/>
          </a:xfrm>
          <a:prstGeom prst="roundRect">
            <a:avLst>
              <a:gd name="adj" fmla="val 24000"/>
            </a:avLst>
          </a:prstGeom>
          <a:solidFill>
            <a:schemeClr val="accent3">
              <a:alpha val="14000"/>
            </a:schemeClr>
          </a:solidFill>
          <a:ln/>
        </p:spPr>
      </p:sp>
      <p:pic>
        <p:nvPicPr>
          <p:cNvPr id="26" name="schema.sql icon" descr="preencoded.png">    </p:cNvPr>
          <p:cNvPicPr>
            <a:picLocks noChangeAspect="1"/>
          </p:cNvPicPr>
          <p:nvPr/>
        </p:nvPicPr>
        <p:blipFill>
          <a:blip r:embed="rId4"/>
          <a:stretch>
            <a:fillRect/>
          </a:stretch>
        </p:blipFill>
        <p:spPr>
          <a:xfrm>
            <a:off x="963778" y="4255618"/>
            <a:ext cx="358445" cy="358445"/>
          </a:xfrm>
          <a:prstGeom prst="rect">
            <a:avLst/>
          </a:prstGeom>
        </p:spPr>
      </p:pic>
      <p:sp>
        <p:nvSpPr>
          <p:cNvPr id="27" name="Text 21"/>
          <p:cNvSpPr txBox="1"/>
          <p:nvPr/>
        </p:nvSpPr>
        <p:spPr>
          <a:xfrm>
            <a:off x="1645920" y="4114800"/>
            <a:ext cx="2286000" cy="310896"/>
          </a:xfrm>
          <a:prstGeom prst="rect">
            <a:avLst/>
          </a:prstGeom>
          <a:noFill/>
          <a:ln/>
        </p:spPr>
        <p:txBody>
          <a:bodyPr wrap="square" lIns="0" tIns="0" rIns="0" bIns="0" rtlCol="0" anchor="ctr"/>
          <a:lstStyle/>
          <a:p>
            <a:pPr indent="0" marL="0">
              <a:buNone/>
            </a:pPr>
            <a:r>
              <a:rPr lang="en-US" sz="1400" b="1" dirty="0">
                <a:solidFill>
                  <a:schemeClr val="accent1"/>
                </a:solidFill>
                <a:latin typeface="Courier New" pitchFamily="34" charset="0"/>
                <a:ea typeface="Courier New" pitchFamily="34" charset="-122"/>
                <a:cs typeface="Courier New" pitchFamily="34" charset="-120"/>
              </a:rPr>
              <a:t>schema.sql</a:t>
            </a:r>
            <a:endParaRPr lang="en-US" sz="1400" dirty="0"/>
          </a:p>
        </p:txBody>
      </p:sp>
      <p:sp>
        <p:nvSpPr>
          <p:cNvPr id="28" name="schema.sql tech tag"/>
          <p:cNvSpPr/>
          <p:nvPr/>
        </p:nvSpPr>
        <p:spPr>
          <a:xfrm>
            <a:off x="1645920" y="4480560"/>
            <a:ext cx="1130198" cy="292608"/>
          </a:xfrm>
          <a:prstGeom prst="roundRect">
            <a:avLst>
              <a:gd name="adj" fmla="val 50000"/>
            </a:avLst>
          </a:prstGeom>
          <a:solidFill>
            <a:schemeClr val="accent3">
              <a:alpha val="18000"/>
            </a:schemeClr>
          </a:solidFill>
          <a:ln/>
        </p:spPr>
      </p:sp>
      <p:sp>
        <p:nvSpPr>
          <p:cNvPr id="29" name="Text 23"/>
          <p:cNvSpPr txBox="1"/>
          <p:nvPr/>
        </p:nvSpPr>
        <p:spPr>
          <a:xfrm>
            <a:off x="1645920" y="4480560"/>
            <a:ext cx="1130198" cy="292608"/>
          </a:xfrm>
          <a:prstGeom prst="rect">
            <a:avLst/>
          </a:prstGeom>
          <a:noFill/>
          <a:ln/>
        </p:spPr>
        <p:txBody>
          <a:bodyPr wrap="square" lIns="0" tIns="0" rIns="0" bIns="0" rtlCol="0" anchor="ctr"/>
          <a:lstStyle/>
          <a:p>
            <a:pPr algn="ctr" indent="0" marL="0">
              <a:buNone/>
            </a:pPr>
            <a:r>
              <a:rPr lang="en-US" sz="1100" b="1" dirty="0">
                <a:solidFill>
                  <a:schemeClr val="tx2"/>
                </a:solidFill>
              </a:rPr>
              <a:t>SQL · SQLite</a:t>
            </a:r>
            <a:endParaRPr lang="en-US" sz="1100" dirty="0"/>
          </a:p>
        </p:txBody>
      </p:sp>
      <p:sp>
        <p:nvSpPr>
          <p:cNvPr id="30" name="Text 24"/>
          <p:cNvSpPr txBox="1"/>
          <p:nvPr/>
        </p:nvSpPr>
        <p:spPr>
          <a:xfrm>
            <a:off x="822960" y="4937760"/>
            <a:ext cx="3017520" cy="1143000"/>
          </a:xfrm>
          <a:prstGeom prst="rect">
            <a:avLst/>
          </a:prstGeom>
          <a:noFill/>
          <a:ln/>
        </p:spPr>
        <p:txBody>
          <a:bodyPr wrap="square" lIns="0" tIns="0" rIns="0" bIns="0" rtlCol="0" anchor="t"/>
          <a:lstStyle/>
          <a:p>
            <a:pPr indent="0" marL="0">
              <a:buNone/>
            </a:pPr>
            <a:r>
              <a:rPr lang="en-US" sz="1400" dirty="0">
                <a:solidFill>
                  <a:schemeClr val="tx1"/>
                </a:solidFill>
              </a:rPr>
              <a:t>Creates the two tables with built-in rules, such as price and stock never below zero.</a:t>
            </a:r>
            <a:endParaRPr lang="en-US" sz="1400" dirty="0"/>
          </a:p>
        </p:txBody>
      </p:sp>
      <p:sp>
        <p:nvSpPr>
          <p:cNvPr id="31" name="requirements.txt card"/>
          <p:cNvSpPr/>
          <p:nvPr/>
        </p:nvSpPr>
        <p:spPr>
          <a:xfrm>
            <a:off x="4297680" y="3840480"/>
            <a:ext cx="3520440" cy="2331720"/>
          </a:xfrm>
          <a:prstGeom prst="roundRect">
            <a:avLst>
              <a:gd name="adj" fmla="val 4706"/>
            </a:avLst>
          </a:prstGeom>
          <a:solidFill>
            <a:schemeClr val="bg2"/>
          </a:solidFill>
          <a:ln/>
        </p:spPr>
      </p:sp>
      <p:sp>
        <p:nvSpPr>
          <p:cNvPr id="32" name="requirements.txt tile"/>
          <p:cNvSpPr/>
          <p:nvPr/>
        </p:nvSpPr>
        <p:spPr>
          <a:xfrm>
            <a:off x="4572000" y="4114800"/>
            <a:ext cx="640080" cy="640080"/>
          </a:xfrm>
          <a:prstGeom prst="roundRect">
            <a:avLst>
              <a:gd name="adj" fmla="val 24000"/>
            </a:avLst>
          </a:prstGeom>
          <a:solidFill>
            <a:schemeClr val="accent4">
              <a:alpha val="14000"/>
            </a:schemeClr>
          </a:solidFill>
          <a:ln/>
        </p:spPr>
      </p:sp>
      <p:pic>
        <p:nvPicPr>
          <p:cNvPr id="33" name="requirements.txt icon" descr="preencoded.png">    </p:cNvPr>
          <p:cNvPicPr>
            <a:picLocks noChangeAspect="1"/>
          </p:cNvPicPr>
          <p:nvPr/>
        </p:nvPicPr>
        <p:blipFill>
          <a:blip r:embed="rId5"/>
          <a:stretch>
            <a:fillRect/>
          </a:stretch>
        </p:blipFill>
        <p:spPr>
          <a:xfrm>
            <a:off x="4712818" y="4255618"/>
            <a:ext cx="358445" cy="358445"/>
          </a:xfrm>
          <a:prstGeom prst="rect">
            <a:avLst/>
          </a:prstGeom>
        </p:spPr>
      </p:pic>
      <p:sp>
        <p:nvSpPr>
          <p:cNvPr id="34" name="Text 27"/>
          <p:cNvSpPr txBox="1"/>
          <p:nvPr/>
        </p:nvSpPr>
        <p:spPr>
          <a:xfrm>
            <a:off x="5394960" y="4114800"/>
            <a:ext cx="2286000" cy="310896"/>
          </a:xfrm>
          <a:prstGeom prst="rect">
            <a:avLst/>
          </a:prstGeom>
          <a:noFill/>
          <a:ln/>
        </p:spPr>
        <p:txBody>
          <a:bodyPr wrap="square" lIns="0" tIns="0" rIns="0" bIns="0" rtlCol="0" anchor="ctr"/>
          <a:lstStyle/>
          <a:p>
            <a:pPr indent="0" marL="0">
              <a:buNone/>
            </a:pPr>
            <a:r>
              <a:rPr lang="en-US" sz="1400" b="1" dirty="0">
                <a:solidFill>
                  <a:schemeClr val="accent1"/>
                </a:solidFill>
                <a:latin typeface="Courier New" pitchFamily="34" charset="0"/>
                <a:ea typeface="Courier New" pitchFamily="34" charset="-122"/>
                <a:cs typeface="Courier New" pitchFamily="34" charset="-120"/>
              </a:rPr>
              <a:t>requirements.txt</a:t>
            </a:r>
            <a:endParaRPr lang="en-US" sz="1400" dirty="0"/>
          </a:p>
        </p:txBody>
      </p:sp>
      <p:sp>
        <p:nvSpPr>
          <p:cNvPr id="35" name="requirements.txt tech tag"/>
          <p:cNvSpPr/>
          <p:nvPr/>
        </p:nvSpPr>
        <p:spPr>
          <a:xfrm>
            <a:off x="5394960" y="4480560"/>
            <a:ext cx="488290" cy="292608"/>
          </a:xfrm>
          <a:prstGeom prst="roundRect">
            <a:avLst>
              <a:gd name="adj" fmla="val 50000"/>
            </a:avLst>
          </a:prstGeom>
          <a:solidFill>
            <a:schemeClr val="accent4">
              <a:alpha val="18000"/>
            </a:schemeClr>
          </a:solidFill>
          <a:ln/>
        </p:spPr>
      </p:sp>
      <p:sp>
        <p:nvSpPr>
          <p:cNvPr id="36" name="Text 29"/>
          <p:cNvSpPr txBox="1"/>
          <p:nvPr/>
        </p:nvSpPr>
        <p:spPr>
          <a:xfrm>
            <a:off x="5394960" y="4480560"/>
            <a:ext cx="488290" cy="292608"/>
          </a:xfrm>
          <a:prstGeom prst="rect">
            <a:avLst/>
          </a:prstGeom>
          <a:noFill/>
          <a:ln/>
        </p:spPr>
        <p:txBody>
          <a:bodyPr wrap="square" lIns="0" tIns="0" rIns="0" bIns="0" rtlCol="0" anchor="ctr"/>
          <a:lstStyle/>
          <a:p>
            <a:pPr algn="ctr" indent="0" marL="0">
              <a:buNone/>
            </a:pPr>
            <a:r>
              <a:rPr lang="en-US" sz="1100" b="1" dirty="0">
                <a:solidFill>
                  <a:schemeClr val="tx2"/>
                </a:solidFill>
              </a:rPr>
              <a:t>pip</a:t>
            </a:r>
            <a:endParaRPr lang="en-US" sz="1100" dirty="0"/>
          </a:p>
        </p:txBody>
      </p:sp>
      <p:sp>
        <p:nvSpPr>
          <p:cNvPr id="37" name="Text 30"/>
          <p:cNvSpPr txBox="1"/>
          <p:nvPr/>
        </p:nvSpPr>
        <p:spPr>
          <a:xfrm>
            <a:off x="4572000" y="4937760"/>
            <a:ext cx="3017520" cy="1143000"/>
          </a:xfrm>
          <a:prstGeom prst="rect">
            <a:avLst/>
          </a:prstGeom>
          <a:noFill/>
          <a:ln/>
        </p:spPr>
        <p:txBody>
          <a:bodyPr wrap="square" lIns="0" tIns="0" rIns="0" bIns="0" rtlCol="0" anchor="t"/>
          <a:lstStyle/>
          <a:p>
            <a:pPr indent="0" marL="0">
              <a:buNone/>
            </a:pPr>
            <a:r>
              <a:rPr lang="en-US" sz="1400" dirty="0">
                <a:solidFill>
                  <a:schemeClr val="tx1"/>
                </a:solidFill>
              </a:rPr>
              <a:t>The Python packages to install with one command: Streamlit, Plotly and pandas.</a:t>
            </a:r>
            <a:endParaRPr lang="en-US" sz="1400" dirty="0"/>
          </a:p>
        </p:txBody>
      </p:sp>
      <p:sp>
        <p:nvSpPr>
          <p:cNvPr id="38" name="config.toml card"/>
          <p:cNvSpPr/>
          <p:nvPr/>
        </p:nvSpPr>
        <p:spPr>
          <a:xfrm>
            <a:off x="8046720" y="3840480"/>
            <a:ext cx="3520440" cy="2331720"/>
          </a:xfrm>
          <a:prstGeom prst="roundRect">
            <a:avLst>
              <a:gd name="adj" fmla="val 4706"/>
            </a:avLst>
          </a:prstGeom>
          <a:solidFill>
            <a:schemeClr val="bg2"/>
          </a:solidFill>
          <a:ln/>
        </p:spPr>
      </p:sp>
      <p:sp>
        <p:nvSpPr>
          <p:cNvPr id="39" name="config.toml tile"/>
          <p:cNvSpPr/>
          <p:nvPr/>
        </p:nvSpPr>
        <p:spPr>
          <a:xfrm>
            <a:off x="8321040" y="4114800"/>
            <a:ext cx="640080" cy="640080"/>
          </a:xfrm>
          <a:prstGeom prst="roundRect">
            <a:avLst>
              <a:gd name="adj" fmla="val 24000"/>
            </a:avLst>
          </a:prstGeom>
          <a:solidFill>
            <a:schemeClr val="accent5">
              <a:alpha val="14000"/>
            </a:schemeClr>
          </a:solidFill>
          <a:ln/>
        </p:spPr>
      </p:sp>
      <p:pic>
        <p:nvPicPr>
          <p:cNvPr id="40" name="config.toml icon" descr="preencoded.png">    </p:cNvPr>
          <p:cNvPicPr>
            <a:picLocks noChangeAspect="1"/>
          </p:cNvPicPr>
          <p:nvPr/>
        </p:nvPicPr>
        <p:blipFill>
          <a:blip r:embed="rId6"/>
          <a:stretch>
            <a:fillRect/>
          </a:stretch>
        </p:blipFill>
        <p:spPr>
          <a:xfrm>
            <a:off x="8461858" y="4255618"/>
            <a:ext cx="358445" cy="358445"/>
          </a:xfrm>
          <a:prstGeom prst="rect">
            <a:avLst/>
          </a:prstGeom>
        </p:spPr>
      </p:pic>
      <p:sp>
        <p:nvSpPr>
          <p:cNvPr id="41" name="Text 33"/>
          <p:cNvSpPr txBox="1"/>
          <p:nvPr/>
        </p:nvSpPr>
        <p:spPr>
          <a:xfrm>
            <a:off x="9144000" y="4114800"/>
            <a:ext cx="2286000" cy="310896"/>
          </a:xfrm>
          <a:prstGeom prst="rect">
            <a:avLst/>
          </a:prstGeom>
          <a:noFill/>
          <a:ln/>
        </p:spPr>
        <p:txBody>
          <a:bodyPr wrap="square" lIns="0" tIns="0" rIns="0" bIns="0" rtlCol="0" anchor="ctr"/>
          <a:lstStyle/>
          <a:p>
            <a:pPr indent="0" marL="0">
              <a:buNone/>
            </a:pPr>
            <a:r>
              <a:rPr lang="en-US" sz="1400" b="1" dirty="0">
                <a:solidFill>
                  <a:schemeClr val="accent1"/>
                </a:solidFill>
                <a:latin typeface="Courier New" pitchFamily="34" charset="0"/>
                <a:ea typeface="Courier New" pitchFamily="34" charset="-122"/>
                <a:cs typeface="Courier New" pitchFamily="34" charset="-120"/>
              </a:rPr>
              <a:t>config.toml</a:t>
            </a:r>
            <a:endParaRPr lang="en-US" sz="1400" dirty="0"/>
          </a:p>
        </p:txBody>
      </p:sp>
      <p:sp>
        <p:nvSpPr>
          <p:cNvPr id="42" name="config.toml tech tag"/>
          <p:cNvSpPr/>
          <p:nvPr/>
        </p:nvSpPr>
        <p:spPr>
          <a:xfrm>
            <a:off x="9144000" y="4480560"/>
            <a:ext cx="1843430" cy="292608"/>
          </a:xfrm>
          <a:prstGeom prst="roundRect">
            <a:avLst>
              <a:gd name="adj" fmla="val 50000"/>
            </a:avLst>
          </a:prstGeom>
          <a:solidFill>
            <a:schemeClr val="accent5">
              <a:alpha val="18000"/>
            </a:schemeClr>
          </a:solidFill>
          <a:ln/>
        </p:spPr>
      </p:sp>
      <p:sp>
        <p:nvSpPr>
          <p:cNvPr id="43" name="Text 35"/>
          <p:cNvSpPr txBox="1"/>
          <p:nvPr/>
        </p:nvSpPr>
        <p:spPr>
          <a:xfrm>
            <a:off x="9144000" y="4480560"/>
            <a:ext cx="1843430" cy="292608"/>
          </a:xfrm>
          <a:prstGeom prst="rect">
            <a:avLst/>
          </a:prstGeom>
          <a:noFill/>
          <a:ln/>
        </p:spPr>
        <p:txBody>
          <a:bodyPr wrap="square" lIns="0" tIns="0" rIns="0" bIns="0" rtlCol="0" anchor="ctr"/>
          <a:lstStyle/>
          <a:p>
            <a:pPr algn="ctr" indent="0" marL="0">
              <a:buNone/>
            </a:pPr>
            <a:r>
              <a:rPr lang="en-US" sz="1100" b="1" dirty="0">
                <a:solidFill>
                  <a:schemeClr val="tx2"/>
                </a:solidFill>
              </a:rPr>
              <a:t>TOML · Streamlit theme</a:t>
            </a:r>
            <a:endParaRPr lang="en-US" sz="1100" dirty="0"/>
          </a:p>
        </p:txBody>
      </p:sp>
      <p:sp>
        <p:nvSpPr>
          <p:cNvPr id="44" name="Text 36"/>
          <p:cNvSpPr txBox="1"/>
          <p:nvPr/>
        </p:nvSpPr>
        <p:spPr>
          <a:xfrm>
            <a:off x="8321040" y="4937760"/>
            <a:ext cx="3017520" cy="1143000"/>
          </a:xfrm>
          <a:prstGeom prst="rect">
            <a:avLst/>
          </a:prstGeom>
          <a:noFill/>
          <a:ln/>
        </p:spPr>
        <p:txBody>
          <a:bodyPr wrap="square" lIns="0" tIns="0" rIns="0" bIns="0" rtlCol="0" anchor="t"/>
          <a:lstStyle/>
          <a:p>
            <a:pPr indent="0" marL="0">
              <a:buNone/>
            </a:pPr>
            <a:r>
              <a:rPr lang="en-US" sz="1400" dirty="0">
                <a:solidFill>
                  <a:schemeClr val="tx1"/>
                </a:solidFill>
              </a:rPr>
              <a:t>Lives in .streamlit/. Sets the app's colors, Inter font, rounded corners and sidebar.</a:t>
            </a:r>
            <a:endParaRPr lang="en-US" sz="14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77240"/>
          </a:xfrm>
          <a:prstGeom prst="rect">
            <a:avLst/>
          </a:prstGeom>
          <a:noFill/>
          <a:ln/>
        </p:spPr>
        <p:txBody>
          <a:bodyPr wrap="square" lIns="0" tIns="0" rIns="0" bIns="0" rtlCol="0" anchor="ctr"/>
          <a:lstStyle/>
          <a:p>
            <a:pPr algn="l" indent="0" marL="0">
              <a:buNone/>
            </a:pPr>
            <a:r>
              <a:rPr lang="en-US" sz="3600" b="1" dirty="0">
                <a:solidFill>
                  <a:schemeClr val="tx2"/>
                </a:solidFill>
              </a:rPr>
              <a:t>app.py: everything the user sees</a:t>
            </a:r>
            <a:endParaRPr lang="en-US" sz="3600" dirty="0"/>
          </a:p>
        </p:txBody>
      </p:sp>
      <p:sp>
        <p:nvSpPr>
          <p:cNvPr id="3" name="dashboard screenshot frame"/>
          <p:cNvSpPr/>
          <p:nvPr/>
        </p:nvSpPr>
        <p:spPr>
          <a:xfrm>
            <a:off x="548640" y="1408176"/>
            <a:ext cx="6144768" cy="4487477"/>
          </a:xfrm>
          <a:prstGeom prst="roundRect">
            <a:avLst>
              <a:gd name="adj" fmla="val 1630"/>
            </a:avLst>
          </a:prstGeom>
          <a:solidFill>
            <a:schemeClr val="bg1"/>
          </a:solidFill>
          <a:ln w="12700">
            <a:solidFill>
              <a:schemeClr val="bg2"/>
            </a:solidFill>
            <a:prstDash val="solid"/>
          </a:ln>
          <a:effectLst>
            <a:outerShdw sx="100000" sy="100000" kx="0" ky="0" algn="bl" rotWithShape="0" blurRad="101600" dist="25400" dir="5400000">
              <a:srgbClr val="14171F">
                <a:alpha val="18000"/>
              </a:srgbClr>
            </a:outerShdw>
          </a:effectLst>
        </p:spPr>
      </p:sp>
      <p:pic>
        <p:nvPicPr>
          <p:cNvPr id="4" name="dashboard screenshot" descr="/tmp/claude-0/-home-user-StockWise-Dsa/ffa8d720-88b5-5029-baa4-50a8a76d3601/scratchpad/deck/img/dashboard.png">    </p:cNvPr>
          <p:cNvPicPr>
            <a:picLocks noChangeAspect="1"/>
          </p:cNvPicPr>
          <p:nvPr/>
        </p:nvPicPr>
        <p:blipFill>
          <a:blip r:embed="rId1"/>
          <a:stretch>
            <a:fillRect/>
          </a:stretch>
        </p:blipFill>
        <p:spPr>
          <a:xfrm>
            <a:off x="603504" y="1463040"/>
            <a:ext cx="6035040" cy="4377749"/>
          </a:xfrm>
          <a:prstGeom prst="rect">
            <a:avLst/>
          </a:prstGeom>
        </p:spPr>
      </p:pic>
      <p:sp>
        <p:nvSpPr>
          <p:cNvPr id="5" name="Text 2"/>
          <p:cNvSpPr txBox="1"/>
          <p:nvPr/>
        </p:nvSpPr>
        <p:spPr>
          <a:xfrm>
            <a:off x="7086600" y="1463040"/>
            <a:ext cx="4526280" cy="4480560"/>
          </a:xfrm>
          <a:prstGeom prst="rect">
            <a:avLst/>
          </a:prstGeom>
          <a:noFill/>
          <a:ln/>
        </p:spPr>
        <p:txBody>
          <a:bodyPr wrap="square" lIns="0" tIns="0" rIns="0" bIns="0" rtlCol="0" anchor="t"/>
          <a:lstStyle/>
          <a:p>
            <a:pPr indent="0" marL="0">
              <a:spcAft>
                <a:spcPts val="1700"/>
              </a:spcAft>
              <a:buNone/>
            </a:pPr>
            <a:r>
              <a:rPr lang="en-US" sz="1500" b="1" dirty="0">
                <a:solidFill>
                  <a:schemeClr val="tx2"/>
                </a:solidFill>
              </a:rPr>
              <a:t>Dashboard</a:t>
            </a:r>
            <a:pPr indent="0" marL="0">
              <a:spcAft>
                <a:spcPts val="1700"/>
              </a:spcAft>
              <a:buNone/>
            </a:pPr>
            <a:r>
              <a:rPr lang="en-US" sz="1400" dirty="0">
                <a:solidFill>
                  <a:schemeClr val="tx1"/>
                </a:solidFill>
              </a:rPr>
              <a:t>  KPIs, stock trend, what needs attention</a:t>
            </a:r>
            <a:endParaRPr lang="en-US" sz="1400" dirty="0"/>
          </a:p>
          <a:p>
            <a:pPr indent="0" marL="0">
              <a:spcAft>
                <a:spcPts val="1700"/>
              </a:spcAft>
              <a:buNone/>
            </a:pPr>
            <a:r>
              <a:rPr lang="en-US" sz="1500" b="1" dirty="0">
                <a:solidFill>
                  <a:schemeClr val="tx2"/>
                </a:solidFill>
              </a:rPr>
              <a:t>Products</a:t>
            </a:r>
            <a:pPr indent="0" marL="0">
              <a:spcAft>
                <a:spcPts val="1700"/>
              </a:spcAft>
              <a:buNone/>
            </a:pPr>
            <a:r>
              <a:rPr lang="en-US" sz="1400" dirty="0">
                <a:solidFill>
                  <a:schemeClr val="tx1"/>
                </a:solidFill>
              </a:rPr>
              <a:t>  Card grid, search, price filter, add/edit/delete</a:t>
            </a:r>
            <a:endParaRPr lang="en-US" sz="1400" dirty="0"/>
          </a:p>
          <a:p>
            <a:pPr indent="0" marL="0">
              <a:spcAft>
                <a:spcPts val="1700"/>
              </a:spcAft>
              <a:buNone/>
            </a:pPr>
            <a:r>
              <a:rPr lang="en-US" sz="1500" b="1" dirty="0">
                <a:solidFill>
                  <a:schemeClr val="tx2"/>
                </a:solidFill>
              </a:rPr>
              <a:t>Transactions</a:t>
            </a:r>
            <a:pPr indent="0" marL="0">
              <a:spcAft>
                <a:spcPts val="1700"/>
              </a:spcAft>
              <a:buNone/>
            </a:pPr>
            <a:r>
              <a:rPr lang="en-US" sz="1400" dirty="0">
                <a:solidFill>
                  <a:schemeClr val="tx1"/>
                </a:solidFill>
              </a:rPr>
              <a:t>  Stock in/out, history, stock age</a:t>
            </a:r>
            <a:endParaRPr lang="en-US" sz="1400" dirty="0"/>
          </a:p>
          <a:p>
            <a:pPr indent="0" marL="0">
              <a:spcAft>
                <a:spcPts val="1700"/>
              </a:spcAft>
              <a:buNone/>
            </a:pPr>
            <a:r>
              <a:rPr lang="en-US" sz="1500" b="1" dirty="0">
                <a:solidFill>
                  <a:schemeClr val="tx2"/>
                </a:solidFill>
              </a:rPr>
              <a:t>Restocking</a:t>
            </a:r>
            <a:pPr indent="0" marL="0">
              <a:spcAft>
                <a:spcPts val="1700"/>
              </a:spcAft>
              <a:buNone/>
            </a:pPr>
            <a:r>
              <a:rPr lang="en-US" sz="1400" dirty="0">
                <a:solidFill>
                  <a:schemeClr val="tx1"/>
                </a:solidFill>
              </a:rPr>
              <a:t>  Priority ranking and budget planner</a:t>
            </a:r>
            <a:endParaRPr lang="en-US" sz="1400" dirty="0"/>
          </a:p>
          <a:p>
            <a:pPr indent="0" marL="0">
              <a:spcAft>
                <a:spcPts val="1700"/>
              </a:spcAft>
              <a:buNone/>
            </a:pPr>
            <a:r>
              <a:rPr lang="en-US" sz="1500" b="1" dirty="0">
                <a:solidFill>
                  <a:schemeClr val="tx2"/>
                </a:solidFill>
              </a:rPr>
              <a:t>Delivery routes</a:t>
            </a:r>
            <a:pPr indent="0" marL="0">
              <a:spcAft>
                <a:spcPts val="1700"/>
              </a:spcAft>
              <a:buNone/>
            </a:pPr>
            <a:r>
              <a:rPr lang="en-US" sz="1400" dirty="0">
                <a:solidFill>
                  <a:schemeClr val="tx1"/>
                </a:solidFill>
              </a:rPr>
              <a:t>  Shortest route on a map</a:t>
            </a:r>
            <a:endParaRPr lang="en-US" sz="1400" dirty="0"/>
          </a:p>
          <a:p>
            <a:pPr indent="0" marL="0">
              <a:spcAft>
                <a:spcPts val="1700"/>
              </a:spcAft>
              <a:buNone/>
            </a:pPr>
            <a:r>
              <a:rPr lang="en-US" sz="1500" b="1" dirty="0">
                <a:solidFill>
                  <a:schemeClr val="tx2"/>
                </a:solidFill>
              </a:rPr>
              <a:t>Search and sorting</a:t>
            </a:r>
            <a:pPr indent="0" marL="0">
              <a:spcAft>
                <a:spcPts val="1700"/>
              </a:spcAft>
              <a:buNone/>
            </a:pPr>
            <a:r>
              <a:rPr lang="en-US" sz="1400" dirty="0">
                <a:solidFill>
                  <a:schemeClr val="tx1"/>
                </a:solidFill>
              </a:rPr>
              <a:t>  Try each algorithm, see the work done</a:t>
            </a:r>
            <a:endParaRPr lang="en-US" sz="1400" dirty="0"/>
          </a:p>
          <a:p>
            <a:pPr indent="0" marL="0">
              <a:spcAft>
                <a:spcPts val="1700"/>
              </a:spcAft>
              <a:buNone/>
            </a:pPr>
            <a:r>
              <a:rPr lang="en-US" sz="1500" b="1" dirty="0">
                <a:solidFill>
                  <a:schemeClr val="tx2"/>
                </a:solidFill>
              </a:rPr>
              <a:t>DSA laboratory</a:t>
            </a:r>
            <a:pPr indent="0" marL="0">
              <a:spcAft>
                <a:spcPts val="1700"/>
              </a:spcAft>
              <a:buNone/>
            </a:pPr>
            <a:r>
              <a:rPr lang="en-US" sz="1400" dirty="0">
                <a:solidFill>
                  <a:schemeClr val="tx1"/>
                </a:solidFill>
              </a:rPr>
              <a:t>  Visual trees, heaps, DP table, edge cases</a:t>
            </a:r>
            <a:endParaRPr lang="en-US" sz="1400" dirty="0"/>
          </a:p>
          <a:p>
            <a:pPr indent="0" marL="0">
              <a:spcAft>
                <a:spcPts val="1700"/>
              </a:spcAft>
              <a:buNone/>
            </a:pPr>
            <a:r>
              <a:rPr lang="en-US" sz="1500" b="1" dirty="0">
                <a:solidFill>
                  <a:schemeClr val="tx2"/>
                </a:solidFill>
              </a:rPr>
              <a:t>About</a:t>
            </a:r>
            <a:pPr indent="0" marL="0">
              <a:spcAft>
                <a:spcPts val="1700"/>
              </a:spcAft>
              <a:buNone/>
            </a:pPr>
            <a:r>
              <a:rPr lang="en-US" sz="1400" dirty="0">
                <a:solidFill>
                  <a:schemeClr val="tx1"/>
                </a:solidFill>
              </a:rPr>
              <a:t>  Architecture and complexity table</a:t>
            </a:r>
            <a:endParaRPr lang="en-US" sz="14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77240"/>
          </a:xfrm>
          <a:prstGeom prst="rect">
            <a:avLst/>
          </a:prstGeom>
          <a:noFill/>
          <a:ln/>
        </p:spPr>
        <p:txBody>
          <a:bodyPr wrap="square" lIns="0" tIns="0" rIns="0" bIns="0" rtlCol="0" anchor="ctr"/>
          <a:lstStyle/>
          <a:p>
            <a:pPr algn="l" indent="0" marL="0">
              <a:buNone/>
            </a:pPr>
            <a:r>
              <a:rPr lang="en-US" sz="3600" b="1" dirty="0">
                <a:solidFill>
                  <a:schemeClr val="tx2"/>
                </a:solidFill>
              </a:rPr>
              <a:t>c_bridge.py: the translator between Python and C</a:t>
            </a:r>
            <a:endParaRPr lang="en-US" sz="3600" dirty="0"/>
          </a:p>
        </p:txBody>
      </p:sp>
      <p:sp>
        <p:nvSpPr>
          <p:cNvPr id="3" name="step 1 card"/>
          <p:cNvSpPr/>
          <p:nvPr/>
        </p:nvSpPr>
        <p:spPr>
          <a:xfrm>
            <a:off x="548640" y="1508760"/>
            <a:ext cx="2011680" cy="2331720"/>
          </a:xfrm>
          <a:prstGeom prst="roundRect">
            <a:avLst>
              <a:gd name="adj" fmla="val 5455"/>
            </a:avLst>
          </a:prstGeom>
          <a:solidFill>
            <a:schemeClr val="bg2"/>
          </a:solidFill>
          <a:ln/>
        </p:spPr>
      </p:sp>
      <p:sp>
        <p:nvSpPr>
          <p:cNvPr id="4" name="step 1 tile"/>
          <p:cNvSpPr/>
          <p:nvPr/>
        </p:nvSpPr>
        <p:spPr>
          <a:xfrm>
            <a:off x="1207008" y="1737360"/>
            <a:ext cx="694944" cy="694944"/>
          </a:xfrm>
          <a:prstGeom prst="roundRect">
            <a:avLst>
              <a:gd name="adj" fmla="val 24000"/>
            </a:avLst>
          </a:prstGeom>
          <a:solidFill>
            <a:schemeClr val="accent1">
              <a:alpha val="14000"/>
            </a:schemeClr>
          </a:solidFill>
          <a:ln/>
        </p:spPr>
      </p:sp>
      <p:pic>
        <p:nvPicPr>
          <p:cNvPr id="5" name="step 1 icon" descr="preencoded.png">    </p:cNvPr>
          <p:cNvPicPr>
            <a:picLocks noChangeAspect="1"/>
          </p:cNvPicPr>
          <p:nvPr/>
        </p:nvPicPr>
        <p:blipFill>
          <a:blip r:embed="rId1"/>
          <a:stretch>
            <a:fillRect/>
          </a:stretch>
        </p:blipFill>
        <p:spPr>
          <a:xfrm>
            <a:off x="1359896" y="1890248"/>
            <a:ext cx="389169" cy="389169"/>
          </a:xfrm>
          <a:prstGeom prst="rect">
            <a:avLst/>
          </a:prstGeom>
        </p:spPr>
      </p:pic>
      <p:sp>
        <p:nvSpPr>
          <p:cNvPr id="6" name="Text 3"/>
          <p:cNvSpPr txBox="1"/>
          <p:nvPr/>
        </p:nvSpPr>
        <p:spPr>
          <a:xfrm>
            <a:off x="685800" y="2560320"/>
            <a:ext cx="1737360" cy="384048"/>
          </a:xfrm>
          <a:prstGeom prst="rect">
            <a:avLst/>
          </a:prstGeom>
          <a:noFill/>
          <a:ln/>
        </p:spPr>
        <p:txBody>
          <a:bodyPr wrap="square" lIns="0" tIns="0" rIns="0" bIns="0" rtlCol="0" anchor="t"/>
          <a:lstStyle/>
          <a:p>
            <a:pPr algn="ctr" indent="0" marL="0">
              <a:buNone/>
            </a:pPr>
            <a:r>
              <a:rPr lang="en-US" sz="1800" b="1" dirty="0">
                <a:solidFill>
                  <a:schemeClr val="tx2"/>
                </a:solidFill>
              </a:rPr>
              <a:t>Python data</a:t>
            </a:r>
            <a:endParaRPr lang="en-US" sz="1800" dirty="0"/>
          </a:p>
        </p:txBody>
      </p:sp>
      <p:sp>
        <p:nvSpPr>
          <p:cNvPr id="7" name="Text 4"/>
          <p:cNvSpPr txBox="1"/>
          <p:nvPr/>
        </p:nvSpPr>
        <p:spPr>
          <a:xfrm>
            <a:off x="685800" y="2971800"/>
            <a:ext cx="1737360" cy="731520"/>
          </a:xfrm>
          <a:prstGeom prst="rect">
            <a:avLst/>
          </a:prstGeom>
          <a:noFill/>
          <a:ln/>
        </p:spPr>
        <p:txBody>
          <a:bodyPr wrap="square" lIns="0" tIns="0" rIns="0" bIns="0" rtlCol="0" anchor="t"/>
          <a:lstStyle/>
          <a:p>
            <a:pPr algn="ctr" indent="0" marL="0">
              <a:buNone/>
            </a:pPr>
            <a:r>
              <a:rPr lang="en-US" sz="1400" dirty="0">
                <a:solidFill>
                  <a:schemeClr val="tx1"/>
                </a:solidFill>
              </a:rPr>
              <a:t>a list of product dicts</a:t>
            </a:r>
            <a:endParaRPr lang="en-US" sz="1400" dirty="0"/>
          </a:p>
        </p:txBody>
      </p:sp>
      <p:sp>
        <p:nvSpPr>
          <p:cNvPr id="8" name="arrow 1"/>
          <p:cNvSpPr/>
          <p:nvPr/>
        </p:nvSpPr>
        <p:spPr>
          <a:xfrm>
            <a:off x="2596896" y="2542032"/>
            <a:ext cx="201168" cy="274320"/>
          </a:xfrm>
          <a:prstGeom prst="rightArrow">
            <a:avLst/>
          </a:prstGeom>
          <a:solidFill>
            <a:schemeClr val="tx2"/>
          </a:solidFill>
          <a:ln/>
        </p:spPr>
      </p:sp>
      <p:sp>
        <p:nvSpPr>
          <p:cNvPr id="9" name="step 2 card"/>
          <p:cNvSpPr/>
          <p:nvPr/>
        </p:nvSpPr>
        <p:spPr>
          <a:xfrm>
            <a:off x="2834640" y="1508760"/>
            <a:ext cx="2011680" cy="2331720"/>
          </a:xfrm>
          <a:prstGeom prst="roundRect">
            <a:avLst>
              <a:gd name="adj" fmla="val 5455"/>
            </a:avLst>
          </a:prstGeom>
          <a:solidFill>
            <a:schemeClr val="bg2"/>
          </a:solidFill>
          <a:ln/>
        </p:spPr>
      </p:sp>
      <p:sp>
        <p:nvSpPr>
          <p:cNvPr id="10" name="step 2 tile"/>
          <p:cNvSpPr/>
          <p:nvPr/>
        </p:nvSpPr>
        <p:spPr>
          <a:xfrm>
            <a:off x="3493008" y="1737360"/>
            <a:ext cx="694944" cy="694944"/>
          </a:xfrm>
          <a:prstGeom prst="roundRect">
            <a:avLst>
              <a:gd name="adj" fmla="val 24000"/>
            </a:avLst>
          </a:prstGeom>
          <a:solidFill>
            <a:schemeClr val="accent3">
              <a:alpha val="14000"/>
            </a:schemeClr>
          </a:solidFill>
          <a:ln/>
        </p:spPr>
      </p:sp>
      <p:pic>
        <p:nvPicPr>
          <p:cNvPr id="11" name="step 2 icon" descr="preencoded.png">    </p:cNvPr>
          <p:cNvPicPr>
            <a:picLocks noChangeAspect="1"/>
          </p:cNvPicPr>
          <p:nvPr/>
        </p:nvPicPr>
        <p:blipFill>
          <a:blip r:embed="rId2"/>
          <a:stretch>
            <a:fillRect/>
          </a:stretch>
        </p:blipFill>
        <p:spPr>
          <a:xfrm>
            <a:off x="3645896" y="1890248"/>
            <a:ext cx="389169" cy="389169"/>
          </a:xfrm>
          <a:prstGeom prst="rect">
            <a:avLst/>
          </a:prstGeom>
        </p:spPr>
      </p:pic>
      <p:sp>
        <p:nvSpPr>
          <p:cNvPr id="12" name="Text 8"/>
          <p:cNvSpPr txBox="1"/>
          <p:nvPr/>
        </p:nvSpPr>
        <p:spPr>
          <a:xfrm>
            <a:off x="2971800" y="2560320"/>
            <a:ext cx="1737360" cy="384048"/>
          </a:xfrm>
          <a:prstGeom prst="rect">
            <a:avLst/>
          </a:prstGeom>
          <a:noFill/>
          <a:ln/>
        </p:spPr>
        <p:txBody>
          <a:bodyPr wrap="square" lIns="0" tIns="0" rIns="0" bIns="0" rtlCol="0" anchor="t"/>
          <a:lstStyle/>
          <a:p>
            <a:pPr algn="ctr" indent="0" marL="0">
              <a:buNone/>
            </a:pPr>
            <a:r>
              <a:rPr lang="en-US" sz="1800" b="1" dirty="0">
                <a:solidFill>
                  <a:schemeClr val="tx2"/>
                </a:solidFill>
              </a:rPr>
              <a:t>Validate</a:t>
            </a:r>
            <a:endParaRPr lang="en-US" sz="1800" dirty="0"/>
          </a:p>
        </p:txBody>
      </p:sp>
      <p:sp>
        <p:nvSpPr>
          <p:cNvPr id="13" name="Text 9"/>
          <p:cNvSpPr txBox="1"/>
          <p:nvPr/>
        </p:nvSpPr>
        <p:spPr>
          <a:xfrm>
            <a:off x="2971800" y="2971800"/>
            <a:ext cx="1737360" cy="731520"/>
          </a:xfrm>
          <a:prstGeom prst="rect">
            <a:avLst/>
          </a:prstGeom>
          <a:noFill/>
          <a:ln/>
        </p:spPr>
        <p:txBody>
          <a:bodyPr wrap="square" lIns="0" tIns="0" rIns="0" bIns="0" rtlCol="0" anchor="t"/>
          <a:lstStyle/>
          <a:p>
            <a:pPr algn="ctr" indent="0" marL="0">
              <a:buNone/>
            </a:pPr>
            <a:r>
              <a:rPr lang="en-US" sz="1400" dirty="0">
                <a:solidFill>
                  <a:schemeClr val="tx1"/>
                </a:solidFill>
              </a:rPr>
              <a:t>no negative price, no duplicate ID</a:t>
            </a:r>
            <a:endParaRPr lang="en-US" sz="1400" dirty="0"/>
          </a:p>
        </p:txBody>
      </p:sp>
      <p:sp>
        <p:nvSpPr>
          <p:cNvPr id="14" name="arrow 2"/>
          <p:cNvSpPr/>
          <p:nvPr/>
        </p:nvSpPr>
        <p:spPr>
          <a:xfrm>
            <a:off x="4882896" y="2542032"/>
            <a:ext cx="201168" cy="274320"/>
          </a:xfrm>
          <a:prstGeom prst="rightArrow">
            <a:avLst/>
          </a:prstGeom>
          <a:solidFill>
            <a:schemeClr val="tx2"/>
          </a:solidFill>
          <a:ln/>
        </p:spPr>
      </p:sp>
      <p:sp>
        <p:nvSpPr>
          <p:cNvPr id="15" name="step 3 card"/>
          <p:cNvSpPr/>
          <p:nvPr/>
        </p:nvSpPr>
        <p:spPr>
          <a:xfrm>
            <a:off x="5120640" y="1508760"/>
            <a:ext cx="2011680" cy="2331720"/>
          </a:xfrm>
          <a:prstGeom prst="roundRect">
            <a:avLst>
              <a:gd name="adj" fmla="val 5455"/>
            </a:avLst>
          </a:prstGeom>
          <a:solidFill>
            <a:schemeClr val="bg2"/>
          </a:solidFill>
          <a:ln/>
        </p:spPr>
      </p:sp>
      <p:sp>
        <p:nvSpPr>
          <p:cNvPr id="16" name="step 3 tile"/>
          <p:cNvSpPr/>
          <p:nvPr/>
        </p:nvSpPr>
        <p:spPr>
          <a:xfrm>
            <a:off x="5779008" y="1737360"/>
            <a:ext cx="694944" cy="694944"/>
          </a:xfrm>
          <a:prstGeom prst="roundRect">
            <a:avLst>
              <a:gd name="adj" fmla="val 24000"/>
            </a:avLst>
          </a:prstGeom>
          <a:solidFill>
            <a:schemeClr val="accent2">
              <a:alpha val="14000"/>
            </a:schemeClr>
          </a:solidFill>
          <a:ln/>
        </p:spPr>
      </p:sp>
      <p:pic>
        <p:nvPicPr>
          <p:cNvPr id="17" name="step 3 icon" descr="preencoded.png">    </p:cNvPr>
          <p:cNvPicPr>
            <a:picLocks noChangeAspect="1"/>
          </p:cNvPicPr>
          <p:nvPr/>
        </p:nvPicPr>
        <p:blipFill>
          <a:blip r:embed="rId3"/>
          <a:stretch>
            <a:fillRect/>
          </a:stretch>
        </p:blipFill>
        <p:spPr>
          <a:xfrm>
            <a:off x="5931896" y="1890248"/>
            <a:ext cx="389169" cy="389169"/>
          </a:xfrm>
          <a:prstGeom prst="rect">
            <a:avLst/>
          </a:prstGeom>
        </p:spPr>
      </p:pic>
      <p:sp>
        <p:nvSpPr>
          <p:cNvPr id="18" name="Text 13"/>
          <p:cNvSpPr txBox="1"/>
          <p:nvPr/>
        </p:nvSpPr>
        <p:spPr>
          <a:xfrm>
            <a:off x="5257800" y="2560320"/>
            <a:ext cx="1737360" cy="384048"/>
          </a:xfrm>
          <a:prstGeom prst="rect">
            <a:avLst/>
          </a:prstGeom>
          <a:noFill/>
          <a:ln/>
        </p:spPr>
        <p:txBody>
          <a:bodyPr wrap="square" lIns="0" tIns="0" rIns="0" bIns="0" rtlCol="0" anchor="t"/>
          <a:lstStyle/>
          <a:p>
            <a:pPr algn="ctr" indent="0" marL="0">
              <a:buNone/>
            </a:pPr>
            <a:r>
              <a:rPr lang="en-US" sz="1800" b="1" dirty="0">
                <a:solidFill>
                  <a:schemeClr val="tx2"/>
                </a:solidFill>
              </a:rPr>
              <a:t>Pack</a:t>
            </a:r>
            <a:endParaRPr lang="en-US" sz="1800" dirty="0"/>
          </a:p>
        </p:txBody>
      </p:sp>
      <p:sp>
        <p:nvSpPr>
          <p:cNvPr id="19" name="Text 14"/>
          <p:cNvSpPr txBox="1"/>
          <p:nvPr/>
        </p:nvSpPr>
        <p:spPr>
          <a:xfrm>
            <a:off x="5257800" y="2971800"/>
            <a:ext cx="1737360" cy="731520"/>
          </a:xfrm>
          <a:prstGeom prst="rect">
            <a:avLst/>
          </a:prstGeom>
          <a:noFill/>
          <a:ln/>
        </p:spPr>
        <p:txBody>
          <a:bodyPr wrap="square" lIns="0" tIns="0" rIns="0" bIns="0" rtlCol="0" anchor="t"/>
          <a:lstStyle/>
          <a:p>
            <a:pPr algn="ctr" indent="0" marL="0">
              <a:buNone/>
            </a:pPr>
            <a:r>
              <a:rPr lang="en-US" sz="1400" dirty="0">
                <a:solidFill>
                  <a:schemeClr val="tx1"/>
                </a:solidFill>
              </a:rPr>
              <a:t>copy into C structs (ctypes)</a:t>
            </a:r>
            <a:endParaRPr lang="en-US" sz="1400" dirty="0"/>
          </a:p>
        </p:txBody>
      </p:sp>
      <p:sp>
        <p:nvSpPr>
          <p:cNvPr id="20" name="arrow 3"/>
          <p:cNvSpPr/>
          <p:nvPr/>
        </p:nvSpPr>
        <p:spPr>
          <a:xfrm>
            <a:off x="7168896" y="2542032"/>
            <a:ext cx="201168" cy="274320"/>
          </a:xfrm>
          <a:prstGeom prst="rightArrow">
            <a:avLst/>
          </a:prstGeom>
          <a:solidFill>
            <a:schemeClr val="tx2"/>
          </a:solidFill>
          <a:ln/>
        </p:spPr>
      </p:sp>
      <p:sp>
        <p:nvSpPr>
          <p:cNvPr id="21" name="step 4 card"/>
          <p:cNvSpPr/>
          <p:nvPr/>
        </p:nvSpPr>
        <p:spPr>
          <a:xfrm>
            <a:off x="7406640" y="1508760"/>
            <a:ext cx="2011680" cy="2331720"/>
          </a:xfrm>
          <a:prstGeom prst="roundRect">
            <a:avLst>
              <a:gd name="adj" fmla="val 5455"/>
            </a:avLst>
          </a:prstGeom>
          <a:solidFill>
            <a:schemeClr val="bg2"/>
          </a:solidFill>
          <a:ln/>
        </p:spPr>
      </p:sp>
      <p:sp>
        <p:nvSpPr>
          <p:cNvPr id="22" name="step 4 tile"/>
          <p:cNvSpPr/>
          <p:nvPr/>
        </p:nvSpPr>
        <p:spPr>
          <a:xfrm>
            <a:off x="8065008" y="1737360"/>
            <a:ext cx="694944" cy="694944"/>
          </a:xfrm>
          <a:prstGeom prst="roundRect">
            <a:avLst>
              <a:gd name="adj" fmla="val 24000"/>
            </a:avLst>
          </a:prstGeom>
          <a:solidFill>
            <a:schemeClr val="accent4">
              <a:alpha val="14000"/>
            </a:schemeClr>
          </a:solidFill>
          <a:ln/>
        </p:spPr>
      </p:sp>
      <p:pic>
        <p:nvPicPr>
          <p:cNvPr id="23" name="step 4 icon" descr="preencoded.png">    </p:cNvPr>
          <p:cNvPicPr>
            <a:picLocks noChangeAspect="1"/>
          </p:cNvPicPr>
          <p:nvPr/>
        </p:nvPicPr>
        <p:blipFill>
          <a:blip r:embed="rId4"/>
          <a:stretch>
            <a:fillRect/>
          </a:stretch>
        </p:blipFill>
        <p:spPr>
          <a:xfrm>
            <a:off x="8217896" y="1890248"/>
            <a:ext cx="389169" cy="389169"/>
          </a:xfrm>
          <a:prstGeom prst="rect">
            <a:avLst/>
          </a:prstGeom>
        </p:spPr>
      </p:pic>
      <p:sp>
        <p:nvSpPr>
          <p:cNvPr id="24" name="Text 18"/>
          <p:cNvSpPr txBox="1"/>
          <p:nvPr/>
        </p:nvSpPr>
        <p:spPr>
          <a:xfrm>
            <a:off x="7543800" y="2560320"/>
            <a:ext cx="1737360" cy="384048"/>
          </a:xfrm>
          <a:prstGeom prst="rect">
            <a:avLst/>
          </a:prstGeom>
          <a:noFill/>
          <a:ln/>
        </p:spPr>
        <p:txBody>
          <a:bodyPr wrap="square" lIns="0" tIns="0" rIns="0" bIns="0" rtlCol="0" anchor="t"/>
          <a:lstStyle/>
          <a:p>
            <a:pPr algn="ctr" indent="0" marL="0">
              <a:buNone/>
            </a:pPr>
            <a:r>
              <a:rPr lang="en-US" sz="1800" b="1" dirty="0">
                <a:solidFill>
                  <a:schemeClr val="tx2"/>
                </a:solidFill>
              </a:rPr>
              <a:t>Call C</a:t>
            </a:r>
            <a:endParaRPr lang="en-US" sz="1800" dirty="0"/>
          </a:p>
        </p:txBody>
      </p:sp>
      <p:sp>
        <p:nvSpPr>
          <p:cNvPr id="25" name="Text 19"/>
          <p:cNvSpPr txBox="1"/>
          <p:nvPr/>
        </p:nvSpPr>
        <p:spPr>
          <a:xfrm>
            <a:off x="7543800" y="2971800"/>
            <a:ext cx="1737360" cy="731520"/>
          </a:xfrm>
          <a:prstGeom prst="rect">
            <a:avLst/>
          </a:prstGeom>
          <a:noFill/>
          <a:ln/>
        </p:spPr>
        <p:txBody>
          <a:bodyPr wrap="square" lIns="0" tIns="0" rIns="0" bIns="0" rtlCol="0" anchor="t"/>
          <a:lstStyle/>
          <a:p>
            <a:pPr algn="ctr" indent="0" marL="0">
              <a:buNone/>
            </a:pPr>
            <a:r>
              <a:rPr lang="en-US" sz="1400" dirty="0">
                <a:solidFill>
                  <a:schemeClr val="tx1"/>
                </a:solidFill>
              </a:rPr>
              <a:t>e.g. sw_prefix_search()</a:t>
            </a:r>
            <a:endParaRPr lang="en-US" sz="1400" dirty="0"/>
          </a:p>
        </p:txBody>
      </p:sp>
      <p:sp>
        <p:nvSpPr>
          <p:cNvPr id="26" name="arrow 4"/>
          <p:cNvSpPr/>
          <p:nvPr/>
        </p:nvSpPr>
        <p:spPr>
          <a:xfrm>
            <a:off x="9454896" y="2542032"/>
            <a:ext cx="201168" cy="274320"/>
          </a:xfrm>
          <a:prstGeom prst="rightArrow">
            <a:avLst/>
          </a:prstGeom>
          <a:solidFill>
            <a:schemeClr val="tx2"/>
          </a:solidFill>
          <a:ln/>
        </p:spPr>
      </p:sp>
      <p:sp>
        <p:nvSpPr>
          <p:cNvPr id="27" name="step 5 card"/>
          <p:cNvSpPr/>
          <p:nvPr/>
        </p:nvSpPr>
        <p:spPr>
          <a:xfrm>
            <a:off x="9692640" y="1508760"/>
            <a:ext cx="2011680" cy="2331720"/>
          </a:xfrm>
          <a:prstGeom prst="roundRect">
            <a:avLst>
              <a:gd name="adj" fmla="val 5455"/>
            </a:avLst>
          </a:prstGeom>
          <a:solidFill>
            <a:schemeClr val="bg2"/>
          </a:solidFill>
          <a:ln/>
        </p:spPr>
      </p:sp>
      <p:sp>
        <p:nvSpPr>
          <p:cNvPr id="28" name="step 5 tile"/>
          <p:cNvSpPr/>
          <p:nvPr/>
        </p:nvSpPr>
        <p:spPr>
          <a:xfrm>
            <a:off x="10351008" y="1737360"/>
            <a:ext cx="694944" cy="694944"/>
          </a:xfrm>
          <a:prstGeom prst="roundRect">
            <a:avLst>
              <a:gd name="adj" fmla="val 24000"/>
            </a:avLst>
          </a:prstGeom>
          <a:solidFill>
            <a:schemeClr val="accent1">
              <a:alpha val="14000"/>
            </a:schemeClr>
          </a:solidFill>
          <a:ln/>
        </p:spPr>
      </p:sp>
      <p:pic>
        <p:nvPicPr>
          <p:cNvPr id="29" name="step 5 icon" descr="preencoded.png">    </p:cNvPr>
          <p:cNvPicPr>
            <a:picLocks noChangeAspect="1"/>
          </p:cNvPicPr>
          <p:nvPr/>
        </p:nvPicPr>
        <p:blipFill>
          <a:blip r:embed="rId5"/>
          <a:stretch>
            <a:fillRect/>
          </a:stretch>
        </p:blipFill>
        <p:spPr>
          <a:xfrm>
            <a:off x="10503896" y="1890248"/>
            <a:ext cx="389169" cy="389169"/>
          </a:xfrm>
          <a:prstGeom prst="rect">
            <a:avLst/>
          </a:prstGeom>
        </p:spPr>
      </p:pic>
      <p:sp>
        <p:nvSpPr>
          <p:cNvPr id="30" name="Text 23"/>
          <p:cNvSpPr txBox="1"/>
          <p:nvPr/>
        </p:nvSpPr>
        <p:spPr>
          <a:xfrm>
            <a:off x="9829800" y="2560320"/>
            <a:ext cx="1737360" cy="384048"/>
          </a:xfrm>
          <a:prstGeom prst="rect">
            <a:avLst/>
          </a:prstGeom>
          <a:noFill/>
          <a:ln/>
        </p:spPr>
        <p:txBody>
          <a:bodyPr wrap="square" lIns="0" tIns="0" rIns="0" bIns="0" rtlCol="0" anchor="t"/>
          <a:lstStyle/>
          <a:p>
            <a:pPr algn="ctr" indent="0" marL="0">
              <a:buNone/>
            </a:pPr>
            <a:r>
              <a:rPr lang="en-US" sz="1800" b="1" dirty="0">
                <a:solidFill>
                  <a:schemeClr val="tx2"/>
                </a:solidFill>
              </a:rPr>
              <a:t>Unpack</a:t>
            </a:r>
            <a:endParaRPr lang="en-US" sz="1800" dirty="0"/>
          </a:p>
        </p:txBody>
      </p:sp>
      <p:sp>
        <p:nvSpPr>
          <p:cNvPr id="31" name="Text 24"/>
          <p:cNvSpPr txBox="1"/>
          <p:nvPr/>
        </p:nvSpPr>
        <p:spPr>
          <a:xfrm>
            <a:off x="9829800" y="2971800"/>
            <a:ext cx="1737360" cy="731520"/>
          </a:xfrm>
          <a:prstGeom prst="rect">
            <a:avLst/>
          </a:prstGeom>
          <a:noFill/>
          <a:ln/>
        </p:spPr>
        <p:txBody>
          <a:bodyPr wrap="square" lIns="0" tIns="0" rIns="0" bIns="0" rtlCol="0" anchor="t"/>
          <a:lstStyle/>
          <a:p>
            <a:pPr algn="ctr" indent="0" marL="0">
              <a:buNone/>
            </a:pPr>
            <a:r>
              <a:rPr lang="en-US" sz="1400" dirty="0">
                <a:solidFill>
                  <a:schemeClr val="tx1"/>
                </a:solidFill>
              </a:rPr>
              <a:t>results back to dicts</a:t>
            </a:r>
            <a:endParaRPr lang="en-US" sz="1400" dirty="0"/>
          </a:p>
        </p:txBody>
      </p:sp>
      <p:sp>
        <p:nvSpPr>
          <p:cNvPr id="32" name="Text 25"/>
          <p:cNvSpPr txBox="1"/>
          <p:nvPr/>
        </p:nvSpPr>
        <p:spPr>
          <a:xfrm>
            <a:off x="548640" y="4297680"/>
            <a:ext cx="3474720" cy="365760"/>
          </a:xfrm>
          <a:prstGeom prst="rect">
            <a:avLst/>
          </a:prstGeom>
          <a:noFill/>
          <a:ln/>
        </p:spPr>
        <p:txBody>
          <a:bodyPr wrap="square" lIns="0" tIns="0" rIns="0" bIns="0" rtlCol="0" anchor="t"/>
          <a:lstStyle/>
          <a:p>
            <a:pPr indent="0" marL="0">
              <a:buNone/>
            </a:pPr>
            <a:r>
              <a:rPr lang="en-US" sz="1800" b="1" dirty="0">
                <a:solidFill>
                  <a:schemeClr val="tx2"/>
                </a:solidFill>
              </a:rPr>
              <a:t>Loads the library</a:t>
            </a:r>
            <a:endParaRPr lang="en-US" sz="1800" dirty="0"/>
          </a:p>
        </p:txBody>
      </p:sp>
      <p:sp>
        <p:nvSpPr>
          <p:cNvPr id="33" name="Text 26"/>
          <p:cNvSpPr txBox="1"/>
          <p:nvPr/>
        </p:nvSpPr>
        <p:spPr>
          <a:xfrm>
            <a:off x="548640" y="4709160"/>
            <a:ext cx="3474720" cy="731520"/>
          </a:xfrm>
          <a:prstGeom prst="rect">
            <a:avLst/>
          </a:prstGeom>
          <a:noFill/>
          <a:ln/>
        </p:spPr>
        <p:txBody>
          <a:bodyPr wrap="square" lIns="0" tIns="0" rIns="0" bIns="0" rtlCol="0" anchor="t"/>
          <a:lstStyle/>
          <a:p>
            <a:pPr indent="0" marL="0">
              <a:buNone/>
            </a:pPr>
            <a:r>
              <a:rPr lang="en-US" sz="1400" dirty="0">
                <a:solidFill>
                  <a:schemeClr val="tx1"/>
                </a:solidFill>
              </a:rPr>
              <a:t>libstockwise.so on Linux, stockwise.dll on Windows</a:t>
            </a:r>
            <a:endParaRPr lang="en-US" sz="1400" dirty="0"/>
          </a:p>
        </p:txBody>
      </p:sp>
      <p:sp>
        <p:nvSpPr>
          <p:cNvPr id="34" name="Text 27"/>
          <p:cNvSpPr txBox="1"/>
          <p:nvPr/>
        </p:nvSpPr>
        <p:spPr>
          <a:xfrm>
            <a:off x="4297680" y="4297680"/>
            <a:ext cx="3474720" cy="365760"/>
          </a:xfrm>
          <a:prstGeom prst="rect">
            <a:avLst/>
          </a:prstGeom>
          <a:noFill/>
          <a:ln/>
        </p:spPr>
        <p:txBody>
          <a:bodyPr wrap="square" lIns="0" tIns="0" rIns="0" bIns="0" rtlCol="0" anchor="t"/>
          <a:lstStyle/>
          <a:p>
            <a:pPr indent="0" marL="0">
              <a:buNone/>
            </a:pPr>
            <a:r>
              <a:rPr lang="en-US" sz="1800" b="1" dirty="0">
                <a:solidFill>
                  <a:schemeClr val="tx2"/>
                </a:solidFill>
              </a:rPr>
              <a:t>Declares every C function</a:t>
            </a:r>
            <a:endParaRPr lang="en-US" sz="1800" dirty="0"/>
          </a:p>
        </p:txBody>
      </p:sp>
      <p:sp>
        <p:nvSpPr>
          <p:cNvPr id="35" name="Text 28"/>
          <p:cNvSpPr txBox="1"/>
          <p:nvPr/>
        </p:nvSpPr>
        <p:spPr>
          <a:xfrm>
            <a:off x="4297680" y="4709160"/>
            <a:ext cx="3474720" cy="731520"/>
          </a:xfrm>
          <a:prstGeom prst="rect">
            <a:avLst/>
          </a:prstGeom>
          <a:noFill/>
          <a:ln/>
        </p:spPr>
        <p:txBody>
          <a:bodyPr wrap="square" lIns="0" tIns="0" rIns="0" bIns="0" rtlCol="0" anchor="t"/>
          <a:lstStyle/>
          <a:p>
            <a:pPr indent="0" marL="0">
              <a:buNone/>
            </a:pPr>
            <a:r>
              <a:rPr lang="en-US" sz="1400" dirty="0">
                <a:solidFill>
                  <a:schemeClr val="tx1"/>
                </a:solidFill>
              </a:rPr>
              <a:t>argument and return types, so Python calls them safely</a:t>
            </a:r>
            <a:endParaRPr lang="en-US" sz="1400" dirty="0"/>
          </a:p>
        </p:txBody>
      </p:sp>
      <p:sp>
        <p:nvSpPr>
          <p:cNvPr id="36" name="Text 29"/>
          <p:cNvSpPr txBox="1"/>
          <p:nvPr/>
        </p:nvSpPr>
        <p:spPr>
          <a:xfrm>
            <a:off x="8046720" y="4297680"/>
            <a:ext cx="3474720" cy="365760"/>
          </a:xfrm>
          <a:prstGeom prst="rect">
            <a:avLst/>
          </a:prstGeom>
          <a:noFill/>
          <a:ln/>
        </p:spPr>
        <p:txBody>
          <a:bodyPr wrap="square" lIns="0" tIns="0" rIns="0" bIns="0" rtlCol="0" anchor="t"/>
          <a:lstStyle/>
          <a:p>
            <a:pPr indent="0" marL="0">
              <a:buNone/>
            </a:pPr>
            <a:r>
              <a:rPr lang="en-US" sz="1800" b="1" dirty="0">
                <a:solidFill>
                  <a:schemeClr val="tx2"/>
                </a:solidFill>
              </a:rPr>
              <a:t>Frees memory</a:t>
            </a:r>
            <a:endParaRPr lang="en-US" sz="1800" dirty="0"/>
          </a:p>
        </p:txBody>
      </p:sp>
      <p:sp>
        <p:nvSpPr>
          <p:cNvPr id="37" name="Text 30"/>
          <p:cNvSpPr txBox="1"/>
          <p:nvPr/>
        </p:nvSpPr>
        <p:spPr>
          <a:xfrm>
            <a:off x="8046720" y="4709160"/>
            <a:ext cx="3474720" cy="731520"/>
          </a:xfrm>
          <a:prstGeom prst="rect">
            <a:avLst/>
          </a:prstGeom>
          <a:noFill/>
          <a:ln/>
        </p:spPr>
        <p:txBody>
          <a:bodyPr wrap="square" lIns="0" tIns="0" rIns="0" bIns="0" rtlCol="0" anchor="t"/>
          <a:lstStyle/>
          <a:p>
            <a:pPr indent="0" marL="0">
              <a:buNone/>
            </a:pPr>
            <a:r>
              <a:rPr lang="en-US" sz="1400" dirty="0">
                <a:solidFill>
                  <a:schemeClr val="tx1"/>
                </a:solidFill>
              </a:rPr>
              <a:t>Engine.close() releases all C memory; nothing leaks</a:t>
            </a:r>
            <a:endParaRPr lang="en-US" sz="14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77240"/>
          </a:xfrm>
          <a:prstGeom prst="rect">
            <a:avLst/>
          </a:prstGeom>
          <a:noFill/>
          <a:ln/>
        </p:spPr>
        <p:txBody>
          <a:bodyPr wrap="square" lIns="0" tIns="0" rIns="0" bIns="0" rtlCol="0" anchor="ctr"/>
          <a:lstStyle/>
          <a:p>
            <a:pPr algn="l" indent="0" marL="0">
              <a:buNone/>
            </a:pPr>
            <a:r>
              <a:rPr lang="en-US" sz="3600" b="1" dirty="0">
                <a:solidFill>
                  <a:schemeClr val="tx2"/>
                </a:solidFill>
              </a:rPr>
              <a:t>database.py and schema.sql: permanent storage</a:t>
            </a:r>
            <a:endParaRPr lang="en-US" sz="3600" dirty="0"/>
          </a:p>
        </p:txBody>
      </p:sp>
      <p:sp>
        <p:nvSpPr>
          <p:cNvPr id="3" name="products card"/>
          <p:cNvSpPr/>
          <p:nvPr/>
        </p:nvSpPr>
        <p:spPr>
          <a:xfrm>
            <a:off x="548640" y="1463040"/>
            <a:ext cx="5669280" cy="1645920"/>
          </a:xfrm>
          <a:prstGeom prst="roundRect">
            <a:avLst>
              <a:gd name="adj" fmla="val 6667"/>
            </a:avLst>
          </a:prstGeom>
          <a:solidFill>
            <a:schemeClr val="bg2"/>
          </a:solidFill>
          <a:ln/>
        </p:spPr>
      </p:sp>
      <p:sp>
        <p:nvSpPr>
          <p:cNvPr id="4" name="products tile"/>
          <p:cNvSpPr/>
          <p:nvPr/>
        </p:nvSpPr>
        <p:spPr>
          <a:xfrm>
            <a:off x="822960" y="1737360"/>
            <a:ext cx="685800" cy="685800"/>
          </a:xfrm>
          <a:prstGeom prst="roundRect">
            <a:avLst>
              <a:gd name="adj" fmla="val 24000"/>
            </a:avLst>
          </a:prstGeom>
          <a:solidFill>
            <a:schemeClr val="accent1">
              <a:alpha val="14000"/>
            </a:schemeClr>
          </a:solidFill>
          <a:ln/>
        </p:spPr>
      </p:sp>
      <p:pic>
        <p:nvPicPr>
          <p:cNvPr id="5" name="products icon" descr="preencoded.png">    </p:cNvPr>
          <p:cNvPicPr>
            <a:picLocks noChangeAspect="1"/>
          </p:cNvPicPr>
          <p:nvPr/>
        </p:nvPicPr>
        <p:blipFill>
          <a:blip r:embed="rId1"/>
          <a:stretch>
            <a:fillRect/>
          </a:stretch>
        </p:blipFill>
        <p:spPr>
          <a:xfrm>
            <a:off x="973836" y="1888236"/>
            <a:ext cx="384048" cy="384048"/>
          </a:xfrm>
          <a:prstGeom prst="rect">
            <a:avLst/>
          </a:prstGeom>
        </p:spPr>
      </p:pic>
      <p:sp>
        <p:nvSpPr>
          <p:cNvPr id="6" name="Text 3"/>
          <p:cNvSpPr txBox="1"/>
          <p:nvPr/>
        </p:nvSpPr>
        <p:spPr>
          <a:xfrm>
            <a:off x="1737360" y="1737360"/>
            <a:ext cx="4297680" cy="365760"/>
          </a:xfrm>
          <a:prstGeom prst="rect">
            <a:avLst/>
          </a:prstGeom>
          <a:noFill/>
          <a:ln/>
        </p:spPr>
        <p:txBody>
          <a:bodyPr wrap="square" lIns="0" tIns="0" rIns="0" bIns="0" rtlCol="0" anchor="t"/>
          <a:lstStyle/>
          <a:p>
            <a:pPr indent="0" marL="0">
              <a:buNone/>
            </a:pPr>
            <a:r>
              <a:rPr lang="en-US" sz="1700" b="1" dirty="0">
                <a:solidFill>
                  <a:schemeClr val="accent1"/>
                </a:solidFill>
                <a:latin typeface="Courier New" pitchFamily="34" charset="0"/>
                <a:ea typeface="Courier New" pitchFamily="34" charset="-122"/>
                <a:cs typeface="Courier New" pitchFamily="34" charset="-120"/>
              </a:rPr>
              <a:t>products</a:t>
            </a:r>
            <a:endParaRPr lang="en-US" sz="1700" dirty="0"/>
          </a:p>
        </p:txBody>
      </p:sp>
      <p:sp>
        <p:nvSpPr>
          <p:cNvPr id="7" name="Text 4"/>
          <p:cNvSpPr txBox="1"/>
          <p:nvPr/>
        </p:nvSpPr>
        <p:spPr>
          <a:xfrm>
            <a:off x="1737360" y="2176272"/>
            <a:ext cx="4297680" cy="822960"/>
          </a:xfrm>
          <a:prstGeom prst="rect">
            <a:avLst/>
          </a:prstGeom>
          <a:noFill/>
          <a:ln/>
        </p:spPr>
        <p:txBody>
          <a:bodyPr wrap="square" lIns="0" tIns="0" rIns="0" bIns="0" rtlCol="0" anchor="t"/>
          <a:lstStyle/>
          <a:p>
            <a:pPr indent="0" marL="0">
              <a:buNone/>
            </a:pPr>
            <a:r>
              <a:rPr lang="en-US" sz="1400" dirty="0">
                <a:solidFill>
                  <a:schemeClr val="tx1"/>
                </a:solidFill>
              </a:rPr>
              <a:t>id, name, category, price, quantity, minimum stock, demand, importance</a:t>
            </a:r>
            <a:endParaRPr lang="en-US" sz="1400" dirty="0"/>
          </a:p>
        </p:txBody>
      </p:sp>
      <p:sp>
        <p:nvSpPr>
          <p:cNvPr id="8" name="inventory_transactions card"/>
          <p:cNvSpPr/>
          <p:nvPr/>
        </p:nvSpPr>
        <p:spPr>
          <a:xfrm>
            <a:off x="548640" y="3337560"/>
            <a:ext cx="5669280" cy="1645920"/>
          </a:xfrm>
          <a:prstGeom prst="roundRect">
            <a:avLst>
              <a:gd name="adj" fmla="val 6667"/>
            </a:avLst>
          </a:prstGeom>
          <a:solidFill>
            <a:schemeClr val="bg2"/>
          </a:solidFill>
          <a:ln/>
        </p:spPr>
      </p:sp>
      <p:sp>
        <p:nvSpPr>
          <p:cNvPr id="9" name="inventory_transactions tile"/>
          <p:cNvSpPr/>
          <p:nvPr/>
        </p:nvSpPr>
        <p:spPr>
          <a:xfrm>
            <a:off x="822960" y="3611880"/>
            <a:ext cx="685800" cy="685800"/>
          </a:xfrm>
          <a:prstGeom prst="roundRect">
            <a:avLst>
              <a:gd name="adj" fmla="val 24000"/>
            </a:avLst>
          </a:prstGeom>
          <a:solidFill>
            <a:schemeClr val="accent3">
              <a:alpha val="14000"/>
            </a:schemeClr>
          </a:solidFill>
          <a:ln/>
        </p:spPr>
      </p:sp>
      <p:pic>
        <p:nvPicPr>
          <p:cNvPr id="10" name="inventory_transactions icon" descr="preencoded.png">    </p:cNvPr>
          <p:cNvPicPr>
            <a:picLocks noChangeAspect="1"/>
          </p:cNvPicPr>
          <p:nvPr/>
        </p:nvPicPr>
        <p:blipFill>
          <a:blip r:embed="rId2"/>
          <a:stretch>
            <a:fillRect/>
          </a:stretch>
        </p:blipFill>
        <p:spPr>
          <a:xfrm>
            <a:off x="973836" y="3762756"/>
            <a:ext cx="384048" cy="384048"/>
          </a:xfrm>
          <a:prstGeom prst="rect">
            <a:avLst/>
          </a:prstGeom>
        </p:spPr>
      </p:pic>
      <p:sp>
        <p:nvSpPr>
          <p:cNvPr id="11" name="Text 7"/>
          <p:cNvSpPr txBox="1"/>
          <p:nvPr/>
        </p:nvSpPr>
        <p:spPr>
          <a:xfrm>
            <a:off x="1737360" y="3611880"/>
            <a:ext cx="4297680" cy="365760"/>
          </a:xfrm>
          <a:prstGeom prst="rect">
            <a:avLst/>
          </a:prstGeom>
          <a:noFill/>
          <a:ln/>
        </p:spPr>
        <p:txBody>
          <a:bodyPr wrap="square" lIns="0" tIns="0" rIns="0" bIns="0" rtlCol="0" anchor="t"/>
          <a:lstStyle/>
          <a:p>
            <a:pPr indent="0" marL="0">
              <a:buNone/>
            </a:pPr>
            <a:r>
              <a:rPr lang="en-US" sz="1700" b="1" dirty="0">
                <a:solidFill>
                  <a:schemeClr val="accent1"/>
                </a:solidFill>
                <a:latin typeface="Courier New" pitchFamily="34" charset="0"/>
                <a:ea typeface="Courier New" pitchFamily="34" charset="-122"/>
                <a:cs typeface="Courier New" pitchFamily="34" charset="-120"/>
              </a:rPr>
              <a:t>inventory_transactions</a:t>
            </a:r>
            <a:endParaRPr lang="en-US" sz="1700" dirty="0"/>
          </a:p>
        </p:txBody>
      </p:sp>
      <p:sp>
        <p:nvSpPr>
          <p:cNvPr id="12" name="Text 8"/>
          <p:cNvSpPr txBox="1"/>
          <p:nvPr/>
        </p:nvSpPr>
        <p:spPr>
          <a:xfrm>
            <a:off x="1737360" y="4050792"/>
            <a:ext cx="4297680" cy="822960"/>
          </a:xfrm>
          <a:prstGeom prst="rect">
            <a:avLst/>
          </a:prstGeom>
          <a:noFill/>
          <a:ln/>
        </p:spPr>
        <p:txBody>
          <a:bodyPr wrap="square" lIns="0" tIns="0" rIns="0" bIns="0" rtlCol="0" anchor="t"/>
          <a:lstStyle/>
          <a:p>
            <a:pPr indent="0" marL="0">
              <a:buNone/>
            </a:pPr>
            <a:r>
              <a:rPr lang="en-US" sz="1400" dirty="0">
                <a:solidFill>
                  <a:schemeClr val="tx1"/>
                </a:solidFill>
              </a:rPr>
              <a:t>every stock in and stock out: product, type, quantity, balance after, time</a:t>
            </a:r>
            <a:endParaRPr lang="en-US" sz="1400" dirty="0"/>
          </a:p>
        </p:txBody>
      </p:sp>
      <p:sp>
        <p:nvSpPr>
          <p:cNvPr id="13" name="Text 9"/>
          <p:cNvSpPr txBox="1"/>
          <p:nvPr/>
        </p:nvSpPr>
        <p:spPr>
          <a:xfrm>
            <a:off x="548640" y="5303520"/>
            <a:ext cx="5669280" cy="548640"/>
          </a:xfrm>
          <a:prstGeom prst="rect">
            <a:avLst/>
          </a:prstGeom>
          <a:noFill/>
          <a:ln/>
        </p:spPr>
        <p:txBody>
          <a:bodyPr wrap="square" lIns="0" tIns="0" rIns="0" bIns="0" rtlCol="0" anchor="t"/>
          <a:lstStyle/>
          <a:p>
            <a:pPr indent="0" marL="0">
              <a:buNone/>
            </a:pPr>
            <a:r>
              <a:rPr lang="en-US" sz="1400" i="1" dirty="0">
                <a:solidFill>
                  <a:schemeClr val="tx2"/>
                </a:solidFill>
              </a:rPr>
              <a:t>schema.sql creates the two tables. database.py adds, edits and deletes rows.</a:t>
            </a:r>
            <a:endParaRPr lang="en-US" sz="1400" dirty="0"/>
          </a:p>
        </p:txBody>
      </p:sp>
      <p:sp>
        <p:nvSpPr>
          <p:cNvPr id="14" name="rule 1 tile"/>
          <p:cNvSpPr/>
          <p:nvPr/>
        </p:nvSpPr>
        <p:spPr>
          <a:xfrm>
            <a:off x="6766560" y="1463040"/>
            <a:ext cx="548640" cy="548640"/>
          </a:xfrm>
          <a:prstGeom prst="roundRect">
            <a:avLst>
              <a:gd name="adj" fmla="val 24000"/>
            </a:avLst>
          </a:prstGeom>
          <a:solidFill>
            <a:schemeClr val="accent3">
              <a:alpha val="14000"/>
            </a:schemeClr>
          </a:solidFill>
          <a:ln/>
        </p:spPr>
      </p:sp>
      <p:pic>
        <p:nvPicPr>
          <p:cNvPr id="15" name="rule 1 icon" descr="preencoded.png">    </p:cNvPr>
          <p:cNvPicPr>
            <a:picLocks noChangeAspect="1"/>
          </p:cNvPicPr>
          <p:nvPr/>
        </p:nvPicPr>
        <p:blipFill>
          <a:blip r:embed="rId3"/>
          <a:stretch>
            <a:fillRect/>
          </a:stretch>
        </p:blipFill>
        <p:spPr>
          <a:xfrm>
            <a:off x="6887261" y="1583741"/>
            <a:ext cx="307238" cy="307238"/>
          </a:xfrm>
          <a:prstGeom prst="rect">
            <a:avLst/>
          </a:prstGeom>
        </p:spPr>
      </p:pic>
      <p:sp>
        <p:nvSpPr>
          <p:cNvPr id="16" name="Text 11"/>
          <p:cNvSpPr txBox="1"/>
          <p:nvPr/>
        </p:nvSpPr>
        <p:spPr>
          <a:xfrm>
            <a:off x="7498080" y="1444752"/>
            <a:ext cx="4114800" cy="365760"/>
          </a:xfrm>
          <a:prstGeom prst="rect">
            <a:avLst/>
          </a:prstGeom>
          <a:noFill/>
          <a:ln/>
        </p:spPr>
        <p:txBody>
          <a:bodyPr wrap="square" lIns="0" tIns="0" rIns="0" bIns="0" rtlCol="0" anchor="t"/>
          <a:lstStyle/>
          <a:p>
            <a:pPr indent="0" marL="0">
              <a:buNone/>
            </a:pPr>
            <a:r>
              <a:rPr lang="en-US" sz="1800" b="1" dirty="0">
                <a:solidFill>
                  <a:schemeClr val="tx2"/>
                </a:solidFill>
              </a:rPr>
              <a:t>Stock can never go negative</a:t>
            </a:r>
            <a:endParaRPr lang="en-US" sz="1800" dirty="0"/>
          </a:p>
        </p:txBody>
      </p:sp>
      <p:sp>
        <p:nvSpPr>
          <p:cNvPr id="17" name="Text 12"/>
          <p:cNvSpPr txBox="1"/>
          <p:nvPr/>
        </p:nvSpPr>
        <p:spPr>
          <a:xfrm>
            <a:off x="7498080" y="1847088"/>
            <a:ext cx="4114800" cy="640080"/>
          </a:xfrm>
          <a:prstGeom prst="rect">
            <a:avLst/>
          </a:prstGeom>
          <a:noFill/>
          <a:ln/>
        </p:spPr>
        <p:txBody>
          <a:bodyPr wrap="square" lIns="0" tIns="0" rIns="0" bIns="0" rtlCol="0" anchor="t"/>
          <a:lstStyle/>
          <a:p>
            <a:pPr indent="0" marL="0">
              <a:buNone/>
            </a:pPr>
            <a:r>
              <a:rPr lang="en-US" sz="1400" dirty="0">
                <a:solidFill>
                  <a:schemeClr val="tx1"/>
                </a:solidFill>
              </a:rPr>
              <a:t>the check and the update happen in one SQL statement</a:t>
            </a:r>
            <a:endParaRPr lang="en-US" sz="1400" dirty="0"/>
          </a:p>
        </p:txBody>
      </p:sp>
      <p:sp>
        <p:nvSpPr>
          <p:cNvPr id="18" name="rule 2 tile"/>
          <p:cNvSpPr/>
          <p:nvPr/>
        </p:nvSpPr>
        <p:spPr>
          <a:xfrm>
            <a:off x="6766560" y="2880360"/>
            <a:ext cx="548640" cy="548640"/>
          </a:xfrm>
          <a:prstGeom prst="roundRect">
            <a:avLst>
              <a:gd name="adj" fmla="val 24000"/>
            </a:avLst>
          </a:prstGeom>
          <a:solidFill>
            <a:schemeClr val="accent3">
              <a:alpha val="14000"/>
            </a:schemeClr>
          </a:solidFill>
          <a:ln/>
        </p:spPr>
      </p:sp>
      <p:pic>
        <p:nvPicPr>
          <p:cNvPr id="19" name="rule 2 icon" descr="preencoded.png">    </p:cNvPr>
          <p:cNvPicPr>
            <a:picLocks noChangeAspect="1"/>
          </p:cNvPicPr>
          <p:nvPr/>
        </p:nvPicPr>
        <p:blipFill>
          <a:blip r:embed="rId4"/>
          <a:stretch>
            <a:fillRect/>
          </a:stretch>
        </p:blipFill>
        <p:spPr>
          <a:xfrm>
            <a:off x="6887261" y="3001061"/>
            <a:ext cx="307238" cy="307238"/>
          </a:xfrm>
          <a:prstGeom prst="rect">
            <a:avLst/>
          </a:prstGeom>
        </p:spPr>
      </p:pic>
      <p:sp>
        <p:nvSpPr>
          <p:cNvPr id="20" name="Text 14"/>
          <p:cNvSpPr txBox="1"/>
          <p:nvPr/>
        </p:nvSpPr>
        <p:spPr>
          <a:xfrm>
            <a:off x="7498080" y="2862072"/>
            <a:ext cx="4114800" cy="365760"/>
          </a:xfrm>
          <a:prstGeom prst="rect">
            <a:avLst/>
          </a:prstGeom>
          <a:noFill/>
          <a:ln/>
        </p:spPr>
        <p:txBody>
          <a:bodyPr wrap="square" lIns="0" tIns="0" rIns="0" bIns="0" rtlCol="0" anchor="t"/>
          <a:lstStyle/>
          <a:p>
            <a:pPr indent="0" marL="0">
              <a:buNone/>
            </a:pPr>
            <a:r>
              <a:rPr lang="en-US" sz="1800" b="1" dirty="0">
                <a:solidFill>
                  <a:schemeClr val="tx2"/>
                </a:solidFill>
              </a:rPr>
              <a:t>History always matches stock</a:t>
            </a:r>
            <a:endParaRPr lang="en-US" sz="1800" dirty="0"/>
          </a:p>
        </p:txBody>
      </p:sp>
      <p:sp>
        <p:nvSpPr>
          <p:cNvPr id="21" name="Text 15"/>
          <p:cNvSpPr txBox="1"/>
          <p:nvPr/>
        </p:nvSpPr>
        <p:spPr>
          <a:xfrm>
            <a:off x="7498080" y="3264408"/>
            <a:ext cx="4114800" cy="640080"/>
          </a:xfrm>
          <a:prstGeom prst="rect">
            <a:avLst/>
          </a:prstGeom>
          <a:noFill/>
          <a:ln/>
        </p:spPr>
        <p:txBody>
          <a:bodyPr wrap="square" lIns="0" tIns="0" rIns="0" bIns="0" rtlCol="0" anchor="t"/>
          <a:lstStyle/>
          <a:p>
            <a:pPr indent="0" marL="0">
              <a:buNone/>
            </a:pPr>
            <a:r>
              <a:rPr lang="en-US" sz="1400" dirty="0">
                <a:solidFill>
                  <a:schemeClr val="tx1"/>
                </a:solidFill>
              </a:rPr>
              <a:t>the stock change and its history row are saved together</a:t>
            </a:r>
            <a:endParaRPr lang="en-US" sz="1400" dirty="0"/>
          </a:p>
        </p:txBody>
      </p:sp>
      <p:sp>
        <p:nvSpPr>
          <p:cNvPr id="22" name="rule 3 tile"/>
          <p:cNvSpPr/>
          <p:nvPr/>
        </p:nvSpPr>
        <p:spPr>
          <a:xfrm>
            <a:off x="6766560" y="4297680"/>
            <a:ext cx="548640" cy="548640"/>
          </a:xfrm>
          <a:prstGeom prst="roundRect">
            <a:avLst>
              <a:gd name="adj" fmla="val 24000"/>
            </a:avLst>
          </a:prstGeom>
          <a:solidFill>
            <a:schemeClr val="accent3">
              <a:alpha val="14000"/>
            </a:schemeClr>
          </a:solidFill>
          <a:ln/>
        </p:spPr>
      </p:sp>
      <p:pic>
        <p:nvPicPr>
          <p:cNvPr id="23" name="rule 3 icon" descr="preencoded.png">    </p:cNvPr>
          <p:cNvPicPr>
            <a:picLocks noChangeAspect="1"/>
          </p:cNvPicPr>
          <p:nvPr/>
        </p:nvPicPr>
        <p:blipFill>
          <a:blip r:embed="rId5"/>
          <a:stretch>
            <a:fillRect/>
          </a:stretch>
        </p:blipFill>
        <p:spPr>
          <a:xfrm>
            <a:off x="6887261" y="4418381"/>
            <a:ext cx="307238" cy="307238"/>
          </a:xfrm>
          <a:prstGeom prst="rect">
            <a:avLst/>
          </a:prstGeom>
        </p:spPr>
      </p:pic>
      <p:sp>
        <p:nvSpPr>
          <p:cNvPr id="24" name="Text 17"/>
          <p:cNvSpPr txBox="1"/>
          <p:nvPr/>
        </p:nvSpPr>
        <p:spPr>
          <a:xfrm>
            <a:off x="7498080" y="4279392"/>
            <a:ext cx="4114800" cy="365760"/>
          </a:xfrm>
          <a:prstGeom prst="rect">
            <a:avLst/>
          </a:prstGeom>
          <a:noFill/>
          <a:ln/>
        </p:spPr>
        <p:txBody>
          <a:bodyPr wrap="square" lIns="0" tIns="0" rIns="0" bIns="0" rtlCol="0" anchor="t"/>
          <a:lstStyle/>
          <a:p>
            <a:pPr indent="0" marL="0">
              <a:buNone/>
            </a:pPr>
            <a:r>
              <a:rPr lang="en-US" sz="1800" b="1" dirty="0">
                <a:solidFill>
                  <a:schemeClr val="tx2"/>
                </a:solidFill>
              </a:rPr>
              <a:t>Ready-made sample data</a:t>
            </a:r>
            <a:endParaRPr lang="en-US" sz="1800" dirty="0"/>
          </a:p>
        </p:txBody>
      </p:sp>
      <p:sp>
        <p:nvSpPr>
          <p:cNvPr id="25" name="Text 18"/>
          <p:cNvSpPr txBox="1"/>
          <p:nvPr/>
        </p:nvSpPr>
        <p:spPr>
          <a:xfrm>
            <a:off x="7498080" y="4681728"/>
            <a:ext cx="4114800" cy="640080"/>
          </a:xfrm>
          <a:prstGeom prst="rect">
            <a:avLst/>
          </a:prstGeom>
          <a:noFill/>
          <a:ln/>
        </p:spPr>
        <p:txBody>
          <a:bodyPr wrap="square" lIns="0" tIns="0" rIns="0" bIns="0" rtlCol="0" anchor="t"/>
          <a:lstStyle/>
          <a:p>
            <a:pPr indent="0" marL="0">
              <a:buNone/>
            </a:pPr>
            <a:r>
              <a:rPr lang="en-US" sz="1400" dirty="0">
                <a:solidFill>
                  <a:schemeClr val="tx1"/>
                </a:solidFill>
              </a:rPr>
              <a:t>25 products with 90 days of deliveries and sales</a:t>
            </a:r>
            <a:endParaRPr lang="en-US" sz="14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731520" y="2377440"/>
            <a:ext cx="10698480" cy="1005840"/>
          </a:xfrm>
          <a:prstGeom prst="rect">
            <a:avLst/>
          </a:prstGeom>
          <a:noFill/>
          <a:ln/>
        </p:spPr>
        <p:txBody>
          <a:bodyPr wrap="square" lIns="0" tIns="0" rIns="0" bIns="0" rtlCol="0" anchor="b"/>
          <a:lstStyle/>
          <a:p>
            <a:pPr algn="l" indent="0" marL="0">
              <a:buNone/>
            </a:pPr>
            <a:r>
              <a:rPr lang="en-US" sz="4400" b="1" dirty="0">
                <a:solidFill>
                  <a:schemeClr val="bg1"/>
                </a:solidFill>
              </a:rPr>
              <a:t>The C engine</a:t>
            </a:r>
            <a:endParaRPr lang="en-US" sz="4400" dirty="0"/>
          </a:p>
        </p:txBody>
      </p:sp>
      <p:sp>
        <p:nvSpPr>
          <p:cNvPr id="3" name="Text 0"/>
          <p:cNvSpPr/>
          <p:nvPr>
            <p:ph idx="101" type="body" hasCustomPrompt="1"/>
          </p:nvPr>
        </p:nvSpPr>
        <p:spPr>
          <a:xfrm>
            <a:off x="731520" y="3520440"/>
            <a:ext cx="10698480" cy="731520"/>
          </a:xfrm>
          <a:prstGeom prst="rect">
            <a:avLst/>
          </a:prstGeom>
          <a:noFill/>
          <a:ln/>
        </p:spPr>
        <p:txBody>
          <a:bodyPr wrap="square" lIns="0" tIns="0" rIns="0" bIns="0" rtlCol="0" anchor="t"/>
          <a:lstStyle/>
          <a:p>
            <a:pPr algn="l" indent="0" marL="0">
              <a:buNone/>
            </a:pPr>
            <a:r>
              <a:rPr lang="en-US" sz="2200" dirty="0">
                <a:solidFill>
                  <a:schemeClr val="bg1"/>
                </a:solidFill>
              </a:rPr>
              <a:t>Where every data structure and algorithm runs</a:t>
            </a:r>
            <a:endParaRPr lang="en-US" sz="22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1"/>
                </a:solidFill>
              </a:defRPr>
            </a:lvl1pPr>
          </a:lstStyle>
          <a:p>
            <a:pPr algn="l"/>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77240"/>
          </a:xfrm>
          <a:prstGeom prst="rect">
            <a:avLst/>
          </a:prstGeom>
          <a:noFill/>
          <a:ln/>
        </p:spPr>
        <p:txBody>
          <a:bodyPr wrap="square" lIns="0" tIns="0" rIns="0" bIns="0" rtlCol="0" anchor="ctr"/>
          <a:lstStyle/>
          <a:p>
            <a:pPr algn="l" indent="0" marL="0">
              <a:buNone/>
            </a:pPr>
            <a:r>
              <a:rPr lang="en-US" sz="3600" b="1" dirty="0">
                <a:solidFill>
                  <a:schemeClr val="tx2"/>
                </a:solidFill>
              </a:rPr>
              <a:t>The C engine at a glance: core files</a:t>
            </a:r>
            <a:endParaRPr lang="en-US" sz="3600" dirty="0"/>
          </a:p>
        </p:txBody>
      </p:sp>
      <p:sp>
        <p:nvSpPr>
          <p:cNvPr id="3" name="inventory_types.h card"/>
          <p:cNvSpPr/>
          <p:nvPr/>
        </p:nvSpPr>
        <p:spPr>
          <a:xfrm>
            <a:off x="548640" y="1371600"/>
            <a:ext cx="3520440" cy="2331720"/>
          </a:xfrm>
          <a:prstGeom prst="roundRect">
            <a:avLst>
              <a:gd name="adj" fmla="val 4706"/>
            </a:avLst>
          </a:prstGeom>
          <a:solidFill>
            <a:schemeClr val="bg2"/>
          </a:solidFill>
          <a:ln/>
        </p:spPr>
      </p:sp>
      <p:sp>
        <p:nvSpPr>
          <p:cNvPr id="4" name="inventory_types.h tile"/>
          <p:cNvSpPr/>
          <p:nvPr/>
        </p:nvSpPr>
        <p:spPr>
          <a:xfrm>
            <a:off x="822960" y="1645920"/>
            <a:ext cx="640080" cy="640080"/>
          </a:xfrm>
          <a:prstGeom prst="roundRect">
            <a:avLst>
              <a:gd name="adj" fmla="val 24000"/>
            </a:avLst>
          </a:prstGeom>
          <a:solidFill>
            <a:schemeClr val="accent1">
              <a:alpha val="14000"/>
            </a:schemeClr>
          </a:solidFill>
          <a:ln/>
        </p:spPr>
      </p:sp>
      <p:pic>
        <p:nvPicPr>
          <p:cNvPr id="5" name="inventory_types.h icon" descr="preencoded.png">    </p:cNvPr>
          <p:cNvPicPr>
            <a:picLocks noChangeAspect="1"/>
          </p:cNvPicPr>
          <p:nvPr/>
        </p:nvPicPr>
        <p:blipFill>
          <a:blip r:embed="rId1"/>
          <a:stretch>
            <a:fillRect/>
          </a:stretch>
        </p:blipFill>
        <p:spPr>
          <a:xfrm>
            <a:off x="963778" y="1786738"/>
            <a:ext cx="358445" cy="358445"/>
          </a:xfrm>
          <a:prstGeom prst="rect">
            <a:avLst/>
          </a:prstGeom>
        </p:spPr>
      </p:pic>
      <p:sp>
        <p:nvSpPr>
          <p:cNvPr id="6" name="Text 3"/>
          <p:cNvSpPr txBox="1"/>
          <p:nvPr/>
        </p:nvSpPr>
        <p:spPr>
          <a:xfrm>
            <a:off x="1645920" y="1645920"/>
            <a:ext cx="2286000" cy="310896"/>
          </a:xfrm>
          <a:prstGeom prst="rect">
            <a:avLst/>
          </a:prstGeom>
          <a:noFill/>
          <a:ln/>
        </p:spPr>
        <p:txBody>
          <a:bodyPr wrap="square" lIns="0" tIns="0" rIns="0" bIns="0" rtlCol="0" anchor="ctr"/>
          <a:lstStyle/>
          <a:p>
            <a:pPr indent="0" marL="0">
              <a:buNone/>
            </a:pPr>
            <a:r>
              <a:rPr lang="en-US" sz="1400" b="1" dirty="0">
                <a:solidFill>
                  <a:schemeClr val="accent1"/>
                </a:solidFill>
                <a:latin typeface="Courier New" pitchFamily="34" charset="0"/>
                <a:ea typeface="Courier New" pitchFamily="34" charset="-122"/>
                <a:cs typeface="Courier New" pitchFamily="34" charset="-120"/>
              </a:rPr>
              <a:t>inventory_types.h</a:t>
            </a:r>
            <a:endParaRPr lang="en-US" sz="1400" dirty="0"/>
          </a:p>
        </p:txBody>
      </p:sp>
      <p:sp>
        <p:nvSpPr>
          <p:cNvPr id="7" name="inventory_types.h tech tag"/>
          <p:cNvSpPr/>
          <p:nvPr/>
        </p:nvSpPr>
        <p:spPr>
          <a:xfrm>
            <a:off x="1645920" y="2011680"/>
            <a:ext cx="987552" cy="292608"/>
          </a:xfrm>
          <a:prstGeom prst="roundRect">
            <a:avLst>
              <a:gd name="adj" fmla="val 50000"/>
            </a:avLst>
          </a:prstGeom>
          <a:solidFill>
            <a:schemeClr val="accent1">
              <a:alpha val="18000"/>
            </a:schemeClr>
          </a:solidFill>
          <a:ln/>
        </p:spPr>
      </p:sp>
      <p:sp>
        <p:nvSpPr>
          <p:cNvPr id="8" name="Text 5"/>
          <p:cNvSpPr txBox="1"/>
          <p:nvPr/>
        </p:nvSpPr>
        <p:spPr>
          <a:xfrm>
            <a:off x="1645920" y="2011680"/>
            <a:ext cx="987552" cy="292608"/>
          </a:xfrm>
          <a:prstGeom prst="rect">
            <a:avLst/>
          </a:prstGeom>
          <a:noFill/>
          <a:ln/>
        </p:spPr>
        <p:txBody>
          <a:bodyPr wrap="square" lIns="0" tIns="0" rIns="0" bIns="0" rtlCol="0" anchor="ctr"/>
          <a:lstStyle/>
          <a:p>
            <a:pPr algn="ctr" indent="0" marL="0">
              <a:buNone/>
            </a:pPr>
            <a:r>
              <a:rPr lang="en-US" sz="1100" b="1" dirty="0">
                <a:solidFill>
                  <a:schemeClr val="tx2"/>
                </a:solidFill>
              </a:rPr>
              <a:t>C11 header</a:t>
            </a:r>
            <a:endParaRPr lang="en-US" sz="1100" dirty="0"/>
          </a:p>
        </p:txBody>
      </p:sp>
      <p:sp>
        <p:nvSpPr>
          <p:cNvPr id="9" name="Text 6"/>
          <p:cNvSpPr txBox="1"/>
          <p:nvPr/>
        </p:nvSpPr>
        <p:spPr>
          <a:xfrm>
            <a:off x="822960" y="2468880"/>
            <a:ext cx="3017520" cy="1143000"/>
          </a:xfrm>
          <a:prstGeom prst="rect">
            <a:avLst/>
          </a:prstGeom>
          <a:noFill/>
          <a:ln/>
        </p:spPr>
        <p:txBody>
          <a:bodyPr wrap="square" lIns="0" tIns="0" rIns="0" bIns="0" rtlCol="0" anchor="t"/>
          <a:lstStyle/>
          <a:p>
            <a:pPr indent="0" marL="0">
              <a:buNone/>
            </a:pPr>
            <a:r>
              <a:rPr lang="en-US" sz="1400" dirty="0">
                <a:solidFill>
                  <a:schemeClr val="tx1"/>
                </a:solidFill>
              </a:rPr>
              <a:t>The contract: product and result structs, error codes, and every function declaration.</a:t>
            </a:r>
            <a:endParaRPr lang="en-US" sz="1400" dirty="0"/>
          </a:p>
        </p:txBody>
      </p:sp>
      <p:sp>
        <p:nvSpPr>
          <p:cNvPr id="10" name="inventory_engine.c card"/>
          <p:cNvSpPr/>
          <p:nvPr/>
        </p:nvSpPr>
        <p:spPr>
          <a:xfrm>
            <a:off x="4297680" y="1371600"/>
            <a:ext cx="3520440" cy="2331720"/>
          </a:xfrm>
          <a:prstGeom prst="roundRect">
            <a:avLst>
              <a:gd name="adj" fmla="val 4706"/>
            </a:avLst>
          </a:prstGeom>
          <a:solidFill>
            <a:schemeClr val="bg2"/>
          </a:solidFill>
          <a:ln/>
        </p:spPr>
      </p:sp>
      <p:sp>
        <p:nvSpPr>
          <p:cNvPr id="11" name="inventory_engine.c tile"/>
          <p:cNvSpPr/>
          <p:nvPr/>
        </p:nvSpPr>
        <p:spPr>
          <a:xfrm>
            <a:off x="4572000" y="1645920"/>
            <a:ext cx="640080" cy="640080"/>
          </a:xfrm>
          <a:prstGeom prst="roundRect">
            <a:avLst>
              <a:gd name="adj" fmla="val 24000"/>
            </a:avLst>
          </a:prstGeom>
          <a:solidFill>
            <a:schemeClr val="accent4">
              <a:alpha val="14000"/>
            </a:schemeClr>
          </a:solidFill>
          <a:ln/>
        </p:spPr>
      </p:sp>
      <p:pic>
        <p:nvPicPr>
          <p:cNvPr id="12" name="inventory_engine.c icon" descr="preencoded.png">    </p:cNvPr>
          <p:cNvPicPr>
            <a:picLocks noChangeAspect="1"/>
          </p:cNvPicPr>
          <p:nvPr/>
        </p:nvPicPr>
        <p:blipFill>
          <a:blip r:embed="rId2"/>
          <a:stretch>
            <a:fillRect/>
          </a:stretch>
        </p:blipFill>
        <p:spPr>
          <a:xfrm>
            <a:off x="4712818" y="1786738"/>
            <a:ext cx="358445" cy="358445"/>
          </a:xfrm>
          <a:prstGeom prst="rect">
            <a:avLst/>
          </a:prstGeom>
        </p:spPr>
      </p:pic>
      <p:sp>
        <p:nvSpPr>
          <p:cNvPr id="13" name="Text 9"/>
          <p:cNvSpPr txBox="1"/>
          <p:nvPr/>
        </p:nvSpPr>
        <p:spPr>
          <a:xfrm>
            <a:off x="5394960" y="1645920"/>
            <a:ext cx="2286000" cy="310896"/>
          </a:xfrm>
          <a:prstGeom prst="rect">
            <a:avLst/>
          </a:prstGeom>
          <a:noFill/>
          <a:ln/>
        </p:spPr>
        <p:txBody>
          <a:bodyPr wrap="square" lIns="0" tIns="0" rIns="0" bIns="0" rtlCol="0" anchor="ctr"/>
          <a:lstStyle/>
          <a:p>
            <a:pPr indent="0" marL="0">
              <a:buNone/>
            </a:pPr>
            <a:r>
              <a:rPr lang="en-US" sz="1400" b="1" dirty="0">
                <a:solidFill>
                  <a:schemeClr val="accent1"/>
                </a:solidFill>
                <a:latin typeface="Courier New" pitchFamily="34" charset="0"/>
                <a:ea typeface="Courier New" pitchFamily="34" charset="-122"/>
                <a:cs typeface="Courier New" pitchFamily="34" charset="-120"/>
              </a:rPr>
              <a:t>inventory_engine.c</a:t>
            </a:r>
            <a:endParaRPr lang="en-US" sz="1400" dirty="0"/>
          </a:p>
        </p:txBody>
      </p:sp>
      <p:sp>
        <p:nvSpPr>
          <p:cNvPr id="14" name="inventory_engine.c tech tag"/>
          <p:cNvSpPr/>
          <p:nvPr/>
        </p:nvSpPr>
        <p:spPr>
          <a:xfrm>
            <a:off x="5394960" y="2011680"/>
            <a:ext cx="1415491" cy="292608"/>
          </a:xfrm>
          <a:prstGeom prst="roundRect">
            <a:avLst>
              <a:gd name="adj" fmla="val 50000"/>
            </a:avLst>
          </a:prstGeom>
          <a:solidFill>
            <a:schemeClr val="accent4">
              <a:alpha val="18000"/>
            </a:schemeClr>
          </a:solidFill>
          <a:ln/>
        </p:spPr>
      </p:sp>
      <p:sp>
        <p:nvSpPr>
          <p:cNvPr id="15" name="Text 11"/>
          <p:cNvSpPr txBox="1"/>
          <p:nvPr/>
        </p:nvSpPr>
        <p:spPr>
          <a:xfrm>
            <a:off x="5394960" y="2011680"/>
            <a:ext cx="1415491" cy="292608"/>
          </a:xfrm>
          <a:prstGeom prst="rect">
            <a:avLst/>
          </a:prstGeom>
          <a:noFill/>
          <a:ln/>
        </p:spPr>
        <p:txBody>
          <a:bodyPr wrap="square" lIns="0" tIns="0" rIns="0" bIns="0" rtlCol="0" anchor="ctr"/>
          <a:lstStyle/>
          <a:p>
            <a:pPr algn="ctr" indent="0" marL="0">
              <a:buNone/>
            </a:pPr>
            <a:r>
              <a:rPr lang="en-US" sz="1100" b="1" dirty="0">
                <a:solidFill>
                  <a:schemeClr val="tx2"/>
                </a:solidFill>
              </a:rPr>
              <a:t>C11 · public API</a:t>
            </a:r>
            <a:endParaRPr lang="en-US" sz="1100" dirty="0"/>
          </a:p>
        </p:txBody>
      </p:sp>
      <p:sp>
        <p:nvSpPr>
          <p:cNvPr id="16" name="Text 12"/>
          <p:cNvSpPr txBox="1"/>
          <p:nvPr/>
        </p:nvSpPr>
        <p:spPr>
          <a:xfrm>
            <a:off x="4572000" y="2468880"/>
            <a:ext cx="3017520" cy="1143000"/>
          </a:xfrm>
          <a:prstGeom prst="rect">
            <a:avLst/>
          </a:prstGeom>
          <a:noFill/>
          <a:ln/>
        </p:spPr>
        <p:txBody>
          <a:bodyPr wrap="square" lIns="0" tIns="0" rIns="0" bIns="0" rtlCol="0" anchor="t"/>
          <a:lstStyle/>
          <a:p>
            <a:pPr indent="0" marL="0">
              <a:buNone/>
            </a:pPr>
            <a:r>
              <a:rPr lang="en-US" sz="1400" dirty="0">
                <a:solidFill>
                  <a:schemeClr val="tx1"/>
                </a:solidFill>
              </a:rPr>
              <a:t>Python's front door: copies products, builds the hash table, AVL tree and trie.</a:t>
            </a:r>
            <a:endParaRPr lang="en-US" sz="1400" dirty="0"/>
          </a:p>
        </p:txBody>
      </p:sp>
      <p:sp>
        <p:nvSpPr>
          <p:cNvPr id="17" name="search.c card"/>
          <p:cNvSpPr/>
          <p:nvPr/>
        </p:nvSpPr>
        <p:spPr>
          <a:xfrm>
            <a:off x="8046720" y="1371600"/>
            <a:ext cx="3520440" cy="2331720"/>
          </a:xfrm>
          <a:prstGeom prst="roundRect">
            <a:avLst>
              <a:gd name="adj" fmla="val 4706"/>
            </a:avLst>
          </a:prstGeom>
          <a:solidFill>
            <a:schemeClr val="bg2"/>
          </a:solidFill>
          <a:ln/>
        </p:spPr>
      </p:sp>
      <p:sp>
        <p:nvSpPr>
          <p:cNvPr id="18" name="search.c tile"/>
          <p:cNvSpPr/>
          <p:nvPr/>
        </p:nvSpPr>
        <p:spPr>
          <a:xfrm>
            <a:off x="8321040" y="1645920"/>
            <a:ext cx="640080" cy="640080"/>
          </a:xfrm>
          <a:prstGeom prst="roundRect">
            <a:avLst>
              <a:gd name="adj" fmla="val 24000"/>
            </a:avLst>
          </a:prstGeom>
          <a:solidFill>
            <a:schemeClr val="accent1">
              <a:alpha val="14000"/>
            </a:schemeClr>
          </a:solidFill>
          <a:ln/>
        </p:spPr>
      </p:sp>
      <p:pic>
        <p:nvPicPr>
          <p:cNvPr id="19" name="search.c icon" descr="preencoded.png">    </p:cNvPr>
          <p:cNvPicPr>
            <a:picLocks noChangeAspect="1"/>
          </p:cNvPicPr>
          <p:nvPr/>
        </p:nvPicPr>
        <p:blipFill>
          <a:blip r:embed="rId3"/>
          <a:stretch>
            <a:fillRect/>
          </a:stretch>
        </p:blipFill>
        <p:spPr>
          <a:xfrm>
            <a:off x="8461858" y="1786738"/>
            <a:ext cx="358445" cy="358445"/>
          </a:xfrm>
          <a:prstGeom prst="rect">
            <a:avLst/>
          </a:prstGeom>
        </p:spPr>
      </p:pic>
      <p:sp>
        <p:nvSpPr>
          <p:cNvPr id="20" name="Text 15"/>
          <p:cNvSpPr txBox="1"/>
          <p:nvPr/>
        </p:nvSpPr>
        <p:spPr>
          <a:xfrm>
            <a:off x="9144000" y="1645920"/>
            <a:ext cx="2286000" cy="310896"/>
          </a:xfrm>
          <a:prstGeom prst="rect">
            <a:avLst/>
          </a:prstGeom>
          <a:noFill/>
          <a:ln/>
        </p:spPr>
        <p:txBody>
          <a:bodyPr wrap="square" lIns="0" tIns="0" rIns="0" bIns="0" rtlCol="0" anchor="ctr"/>
          <a:lstStyle/>
          <a:p>
            <a:pPr indent="0" marL="0">
              <a:buNone/>
            </a:pPr>
            <a:r>
              <a:rPr lang="en-US" sz="1400" b="1" dirty="0">
                <a:solidFill>
                  <a:schemeClr val="accent1"/>
                </a:solidFill>
                <a:latin typeface="Courier New" pitchFamily="34" charset="0"/>
                <a:ea typeface="Courier New" pitchFamily="34" charset="-122"/>
                <a:cs typeface="Courier New" pitchFamily="34" charset="-120"/>
              </a:rPr>
              <a:t>search.c</a:t>
            </a:r>
            <a:endParaRPr lang="en-US" sz="1400" dirty="0"/>
          </a:p>
        </p:txBody>
      </p:sp>
      <p:sp>
        <p:nvSpPr>
          <p:cNvPr id="21" name="search.c tech tag"/>
          <p:cNvSpPr/>
          <p:nvPr/>
        </p:nvSpPr>
        <p:spPr>
          <a:xfrm>
            <a:off x="9144000" y="2011680"/>
            <a:ext cx="1130198" cy="292608"/>
          </a:xfrm>
          <a:prstGeom prst="roundRect">
            <a:avLst>
              <a:gd name="adj" fmla="val 50000"/>
            </a:avLst>
          </a:prstGeom>
          <a:solidFill>
            <a:schemeClr val="accent1">
              <a:alpha val="18000"/>
            </a:schemeClr>
          </a:solidFill>
          <a:ln/>
        </p:spPr>
      </p:sp>
      <p:sp>
        <p:nvSpPr>
          <p:cNvPr id="22" name="Text 17"/>
          <p:cNvSpPr txBox="1"/>
          <p:nvPr/>
        </p:nvSpPr>
        <p:spPr>
          <a:xfrm>
            <a:off x="9144000" y="2011680"/>
            <a:ext cx="1130198" cy="292608"/>
          </a:xfrm>
          <a:prstGeom prst="rect">
            <a:avLst/>
          </a:prstGeom>
          <a:noFill/>
          <a:ln/>
        </p:spPr>
        <p:txBody>
          <a:bodyPr wrap="square" lIns="0" tIns="0" rIns="0" bIns="0" rtlCol="0" anchor="ctr"/>
          <a:lstStyle/>
          <a:p>
            <a:pPr algn="ctr" indent="0" marL="0">
              <a:buNone/>
            </a:pPr>
            <a:r>
              <a:rPr lang="en-US" sz="1100" b="1" dirty="0">
                <a:solidFill>
                  <a:schemeClr val="tx2"/>
                </a:solidFill>
              </a:rPr>
              <a:t>C11 · arrays</a:t>
            </a:r>
            <a:endParaRPr lang="en-US" sz="1100" dirty="0"/>
          </a:p>
        </p:txBody>
      </p:sp>
      <p:sp>
        <p:nvSpPr>
          <p:cNvPr id="23" name="Text 18"/>
          <p:cNvSpPr txBox="1"/>
          <p:nvPr/>
        </p:nvSpPr>
        <p:spPr>
          <a:xfrm>
            <a:off x="8321040" y="2468880"/>
            <a:ext cx="3017520" cy="1143000"/>
          </a:xfrm>
          <a:prstGeom prst="rect">
            <a:avLst/>
          </a:prstGeom>
          <a:noFill/>
          <a:ln/>
        </p:spPr>
        <p:txBody>
          <a:bodyPr wrap="square" lIns="0" tIns="0" rIns="0" bIns="0" rtlCol="0" anchor="t"/>
          <a:lstStyle/>
          <a:p>
            <a:pPr indent="0" marL="0">
              <a:buNone/>
            </a:pPr>
            <a:r>
              <a:rPr lang="en-US" sz="1400" dirty="0">
                <a:solidFill>
                  <a:schemeClr val="tx1"/>
                </a:solidFill>
              </a:rPr>
              <a:t>Linear search checks every product; binary search halves an ID-sorted list each step.</a:t>
            </a:r>
            <a:endParaRPr lang="en-US" sz="1400" dirty="0"/>
          </a:p>
        </p:txBody>
      </p:sp>
      <p:sp>
        <p:nvSpPr>
          <p:cNvPr id="24" name="hash_table.c card"/>
          <p:cNvSpPr/>
          <p:nvPr/>
        </p:nvSpPr>
        <p:spPr>
          <a:xfrm>
            <a:off x="548640" y="3840480"/>
            <a:ext cx="3520440" cy="2331720"/>
          </a:xfrm>
          <a:prstGeom prst="roundRect">
            <a:avLst>
              <a:gd name="adj" fmla="val 4706"/>
            </a:avLst>
          </a:prstGeom>
          <a:solidFill>
            <a:schemeClr val="bg2"/>
          </a:solidFill>
          <a:ln/>
        </p:spPr>
      </p:sp>
      <p:sp>
        <p:nvSpPr>
          <p:cNvPr id="25" name="hash_table.c tile"/>
          <p:cNvSpPr/>
          <p:nvPr/>
        </p:nvSpPr>
        <p:spPr>
          <a:xfrm>
            <a:off x="822960" y="4114800"/>
            <a:ext cx="640080" cy="640080"/>
          </a:xfrm>
          <a:prstGeom prst="roundRect">
            <a:avLst>
              <a:gd name="adj" fmla="val 24000"/>
            </a:avLst>
          </a:prstGeom>
          <a:solidFill>
            <a:schemeClr val="accent2">
              <a:alpha val="14000"/>
            </a:schemeClr>
          </a:solidFill>
          <a:ln/>
        </p:spPr>
      </p:sp>
      <p:pic>
        <p:nvPicPr>
          <p:cNvPr id="26" name="hash_table.c icon" descr="preencoded.png">    </p:cNvPr>
          <p:cNvPicPr>
            <a:picLocks noChangeAspect="1"/>
          </p:cNvPicPr>
          <p:nvPr/>
        </p:nvPicPr>
        <p:blipFill>
          <a:blip r:embed="rId4"/>
          <a:stretch>
            <a:fillRect/>
          </a:stretch>
        </p:blipFill>
        <p:spPr>
          <a:xfrm>
            <a:off x="963778" y="4255618"/>
            <a:ext cx="358445" cy="358445"/>
          </a:xfrm>
          <a:prstGeom prst="rect">
            <a:avLst/>
          </a:prstGeom>
        </p:spPr>
      </p:pic>
      <p:sp>
        <p:nvSpPr>
          <p:cNvPr id="27" name="Text 21"/>
          <p:cNvSpPr txBox="1"/>
          <p:nvPr/>
        </p:nvSpPr>
        <p:spPr>
          <a:xfrm>
            <a:off x="1645920" y="4114800"/>
            <a:ext cx="2286000" cy="310896"/>
          </a:xfrm>
          <a:prstGeom prst="rect">
            <a:avLst/>
          </a:prstGeom>
          <a:noFill/>
          <a:ln/>
        </p:spPr>
        <p:txBody>
          <a:bodyPr wrap="square" lIns="0" tIns="0" rIns="0" bIns="0" rtlCol="0" anchor="ctr"/>
          <a:lstStyle/>
          <a:p>
            <a:pPr indent="0" marL="0">
              <a:buNone/>
            </a:pPr>
            <a:r>
              <a:rPr lang="en-US" sz="1400" b="1" dirty="0">
                <a:solidFill>
                  <a:schemeClr val="accent1"/>
                </a:solidFill>
                <a:latin typeface="Courier New" pitchFamily="34" charset="0"/>
                <a:ea typeface="Courier New" pitchFamily="34" charset="-122"/>
                <a:cs typeface="Courier New" pitchFamily="34" charset="-120"/>
              </a:rPr>
              <a:t>hash_table.c</a:t>
            </a:r>
            <a:endParaRPr lang="en-US" sz="1400" dirty="0"/>
          </a:p>
        </p:txBody>
      </p:sp>
      <p:sp>
        <p:nvSpPr>
          <p:cNvPr id="28" name="hash_table.c tech tag"/>
          <p:cNvSpPr/>
          <p:nvPr/>
        </p:nvSpPr>
        <p:spPr>
          <a:xfrm>
            <a:off x="1645920" y="4480560"/>
            <a:ext cx="2128723" cy="292608"/>
          </a:xfrm>
          <a:prstGeom prst="roundRect">
            <a:avLst>
              <a:gd name="adj" fmla="val 50000"/>
            </a:avLst>
          </a:prstGeom>
          <a:solidFill>
            <a:schemeClr val="accent2">
              <a:alpha val="18000"/>
            </a:schemeClr>
          </a:solidFill>
          <a:ln/>
        </p:spPr>
      </p:sp>
      <p:sp>
        <p:nvSpPr>
          <p:cNvPr id="29" name="Text 23"/>
          <p:cNvSpPr txBox="1"/>
          <p:nvPr/>
        </p:nvSpPr>
        <p:spPr>
          <a:xfrm>
            <a:off x="1645920" y="4480560"/>
            <a:ext cx="2128723" cy="292608"/>
          </a:xfrm>
          <a:prstGeom prst="rect">
            <a:avLst/>
          </a:prstGeom>
          <a:noFill/>
          <a:ln/>
        </p:spPr>
        <p:txBody>
          <a:bodyPr wrap="square" lIns="0" tIns="0" rIns="0" bIns="0" rtlCol="0" anchor="ctr"/>
          <a:lstStyle/>
          <a:p>
            <a:pPr algn="ctr" indent="0" marL="0">
              <a:buNone/>
            </a:pPr>
            <a:r>
              <a:rPr lang="en-US" sz="1100" b="1" dirty="0">
                <a:solidFill>
                  <a:schemeClr val="tx2"/>
                </a:solidFill>
              </a:rPr>
              <a:t>C11 · malloc, linked lists</a:t>
            </a:r>
            <a:endParaRPr lang="en-US" sz="1100" dirty="0"/>
          </a:p>
        </p:txBody>
      </p:sp>
      <p:sp>
        <p:nvSpPr>
          <p:cNvPr id="30" name="Text 24"/>
          <p:cNvSpPr txBox="1"/>
          <p:nvPr/>
        </p:nvSpPr>
        <p:spPr>
          <a:xfrm>
            <a:off x="822960" y="4937760"/>
            <a:ext cx="3017520" cy="1143000"/>
          </a:xfrm>
          <a:prstGeom prst="rect">
            <a:avLst/>
          </a:prstGeom>
          <a:noFill/>
          <a:ln/>
        </p:spPr>
        <p:txBody>
          <a:bodyPr wrap="square" lIns="0" tIns="0" rIns="0" bIns="0" rtlCol="0" anchor="t"/>
          <a:lstStyle/>
          <a:p>
            <a:pPr indent="0" marL="0">
              <a:buNone/>
            </a:pPr>
            <a:r>
              <a:rPr lang="en-US" sz="1400" dirty="0">
                <a:solidFill>
                  <a:schemeClr val="tx1"/>
                </a:solidFill>
              </a:rPr>
              <a:t>Finds a product by ID in about one step: id mod buckets picks a short chain to scan.</a:t>
            </a:r>
            <a:endParaRPr lang="en-US" sz="1400" dirty="0"/>
          </a:p>
        </p:txBody>
      </p:sp>
      <p:sp>
        <p:nvSpPr>
          <p:cNvPr id="31" name="sorting.c card"/>
          <p:cNvSpPr/>
          <p:nvPr/>
        </p:nvSpPr>
        <p:spPr>
          <a:xfrm>
            <a:off x="4297680" y="3840480"/>
            <a:ext cx="3520440" cy="2331720"/>
          </a:xfrm>
          <a:prstGeom prst="roundRect">
            <a:avLst>
              <a:gd name="adj" fmla="val 4706"/>
            </a:avLst>
          </a:prstGeom>
          <a:solidFill>
            <a:schemeClr val="bg2"/>
          </a:solidFill>
          <a:ln/>
        </p:spPr>
      </p:sp>
      <p:sp>
        <p:nvSpPr>
          <p:cNvPr id="32" name="sorting.c tile"/>
          <p:cNvSpPr/>
          <p:nvPr/>
        </p:nvSpPr>
        <p:spPr>
          <a:xfrm>
            <a:off x="4572000" y="4114800"/>
            <a:ext cx="640080" cy="640080"/>
          </a:xfrm>
          <a:prstGeom prst="roundRect">
            <a:avLst>
              <a:gd name="adj" fmla="val 24000"/>
            </a:avLst>
          </a:prstGeom>
          <a:solidFill>
            <a:schemeClr val="accent3">
              <a:alpha val="14000"/>
            </a:schemeClr>
          </a:solidFill>
          <a:ln/>
        </p:spPr>
      </p:sp>
      <p:pic>
        <p:nvPicPr>
          <p:cNvPr id="33" name="sorting.c icon" descr="preencoded.png">    </p:cNvPr>
          <p:cNvPicPr>
            <a:picLocks noChangeAspect="1"/>
          </p:cNvPicPr>
          <p:nvPr/>
        </p:nvPicPr>
        <p:blipFill>
          <a:blip r:embed="rId5"/>
          <a:stretch>
            <a:fillRect/>
          </a:stretch>
        </p:blipFill>
        <p:spPr>
          <a:xfrm>
            <a:off x="4712818" y="4255618"/>
            <a:ext cx="358445" cy="358445"/>
          </a:xfrm>
          <a:prstGeom prst="rect">
            <a:avLst/>
          </a:prstGeom>
        </p:spPr>
      </p:pic>
      <p:sp>
        <p:nvSpPr>
          <p:cNvPr id="34" name="Text 27"/>
          <p:cNvSpPr txBox="1"/>
          <p:nvPr/>
        </p:nvSpPr>
        <p:spPr>
          <a:xfrm>
            <a:off x="5394960" y="4114800"/>
            <a:ext cx="2286000" cy="310896"/>
          </a:xfrm>
          <a:prstGeom prst="rect">
            <a:avLst/>
          </a:prstGeom>
          <a:noFill/>
          <a:ln/>
        </p:spPr>
        <p:txBody>
          <a:bodyPr wrap="square" lIns="0" tIns="0" rIns="0" bIns="0" rtlCol="0" anchor="ctr"/>
          <a:lstStyle/>
          <a:p>
            <a:pPr indent="0" marL="0">
              <a:buNone/>
            </a:pPr>
            <a:r>
              <a:rPr lang="en-US" sz="1400" b="1" dirty="0">
                <a:solidFill>
                  <a:schemeClr val="accent1"/>
                </a:solidFill>
                <a:latin typeface="Courier New" pitchFamily="34" charset="0"/>
                <a:ea typeface="Courier New" pitchFamily="34" charset="-122"/>
                <a:cs typeface="Courier New" pitchFamily="34" charset="-120"/>
              </a:rPr>
              <a:t>sorting.c</a:t>
            </a:r>
            <a:endParaRPr lang="en-US" sz="1400" dirty="0"/>
          </a:p>
        </p:txBody>
      </p:sp>
      <p:sp>
        <p:nvSpPr>
          <p:cNvPr id="35" name="sorting.c tech tag"/>
          <p:cNvSpPr/>
          <p:nvPr/>
        </p:nvSpPr>
        <p:spPr>
          <a:xfrm>
            <a:off x="5394960" y="4480560"/>
            <a:ext cx="1344168" cy="292608"/>
          </a:xfrm>
          <a:prstGeom prst="roundRect">
            <a:avLst>
              <a:gd name="adj" fmla="val 50000"/>
            </a:avLst>
          </a:prstGeom>
          <a:solidFill>
            <a:schemeClr val="accent3">
              <a:alpha val="18000"/>
            </a:schemeClr>
          </a:solidFill>
          <a:ln/>
        </p:spPr>
      </p:sp>
      <p:sp>
        <p:nvSpPr>
          <p:cNvPr id="36" name="Text 29"/>
          <p:cNvSpPr txBox="1"/>
          <p:nvPr/>
        </p:nvSpPr>
        <p:spPr>
          <a:xfrm>
            <a:off x="5394960" y="4480560"/>
            <a:ext cx="1344168" cy="292608"/>
          </a:xfrm>
          <a:prstGeom prst="rect">
            <a:avLst/>
          </a:prstGeom>
          <a:noFill/>
          <a:ln/>
        </p:spPr>
        <p:txBody>
          <a:bodyPr wrap="square" lIns="0" tIns="0" rIns="0" bIns="0" rtlCol="0" anchor="ctr"/>
          <a:lstStyle/>
          <a:p>
            <a:pPr algn="ctr" indent="0" marL="0">
              <a:buNone/>
            </a:pPr>
            <a:r>
              <a:rPr lang="en-US" sz="1100" b="1" dirty="0">
                <a:solidFill>
                  <a:schemeClr val="tx2"/>
                </a:solidFill>
              </a:rPr>
              <a:t>C11 · recursion</a:t>
            </a:r>
            <a:endParaRPr lang="en-US" sz="1100" dirty="0"/>
          </a:p>
        </p:txBody>
      </p:sp>
      <p:sp>
        <p:nvSpPr>
          <p:cNvPr id="37" name="Text 30"/>
          <p:cNvSpPr txBox="1"/>
          <p:nvPr/>
        </p:nvSpPr>
        <p:spPr>
          <a:xfrm>
            <a:off x="4572000" y="4937760"/>
            <a:ext cx="3017520" cy="1143000"/>
          </a:xfrm>
          <a:prstGeom prst="rect">
            <a:avLst/>
          </a:prstGeom>
          <a:noFill/>
          <a:ln/>
        </p:spPr>
        <p:txBody>
          <a:bodyPr wrap="square" lIns="0" tIns="0" rIns="0" bIns="0" rtlCol="0" anchor="t"/>
          <a:lstStyle/>
          <a:p>
            <a:pPr indent="0" marL="0">
              <a:buNone/>
            </a:pPr>
            <a:r>
              <a:rPr lang="en-US" sz="1400" dirty="0">
                <a:solidFill>
                  <a:schemeClr val="tx1"/>
                </a:solidFill>
              </a:rPr>
              <a:t>Merge, Insertion, Quick and Heap Sort, counting every comparison and move.</a:t>
            </a:r>
            <a:endParaRPr lang="en-US" sz="1400" dirty="0"/>
          </a:p>
        </p:txBody>
      </p:sp>
      <p:sp>
        <p:nvSpPr>
          <p:cNvPr id="38" name="max_heap.c card"/>
          <p:cNvSpPr/>
          <p:nvPr/>
        </p:nvSpPr>
        <p:spPr>
          <a:xfrm>
            <a:off x="8046720" y="3840480"/>
            <a:ext cx="3520440" cy="2331720"/>
          </a:xfrm>
          <a:prstGeom prst="roundRect">
            <a:avLst>
              <a:gd name="adj" fmla="val 4706"/>
            </a:avLst>
          </a:prstGeom>
          <a:solidFill>
            <a:schemeClr val="bg2"/>
          </a:solidFill>
          <a:ln/>
        </p:spPr>
      </p:sp>
      <p:sp>
        <p:nvSpPr>
          <p:cNvPr id="39" name="max_heap.c tile"/>
          <p:cNvSpPr/>
          <p:nvPr/>
        </p:nvSpPr>
        <p:spPr>
          <a:xfrm>
            <a:off x="8321040" y="4114800"/>
            <a:ext cx="640080" cy="640080"/>
          </a:xfrm>
          <a:prstGeom prst="roundRect">
            <a:avLst>
              <a:gd name="adj" fmla="val 24000"/>
            </a:avLst>
          </a:prstGeom>
          <a:solidFill>
            <a:schemeClr val="accent5">
              <a:alpha val="14000"/>
            </a:schemeClr>
          </a:solidFill>
          <a:ln/>
        </p:spPr>
      </p:sp>
      <p:pic>
        <p:nvPicPr>
          <p:cNvPr id="40" name="max_heap.c icon" descr="preencoded.png">    </p:cNvPr>
          <p:cNvPicPr>
            <a:picLocks noChangeAspect="1"/>
          </p:cNvPicPr>
          <p:nvPr/>
        </p:nvPicPr>
        <p:blipFill>
          <a:blip r:embed="rId6"/>
          <a:stretch>
            <a:fillRect/>
          </a:stretch>
        </p:blipFill>
        <p:spPr>
          <a:xfrm>
            <a:off x="8461858" y="4255618"/>
            <a:ext cx="358445" cy="358445"/>
          </a:xfrm>
          <a:prstGeom prst="rect">
            <a:avLst/>
          </a:prstGeom>
        </p:spPr>
      </p:pic>
      <p:sp>
        <p:nvSpPr>
          <p:cNvPr id="41" name="Text 33"/>
          <p:cNvSpPr txBox="1"/>
          <p:nvPr/>
        </p:nvSpPr>
        <p:spPr>
          <a:xfrm>
            <a:off x="9144000" y="4114800"/>
            <a:ext cx="2286000" cy="310896"/>
          </a:xfrm>
          <a:prstGeom prst="rect">
            <a:avLst/>
          </a:prstGeom>
          <a:noFill/>
          <a:ln/>
        </p:spPr>
        <p:txBody>
          <a:bodyPr wrap="square" lIns="0" tIns="0" rIns="0" bIns="0" rtlCol="0" anchor="ctr"/>
          <a:lstStyle/>
          <a:p>
            <a:pPr indent="0" marL="0">
              <a:buNone/>
            </a:pPr>
            <a:r>
              <a:rPr lang="en-US" sz="1400" b="1" dirty="0">
                <a:solidFill>
                  <a:schemeClr val="accent1"/>
                </a:solidFill>
                <a:latin typeface="Courier New" pitchFamily="34" charset="0"/>
                <a:ea typeface="Courier New" pitchFamily="34" charset="-122"/>
                <a:cs typeface="Courier New" pitchFamily="34" charset="-120"/>
              </a:rPr>
              <a:t>max_heap.c</a:t>
            </a:r>
            <a:endParaRPr lang="en-US" sz="1400" dirty="0"/>
          </a:p>
        </p:txBody>
      </p:sp>
      <p:sp>
        <p:nvSpPr>
          <p:cNvPr id="42" name="max_heap.c tech tag"/>
          <p:cNvSpPr/>
          <p:nvPr/>
        </p:nvSpPr>
        <p:spPr>
          <a:xfrm>
            <a:off x="9144000" y="4480560"/>
            <a:ext cx="1415491" cy="292608"/>
          </a:xfrm>
          <a:prstGeom prst="roundRect">
            <a:avLst>
              <a:gd name="adj" fmla="val 50000"/>
            </a:avLst>
          </a:prstGeom>
          <a:solidFill>
            <a:schemeClr val="accent5">
              <a:alpha val="18000"/>
            </a:schemeClr>
          </a:solidFill>
          <a:ln/>
        </p:spPr>
      </p:sp>
      <p:sp>
        <p:nvSpPr>
          <p:cNvPr id="43" name="Text 35"/>
          <p:cNvSpPr txBox="1"/>
          <p:nvPr/>
        </p:nvSpPr>
        <p:spPr>
          <a:xfrm>
            <a:off x="9144000" y="4480560"/>
            <a:ext cx="1415491" cy="292608"/>
          </a:xfrm>
          <a:prstGeom prst="rect">
            <a:avLst/>
          </a:prstGeom>
          <a:noFill/>
          <a:ln/>
        </p:spPr>
        <p:txBody>
          <a:bodyPr wrap="square" lIns="0" tIns="0" rIns="0" bIns="0" rtlCol="0" anchor="ctr"/>
          <a:lstStyle/>
          <a:p>
            <a:pPr algn="ctr" indent="0" marL="0">
              <a:buNone/>
            </a:pPr>
            <a:r>
              <a:rPr lang="en-US" sz="1100" b="1" dirty="0">
                <a:solidFill>
                  <a:schemeClr val="tx2"/>
                </a:solidFill>
              </a:rPr>
              <a:t>C11 · array heap</a:t>
            </a:r>
            <a:endParaRPr lang="en-US" sz="1100" dirty="0"/>
          </a:p>
        </p:txBody>
      </p:sp>
      <p:sp>
        <p:nvSpPr>
          <p:cNvPr id="44" name="Text 36"/>
          <p:cNvSpPr txBox="1"/>
          <p:nvPr/>
        </p:nvSpPr>
        <p:spPr>
          <a:xfrm>
            <a:off x="8321040" y="4937760"/>
            <a:ext cx="3017520" cy="1143000"/>
          </a:xfrm>
          <a:prstGeom prst="rect">
            <a:avLst/>
          </a:prstGeom>
          <a:noFill/>
          <a:ln/>
        </p:spPr>
        <p:txBody>
          <a:bodyPr wrap="square" lIns="0" tIns="0" rIns="0" bIns="0" rtlCol="0" anchor="t"/>
          <a:lstStyle/>
          <a:p>
            <a:pPr indent="0" marL="0">
              <a:buNone/>
            </a:pPr>
            <a:r>
              <a:rPr lang="en-US" sz="1400" dirty="0">
                <a:solidFill>
                  <a:schemeClr val="tx1"/>
                </a:solidFill>
              </a:rPr>
              <a:t>Priority queue: the most urgent restock is always on top. Reused by Dijkstra and greedy.</a:t>
            </a:r>
            <a:endParaRPr lang="en-US" sz="14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77240"/>
          </a:xfrm>
          <a:prstGeom prst="rect">
            <a:avLst/>
          </a:prstGeom>
          <a:noFill/>
          <a:ln/>
        </p:spPr>
        <p:txBody>
          <a:bodyPr wrap="square" lIns="0" tIns="0" rIns="0" bIns="0" rtlCol="0" anchor="ctr"/>
          <a:lstStyle/>
          <a:p>
            <a:pPr algn="l" indent="0" marL="0">
              <a:buNone/>
            </a:pPr>
            <a:r>
              <a:rPr lang="en-US" sz="3600" b="1" dirty="0">
                <a:solidFill>
                  <a:schemeClr val="tx2"/>
                </a:solidFill>
              </a:rPr>
              <a:t>The C engine at a glance: planning files</a:t>
            </a:r>
            <a:endParaRPr lang="en-US" sz="3600" dirty="0"/>
          </a:p>
        </p:txBody>
      </p:sp>
      <p:sp>
        <p:nvSpPr>
          <p:cNvPr id="3" name="avl_tree.c card"/>
          <p:cNvSpPr/>
          <p:nvPr/>
        </p:nvSpPr>
        <p:spPr>
          <a:xfrm>
            <a:off x="548640" y="1371600"/>
            <a:ext cx="3520440" cy="2331720"/>
          </a:xfrm>
          <a:prstGeom prst="roundRect">
            <a:avLst>
              <a:gd name="adj" fmla="val 4706"/>
            </a:avLst>
          </a:prstGeom>
          <a:solidFill>
            <a:schemeClr val="bg2"/>
          </a:solidFill>
          <a:ln/>
        </p:spPr>
      </p:sp>
      <p:sp>
        <p:nvSpPr>
          <p:cNvPr id="4" name="avl_tree.c tile"/>
          <p:cNvSpPr/>
          <p:nvPr/>
        </p:nvSpPr>
        <p:spPr>
          <a:xfrm>
            <a:off x="822960" y="1645920"/>
            <a:ext cx="640080" cy="640080"/>
          </a:xfrm>
          <a:prstGeom prst="roundRect">
            <a:avLst>
              <a:gd name="adj" fmla="val 24000"/>
            </a:avLst>
          </a:prstGeom>
          <a:solidFill>
            <a:schemeClr val="accent3">
              <a:alpha val="14000"/>
            </a:schemeClr>
          </a:solidFill>
          <a:ln/>
        </p:spPr>
      </p:sp>
      <p:pic>
        <p:nvPicPr>
          <p:cNvPr id="5" name="avl_tree.c icon" descr="preencoded.png">    </p:cNvPr>
          <p:cNvPicPr>
            <a:picLocks noChangeAspect="1"/>
          </p:cNvPicPr>
          <p:nvPr/>
        </p:nvPicPr>
        <p:blipFill>
          <a:blip r:embed="rId1"/>
          <a:stretch>
            <a:fillRect/>
          </a:stretch>
        </p:blipFill>
        <p:spPr>
          <a:xfrm>
            <a:off x="963778" y="1786738"/>
            <a:ext cx="358445" cy="358445"/>
          </a:xfrm>
          <a:prstGeom prst="rect">
            <a:avLst/>
          </a:prstGeom>
        </p:spPr>
      </p:pic>
      <p:sp>
        <p:nvSpPr>
          <p:cNvPr id="6" name="Text 3"/>
          <p:cNvSpPr txBox="1"/>
          <p:nvPr/>
        </p:nvSpPr>
        <p:spPr>
          <a:xfrm>
            <a:off x="1645920" y="1645920"/>
            <a:ext cx="2286000" cy="310896"/>
          </a:xfrm>
          <a:prstGeom prst="rect">
            <a:avLst/>
          </a:prstGeom>
          <a:noFill/>
          <a:ln/>
        </p:spPr>
        <p:txBody>
          <a:bodyPr wrap="square" lIns="0" tIns="0" rIns="0" bIns="0" rtlCol="0" anchor="ctr"/>
          <a:lstStyle/>
          <a:p>
            <a:pPr indent="0" marL="0">
              <a:buNone/>
            </a:pPr>
            <a:r>
              <a:rPr lang="en-US" sz="1400" b="1" dirty="0">
                <a:solidFill>
                  <a:schemeClr val="accent1"/>
                </a:solidFill>
                <a:latin typeface="Courier New" pitchFamily="34" charset="0"/>
                <a:ea typeface="Courier New" pitchFamily="34" charset="-122"/>
                <a:cs typeface="Courier New" pitchFamily="34" charset="-120"/>
              </a:rPr>
              <a:t>avl_tree.c</a:t>
            </a:r>
            <a:endParaRPr lang="en-US" sz="1400" dirty="0"/>
          </a:p>
        </p:txBody>
      </p:sp>
      <p:sp>
        <p:nvSpPr>
          <p:cNvPr id="7" name="avl_tree.c tech tag"/>
          <p:cNvSpPr/>
          <p:nvPr/>
        </p:nvSpPr>
        <p:spPr>
          <a:xfrm>
            <a:off x="1645920" y="2011680"/>
            <a:ext cx="1986077" cy="292608"/>
          </a:xfrm>
          <a:prstGeom prst="roundRect">
            <a:avLst>
              <a:gd name="adj" fmla="val 50000"/>
            </a:avLst>
          </a:prstGeom>
          <a:solidFill>
            <a:schemeClr val="accent3">
              <a:alpha val="18000"/>
            </a:schemeClr>
          </a:solidFill>
          <a:ln/>
        </p:spPr>
      </p:sp>
      <p:sp>
        <p:nvSpPr>
          <p:cNvPr id="8" name="Text 5"/>
          <p:cNvSpPr txBox="1"/>
          <p:nvPr/>
        </p:nvSpPr>
        <p:spPr>
          <a:xfrm>
            <a:off x="1645920" y="2011680"/>
            <a:ext cx="1986077" cy="292608"/>
          </a:xfrm>
          <a:prstGeom prst="rect">
            <a:avLst/>
          </a:prstGeom>
          <a:noFill/>
          <a:ln/>
        </p:spPr>
        <p:txBody>
          <a:bodyPr wrap="square" lIns="0" tIns="0" rIns="0" bIns="0" rtlCol="0" anchor="ctr"/>
          <a:lstStyle/>
          <a:p>
            <a:pPr algn="ctr" indent="0" marL="0">
              <a:buNone/>
            </a:pPr>
            <a:r>
              <a:rPr lang="en-US" sz="1100" b="1" dirty="0">
                <a:solidFill>
                  <a:schemeClr val="tx2"/>
                </a:solidFill>
              </a:rPr>
              <a:t>C11 · self-balancing BST</a:t>
            </a:r>
            <a:endParaRPr lang="en-US" sz="1100" dirty="0"/>
          </a:p>
        </p:txBody>
      </p:sp>
      <p:sp>
        <p:nvSpPr>
          <p:cNvPr id="9" name="Text 6"/>
          <p:cNvSpPr txBox="1"/>
          <p:nvPr/>
        </p:nvSpPr>
        <p:spPr>
          <a:xfrm>
            <a:off x="822960" y="2468880"/>
            <a:ext cx="3017520" cy="1143000"/>
          </a:xfrm>
          <a:prstGeom prst="rect">
            <a:avLst/>
          </a:prstGeom>
          <a:noFill/>
          <a:ln/>
        </p:spPr>
        <p:txBody>
          <a:bodyPr wrap="square" lIns="0" tIns="0" rIns="0" bIns="0" rtlCol="0" anchor="t"/>
          <a:lstStyle/>
          <a:p>
            <a:pPr indent="0" marL="0">
              <a:buNone/>
            </a:pPr>
            <a:r>
              <a:rPr lang="en-US" sz="1400" dirty="0">
                <a:solidFill>
                  <a:schemeClr val="tx1"/>
                </a:solidFill>
              </a:rPr>
              <a:t>A tree sorted by price that rotates to stay short, so price-range filters are fast.</a:t>
            </a:r>
            <a:endParaRPr lang="en-US" sz="1400" dirty="0"/>
          </a:p>
        </p:txBody>
      </p:sp>
      <p:sp>
        <p:nvSpPr>
          <p:cNvPr id="10" name="trie.c card"/>
          <p:cNvSpPr/>
          <p:nvPr/>
        </p:nvSpPr>
        <p:spPr>
          <a:xfrm>
            <a:off x="4297680" y="1371600"/>
            <a:ext cx="3520440" cy="2331720"/>
          </a:xfrm>
          <a:prstGeom prst="roundRect">
            <a:avLst>
              <a:gd name="adj" fmla="val 4706"/>
            </a:avLst>
          </a:prstGeom>
          <a:solidFill>
            <a:schemeClr val="bg2"/>
          </a:solidFill>
          <a:ln/>
        </p:spPr>
      </p:sp>
      <p:sp>
        <p:nvSpPr>
          <p:cNvPr id="11" name="trie.c tile"/>
          <p:cNvSpPr/>
          <p:nvPr/>
        </p:nvSpPr>
        <p:spPr>
          <a:xfrm>
            <a:off x="4572000" y="1645920"/>
            <a:ext cx="640080" cy="640080"/>
          </a:xfrm>
          <a:prstGeom prst="roundRect">
            <a:avLst>
              <a:gd name="adj" fmla="val 24000"/>
            </a:avLst>
          </a:prstGeom>
          <a:solidFill>
            <a:schemeClr val="accent4">
              <a:alpha val="14000"/>
            </a:schemeClr>
          </a:solidFill>
          <a:ln/>
        </p:spPr>
      </p:sp>
      <p:pic>
        <p:nvPicPr>
          <p:cNvPr id="12" name="trie.c icon" descr="preencoded.png">    </p:cNvPr>
          <p:cNvPicPr>
            <a:picLocks noChangeAspect="1"/>
          </p:cNvPicPr>
          <p:nvPr/>
        </p:nvPicPr>
        <p:blipFill>
          <a:blip r:embed="rId2"/>
          <a:stretch>
            <a:fillRect/>
          </a:stretch>
        </p:blipFill>
        <p:spPr>
          <a:xfrm>
            <a:off x="4712818" y="1786738"/>
            <a:ext cx="358445" cy="358445"/>
          </a:xfrm>
          <a:prstGeom prst="rect">
            <a:avLst/>
          </a:prstGeom>
        </p:spPr>
      </p:pic>
      <p:sp>
        <p:nvSpPr>
          <p:cNvPr id="13" name="Text 9"/>
          <p:cNvSpPr txBox="1"/>
          <p:nvPr/>
        </p:nvSpPr>
        <p:spPr>
          <a:xfrm>
            <a:off x="5394960" y="1645920"/>
            <a:ext cx="2286000" cy="310896"/>
          </a:xfrm>
          <a:prstGeom prst="rect">
            <a:avLst/>
          </a:prstGeom>
          <a:noFill/>
          <a:ln/>
        </p:spPr>
        <p:txBody>
          <a:bodyPr wrap="square" lIns="0" tIns="0" rIns="0" bIns="0" rtlCol="0" anchor="ctr"/>
          <a:lstStyle/>
          <a:p>
            <a:pPr indent="0" marL="0">
              <a:buNone/>
            </a:pPr>
            <a:r>
              <a:rPr lang="en-US" sz="1400" b="1" dirty="0">
                <a:solidFill>
                  <a:schemeClr val="accent1"/>
                </a:solidFill>
                <a:latin typeface="Courier New" pitchFamily="34" charset="0"/>
                <a:ea typeface="Courier New" pitchFamily="34" charset="-122"/>
                <a:cs typeface="Courier New" pitchFamily="34" charset="-120"/>
              </a:rPr>
              <a:t>trie.c</a:t>
            </a:r>
            <a:endParaRPr lang="en-US" sz="1400" dirty="0"/>
          </a:p>
        </p:txBody>
      </p:sp>
      <p:sp>
        <p:nvSpPr>
          <p:cNvPr id="14" name="trie.c tech tag"/>
          <p:cNvSpPr/>
          <p:nvPr/>
        </p:nvSpPr>
        <p:spPr>
          <a:xfrm>
            <a:off x="5394960" y="2011680"/>
            <a:ext cx="1486814" cy="292608"/>
          </a:xfrm>
          <a:prstGeom prst="roundRect">
            <a:avLst>
              <a:gd name="adj" fmla="val 50000"/>
            </a:avLst>
          </a:prstGeom>
          <a:solidFill>
            <a:schemeClr val="accent4">
              <a:alpha val="18000"/>
            </a:schemeClr>
          </a:solidFill>
          <a:ln/>
        </p:spPr>
      </p:sp>
      <p:sp>
        <p:nvSpPr>
          <p:cNvPr id="15" name="Text 11"/>
          <p:cNvSpPr txBox="1"/>
          <p:nvPr/>
        </p:nvSpPr>
        <p:spPr>
          <a:xfrm>
            <a:off x="5394960" y="2011680"/>
            <a:ext cx="1486814" cy="292608"/>
          </a:xfrm>
          <a:prstGeom prst="rect">
            <a:avLst/>
          </a:prstGeom>
          <a:noFill/>
          <a:ln/>
        </p:spPr>
        <p:txBody>
          <a:bodyPr wrap="square" lIns="0" tIns="0" rIns="0" bIns="0" rtlCol="0" anchor="ctr"/>
          <a:lstStyle/>
          <a:p>
            <a:pPr algn="ctr" indent="0" marL="0">
              <a:buNone/>
            </a:pPr>
            <a:r>
              <a:rPr lang="en-US" sz="1100" b="1" dirty="0">
                <a:solidFill>
                  <a:schemeClr val="tx2"/>
                </a:solidFill>
              </a:rPr>
              <a:t>C11 · prefix tree</a:t>
            </a:r>
            <a:endParaRPr lang="en-US" sz="1100" dirty="0"/>
          </a:p>
        </p:txBody>
      </p:sp>
      <p:sp>
        <p:nvSpPr>
          <p:cNvPr id="16" name="Text 12"/>
          <p:cNvSpPr txBox="1"/>
          <p:nvPr/>
        </p:nvSpPr>
        <p:spPr>
          <a:xfrm>
            <a:off x="4572000" y="2468880"/>
            <a:ext cx="3017520" cy="1143000"/>
          </a:xfrm>
          <a:prstGeom prst="rect">
            <a:avLst/>
          </a:prstGeom>
          <a:noFill/>
          <a:ln/>
        </p:spPr>
        <p:txBody>
          <a:bodyPr wrap="square" lIns="0" tIns="0" rIns="0" bIns="0" rtlCol="0" anchor="t"/>
          <a:lstStyle/>
          <a:p>
            <a:pPr indent="0" marL="0">
              <a:buNone/>
            </a:pPr>
            <a:r>
              <a:rPr lang="en-US" sz="1400" dirty="0">
                <a:solidFill>
                  <a:schemeClr val="tx1"/>
                </a:solidFill>
              </a:rPr>
              <a:t>Stores every word of every name letter by letter, so typing "cab" lists all cables.</a:t>
            </a:r>
            <a:endParaRPr lang="en-US" sz="1400" dirty="0"/>
          </a:p>
        </p:txBody>
      </p:sp>
      <p:sp>
        <p:nvSpPr>
          <p:cNvPr id="17" name="knapsack.c card"/>
          <p:cNvSpPr/>
          <p:nvPr/>
        </p:nvSpPr>
        <p:spPr>
          <a:xfrm>
            <a:off x="8046720" y="1371600"/>
            <a:ext cx="3520440" cy="2331720"/>
          </a:xfrm>
          <a:prstGeom prst="roundRect">
            <a:avLst>
              <a:gd name="adj" fmla="val 4706"/>
            </a:avLst>
          </a:prstGeom>
          <a:solidFill>
            <a:schemeClr val="bg2"/>
          </a:solidFill>
          <a:ln/>
        </p:spPr>
      </p:sp>
      <p:sp>
        <p:nvSpPr>
          <p:cNvPr id="18" name="knapsack.c tile"/>
          <p:cNvSpPr/>
          <p:nvPr/>
        </p:nvSpPr>
        <p:spPr>
          <a:xfrm>
            <a:off x="8321040" y="1645920"/>
            <a:ext cx="640080" cy="640080"/>
          </a:xfrm>
          <a:prstGeom prst="roundRect">
            <a:avLst>
              <a:gd name="adj" fmla="val 24000"/>
            </a:avLst>
          </a:prstGeom>
          <a:solidFill>
            <a:schemeClr val="accent2">
              <a:alpha val="14000"/>
            </a:schemeClr>
          </a:solidFill>
          <a:ln/>
        </p:spPr>
      </p:sp>
      <p:pic>
        <p:nvPicPr>
          <p:cNvPr id="19" name="knapsack.c icon" descr="preencoded.png">    </p:cNvPr>
          <p:cNvPicPr>
            <a:picLocks noChangeAspect="1"/>
          </p:cNvPicPr>
          <p:nvPr/>
        </p:nvPicPr>
        <p:blipFill>
          <a:blip r:embed="rId3"/>
          <a:stretch>
            <a:fillRect/>
          </a:stretch>
        </p:blipFill>
        <p:spPr>
          <a:xfrm>
            <a:off x="8461858" y="1786738"/>
            <a:ext cx="358445" cy="358445"/>
          </a:xfrm>
          <a:prstGeom prst="rect">
            <a:avLst/>
          </a:prstGeom>
        </p:spPr>
      </p:pic>
      <p:sp>
        <p:nvSpPr>
          <p:cNvPr id="20" name="Text 15"/>
          <p:cNvSpPr txBox="1"/>
          <p:nvPr/>
        </p:nvSpPr>
        <p:spPr>
          <a:xfrm>
            <a:off x="9144000" y="1645920"/>
            <a:ext cx="2286000" cy="310896"/>
          </a:xfrm>
          <a:prstGeom prst="rect">
            <a:avLst/>
          </a:prstGeom>
          <a:noFill/>
          <a:ln/>
        </p:spPr>
        <p:txBody>
          <a:bodyPr wrap="square" lIns="0" tIns="0" rIns="0" bIns="0" rtlCol="0" anchor="ctr"/>
          <a:lstStyle/>
          <a:p>
            <a:pPr indent="0" marL="0">
              <a:buNone/>
            </a:pPr>
            <a:r>
              <a:rPr lang="en-US" sz="1400" b="1" dirty="0">
                <a:solidFill>
                  <a:schemeClr val="accent1"/>
                </a:solidFill>
                <a:latin typeface="Courier New" pitchFamily="34" charset="0"/>
                <a:ea typeface="Courier New" pitchFamily="34" charset="-122"/>
                <a:cs typeface="Courier New" pitchFamily="34" charset="-120"/>
              </a:rPr>
              <a:t>knapsack.c</a:t>
            </a:r>
            <a:endParaRPr lang="en-US" sz="1400" dirty="0"/>
          </a:p>
        </p:txBody>
      </p:sp>
      <p:sp>
        <p:nvSpPr>
          <p:cNvPr id="21" name="knapsack.c tech tag"/>
          <p:cNvSpPr/>
          <p:nvPr/>
        </p:nvSpPr>
        <p:spPr>
          <a:xfrm>
            <a:off x="9144000" y="2011680"/>
            <a:ext cx="2057400" cy="292608"/>
          </a:xfrm>
          <a:prstGeom prst="roundRect">
            <a:avLst>
              <a:gd name="adj" fmla="val 50000"/>
            </a:avLst>
          </a:prstGeom>
          <a:solidFill>
            <a:schemeClr val="accent2">
              <a:alpha val="18000"/>
            </a:schemeClr>
          </a:solidFill>
          <a:ln/>
        </p:spPr>
      </p:sp>
      <p:sp>
        <p:nvSpPr>
          <p:cNvPr id="22" name="Text 17"/>
          <p:cNvSpPr txBox="1"/>
          <p:nvPr/>
        </p:nvSpPr>
        <p:spPr>
          <a:xfrm>
            <a:off x="9144000" y="2011680"/>
            <a:ext cx="2057400" cy="292608"/>
          </a:xfrm>
          <a:prstGeom prst="rect">
            <a:avLst/>
          </a:prstGeom>
          <a:noFill/>
          <a:ln/>
        </p:spPr>
        <p:txBody>
          <a:bodyPr wrap="square" lIns="0" tIns="0" rIns="0" bIns="0" rtlCol="0" anchor="ctr"/>
          <a:lstStyle/>
          <a:p>
            <a:pPr algn="ctr" indent="0" marL="0">
              <a:buNone/>
            </a:pPr>
            <a:r>
              <a:rPr lang="en-US" sz="1100" b="1" dirty="0">
                <a:solidFill>
                  <a:schemeClr val="tx2"/>
                </a:solidFill>
              </a:rPr>
              <a:t>C11 · dynamic programming</a:t>
            </a:r>
            <a:endParaRPr lang="en-US" sz="1100" dirty="0"/>
          </a:p>
        </p:txBody>
      </p:sp>
      <p:sp>
        <p:nvSpPr>
          <p:cNvPr id="23" name="Text 18"/>
          <p:cNvSpPr txBox="1"/>
          <p:nvPr/>
        </p:nvSpPr>
        <p:spPr>
          <a:xfrm>
            <a:off x="8321040" y="2468880"/>
            <a:ext cx="3017520" cy="1143000"/>
          </a:xfrm>
          <a:prstGeom prst="rect">
            <a:avLst/>
          </a:prstGeom>
          <a:noFill/>
          <a:ln/>
        </p:spPr>
        <p:txBody>
          <a:bodyPr wrap="square" lIns="0" tIns="0" rIns="0" bIns="0" rtlCol="0" anchor="t"/>
          <a:lstStyle/>
          <a:p>
            <a:pPr indent="0" marL="0">
              <a:buNone/>
            </a:pPr>
            <a:r>
              <a:rPr lang="en-US" sz="1400" dirty="0">
                <a:solidFill>
                  <a:schemeClr val="tx1"/>
                </a:solidFill>
              </a:rPr>
              <a:t>Picks the restocks with the most priority that fit a budget, compared with greedy.</a:t>
            </a:r>
            <a:endParaRPr lang="en-US" sz="1400" dirty="0"/>
          </a:p>
        </p:txBody>
      </p:sp>
      <p:sp>
        <p:nvSpPr>
          <p:cNvPr id="24" name="graph.c card"/>
          <p:cNvSpPr/>
          <p:nvPr/>
        </p:nvSpPr>
        <p:spPr>
          <a:xfrm>
            <a:off x="548640" y="3840480"/>
            <a:ext cx="3520440" cy="2331720"/>
          </a:xfrm>
          <a:prstGeom prst="roundRect">
            <a:avLst>
              <a:gd name="adj" fmla="val 4706"/>
            </a:avLst>
          </a:prstGeom>
          <a:solidFill>
            <a:schemeClr val="bg2"/>
          </a:solidFill>
          <a:ln/>
        </p:spPr>
      </p:sp>
      <p:sp>
        <p:nvSpPr>
          <p:cNvPr id="25" name="graph.c tile"/>
          <p:cNvSpPr/>
          <p:nvPr/>
        </p:nvSpPr>
        <p:spPr>
          <a:xfrm>
            <a:off x="822960" y="4114800"/>
            <a:ext cx="640080" cy="640080"/>
          </a:xfrm>
          <a:prstGeom prst="roundRect">
            <a:avLst>
              <a:gd name="adj" fmla="val 24000"/>
            </a:avLst>
          </a:prstGeom>
          <a:solidFill>
            <a:schemeClr val="accent1">
              <a:alpha val="14000"/>
            </a:schemeClr>
          </a:solidFill>
          <a:ln/>
        </p:spPr>
      </p:sp>
      <p:pic>
        <p:nvPicPr>
          <p:cNvPr id="26" name="graph.c icon" descr="preencoded.png">    </p:cNvPr>
          <p:cNvPicPr>
            <a:picLocks noChangeAspect="1"/>
          </p:cNvPicPr>
          <p:nvPr/>
        </p:nvPicPr>
        <p:blipFill>
          <a:blip r:embed="rId4"/>
          <a:stretch>
            <a:fillRect/>
          </a:stretch>
        </p:blipFill>
        <p:spPr>
          <a:xfrm>
            <a:off x="963778" y="4255618"/>
            <a:ext cx="358445" cy="358445"/>
          </a:xfrm>
          <a:prstGeom prst="rect">
            <a:avLst/>
          </a:prstGeom>
        </p:spPr>
      </p:pic>
      <p:sp>
        <p:nvSpPr>
          <p:cNvPr id="27" name="Text 21"/>
          <p:cNvSpPr txBox="1"/>
          <p:nvPr/>
        </p:nvSpPr>
        <p:spPr>
          <a:xfrm>
            <a:off x="1645920" y="4114800"/>
            <a:ext cx="2286000" cy="310896"/>
          </a:xfrm>
          <a:prstGeom prst="rect">
            <a:avLst/>
          </a:prstGeom>
          <a:noFill/>
          <a:ln/>
        </p:spPr>
        <p:txBody>
          <a:bodyPr wrap="square" lIns="0" tIns="0" rIns="0" bIns="0" rtlCol="0" anchor="ctr"/>
          <a:lstStyle/>
          <a:p>
            <a:pPr indent="0" marL="0">
              <a:buNone/>
            </a:pPr>
            <a:r>
              <a:rPr lang="en-US" sz="1400" b="1" dirty="0">
                <a:solidFill>
                  <a:schemeClr val="accent1"/>
                </a:solidFill>
                <a:latin typeface="Courier New" pitchFamily="34" charset="0"/>
                <a:ea typeface="Courier New" pitchFamily="34" charset="-122"/>
                <a:cs typeface="Courier New" pitchFamily="34" charset="-120"/>
              </a:rPr>
              <a:t>graph.c</a:t>
            </a:r>
            <a:endParaRPr lang="en-US" sz="1400" dirty="0"/>
          </a:p>
        </p:txBody>
      </p:sp>
      <p:sp>
        <p:nvSpPr>
          <p:cNvPr id="28" name="graph.c tech tag"/>
          <p:cNvSpPr/>
          <p:nvPr/>
        </p:nvSpPr>
        <p:spPr>
          <a:xfrm>
            <a:off x="1645920" y="4480560"/>
            <a:ext cx="1772107" cy="292608"/>
          </a:xfrm>
          <a:prstGeom prst="roundRect">
            <a:avLst>
              <a:gd name="adj" fmla="val 50000"/>
            </a:avLst>
          </a:prstGeom>
          <a:solidFill>
            <a:schemeClr val="accent1">
              <a:alpha val="18000"/>
            </a:schemeClr>
          </a:solidFill>
          <a:ln/>
        </p:spPr>
      </p:sp>
      <p:sp>
        <p:nvSpPr>
          <p:cNvPr id="29" name="Text 23"/>
          <p:cNvSpPr txBox="1"/>
          <p:nvPr/>
        </p:nvSpPr>
        <p:spPr>
          <a:xfrm>
            <a:off x="1645920" y="4480560"/>
            <a:ext cx="1772107" cy="292608"/>
          </a:xfrm>
          <a:prstGeom prst="rect">
            <a:avLst/>
          </a:prstGeom>
          <a:noFill/>
          <a:ln/>
        </p:spPr>
        <p:txBody>
          <a:bodyPr wrap="square" lIns="0" tIns="0" rIns="0" bIns="0" rtlCol="0" anchor="ctr"/>
          <a:lstStyle/>
          <a:p>
            <a:pPr algn="ctr" indent="0" marL="0">
              <a:buNone/>
            </a:pPr>
            <a:r>
              <a:rPr lang="en-US" sz="1100" b="1" dirty="0">
                <a:solidFill>
                  <a:schemeClr val="tx2"/>
                </a:solidFill>
              </a:rPr>
              <a:t>C11 · graph, Dijkstra</a:t>
            </a:r>
            <a:endParaRPr lang="en-US" sz="1100" dirty="0"/>
          </a:p>
        </p:txBody>
      </p:sp>
      <p:sp>
        <p:nvSpPr>
          <p:cNvPr id="30" name="Text 24"/>
          <p:cNvSpPr txBox="1"/>
          <p:nvPr/>
        </p:nvSpPr>
        <p:spPr>
          <a:xfrm>
            <a:off x="822960" y="4937760"/>
            <a:ext cx="3017520" cy="1143000"/>
          </a:xfrm>
          <a:prstGeom prst="rect">
            <a:avLst/>
          </a:prstGeom>
          <a:noFill/>
          <a:ln/>
        </p:spPr>
        <p:txBody>
          <a:bodyPr wrap="square" lIns="0" tIns="0" rIns="0" bIns="0" rtlCol="0" anchor="t"/>
          <a:lstStyle/>
          <a:p>
            <a:pPr indent="0" marL="0">
              <a:buNone/>
            </a:pPr>
            <a:r>
              <a:rPr lang="en-US" sz="1400" dirty="0">
                <a:solidFill>
                  <a:schemeClr val="tx1"/>
                </a:solidFill>
              </a:rPr>
              <a:t>Stores roads as an adjacency list and finds the shortest delivery route.</a:t>
            </a:r>
            <a:endParaRPr lang="en-US" sz="1400" dirty="0"/>
          </a:p>
        </p:txBody>
      </p:sp>
      <p:sp>
        <p:nvSpPr>
          <p:cNvPr id="31" name="fifo_queue.c card"/>
          <p:cNvSpPr/>
          <p:nvPr/>
        </p:nvSpPr>
        <p:spPr>
          <a:xfrm>
            <a:off x="4297680" y="3840480"/>
            <a:ext cx="3520440" cy="2331720"/>
          </a:xfrm>
          <a:prstGeom prst="roundRect">
            <a:avLst>
              <a:gd name="adj" fmla="val 4706"/>
            </a:avLst>
          </a:prstGeom>
          <a:solidFill>
            <a:schemeClr val="bg2"/>
          </a:solidFill>
          <a:ln/>
        </p:spPr>
      </p:sp>
      <p:sp>
        <p:nvSpPr>
          <p:cNvPr id="32" name="fifo_queue.c tile"/>
          <p:cNvSpPr/>
          <p:nvPr/>
        </p:nvSpPr>
        <p:spPr>
          <a:xfrm>
            <a:off x="4572000" y="4114800"/>
            <a:ext cx="640080" cy="640080"/>
          </a:xfrm>
          <a:prstGeom prst="roundRect">
            <a:avLst>
              <a:gd name="adj" fmla="val 24000"/>
            </a:avLst>
          </a:prstGeom>
          <a:solidFill>
            <a:schemeClr val="accent5">
              <a:alpha val="14000"/>
            </a:schemeClr>
          </a:solidFill>
          <a:ln/>
        </p:spPr>
      </p:sp>
      <p:pic>
        <p:nvPicPr>
          <p:cNvPr id="33" name="fifo_queue.c icon" descr="preencoded.png">    </p:cNvPr>
          <p:cNvPicPr>
            <a:picLocks noChangeAspect="1"/>
          </p:cNvPicPr>
          <p:nvPr/>
        </p:nvPicPr>
        <p:blipFill>
          <a:blip r:embed="rId5"/>
          <a:stretch>
            <a:fillRect/>
          </a:stretch>
        </p:blipFill>
        <p:spPr>
          <a:xfrm>
            <a:off x="4712818" y="4255618"/>
            <a:ext cx="358445" cy="358445"/>
          </a:xfrm>
          <a:prstGeom prst="rect">
            <a:avLst/>
          </a:prstGeom>
        </p:spPr>
      </p:pic>
      <p:sp>
        <p:nvSpPr>
          <p:cNvPr id="34" name="Text 27"/>
          <p:cNvSpPr txBox="1"/>
          <p:nvPr/>
        </p:nvSpPr>
        <p:spPr>
          <a:xfrm>
            <a:off x="5394960" y="4114800"/>
            <a:ext cx="2286000" cy="310896"/>
          </a:xfrm>
          <a:prstGeom prst="rect">
            <a:avLst/>
          </a:prstGeom>
          <a:noFill/>
          <a:ln/>
        </p:spPr>
        <p:txBody>
          <a:bodyPr wrap="square" lIns="0" tIns="0" rIns="0" bIns="0" rtlCol="0" anchor="ctr"/>
          <a:lstStyle/>
          <a:p>
            <a:pPr indent="0" marL="0">
              <a:buNone/>
            </a:pPr>
            <a:r>
              <a:rPr lang="en-US" sz="1400" b="1" dirty="0">
                <a:solidFill>
                  <a:schemeClr val="accent1"/>
                </a:solidFill>
                <a:latin typeface="Courier New" pitchFamily="34" charset="0"/>
                <a:ea typeface="Courier New" pitchFamily="34" charset="-122"/>
                <a:cs typeface="Courier New" pitchFamily="34" charset="-120"/>
              </a:rPr>
              <a:t>fifo_queue.c</a:t>
            </a:r>
            <a:endParaRPr lang="en-US" sz="1400" dirty="0"/>
          </a:p>
        </p:txBody>
      </p:sp>
      <p:sp>
        <p:nvSpPr>
          <p:cNvPr id="35" name="fifo_queue.c tech tag"/>
          <p:cNvSpPr/>
          <p:nvPr/>
        </p:nvSpPr>
        <p:spPr>
          <a:xfrm>
            <a:off x="5394960" y="4480560"/>
            <a:ext cx="1486814" cy="292608"/>
          </a:xfrm>
          <a:prstGeom prst="roundRect">
            <a:avLst>
              <a:gd name="adj" fmla="val 50000"/>
            </a:avLst>
          </a:prstGeom>
          <a:solidFill>
            <a:schemeClr val="accent5">
              <a:alpha val="18000"/>
            </a:schemeClr>
          </a:solidFill>
          <a:ln/>
        </p:spPr>
      </p:sp>
      <p:sp>
        <p:nvSpPr>
          <p:cNvPr id="36" name="Text 29"/>
          <p:cNvSpPr txBox="1"/>
          <p:nvPr/>
        </p:nvSpPr>
        <p:spPr>
          <a:xfrm>
            <a:off x="5394960" y="4480560"/>
            <a:ext cx="1486814" cy="292608"/>
          </a:xfrm>
          <a:prstGeom prst="rect">
            <a:avLst/>
          </a:prstGeom>
          <a:noFill/>
          <a:ln/>
        </p:spPr>
        <p:txBody>
          <a:bodyPr wrap="square" lIns="0" tIns="0" rIns="0" bIns="0" rtlCol="0" anchor="ctr"/>
          <a:lstStyle/>
          <a:p>
            <a:pPr algn="ctr" indent="0" marL="0">
              <a:buNone/>
            </a:pPr>
            <a:r>
              <a:rPr lang="en-US" sz="1100" b="1" dirty="0">
                <a:solidFill>
                  <a:schemeClr val="tx2"/>
                </a:solidFill>
              </a:rPr>
              <a:t>C11 · ring buffer</a:t>
            </a:r>
            <a:endParaRPr lang="en-US" sz="1100" dirty="0"/>
          </a:p>
        </p:txBody>
      </p:sp>
      <p:sp>
        <p:nvSpPr>
          <p:cNvPr id="37" name="Text 30"/>
          <p:cNvSpPr txBox="1"/>
          <p:nvPr/>
        </p:nvSpPr>
        <p:spPr>
          <a:xfrm>
            <a:off x="4572000" y="4937760"/>
            <a:ext cx="3017520" cy="1143000"/>
          </a:xfrm>
          <a:prstGeom prst="rect">
            <a:avLst/>
          </a:prstGeom>
          <a:noFill/>
          <a:ln/>
        </p:spPr>
        <p:txBody>
          <a:bodyPr wrap="square" lIns="0" tIns="0" rIns="0" bIns="0" rtlCol="0" anchor="t"/>
          <a:lstStyle/>
          <a:p>
            <a:pPr indent="0" marL="0">
              <a:buNone/>
            </a:pPr>
            <a:r>
              <a:rPr lang="en-US" sz="1400" dirty="0">
                <a:solidFill>
                  <a:schemeClr val="tx1"/>
                </a:solidFill>
              </a:rPr>
              <a:t>A circular queue of stock lots: the oldest units leave first, which gives stock age.</a:t>
            </a:r>
            <a:endParaRPr lang="en-US" sz="1400" dirty="0"/>
          </a:p>
        </p:txBody>
      </p:sp>
      <p:sp>
        <p:nvSpPr>
          <p:cNvPr id="38" name="Makefile card"/>
          <p:cNvSpPr/>
          <p:nvPr/>
        </p:nvSpPr>
        <p:spPr>
          <a:xfrm>
            <a:off x="8046720" y="3840480"/>
            <a:ext cx="3520440" cy="2331720"/>
          </a:xfrm>
          <a:prstGeom prst="roundRect">
            <a:avLst>
              <a:gd name="adj" fmla="val 4706"/>
            </a:avLst>
          </a:prstGeom>
          <a:solidFill>
            <a:schemeClr val="bg2"/>
          </a:solidFill>
          <a:ln/>
        </p:spPr>
      </p:sp>
      <p:sp>
        <p:nvSpPr>
          <p:cNvPr id="39" name="Makefile tile"/>
          <p:cNvSpPr/>
          <p:nvPr/>
        </p:nvSpPr>
        <p:spPr>
          <a:xfrm>
            <a:off x="8321040" y="4114800"/>
            <a:ext cx="640080" cy="640080"/>
          </a:xfrm>
          <a:prstGeom prst="roundRect">
            <a:avLst>
              <a:gd name="adj" fmla="val 24000"/>
            </a:avLst>
          </a:prstGeom>
          <a:solidFill>
            <a:schemeClr val="accent6">
              <a:alpha val="14000"/>
            </a:schemeClr>
          </a:solidFill>
          <a:ln/>
        </p:spPr>
      </p:sp>
      <p:pic>
        <p:nvPicPr>
          <p:cNvPr id="40" name="Makefile icon" descr="preencoded.png">    </p:cNvPr>
          <p:cNvPicPr>
            <a:picLocks noChangeAspect="1"/>
          </p:cNvPicPr>
          <p:nvPr/>
        </p:nvPicPr>
        <p:blipFill>
          <a:blip r:embed="rId6"/>
          <a:stretch>
            <a:fillRect/>
          </a:stretch>
        </p:blipFill>
        <p:spPr>
          <a:xfrm>
            <a:off x="8461858" y="4255618"/>
            <a:ext cx="358445" cy="358445"/>
          </a:xfrm>
          <a:prstGeom prst="rect">
            <a:avLst/>
          </a:prstGeom>
        </p:spPr>
      </p:pic>
      <p:sp>
        <p:nvSpPr>
          <p:cNvPr id="41" name="Text 33"/>
          <p:cNvSpPr txBox="1"/>
          <p:nvPr/>
        </p:nvSpPr>
        <p:spPr>
          <a:xfrm>
            <a:off x="9144000" y="4114800"/>
            <a:ext cx="2286000" cy="310896"/>
          </a:xfrm>
          <a:prstGeom prst="rect">
            <a:avLst/>
          </a:prstGeom>
          <a:noFill/>
          <a:ln/>
        </p:spPr>
        <p:txBody>
          <a:bodyPr wrap="square" lIns="0" tIns="0" rIns="0" bIns="0" rtlCol="0" anchor="ctr"/>
          <a:lstStyle/>
          <a:p>
            <a:pPr indent="0" marL="0">
              <a:buNone/>
            </a:pPr>
            <a:r>
              <a:rPr lang="en-US" sz="1400" b="1" dirty="0">
                <a:solidFill>
                  <a:schemeClr val="accent1"/>
                </a:solidFill>
                <a:latin typeface="Courier New" pitchFamily="34" charset="0"/>
                <a:ea typeface="Courier New" pitchFamily="34" charset="-122"/>
                <a:cs typeface="Courier New" pitchFamily="34" charset="-120"/>
              </a:rPr>
              <a:t>Makefile</a:t>
            </a:r>
            <a:endParaRPr lang="en-US" sz="1400" dirty="0"/>
          </a:p>
        </p:txBody>
      </p:sp>
      <p:sp>
        <p:nvSpPr>
          <p:cNvPr id="42" name="Makefile tech tag"/>
          <p:cNvSpPr/>
          <p:nvPr/>
        </p:nvSpPr>
        <p:spPr>
          <a:xfrm>
            <a:off x="9144000" y="4480560"/>
            <a:ext cx="1272845" cy="292608"/>
          </a:xfrm>
          <a:prstGeom prst="roundRect">
            <a:avLst>
              <a:gd name="adj" fmla="val 50000"/>
            </a:avLst>
          </a:prstGeom>
          <a:solidFill>
            <a:schemeClr val="accent6">
              <a:alpha val="18000"/>
            </a:schemeClr>
          </a:solidFill>
          <a:ln/>
        </p:spPr>
      </p:sp>
      <p:sp>
        <p:nvSpPr>
          <p:cNvPr id="43" name="Text 35"/>
          <p:cNvSpPr txBox="1"/>
          <p:nvPr/>
        </p:nvSpPr>
        <p:spPr>
          <a:xfrm>
            <a:off x="9144000" y="4480560"/>
            <a:ext cx="1272845" cy="292608"/>
          </a:xfrm>
          <a:prstGeom prst="rect">
            <a:avLst/>
          </a:prstGeom>
          <a:noFill/>
          <a:ln/>
        </p:spPr>
        <p:txBody>
          <a:bodyPr wrap="square" lIns="0" tIns="0" rIns="0" bIns="0" rtlCol="0" anchor="ctr"/>
          <a:lstStyle/>
          <a:p>
            <a:pPr algn="ctr" indent="0" marL="0">
              <a:buNone/>
            </a:pPr>
            <a:r>
              <a:rPr lang="en-US" sz="1100" b="1" dirty="0">
                <a:solidFill>
                  <a:schemeClr val="tx2"/>
                </a:solidFill>
              </a:rPr>
              <a:t>GNU Make · GCC</a:t>
            </a:r>
            <a:endParaRPr lang="en-US" sz="1100" dirty="0"/>
          </a:p>
        </p:txBody>
      </p:sp>
      <p:sp>
        <p:nvSpPr>
          <p:cNvPr id="44" name="Text 36"/>
          <p:cNvSpPr txBox="1"/>
          <p:nvPr/>
        </p:nvSpPr>
        <p:spPr>
          <a:xfrm>
            <a:off x="8321040" y="4937760"/>
            <a:ext cx="3017520" cy="1143000"/>
          </a:xfrm>
          <a:prstGeom prst="rect">
            <a:avLst/>
          </a:prstGeom>
          <a:noFill/>
          <a:ln/>
        </p:spPr>
        <p:txBody>
          <a:bodyPr wrap="square" lIns="0" tIns="0" rIns="0" bIns="0" rtlCol="0" anchor="t"/>
          <a:lstStyle/>
          <a:p>
            <a:pPr indent="0" marL="0">
              <a:buNone/>
            </a:pPr>
            <a:r>
              <a:rPr lang="en-US" sz="1400" dirty="0">
                <a:solidFill>
                  <a:schemeClr val="tx1"/>
                </a:solidFill>
              </a:rPr>
              <a:t>make builds libstockwise.so (stockwise.dll on Windows); make test runs the C tests.</a:t>
            </a:r>
            <a:endParaRPr lang="en-US" sz="14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77240"/>
          </a:xfrm>
          <a:prstGeom prst="rect">
            <a:avLst/>
          </a:prstGeom>
          <a:noFill/>
          <a:ln/>
        </p:spPr>
        <p:txBody>
          <a:bodyPr wrap="square" lIns="0" tIns="0" rIns="0" bIns="0" rtlCol="0" anchor="ctr"/>
          <a:lstStyle/>
          <a:p>
            <a:pPr algn="l" indent="0" marL="0">
              <a:buNone/>
            </a:pPr>
            <a:r>
              <a:rPr lang="en-US" sz="3600" b="1" dirty="0">
                <a:solidFill>
                  <a:schemeClr val="tx2"/>
                </a:solidFill>
              </a:rPr>
              <a:t>Ten C files, one concept each</a:t>
            </a:r>
            <a:endParaRPr lang="en-US" sz="3600" dirty="0"/>
          </a:p>
        </p:txBody>
      </p:sp>
      <p:graphicFrame>
        <p:nvGraphicFramePr>
          <p:cNvPr id="14" name="C files table"/>
          <p:cNvGraphicFramePr>
            <a:graphicFrameLocks noGrp="1"/>
          </p:cNvGraphicFramePr>
          <p:nvPr>
            <p:extLst>
              <p:ext uri="{D42A27DB-BD31-4B8C-83A1-F6EECF244321}">
                <p14:modId xmlns:p14="http://schemas.microsoft.com/office/powerpoint/2010/main" val="1579011935"/>
              </p:ext>
            </p:extLst>
          </p:nvPr>
        </p:nvGraphicFramePr>
        <p:xfrm>
          <a:off x="548640" y="1371600"/>
          <a:ext cx="11064240" cy="914400"/>
        </p:xfrm>
        <a:graphic>
          <a:graphicData uri="http://schemas.openxmlformats.org/drawingml/2006/table">
            <a:tbl>
              <a:tblPr/>
              <a:tblGrid>
                <a:gridCol w="2743200"/>
                <a:gridCol w="4343400"/>
                <a:gridCol w="3977640"/>
              </a:tblGrid>
              <a:tr h="402336">
                <a:tc>
                  <a:txBody>
                    <a:bodyPr/>
                    <a:lstStyle/>
                    <a:p>
                      <a:pPr indent="0" marL="0">
                        <a:buNone/>
                      </a:pPr>
                      <a:r>
                        <a:rPr lang="en-US" sz="1400" b="1" dirty="0">
                          <a:solidFill>
                            <a:schemeClr val="bg1"/>
                          </a:solidFill>
                        </a:rPr>
                        <a:t>File</a:t>
                      </a:r>
                      <a:endParaRPr lang="en-US" sz="1400" dirty="0"/>
                    </a:p>
                  </a:txBody>
                  <a:tcPr marL="109728" marR="109728" marT="0" marB="0" anchor="ctr">
                    <a:lnL w="0" cap="flat" cmpd="sng" algn="ctr">
                      <a:noFill/>
                    </a:lnL>
                    <a:lnR w="0" cap="flat" cmpd="sng" algn="ctr">
                      <a:noFill/>
                    </a:lnR>
                    <a:lnT w="0" cap="flat" cmpd="sng" algn="ctr">
                      <a:noFill/>
                    </a:lnT>
                    <a:lnB w="0" cap="flat" cmpd="sng" algn="ctr">
                      <a:noFill/>
                    </a:lnB>
                    <a:solidFill>
                      <a:schemeClr val="tx2"/>
                    </a:solidFill>
                  </a:tcPr>
                </a:tc>
                <a:tc>
                  <a:txBody>
                    <a:bodyPr/>
                    <a:lstStyle/>
                    <a:p>
                      <a:pPr indent="0" marL="0">
                        <a:buNone/>
                      </a:pPr>
                      <a:r>
                        <a:rPr lang="en-US" sz="1400" b="1" dirty="0">
                          <a:solidFill>
                            <a:schemeClr val="bg1"/>
                          </a:solidFill>
                        </a:rPr>
                        <a:t>Data structure / algorithm</a:t>
                      </a:r>
                      <a:endParaRPr lang="en-US" sz="1400" dirty="0"/>
                    </a:p>
                  </a:txBody>
                  <a:tcPr marL="109728" marR="109728" marT="0" marB="0" anchor="ctr">
                    <a:lnL w="0" cap="flat" cmpd="sng" algn="ctr">
                      <a:noFill/>
                    </a:lnL>
                    <a:lnR w="0" cap="flat" cmpd="sng" algn="ctr">
                      <a:noFill/>
                    </a:lnR>
                    <a:lnT w="0" cap="flat" cmpd="sng" algn="ctr">
                      <a:noFill/>
                    </a:lnT>
                    <a:lnB w="0" cap="flat" cmpd="sng" algn="ctr">
                      <a:noFill/>
                    </a:lnB>
                    <a:solidFill>
                      <a:schemeClr val="tx2"/>
                    </a:solidFill>
                  </a:tcPr>
                </a:tc>
                <a:tc>
                  <a:txBody>
                    <a:bodyPr/>
                    <a:lstStyle/>
                    <a:p>
                      <a:pPr indent="0" marL="0">
                        <a:buNone/>
                      </a:pPr>
                      <a:r>
                        <a:rPr lang="en-US" sz="1400" b="1" dirty="0">
                          <a:solidFill>
                            <a:schemeClr val="bg1"/>
                          </a:solidFill>
                        </a:rPr>
                        <a:t>Used for</a:t>
                      </a:r>
                      <a:endParaRPr lang="en-US" sz="1400" dirty="0"/>
                    </a:p>
                  </a:txBody>
                  <a:tcPr marL="109728" marR="109728" marT="0" marB="0" anchor="ctr">
                    <a:lnL w="0" cap="flat" cmpd="sng" algn="ctr">
                      <a:noFill/>
                    </a:lnL>
                    <a:lnR w="0" cap="flat" cmpd="sng" algn="ctr">
                      <a:noFill/>
                    </a:lnR>
                    <a:lnT w="0" cap="flat" cmpd="sng" algn="ctr">
                      <a:noFill/>
                    </a:lnT>
                    <a:lnB w="0" cap="flat" cmpd="sng" algn="ctr">
                      <a:noFill/>
                    </a:lnB>
                    <a:solidFill>
                      <a:schemeClr val="tx2"/>
                    </a:solidFill>
                  </a:tcPr>
                </a:tc>
              </a:tr>
              <a:tr h="402336">
                <a:tc>
                  <a:txBody>
                    <a:bodyPr/>
                    <a:lstStyle/>
                    <a:p>
                      <a:pPr indent="0" marL="0">
                        <a:buNone/>
                      </a:pPr>
                      <a:r>
                        <a:rPr lang="en-US" sz="1300" b="1" dirty="0">
                          <a:solidFill>
                            <a:schemeClr val="accent1"/>
                          </a:solidFill>
                          <a:latin typeface="Courier New" pitchFamily="34" charset="0"/>
                          <a:ea typeface="Courier New" pitchFamily="34" charset="-122"/>
                          <a:cs typeface="Courier New" pitchFamily="34" charset="-120"/>
                        </a:rPr>
                        <a:t>search.c</a:t>
                      </a:r>
                      <a:endParaRPr lang="en-US" sz="1300" dirty="0">
                        <a:latin typeface="Courier New" charset="0"/>
                        <a:ea typeface="Courier New" charset="0"/>
                        <a:cs typeface="Courier New" charset="0"/>
                      </a:endParaRPr>
                    </a:p>
                  </a:txBody>
                  <a:tcPr marL="109728" marR="109728" marT="0" marB="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400" dirty="0">
                          <a:solidFill>
                            <a:schemeClr val="tx1"/>
                          </a:solidFill>
                        </a:rPr>
                        <a:t>Linear and binary search</a:t>
                      </a:r>
                      <a:endParaRPr lang="en-US" sz="1400" dirty="0"/>
                    </a:p>
                  </a:txBody>
                  <a:tcPr marL="109728" marR="109728" marT="0" marB="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400" dirty="0">
                          <a:solidFill>
                            <a:schemeClr val="tx1"/>
                          </a:solidFill>
                        </a:rPr>
                        <a:t>Find a product by ID</a:t>
                      </a:r>
                      <a:endParaRPr lang="en-US" sz="1400" dirty="0"/>
                    </a:p>
                  </a:txBody>
                  <a:tcPr marL="109728" marR="109728" marT="0" marB="0" anchor="ctr">
                    <a:lnL w="0" cap="flat" cmpd="sng" algn="ctr">
                      <a:noFill/>
                    </a:lnL>
                    <a:lnR w="0" cap="flat" cmpd="sng" algn="ctr">
                      <a:noFill/>
                    </a:lnR>
                    <a:lnT w="0" cap="flat" cmpd="sng" algn="ctr">
                      <a:noFill/>
                    </a:lnT>
                    <a:lnB w="0" cap="flat" cmpd="sng" algn="ctr">
                      <a:noFill/>
                    </a:lnB>
                    <a:solidFill>
                      <a:schemeClr val="bg2"/>
                    </a:solidFill>
                  </a:tcPr>
                </a:tc>
              </a:tr>
              <a:tr h="402336">
                <a:tc>
                  <a:txBody>
                    <a:bodyPr/>
                    <a:lstStyle/>
                    <a:p>
                      <a:pPr indent="0" marL="0">
                        <a:buNone/>
                      </a:pPr>
                      <a:r>
                        <a:rPr lang="en-US" sz="1300" b="1" dirty="0">
                          <a:solidFill>
                            <a:schemeClr val="accent1"/>
                          </a:solidFill>
                          <a:latin typeface="Courier New" pitchFamily="34" charset="0"/>
                          <a:ea typeface="Courier New" pitchFamily="34" charset="-122"/>
                          <a:cs typeface="Courier New" pitchFamily="34" charset="-120"/>
                        </a:rPr>
                        <a:t>hash_table.c</a:t>
                      </a:r>
                      <a:endParaRPr lang="en-US" sz="1300" dirty="0">
                        <a:latin typeface="Courier New" charset="0"/>
                        <a:ea typeface="Courier New" charset="0"/>
                        <a:cs typeface="Courier New" charset="0"/>
                      </a:endParaRPr>
                    </a:p>
                  </a:txBody>
                  <a:tcPr marL="109728" marR="109728" marT="0" marB="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400" dirty="0">
                          <a:solidFill>
                            <a:schemeClr val="tx1"/>
                          </a:solidFill>
                        </a:rPr>
                        <a:t>Hash table (separate chaining)</a:t>
                      </a:r>
                      <a:endParaRPr lang="en-US" sz="1400" dirty="0"/>
                    </a:p>
                  </a:txBody>
                  <a:tcPr marL="109728" marR="109728" marT="0" marB="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400" dirty="0">
                          <a:solidFill>
                            <a:schemeClr val="tx1"/>
                          </a:solidFill>
                        </a:rPr>
                        <a:t>Instant lookup by ID</a:t>
                      </a:r>
                      <a:endParaRPr lang="en-US" sz="1400" dirty="0"/>
                    </a:p>
                  </a:txBody>
                  <a:tcPr marL="109728" marR="109728" marT="0" marB="0" anchor="ctr">
                    <a:lnL w="0" cap="flat" cmpd="sng" algn="ctr">
                      <a:noFill/>
                    </a:lnL>
                    <a:lnR w="0" cap="flat" cmpd="sng" algn="ctr">
                      <a:noFill/>
                    </a:lnR>
                    <a:lnT w="0" cap="flat" cmpd="sng" algn="ctr">
                      <a:noFill/>
                    </a:lnT>
                    <a:lnB w="0" cap="flat" cmpd="sng" algn="ctr">
                      <a:noFill/>
                    </a:lnB>
                    <a:solidFill>
                      <a:schemeClr val="bg1"/>
                    </a:solidFill>
                  </a:tcPr>
                </a:tc>
              </a:tr>
              <a:tr h="402336">
                <a:tc>
                  <a:txBody>
                    <a:bodyPr/>
                    <a:lstStyle/>
                    <a:p>
                      <a:pPr indent="0" marL="0">
                        <a:buNone/>
                      </a:pPr>
                      <a:r>
                        <a:rPr lang="en-US" sz="1300" b="1" dirty="0">
                          <a:solidFill>
                            <a:schemeClr val="accent1"/>
                          </a:solidFill>
                          <a:latin typeface="Courier New" pitchFamily="34" charset="0"/>
                          <a:ea typeface="Courier New" pitchFamily="34" charset="-122"/>
                          <a:cs typeface="Courier New" pitchFamily="34" charset="-120"/>
                        </a:rPr>
                        <a:t>sorting.c</a:t>
                      </a:r>
                      <a:endParaRPr lang="en-US" sz="1300" dirty="0">
                        <a:latin typeface="Courier New" charset="0"/>
                        <a:ea typeface="Courier New" charset="0"/>
                        <a:cs typeface="Courier New" charset="0"/>
                      </a:endParaRPr>
                    </a:p>
                  </a:txBody>
                  <a:tcPr marL="109728" marR="109728" marT="0" marB="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400" dirty="0">
                          <a:solidFill>
                            <a:schemeClr val="tx1"/>
                          </a:solidFill>
                        </a:rPr>
                        <a:t>Merge, Insertion, Quick, Heap Sort</a:t>
                      </a:r>
                      <a:endParaRPr lang="en-US" sz="1400" dirty="0"/>
                    </a:p>
                  </a:txBody>
                  <a:tcPr marL="109728" marR="109728" marT="0" marB="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400" dirty="0">
                          <a:solidFill>
                            <a:schemeClr val="tx1"/>
                          </a:solidFill>
                        </a:rPr>
                        <a:t>Sort products by any column</a:t>
                      </a:r>
                      <a:endParaRPr lang="en-US" sz="1400" dirty="0"/>
                    </a:p>
                  </a:txBody>
                  <a:tcPr marL="109728" marR="109728" marT="0" marB="0" anchor="ctr">
                    <a:lnL w="0" cap="flat" cmpd="sng" algn="ctr">
                      <a:noFill/>
                    </a:lnL>
                    <a:lnR w="0" cap="flat" cmpd="sng" algn="ctr">
                      <a:noFill/>
                    </a:lnR>
                    <a:lnT w="0" cap="flat" cmpd="sng" algn="ctr">
                      <a:noFill/>
                    </a:lnT>
                    <a:lnB w="0" cap="flat" cmpd="sng" algn="ctr">
                      <a:noFill/>
                    </a:lnB>
                    <a:solidFill>
                      <a:schemeClr val="bg2"/>
                    </a:solidFill>
                  </a:tcPr>
                </a:tc>
              </a:tr>
              <a:tr h="402336">
                <a:tc>
                  <a:txBody>
                    <a:bodyPr/>
                    <a:lstStyle/>
                    <a:p>
                      <a:pPr indent="0" marL="0">
                        <a:buNone/>
                      </a:pPr>
                      <a:r>
                        <a:rPr lang="en-US" sz="1300" b="1" dirty="0">
                          <a:solidFill>
                            <a:schemeClr val="accent1"/>
                          </a:solidFill>
                          <a:latin typeface="Courier New" pitchFamily="34" charset="0"/>
                          <a:ea typeface="Courier New" pitchFamily="34" charset="-122"/>
                          <a:cs typeface="Courier New" pitchFamily="34" charset="-120"/>
                        </a:rPr>
                        <a:t>max_heap.c</a:t>
                      </a:r>
                      <a:endParaRPr lang="en-US" sz="1300" dirty="0">
                        <a:latin typeface="Courier New" charset="0"/>
                        <a:ea typeface="Courier New" charset="0"/>
                        <a:cs typeface="Courier New" charset="0"/>
                      </a:endParaRPr>
                    </a:p>
                  </a:txBody>
                  <a:tcPr marL="109728" marR="109728" marT="0" marB="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400" dirty="0">
                          <a:solidFill>
                            <a:schemeClr val="tx1"/>
                          </a:solidFill>
                        </a:rPr>
                        <a:t>Max-Heap priority queue</a:t>
                      </a:r>
                      <a:endParaRPr lang="en-US" sz="1400" dirty="0"/>
                    </a:p>
                  </a:txBody>
                  <a:tcPr marL="109728" marR="109728" marT="0" marB="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400" dirty="0">
                          <a:solidFill>
                            <a:schemeClr val="tx1"/>
                          </a:solidFill>
                        </a:rPr>
                        <a:t>Rank what to restock first</a:t>
                      </a:r>
                      <a:endParaRPr lang="en-US" sz="1400" dirty="0"/>
                    </a:p>
                  </a:txBody>
                  <a:tcPr marL="109728" marR="109728" marT="0" marB="0" anchor="ctr">
                    <a:lnL w="0" cap="flat" cmpd="sng" algn="ctr">
                      <a:noFill/>
                    </a:lnL>
                    <a:lnR w="0" cap="flat" cmpd="sng" algn="ctr">
                      <a:noFill/>
                    </a:lnR>
                    <a:lnT w="0" cap="flat" cmpd="sng" algn="ctr">
                      <a:noFill/>
                    </a:lnT>
                    <a:lnB w="0" cap="flat" cmpd="sng" algn="ctr">
                      <a:noFill/>
                    </a:lnB>
                    <a:solidFill>
                      <a:schemeClr val="bg1"/>
                    </a:solidFill>
                  </a:tcPr>
                </a:tc>
              </a:tr>
              <a:tr h="402336">
                <a:tc>
                  <a:txBody>
                    <a:bodyPr/>
                    <a:lstStyle/>
                    <a:p>
                      <a:pPr indent="0" marL="0">
                        <a:buNone/>
                      </a:pPr>
                      <a:r>
                        <a:rPr lang="en-US" sz="1300" b="1" dirty="0">
                          <a:solidFill>
                            <a:schemeClr val="accent1"/>
                          </a:solidFill>
                          <a:latin typeface="Courier New" pitchFamily="34" charset="0"/>
                          <a:ea typeface="Courier New" pitchFamily="34" charset="-122"/>
                          <a:cs typeface="Courier New" pitchFamily="34" charset="-120"/>
                        </a:rPr>
                        <a:t>avl_tree.c</a:t>
                      </a:r>
                      <a:endParaRPr lang="en-US" sz="1300" dirty="0">
                        <a:latin typeface="Courier New" charset="0"/>
                        <a:ea typeface="Courier New" charset="0"/>
                        <a:cs typeface="Courier New" charset="0"/>
                      </a:endParaRPr>
                    </a:p>
                  </a:txBody>
                  <a:tcPr marL="109728" marR="109728" marT="0" marB="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400" dirty="0">
                          <a:solidFill>
                            <a:schemeClr val="tx1"/>
                          </a:solidFill>
                        </a:rPr>
                        <a:t>AVL tree (self-balancing BST)</a:t>
                      </a:r>
                      <a:endParaRPr lang="en-US" sz="1400" dirty="0"/>
                    </a:p>
                  </a:txBody>
                  <a:tcPr marL="109728" marR="109728" marT="0" marB="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400" dirty="0">
                          <a:solidFill>
                            <a:schemeClr val="tx1"/>
                          </a:solidFill>
                        </a:rPr>
                        <a:t>Filter by price range</a:t>
                      </a:r>
                      <a:endParaRPr lang="en-US" sz="1400" dirty="0"/>
                    </a:p>
                  </a:txBody>
                  <a:tcPr marL="109728" marR="109728" marT="0" marB="0" anchor="ctr">
                    <a:lnL w="0" cap="flat" cmpd="sng" algn="ctr">
                      <a:noFill/>
                    </a:lnL>
                    <a:lnR w="0" cap="flat" cmpd="sng" algn="ctr">
                      <a:noFill/>
                    </a:lnR>
                    <a:lnT w="0" cap="flat" cmpd="sng" algn="ctr">
                      <a:noFill/>
                    </a:lnT>
                    <a:lnB w="0" cap="flat" cmpd="sng" algn="ctr">
                      <a:noFill/>
                    </a:lnB>
                    <a:solidFill>
                      <a:schemeClr val="bg2"/>
                    </a:solidFill>
                  </a:tcPr>
                </a:tc>
              </a:tr>
              <a:tr h="402336">
                <a:tc>
                  <a:txBody>
                    <a:bodyPr/>
                    <a:lstStyle/>
                    <a:p>
                      <a:pPr indent="0" marL="0">
                        <a:buNone/>
                      </a:pPr>
                      <a:r>
                        <a:rPr lang="en-US" sz="1300" b="1" dirty="0">
                          <a:solidFill>
                            <a:schemeClr val="accent1"/>
                          </a:solidFill>
                          <a:latin typeface="Courier New" pitchFamily="34" charset="0"/>
                          <a:ea typeface="Courier New" pitchFamily="34" charset="-122"/>
                          <a:cs typeface="Courier New" pitchFamily="34" charset="-120"/>
                        </a:rPr>
                        <a:t>trie.c</a:t>
                      </a:r>
                      <a:endParaRPr lang="en-US" sz="1300" dirty="0">
                        <a:latin typeface="Courier New" charset="0"/>
                        <a:ea typeface="Courier New" charset="0"/>
                        <a:cs typeface="Courier New" charset="0"/>
                      </a:endParaRPr>
                    </a:p>
                  </a:txBody>
                  <a:tcPr marL="109728" marR="109728" marT="0" marB="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400" dirty="0">
                          <a:solidFill>
                            <a:schemeClr val="tx1"/>
                          </a:solidFill>
                        </a:rPr>
                        <a:t>Trie (prefix tree)</a:t>
                      </a:r>
                      <a:endParaRPr lang="en-US" sz="1400" dirty="0"/>
                    </a:p>
                  </a:txBody>
                  <a:tcPr marL="109728" marR="109728" marT="0" marB="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400" dirty="0">
                          <a:solidFill>
                            <a:schemeClr val="tx1"/>
                          </a:solidFill>
                        </a:rPr>
                        <a:t>Autocomplete product names</a:t>
                      </a:r>
                      <a:endParaRPr lang="en-US" sz="1400" dirty="0"/>
                    </a:p>
                  </a:txBody>
                  <a:tcPr marL="109728" marR="109728" marT="0" marB="0" anchor="ctr">
                    <a:lnL w="0" cap="flat" cmpd="sng" algn="ctr">
                      <a:noFill/>
                    </a:lnL>
                    <a:lnR w="0" cap="flat" cmpd="sng" algn="ctr">
                      <a:noFill/>
                    </a:lnR>
                    <a:lnT w="0" cap="flat" cmpd="sng" algn="ctr">
                      <a:noFill/>
                    </a:lnT>
                    <a:lnB w="0" cap="flat" cmpd="sng" algn="ctr">
                      <a:noFill/>
                    </a:lnB>
                    <a:solidFill>
                      <a:schemeClr val="bg1"/>
                    </a:solidFill>
                  </a:tcPr>
                </a:tc>
              </a:tr>
              <a:tr h="402336">
                <a:tc>
                  <a:txBody>
                    <a:bodyPr/>
                    <a:lstStyle/>
                    <a:p>
                      <a:pPr indent="0" marL="0">
                        <a:buNone/>
                      </a:pPr>
                      <a:r>
                        <a:rPr lang="en-US" sz="1300" b="1" dirty="0">
                          <a:solidFill>
                            <a:schemeClr val="accent1"/>
                          </a:solidFill>
                          <a:latin typeface="Courier New" pitchFamily="34" charset="0"/>
                          <a:ea typeface="Courier New" pitchFamily="34" charset="-122"/>
                          <a:cs typeface="Courier New" pitchFamily="34" charset="-120"/>
                        </a:rPr>
                        <a:t>knapsack.c</a:t>
                      </a:r>
                      <a:endParaRPr lang="en-US" sz="1300" dirty="0">
                        <a:latin typeface="Courier New" charset="0"/>
                        <a:ea typeface="Courier New" charset="0"/>
                        <a:cs typeface="Courier New" charset="0"/>
                      </a:endParaRPr>
                    </a:p>
                  </a:txBody>
                  <a:tcPr marL="109728" marR="109728" marT="0" marB="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400" dirty="0">
                          <a:solidFill>
                            <a:schemeClr val="tx1"/>
                          </a:solidFill>
                        </a:rPr>
                        <a:t>0/1 knapsack, dynamic programming</a:t>
                      </a:r>
                      <a:endParaRPr lang="en-US" sz="1400" dirty="0"/>
                    </a:p>
                  </a:txBody>
                  <a:tcPr marL="109728" marR="109728" marT="0" marB="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400" dirty="0">
                          <a:solidFill>
                            <a:schemeClr val="tx1"/>
                          </a:solidFill>
                        </a:rPr>
                        <a:t>Best restock plan within a budget</a:t>
                      </a:r>
                      <a:endParaRPr lang="en-US" sz="1400" dirty="0"/>
                    </a:p>
                  </a:txBody>
                  <a:tcPr marL="109728" marR="109728" marT="0" marB="0" anchor="ctr">
                    <a:lnL w="0" cap="flat" cmpd="sng" algn="ctr">
                      <a:noFill/>
                    </a:lnL>
                    <a:lnR w="0" cap="flat" cmpd="sng" algn="ctr">
                      <a:noFill/>
                    </a:lnR>
                    <a:lnT w="0" cap="flat" cmpd="sng" algn="ctr">
                      <a:noFill/>
                    </a:lnT>
                    <a:lnB w="0" cap="flat" cmpd="sng" algn="ctr">
                      <a:noFill/>
                    </a:lnB>
                    <a:solidFill>
                      <a:schemeClr val="bg2"/>
                    </a:solidFill>
                  </a:tcPr>
                </a:tc>
              </a:tr>
              <a:tr h="402336">
                <a:tc>
                  <a:txBody>
                    <a:bodyPr/>
                    <a:lstStyle/>
                    <a:p>
                      <a:pPr indent="0" marL="0">
                        <a:buNone/>
                      </a:pPr>
                      <a:r>
                        <a:rPr lang="en-US" sz="1300" b="1" dirty="0">
                          <a:solidFill>
                            <a:schemeClr val="accent1"/>
                          </a:solidFill>
                          <a:latin typeface="Courier New" pitchFamily="34" charset="0"/>
                          <a:ea typeface="Courier New" pitchFamily="34" charset="-122"/>
                          <a:cs typeface="Courier New" pitchFamily="34" charset="-120"/>
                        </a:rPr>
                        <a:t>graph.c</a:t>
                      </a:r>
                      <a:endParaRPr lang="en-US" sz="1300" dirty="0">
                        <a:latin typeface="Courier New" charset="0"/>
                        <a:ea typeface="Courier New" charset="0"/>
                        <a:cs typeface="Courier New" charset="0"/>
                      </a:endParaRPr>
                    </a:p>
                  </a:txBody>
                  <a:tcPr marL="109728" marR="109728" marT="0" marB="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400" dirty="0">
                          <a:solidFill>
                            <a:schemeClr val="tx1"/>
                          </a:solidFill>
                        </a:rPr>
                        <a:t>Graph + Dijkstra's shortest path</a:t>
                      </a:r>
                      <a:endParaRPr lang="en-US" sz="1400" dirty="0"/>
                    </a:p>
                  </a:txBody>
                  <a:tcPr marL="109728" marR="109728" marT="0" marB="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400" dirty="0">
                          <a:solidFill>
                            <a:schemeClr val="tx1"/>
                          </a:solidFill>
                        </a:rPr>
                        <a:t>Shortest delivery route</a:t>
                      </a:r>
                      <a:endParaRPr lang="en-US" sz="1400" dirty="0"/>
                    </a:p>
                  </a:txBody>
                  <a:tcPr marL="109728" marR="109728" marT="0" marB="0" anchor="ctr">
                    <a:lnL w="0" cap="flat" cmpd="sng" algn="ctr">
                      <a:noFill/>
                    </a:lnL>
                    <a:lnR w="0" cap="flat" cmpd="sng" algn="ctr">
                      <a:noFill/>
                    </a:lnR>
                    <a:lnT w="0" cap="flat" cmpd="sng" algn="ctr">
                      <a:noFill/>
                    </a:lnT>
                    <a:lnB w="0" cap="flat" cmpd="sng" algn="ctr">
                      <a:noFill/>
                    </a:lnB>
                    <a:solidFill>
                      <a:schemeClr val="bg1"/>
                    </a:solidFill>
                  </a:tcPr>
                </a:tc>
              </a:tr>
              <a:tr h="402336">
                <a:tc>
                  <a:txBody>
                    <a:bodyPr/>
                    <a:lstStyle/>
                    <a:p>
                      <a:pPr indent="0" marL="0">
                        <a:buNone/>
                      </a:pPr>
                      <a:r>
                        <a:rPr lang="en-US" sz="1300" b="1" dirty="0">
                          <a:solidFill>
                            <a:schemeClr val="accent1"/>
                          </a:solidFill>
                          <a:latin typeface="Courier New" pitchFamily="34" charset="0"/>
                          <a:ea typeface="Courier New" pitchFamily="34" charset="-122"/>
                          <a:cs typeface="Courier New" pitchFamily="34" charset="-120"/>
                        </a:rPr>
                        <a:t>fifo_queue.c</a:t>
                      </a:r>
                      <a:endParaRPr lang="en-US" sz="1300" dirty="0">
                        <a:latin typeface="Courier New" charset="0"/>
                        <a:ea typeface="Courier New" charset="0"/>
                        <a:cs typeface="Courier New" charset="0"/>
                      </a:endParaRPr>
                    </a:p>
                  </a:txBody>
                  <a:tcPr marL="109728" marR="109728" marT="0" marB="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400" dirty="0">
                          <a:solidFill>
                            <a:schemeClr val="tx1"/>
                          </a:solidFill>
                        </a:rPr>
                        <a:t>Circular queue (FIFO)</a:t>
                      </a:r>
                      <a:endParaRPr lang="en-US" sz="1400" dirty="0"/>
                    </a:p>
                  </a:txBody>
                  <a:tcPr marL="109728" marR="109728" marT="0" marB="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400" dirty="0">
                          <a:solidFill>
                            <a:schemeClr val="tx1"/>
                          </a:solidFill>
                        </a:rPr>
                        <a:t>Track stock lots and their age</a:t>
                      </a:r>
                      <a:endParaRPr lang="en-US" sz="1400" dirty="0"/>
                    </a:p>
                  </a:txBody>
                  <a:tcPr marL="109728" marR="109728" marT="0" marB="0" anchor="ctr">
                    <a:lnL w="0" cap="flat" cmpd="sng" algn="ctr">
                      <a:noFill/>
                    </a:lnL>
                    <a:lnR w="0" cap="flat" cmpd="sng" algn="ctr">
                      <a:noFill/>
                    </a:lnR>
                    <a:lnT w="0" cap="flat" cmpd="sng" algn="ctr">
                      <a:noFill/>
                    </a:lnT>
                    <a:lnB w="0" cap="flat" cmpd="sng" algn="ctr">
                      <a:noFill/>
                    </a:lnB>
                    <a:solidFill>
                      <a:schemeClr val="bg2"/>
                    </a:solidFill>
                  </a:tcPr>
                </a:tc>
              </a:tr>
              <a:tr h="402336">
                <a:tc>
                  <a:txBody>
                    <a:bodyPr/>
                    <a:lstStyle/>
                    <a:p>
                      <a:pPr indent="0" marL="0">
                        <a:buNone/>
                      </a:pPr>
                      <a:r>
                        <a:rPr lang="en-US" sz="1300" b="1" dirty="0">
                          <a:solidFill>
                            <a:schemeClr val="accent1"/>
                          </a:solidFill>
                          <a:latin typeface="Courier New" pitchFamily="34" charset="0"/>
                          <a:ea typeface="Courier New" pitchFamily="34" charset="-122"/>
                          <a:cs typeface="Courier New" pitchFamily="34" charset="-120"/>
                        </a:rPr>
                        <a:t>inventory_engine.c</a:t>
                      </a:r>
                      <a:endParaRPr lang="en-US" sz="1300" dirty="0">
                        <a:latin typeface="Courier New" charset="0"/>
                        <a:ea typeface="Courier New" charset="0"/>
                        <a:cs typeface="Courier New" charset="0"/>
                      </a:endParaRPr>
                    </a:p>
                  </a:txBody>
                  <a:tcPr marL="109728" marR="109728" marT="0" marB="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400" dirty="0">
                          <a:solidFill>
                            <a:schemeClr val="tx1"/>
                          </a:solidFill>
                        </a:rPr>
                        <a:t>Public API (sw_* functions)</a:t>
                      </a:r>
                      <a:endParaRPr lang="en-US" sz="1400" dirty="0"/>
                    </a:p>
                  </a:txBody>
                  <a:tcPr marL="109728" marR="109728" marT="0" marB="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400" dirty="0">
                          <a:solidFill>
                            <a:schemeClr val="tx1"/>
                          </a:solidFill>
                        </a:rPr>
                        <a:t>The door Python calls through</a:t>
                      </a:r>
                      <a:endParaRPr lang="en-US" sz="1400" dirty="0"/>
                    </a:p>
                  </a:txBody>
                  <a:tcPr marL="109728" marR="109728" marT="0" marB="0" anchor="ctr">
                    <a:lnL w="0" cap="flat" cmpd="sng" algn="ctr">
                      <a:noFill/>
                    </a:lnL>
                    <a:lnR w="0" cap="flat" cmpd="sng" algn="ctr">
                      <a:noFill/>
                    </a:lnR>
                    <a:lnT w="0" cap="flat" cmpd="sng" algn="ctr">
                      <a:noFill/>
                    </a:lnT>
                    <a:lnB w="0" cap="flat" cmpd="sng" algn="ctr">
                      <a:noFill/>
                    </a:lnB>
                    <a:solidFill>
                      <a:schemeClr val="bg1"/>
                    </a:solidFill>
                  </a:tcPr>
                </a:tc>
              </a:tr>
            </a:tbl>
          </a:graphicData>
        </a:graphic>
      </p:graphicFrame>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77240"/>
          </a:xfrm>
          <a:prstGeom prst="rect">
            <a:avLst/>
          </a:prstGeom>
          <a:noFill/>
          <a:ln/>
        </p:spPr>
        <p:txBody>
          <a:bodyPr wrap="square" lIns="0" tIns="0" rIns="0" bIns="0" rtlCol="0" anchor="ctr"/>
          <a:lstStyle/>
          <a:p>
            <a:pPr algn="l" indent="0" marL="0">
              <a:buNone/>
            </a:pPr>
            <a:r>
              <a:rPr lang="en-US" sz="3600" b="1" dirty="0">
                <a:solidFill>
                  <a:schemeClr val="tx2"/>
                </a:solidFill>
              </a:rPr>
              <a:t>The glue: header, engine and Makefile</a:t>
            </a:r>
            <a:endParaRPr lang="en-US" sz="3600" dirty="0"/>
          </a:p>
        </p:txBody>
      </p:sp>
      <p:sp>
        <p:nvSpPr>
          <p:cNvPr id="3" name="inventory_types.h card"/>
          <p:cNvSpPr/>
          <p:nvPr/>
        </p:nvSpPr>
        <p:spPr>
          <a:xfrm>
            <a:off x="548640" y="1463040"/>
            <a:ext cx="3520440" cy="3246120"/>
          </a:xfrm>
          <a:prstGeom prst="roundRect">
            <a:avLst>
              <a:gd name="adj" fmla="val 3380"/>
            </a:avLst>
          </a:prstGeom>
          <a:solidFill>
            <a:schemeClr val="bg2"/>
          </a:solidFill>
          <a:ln/>
        </p:spPr>
      </p:sp>
      <p:sp>
        <p:nvSpPr>
          <p:cNvPr id="4" name="inventory_types.h tile"/>
          <p:cNvSpPr/>
          <p:nvPr/>
        </p:nvSpPr>
        <p:spPr>
          <a:xfrm>
            <a:off x="868680" y="1737360"/>
            <a:ext cx="868680" cy="868680"/>
          </a:xfrm>
          <a:prstGeom prst="roundRect">
            <a:avLst>
              <a:gd name="adj" fmla="val 24000"/>
            </a:avLst>
          </a:prstGeom>
          <a:solidFill>
            <a:schemeClr val="accent1">
              <a:alpha val="14000"/>
            </a:schemeClr>
          </a:solidFill>
          <a:ln/>
        </p:spPr>
      </p:sp>
      <p:pic>
        <p:nvPicPr>
          <p:cNvPr id="5" name="inventory_types.h icon" descr="preencoded.png">    </p:cNvPr>
          <p:cNvPicPr>
            <a:picLocks noChangeAspect="1"/>
          </p:cNvPicPr>
          <p:nvPr/>
        </p:nvPicPr>
        <p:blipFill>
          <a:blip r:embed="rId1"/>
          <a:stretch>
            <a:fillRect/>
          </a:stretch>
        </p:blipFill>
        <p:spPr>
          <a:xfrm>
            <a:off x="1059790" y="1928470"/>
            <a:ext cx="486461" cy="486461"/>
          </a:xfrm>
          <a:prstGeom prst="rect">
            <a:avLst/>
          </a:prstGeom>
        </p:spPr>
      </p:pic>
      <p:sp>
        <p:nvSpPr>
          <p:cNvPr id="6" name="Text 3"/>
          <p:cNvSpPr txBox="1"/>
          <p:nvPr/>
        </p:nvSpPr>
        <p:spPr>
          <a:xfrm>
            <a:off x="868680" y="2788920"/>
            <a:ext cx="2926080" cy="411480"/>
          </a:xfrm>
          <a:prstGeom prst="rect">
            <a:avLst/>
          </a:prstGeom>
          <a:noFill/>
          <a:ln/>
        </p:spPr>
        <p:txBody>
          <a:bodyPr wrap="square" lIns="0" tIns="0" rIns="0" bIns="0" rtlCol="0" anchor="t"/>
          <a:lstStyle/>
          <a:p>
            <a:pPr indent="0" marL="0">
              <a:buNone/>
            </a:pPr>
            <a:r>
              <a:rPr lang="en-US" sz="2000" b="1" dirty="0">
                <a:solidFill>
                  <a:schemeClr val="tx2"/>
                </a:solidFill>
              </a:rPr>
              <a:t>The contract</a:t>
            </a:r>
            <a:endParaRPr lang="en-US" sz="2000" dirty="0"/>
          </a:p>
        </p:txBody>
      </p:sp>
      <p:sp>
        <p:nvSpPr>
          <p:cNvPr id="7" name="Text 4"/>
          <p:cNvSpPr txBox="1"/>
          <p:nvPr/>
        </p:nvSpPr>
        <p:spPr>
          <a:xfrm>
            <a:off x="868680" y="3200400"/>
            <a:ext cx="2926080" cy="365760"/>
          </a:xfrm>
          <a:prstGeom prst="rect">
            <a:avLst/>
          </a:prstGeom>
          <a:noFill/>
          <a:ln/>
        </p:spPr>
        <p:txBody>
          <a:bodyPr wrap="square" lIns="0" tIns="0" rIns="0" bIns="0" rtlCol="0" anchor="t"/>
          <a:lstStyle/>
          <a:p>
            <a:pPr indent="0" marL="0">
              <a:buNone/>
            </a:pPr>
            <a:r>
              <a:rPr lang="en-US" sz="1400" b="1" dirty="0">
                <a:solidFill>
                  <a:schemeClr val="accent1"/>
                </a:solidFill>
                <a:latin typeface="Courier New" pitchFamily="34" charset="0"/>
                <a:ea typeface="Courier New" pitchFamily="34" charset="-122"/>
                <a:cs typeface="Courier New" pitchFamily="34" charset="-120"/>
              </a:rPr>
              <a:t>inventory_types.h</a:t>
            </a:r>
            <a:endParaRPr lang="en-US" sz="1400" dirty="0"/>
          </a:p>
        </p:txBody>
      </p:sp>
      <p:sp>
        <p:nvSpPr>
          <p:cNvPr id="8" name="Text 5"/>
          <p:cNvSpPr txBox="1"/>
          <p:nvPr/>
        </p:nvSpPr>
        <p:spPr>
          <a:xfrm>
            <a:off x="868680" y="3611880"/>
            <a:ext cx="2926080" cy="1005840"/>
          </a:xfrm>
          <a:prstGeom prst="rect">
            <a:avLst/>
          </a:prstGeom>
          <a:noFill/>
          <a:ln/>
        </p:spPr>
        <p:txBody>
          <a:bodyPr wrap="square" lIns="0" tIns="0" rIns="0" bIns="0" rtlCol="0" anchor="t"/>
          <a:lstStyle/>
          <a:p>
            <a:pPr indent="0" marL="0">
              <a:buNone/>
            </a:pPr>
            <a:r>
              <a:rPr lang="en-US" sz="1400" dirty="0">
                <a:solidFill>
                  <a:schemeClr val="tx1"/>
                </a:solidFill>
              </a:rPr>
              <a:t>Shared structs (Product, SearchResult...), error codes, and the declaration of every function</a:t>
            </a:r>
            <a:endParaRPr lang="en-US" sz="1400" dirty="0"/>
          </a:p>
        </p:txBody>
      </p:sp>
      <p:sp>
        <p:nvSpPr>
          <p:cNvPr id="9" name="inventory_engine.c card"/>
          <p:cNvSpPr/>
          <p:nvPr/>
        </p:nvSpPr>
        <p:spPr>
          <a:xfrm>
            <a:off x="4297680" y="1463040"/>
            <a:ext cx="3520440" cy="3246120"/>
          </a:xfrm>
          <a:prstGeom prst="roundRect">
            <a:avLst>
              <a:gd name="adj" fmla="val 3380"/>
            </a:avLst>
          </a:prstGeom>
          <a:solidFill>
            <a:schemeClr val="bg2"/>
          </a:solidFill>
          <a:ln/>
        </p:spPr>
      </p:sp>
      <p:sp>
        <p:nvSpPr>
          <p:cNvPr id="10" name="inventory_engine.c tile"/>
          <p:cNvSpPr/>
          <p:nvPr/>
        </p:nvSpPr>
        <p:spPr>
          <a:xfrm>
            <a:off x="4617720" y="1737360"/>
            <a:ext cx="868680" cy="868680"/>
          </a:xfrm>
          <a:prstGeom prst="roundRect">
            <a:avLst>
              <a:gd name="adj" fmla="val 24000"/>
            </a:avLst>
          </a:prstGeom>
          <a:solidFill>
            <a:schemeClr val="accent4">
              <a:alpha val="14000"/>
            </a:schemeClr>
          </a:solidFill>
          <a:ln/>
        </p:spPr>
      </p:sp>
      <p:pic>
        <p:nvPicPr>
          <p:cNvPr id="11" name="inventory_engine.c icon" descr="preencoded.png">    </p:cNvPr>
          <p:cNvPicPr>
            <a:picLocks noChangeAspect="1"/>
          </p:cNvPicPr>
          <p:nvPr/>
        </p:nvPicPr>
        <p:blipFill>
          <a:blip r:embed="rId2"/>
          <a:stretch>
            <a:fillRect/>
          </a:stretch>
        </p:blipFill>
        <p:spPr>
          <a:xfrm>
            <a:off x="4808830" y="1928470"/>
            <a:ext cx="486461" cy="486461"/>
          </a:xfrm>
          <a:prstGeom prst="rect">
            <a:avLst/>
          </a:prstGeom>
        </p:spPr>
      </p:pic>
      <p:sp>
        <p:nvSpPr>
          <p:cNvPr id="12" name="Text 8"/>
          <p:cNvSpPr txBox="1"/>
          <p:nvPr/>
        </p:nvSpPr>
        <p:spPr>
          <a:xfrm>
            <a:off x="4617720" y="2788920"/>
            <a:ext cx="2926080" cy="411480"/>
          </a:xfrm>
          <a:prstGeom prst="rect">
            <a:avLst/>
          </a:prstGeom>
          <a:noFill/>
          <a:ln/>
        </p:spPr>
        <p:txBody>
          <a:bodyPr wrap="square" lIns="0" tIns="0" rIns="0" bIns="0" rtlCol="0" anchor="t"/>
          <a:lstStyle/>
          <a:p>
            <a:pPr indent="0" marL="0">
              <a:buNone/>
            </a:pPr>
            <a:r>
              <a:rPr lang="en-US" sz="2000" b="1" dirty="0">
                <a:solidFill>
                  <a:schemeClr val="tx2"/>
                </a:solidFill>
              </a:rPr>
              <a:t>The front door</a:t>
            </a:r>
            <a:endParaRPr lang="en-US" sz="2000" dirty="0"/>
          </a:p>
        </p:txBody>
      </p:sp>
      <p:sp>
        <p:nvSpPr>
          <p:cNvPr id="13" name="Text 9"/>
          <p:cNvSpPr txBox="1"/>
          <p:nvPr/>
        </p:nvSpPr>
        <p:spPr>
          <a:xfrm>
            <a:off x="4617720" y="3200400"/>
            <a:ext cx="2926080" cy="365760"/>
          </a:xfrm>
          <a:prstGeom prst="rect">
            <a:avLst/>
          </a:prstGeom>
          <a:noFill/>
          <a:ln/>
        </p:spPr>
        <p:txBody>
          <a:bodyPr wrap="square" lIns="0" tIns="0" rIns="0" bIns="0" rtlCol="0" anchor="t"/>
          <a:lstStyle/>
          <a:p>
            <a:pPr indent="0" marL="0">
              <a:buNone/>
            </a:pPr>
            <a:r>
              <a:rPr lang="en-US" sz="1400" b="1" dirty="0">
                <a:solidFill>
                  <a:schemeClr val="accent1"/>
                </a:solidFill>
                <a:latin typeface="Courier New" pitchFamily="34" charset="0"/>
                <a:ea typeface="Courier New" pitchFamily="34" charset="-122"/>
                <a:cs typeface="Courier New" pitchFamily="34" charset="-120"/>
              </a:rPr>
              <a:t>inventory_engine.c</a:t>
            </a:r>
            <a:endParaRPr lang="en-US" sz="1400" dirty="0"/>
          </a:p>
        </p:txBody>
      </p:sp>
      <p:sp>
        <p:nvSpPr>
          <p:cNvPr id="14" name="Text 10"/>
          <p:cNvSpPr txBox="1"/>
          <p:nvPr/>
        </p:nvSpPr>
        <p:spPr>
          <a:xfrm>
            <a:off x="4617720" y="3611880"/>
            <a:ext cx="2926080" cy="1005840"/>
          </a:xfrm>
          <a:prstGeom prst="rect">
            <a:avLst/>
          </a:prstGeom>
          <a:noFill/>
          <a:ln/>
        </p:spPr>
        <p:txBody>
          <a:bodyPr wrap="square" lIns="0" tIns="0" rIns="0" bIns="0" rtlCol="0" anchor="t"/>
          <a:lstStyle/>
          <a:p>
            <a:pPr indent="0" marL="0">
              <a:buNone/>
            </a:pPr>
            <a:r>
              <a:rPr lang="en-US" sz="1400" dirty="0">
                <a:solidFill>
                  <a:schemeClr val="tx1"/>
                </a:solidFill>
              </a:rPr>
              <a:t>Copies the products, builds the hash table, AVL tree and trie, and exposes the sw_* functions</a:t>
            </a:r>
            <a:endParaRPr lang="en-US" sz="1400" dirty="0"/>
          </a:p>
        </p:txBody>
      </p:sp>
      <p:sp>
        <p:nvSpPr>
          <p:cNvPr id="15" name="Makefile card"/>
          <p:cNvSpPr/>
          <p:nvPr/>
        </p:nvSpPr>
        <p:spPr>
          <a:xfrm>
            <a:off x="8046720" y="1463040"/>
            <a:ext cx="3520440" cy="3246120"/>
          </a:xfrm>
          <a:prstGeom prst="roundRect">
            <a:avLst>
              <a:gd name="adj" fmla="val 3380"/>
            </a:avLst>
          </a:prstGeom>
          <a:solidFill>
            <a:schemeClr val="bg2"/>
          </a:solidFill>
          <a:ln/>
        </p:spPr>
      </p:sp>
      <p:sp>
        <p:nvSpPr>
          <p:cNvPr id="16" name="Makefile tile"/>
          <p:cNvSpPr/>
          <p:nvPr/>
        </p:nvSpPr>
        <p:spPr>
          <a:xfrm>
            <a:off x="8366760" y="1737360"/>
            <a:ext cx="868680" cy="868680"/>
          </a:xfrm>
          <a:prstGeom prst="roundRect">
            <a:avLst>
              <a:gd name="adj" fmla="val 24000"/>
            </a:avLst>
          </a:prstGeom>
          <a:solidFill>
            <a:schemeClr val="accent2">
              <a:alpha val="14000"/>
            </a:schemeClr>
          </a:solidFill>
          <a:ln/>
        </p:spPr>
      </p:sp>
      <p:pic>
        <p:nvPicPr>
          <p:cNvPr id="17" name="Makefile icon" descr="preencoded.png">    </p:cNvPr>
          <p:cNvPicPr>
            <a:picLocks noChangeAspect="1"/>
          </p:cNvPicPr>
          <p:nvPr/>
        </p:nvPicPr>
        <p:blipFill>
          <a:blip r:embed="rId3"/>
          <a:stretch>
            <a:fillRect/>
          </a:stretch>
        </p:blipFill>
        <p:spPr>
          <a:xfrm>
            <a:off x="8557870" y="1928470"/>
            <a:ext cx="486461" cy="486461"/>
          </a:xfrm>
          <a:prstGeom prst="rect">
            <a:avLst/>
          </a:prstGeom>
        </p:spPr>
      </p:pic>
      <p:sp>
        <p:nvSpPr>
          <p:cNvPr id="18" name="Text 13"/>
          <p:cNvSpPr txBox="1"/>
          <p:nvPr/>
        </p:nvSpPr>
        <p:spPr>
          <a:xfrm>
            <a:off x="8366760" y="2788920"/>
            <a:ext cx="2926080" cy="411480"/>
          </a:xfrm>
          <a:prstGeom prst="rect">
            <a:avLst/>
          </a:prstGeom>
          <a:noFill/>
          <a:ln/>
        </p:spPr>
        <p:txBody>
          <a:bodyPr wrap="square" lIns="0" tIns="0" rIns="0" bIns="0" rtlCol="0" anchor="t"/>
          <a:lstStyle/>
          <a:p>
            <a:pPr indent="0" marL="0">
              <a:buNone/>
            </a:pPr>
            <a:r>
              <a:rPr lang="en-US" sz="2000" b="1" dirty="0">
                <a:solidFill>
                  <a:schemeClr val="tx2"/>
                </a:solidFill>
              </a:rPr>
              <a:t>The build recipe</a:t>
            </a:r>
            <a:endParaRPr lang="en-US" sz="2000" dirty="0"/>
          </a:p>
        </p:txBody>
      </p:sp>
      <p:sp>
        <p:nvSpPr>
          <p:cNvPr id="19" name="Text 14"/>
          <p:cNvSpPr txBox="1"/>
          <p:nvPr/>
        </p:nvSpPr>
        <p:spPr>
          <a:xfrm>
            <a:off x="8366760" y="3200400"/>
            <a:ext cx="2926080" cy="365760"/>
          </a:xfrm>
          <a:prstGeom prst="rect">
            <a:avLst/>
          </a:prstGeom>
          <a:noFill/>
          <a:ln/>
        </p:spPr>
        <p:txBody>
          <a:bodyPr wrap="square" lIns="0" tIns="0" rIns="0" bIns="0" rtlCol="0" anchor="t"/>
          <a:lstStyle/>
          <a:p>
            <a:pPr indent="0" marL="0">
              <a:buNone/>
            </a:pPr>
            <a:r>
              <a:rPr lang="en-US" sz="1400" b="1" dirty="0">
                <a:solidFill>
                  <a:schemeClr val="accent1"/>
                </a:solidFill>
                <a:latin typeface="Courier New" pitchFamily="34" charset="0"/>
                <a:ea typeface="Courier New" pitchFamily="34" charset="-122"/>
                <a:cs typeface="Courier New" pitchFamily="34" charset="-120"/>
              </a:rPr>
              <a:t>Makefile</a:t>
            </a:r>
            <a:endParaRPr lang="en-US" sz="1400" dirty="0"/>
          </a:p>
        </p:txBody>
      </p:sp>
      <p:sp>
        <p:nvSpPr>
          <p:cNvPr id="20" name="Text 15"/>
          <p:cNvSpPr txBox="1"/>
          <p:nvPr/>
        </p:nvSpPr>
        <p:spPr>
          <a:xfrm>
            <a:off x="8366760" y="3611880"/>
            <a:ext cx="2926080" cy="1005840"/>
          </a:xfrm>
          <a:prstGeom prst="rect">
            <a:avLst/>
          </a:prstGeom>
          <a:noFill/>
          <a:ln/>
        </p:spPr>
        <p:txBody>
          <a:bodyPr wrap="square" lIns="0" tIns="0" rIns="0" bIns="0" rtlCol="0" anchor="t"/>
          <a:lstStyle/>
          <a:p>
            <a:pPr indent="0" marL="0">
              <a:buNone/>
            </a:pPr>
            <a:r>
              <a:rPr lang="en-US" sz="1400" dirty="0">
                <a:solidFill>
                  <a:schemeClr val="tx1"/>
                </a:solidFill>
              </a:rPr>
              <a:t>make compiles all .c files into one library; make test builds and runs the C tests</a:t>
            </a:r>
            <a:endParaRPr lang="en-US" sz="1400" dirty="0"/>
          </a:p>
        </p:txBody>
      </p:sp>
      <p:sp>
        <p:nvSpPr>
          <p:cNvPr id="21" name="terminal"/>
          <p:cNvSpPr/>
          <p:nvPr/>
        </p:nvSpPr>
        <p:spPr>
          <a:xfrm>
            <a:off x="548640" y="4937760"/>
            <a:ext cx="11064240" cy="1143000"/>
          </a:xfrm>
          <a:prstGeom prst="roundRect">
            <a:avLst>
              <a:gd name="adj" fmla="val 8000"/>
            </a:avLst>
          </a:prstGeom>
          <a:solidFill>
            <a:schemeClr val="tx2"/>
          </a:solidFill>
          <a:ln/>
        </p:spPr>
      </p:sp>
      <p:sp>
        <p:nvSpPr>
          <p:cNvPr id="22" name="Text 17"/>
          <p:cNvSpPr txBox="1"/>
          <p:nvPr/>
        </p:nvSpPr>
        <p:spPr>
          <a:xfrm>
            <a:off x="822960" y="5074920"/>
            <a:ext cx="10607040" cy="914400"/>
          </a:xfrm>
          <a:prstGeom prst="rect">
            <a:avLst/>
          </a:prstGeom>
          <a:noFill/>
          <a:ln/>
        </p:spPr>
        <p:txBody>
          <a:bodyPr wrap="square" lIns="0" tIns="0" rIns="0" bIns="0" rtlCol="0" anchor="t"/>
          <a:lstStyle/>
          <a:p>
            <a:pPr indent="0" marL="0">
              <a:spcAft>
                <a:spcPts val="200"/>
              </a:spcAft>
              <a:buNone/>
            </a:pPr>
            <a:r>
              <a:rPr lang="en-US" sz="1400" dirty="0">
                <a:solidFill>
                  <a:schemeClr val="bg1"/>
                </a:solidFill>
                <a:latin typeface="Courier New" pitchFamily="34" charset="0"/>
                <a:ea typeface="Courier New" pitchFamily="34" charset="-122"/>
                <a:cs typeface="Courier New" pitchFamily="34" charset="-120"/>
              </a:rPr>
              <a:t>$ cd backend &amp;&amp; make &amp;&amp; make test</a:t>
            </a:r>
            <a:endParaRPr lang="en-US" sz="1400" dirty="0"/>
          </a:p>
          <a:p>
            <a:pPr indent="0" marL="0">
              <a:spcAft>
                <a:spcPts val="200"/>
              </a:spcAft>
              <a:buNone/>
            </a:pPr>
            <a:r>
              <a:rPr lang="en-US" sz="1400" dirty="0">
                <a:solidFill>
                  <a:schemeClr val="bg2"/>
                </a:solidFill>
                <a:latin typeface="Courier New" pitchFamily="34" charset="0"/>
                <a:ea typeface="Courier New" pitchFamily="34" charset="-122"/>
                <a:cs typeface="Courier New" pitchFamily="34" charset="-120"/>
              </a:rPr>
              <a:t>gcc -std=c11 -O2 -Wall -Wextra -fPIC -shared -o libstockwise.so search.c ... inventory_engine.c</a:t>
            </a:r>
            <a:endParaRPr lang="en-US" sz="1400" dirty="0"/>
          </a:p>
          <a:p>
            <a:pPr indent="0" marL="0">
              <a:spcAft>
                <a:spcPts val="200"/>
              </a:spcAft>
              <a:buNone/>
            </a:pPr>
            <a:r>
              <a:rPr lang="en-US" sz="1400" b="1" dirty="0">
                <a:solidFill>
                  <a:schemeClr val="accent3"/>
                </a:solidFill>
                <a:latin typeface="Courier New" pitchFamily="34" charset="0"/>
                <a:ea typeface="Courier New" pitchFamily="34" charset="-122"/>
                <a:cs typeface="Courier New" pitchFamily="34" charset="-120"/>
              </a:rPr>
              <a:t>283/283 checks passed</a:t>
            </a:r>
            <a:endParaRPr lang="en-US" sz="14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77240"/>
          </a:xfrm>
          <a:prstGeom prst="rect">
            <a:avLst/>
          </a:prstGeom>
          <a:noFill/>
          <a:ln/>
        </p:spPr>
        <p:txBody>
          <a:bodyPr wrap="square" lIns="0" tIns="0" rIns="0" bIns="0" rtlCol="0" anchor="ctr"/>
          <a:lstStyle/>
          <a:p>
            <a:pPr algn="l" indent="0" marL="0">
              <a:buNone/>
            </a:pPr>
            <a:r>
              <a:rPr lang="en-US" sz="3600" b="1" dirty="0">
                <a:solidFill>
                  <a:schemeClr val="tx2"/>
                </a:solidFill>
              </a:rPr>
              <a:t>One search, from keypress to result</a:t>
            </a:r>
            <a:endParaRPr lang="en-US" sz="3600" dirty="0"/>
          </a:p>
        </p:txBody>
      </p:sp>
      <p:sp>
        <p:nvSpPr>
          <p:cNvPr id="3" name="step 1 badge"/>
          <p:cNvSpPr/>
          <p:nvPr/>
        </p:nvSpPr>
        <p:spPr>
          <a:xfrm>
            <a:off x="548640" y="1417320"/>
            <a:ext cx="566928" cy="566928"/>
          </a:xfrm>
          <a:prstGeom prst="ellipse">
            <a:avLst/>
          </a:prstGeom>
          <a:solidFill>
            <a:schemeClr val="accent1"/>
          </a:solidFill>
          <a:ln/>
        </p:spPr>
      </p:sp>
      <p:sp>
        <p:nvSpPr>
          <p:cNvPr id="4" name="Text 2"/>
          <p:cNvSpPr txBox="1"/>
          <p:nvPr/>
        </p:nvSpPr>
        <p:spPr>
          <a:xfrm>
            <a:off x="548640" y="1417320"/>
            <a:ext cx="566928" cy="566928"/>
          </a:xfrm>
          <a:prstGeom prst="rect">
            <a:avLst/>
          </a:prstGeom>
          <a:noFill/>
          <a:ln/>
        </p:spPr>
        <p:txBody>
          <a:bodyPr wrap="square" lIns="0" tIns="0" rIns="0" bIns="0" rtlCol="0" anchor="ctr"/>
          <a:lstStyle/>
          <a:p>
            <a:pPr algn="ctr" indent="0" marL="0">
              <a:buNone/>
            </a:pPr>
            <a:r>
              <a:rPr lang="en-US" sz="1800" b="1" dirty="0">
                <a:solidFill>
                  <a:schemeClr val="bg1"/>
                </a:solidFill>
              </a:rPr>
              <a:t>1</a:t>
            </a:r>
            <a:endParaRPr lang="en-US" sz="1800" dirty="0"/>
          </a:p>
        </p:txBody>
      </p:sp>
      <p:sp>
        <p:nvSpPr>
          <p:cNvPr id="5" name="Text 3"/>
          <p:cNvSpPr txBox="1"/>
          <p:nvPr/>
        </p:nvSpPr>
        <p:spPr>
          <a:xfrm>
            <a:off x="1325880" y="1399032"/>
            <a:ext cx="4206240" cy="320040"/>
          </a:xfrm>
          <a:prstGeom prst="rect">
            <a:avLst/>
          </a:prstGeom>
          <a:noFill/>
          <a:ln/>
        </p:spPr>
        <p:txBody>
          <a:bodyPr wrap="square" lIns="0" tIns="0" rIns="0" bIns="0" rtlCol="0" anchor="t"/>
          <a:lstStyle/>
          <a:p>
            <a:pPr indent="0" marL="0">
              <a:buNone/>
            </a:pPr>
            <a:r>
              <a:rPr lang="en-US" sz="1400" b="1" dirty="0">
                <a:solidFill>
                  <a:schemeClr val="accent1"/>
                </a:solidFill>
                <a:latin typeface="Courier New" pitchFamily="34" charset="0"/>
                <a:ea typeface="Courier New" pitchFamily="34" charset="-122"/>
                <a:cs typeface="Courier New" pitchFamily="34" charset="-120"/>
              </a:rPr>
              <a:t>app.py</a:t>
            </a:r>
            <a:endParaRPr lang="en-US" sz="1400" dirty="0"/>
          </a:p>
        </p:txBody>
      </p:sp>
      <p:sp>
        <p:nvSpPr>
          <p:cNvPr id="6" name="Text 4"/>
          <p:cNvSpPr txBox="1"/>
          <p:nvPr/>
        </p:nvSpPr>
        <p:spPr>
          <a:xfrm>
            <a:off x="1325880" y="1719072"/>
            <a:ext cx="4297680" cy="457200"/>
          </a:xfrm>
          <a:prstGeom prst="rect">
            <a:avLst/>
          </a:prstGeom>
          <a:noFill/>
          <a:ln/>
        </p:spPr>
        <p:txBody>
          <a:bodyPr wrap="square" lIns="0" tIns="0" rIns="0" bIns="0" rtlCol="0" anchor="t"/>
          <a:lstStyle/>
          <a:p>
            <a:pPr indent="0" marL="0">
              <a:buNone/>
            </a:pPr>
            <a:r>
              <a:rPr lang="en-US" sz="1400" dirty="0">
                <a:solidFill>
                  <a:schemeClr val="tx1"/>
                </a:solidFill>
              </a:rPr>
              <a:t>The user types "cab" in the search box</a:t>
            </a:r>
            <a:endParaRPr lang="en-US" sz="1400" dirty="0"/>
          </a:p>
        </p:txBody>
      </p:sp>
      <p:sp>
        <p:nvSpPr>
          <p:cNvPr id="7" name="step 2 badge"/>
          <p:cNvSpPr/>
          <p:nvPr/>
        </p:nvSpPr>
        <p:spPr>
          <a:xfrm>
            <a:off x="548640" y="2350008"/>
            <a:ext cx="566928" cy="566928"/>
          </a:xfrm>
          <a:prstGeom prst="ellipse">
            <a:avLst/>
          </a:prstGeom>
          <a:solidFill>
            <a:schemeClr val="accent1"/>
          </a:solidFill>
          <a:ln/>
        </p:spPr>
      </p:sp>
      <p:sp>
        <p:nvSpPr>
          <p:cNvPr id="8" name="Text 6"/>
          <p:cNvSpPr txBox="1"/>
          <p:nvPr/>
        </p:nvSpPr>
        <p:spPr>
          <a:xfrm>
            <a:off x="548640" y="2350008"/>
            <a:ext cx="566928" cy="566928"/>
          </a:xfrm>
          <a:prstGeom prst="rect">
            <a:avLst/>
          </a:prstGeom>
          <a:noFill/>
          <a:ln/>
        </p:spPr>
        <p:txBody>
          <a:bodyPr wrap="square" lIns="0" tIns="0" rIns="0" bIns="0" rtlCol="0" anchor="ctr"/>
          <a:lstStyle/>
          <a:p>
            <a:pPr algn="ctr" indent="0" marL="0">
              <a:buNone/>
            </a:pPr>
            <a:r>
              <a:rPr lang="en-US" sz="1800" b="1" dirty="0">
                <a:solidFill>
                  <a:schemeClr val="bg1"/>
                </a:solidFill>
              </a:rPr>
              <a:t>2</a:t>
            </a:r>
            <a:endParaRPr lang="en-US" sz="1800" dirty="0"/>
          </a:p>
        </p:txBody>
      </p:sp>
      <p:sp>
        <p:nvSpPr>
          <p:cNvPr id="9" name="Text 7"/>
          <p:cNvSpPr txBox="1"/>
          <p:nvPr/>
        </p:nvSpPr>
        <p:spPr>
          <a:xfrm>
            <a:off x="1325880" y="2331720"/>
            <a:ext cx="4206240" cy="320040"/>
          </a:xfrm>
          <a:prstGeom prst="rect">
            <a:avLst/>
          </a:prstGeom>
          <a:noFill/>
          <a:ln/>
        </p:spPr>
        <p:txBody>
          <a:bodyPr wrap="square" lIns="0" tIns="0" rIns="0" bIns="0" rtlCol="0" anchor="t"/>
          <a:lstStyle/>
          <a:p>
            <a:pPr indent="0" marL="0">
              <a:buNone/>
            </a:pPr>
            <a:r>
              <a:rPr lang="en-US" sz="1400" b="1" dirty="0">
                <a:solidFill>
                  <a:schemeClr val="accent1"/>
                </a:solidFill>
                <a:latin typeface="Courier New" pitchFamily="34" charset="0"/>
                <a:ea typeface="Courier New" pitchFamily="34" charset="-122"/>
                <a:cs typeface="Courier New" pitchFamily="34" charset="-120"/>
              </a:rPr>
              <a:t>c_bridge.py</a:t>
            </a:r>
            <a:endParaRPr lang="en-US" sz="1400" dirty="0"/>
          </a:p>
        </p:txBody>
      </p:sp>
      <p:sp>
        <p:nvSpPr>
          <p:cNvPr id="10" name="Text 8"/>
          <p:cNvSpPr txBox="1"/>
          <p:nvPr/>
        </p:nvSpPr>
        <p:spPr>
          <a:xfrm>
            <a:off x="1325880" y="2651760"/>
            <a:ext cx="4297680" cy="457200"/>
          </a:xfrm>
          <a:prstGeom prst="rect">
            <a:avLst/>
          </a:prstGeom>
          <a:noFill/>
          <a:ln/>
        </p:spPr>
        <p:txBody>
          <a:bodyPr wrap="square" lIns="0" tIns="0" rIns="0" bIns="0" rtlCol="0" anchor="t"/>
          <a:lstStyle/>
          <a:p>
            <a:pPr indent="0" marL="0">
              <a:buNone/>
            </a:pPr>
            <a:r>
              <a:rPr lang="en-US" sz="1400" dirty="0">
                <a:solidFill>
                  <a:schemeClr val="tx1"/>
                </a:solidFill>
              </a:rPr>
              <a:t>prefix_search("cab") checks the text and calls C</a:t>
            </a:r>
            <a:endParaRPr lang="en-US" sz="1400" dirty="0"/>
          </a:p>
        </p:txBody>
      </p:sp>
      <p:sp>
        <p:nvSpPr>
          <p:cNvPr id="11" name="step 3 badge"/>
          <p:cNvSpPr/>
          <p:nvPr/>
        </p:nvSpPr>
        <p:spPr>
          <a:xfrm>
            <a:off x="548640" y="3282696"/>
            <a:ext cx="566928" cy="566928"/>
          </a:xfrm>
          <a:prstGeom prst="ellipse">
            <a:avLst/>
          </a:prstGeom>
          <a:solidFill>
            <a:schemeClr val="accent1"/>
          </a:solidFill>
          <a:ln/>
        </p:spPr>
      </p:sp>
      <p:sp>
        <p:nvSpPr>
          <p:cNvPr id="12" name="Text 10"/>
          <p:cNvSpPr txBox="1"/>
          <p:nvPr/>
        </p:nvSpPr>
        <p:spPr>
          <a:xfrm>
            <a:off x="548640" y="3282696"/>
            <a:ext cx="566928" cy="566928"/>
          </a:xfrm>
          <a:prstGeom prst="rect">
            <a:avLst/>
          </a:prstGeom>
          <a:noFill/>
          <a:ln/>
        </p:spPr>
        <p:txBody>
          <a:bodyPr wrap="square" lIns="0" tIns="0" rIns="0" bIns="0" rtlCol="0" anchor="ctr"/>
          <a:lstStyle/>
          <a:p>
            <a:pPr algn="ctr" indent="0" marL="0">
              <a:buNone/>
            </a:pPr>
            <a:r>
              <a:rPr lang="en-US" sz="1800" b="1" dirty="0">
                <a:solidFill>
                  <a:schemeClr val="bg1"/>
                </a:solidFill>
              </a:rPr>
              <a:t>3</a:t>
            </a:r>
            <a:endParaRPr lang="en-US" sz="1800" dirty="0"/>
          </a:p>
        </p:txBody>
      </p:sp>
      <p:sp>
        <p:nvSpPr>
          <p:cNvPr id="13" name="Text 11"/>
          <p:cNvSpPr txBox="1"/>
          <p:nvPr/>
        </p:nvSpPr>
        <p:spPr>
          <a:xfrm>
            <a:off x="1325880" y="3264408"/>
            <a:ext cx="4206240" cy="320040"/>
          </a:xfrm>
          <a:prstGeom prst="rect">
            <a:avLst/>
          </a:prstGeom>
          <a:noFill/>
          <a:ln/>
        </p:spPr>
        <p:txBody>
          <a:bodyPr wrap="square" lIns="0" tIns="0" rIns="0" bIns="0" rtlCol="0" anchor="t"/>
          <a:lstStyle/>
          <a:p>
            <a:pPr indent="0" marL="0">
              <a:buNone/>
            </a:pPr>
            <a:r>
              <a:rPr lang="en-US" sz="1400" b="1" dirty="0">
                <a:solidFill>
                  <a:schemeClr val="accent1"/>
                </a:solidFill>
                <a:latin typeface="Courier New" pitchFamily="34" charset="0"/>
                <a:ea typeface="Courier New" pitchFamily="34" charset="-122"/>
                <a:cs typeface="Courier New" pitchFamily="34" charset="-120"/>
              </a:rPr>
              <a:t>inventory_engine.c</a:t>
            </a:r>
            <a:endParaRPr lang="en-US" sz="1400" dirty="0"/>
          </a:p>
        </p:txBody>
      </p:sp>
      <p:sp>
        <p:nvSpPr>
          <p:cNvPr id="14" name="Text 12"/>
          <p:cNvSpPr txBox="1"/>
          <p:nvPr/>
        </p:nvSpPr>
        <p:spPr>
          <a:xfrm>
            <a:off x="1325880" y="3584448"/>
            <a:ext cx="4297680" cy="457200"/>
          </a:xfrm>
          <a:prstGeom prst="rect">
            <a:avLst/>
          </a:prstGeom>
          <a:noFill/>
          <a:ln/>
        </p:spPr>
        <p:txBody>
          <a:bodyPr wrap="square" lIns="0" tIns="0" rIns="0" bIns="0" rtlCol="0" anchor="t"/>
          <a:lstStyle/>
          <a:p>
            <a:pPr indent="0" marL="0">
              <a:buNone/>
            </a:pPr>
            <a:r>
              <a:rPr lang="en-US" sz="1400" dirty="0">
                <a:solidFill>
                  <a:schemeClr val="tx1"/>
                </a:solidFill>
              </a:rPr>
              <a:t>sw_prefix_search() passes it to the trie</a:t>
            </a:r>
            <a:endParaRPr lang="en-US" sz="1400" dirty="0"/>
          </a:p>
        </p:txBody>
      </p:sp>
      <p:sp>
        <p:nvSpPr>
          <p:cNvPr id="15" name="step 4 badge"/>
          <p:cNvSpPr/>
          <p:nvPr/>
        </p:nvSpPr>
        <p:spPr>
          <a:xfrm>
            <a:off x="548640" y="4215384"/>
            <a:ext cx="566928" cy="566928"/>
          </a:xfrm>
          <a:prstGeom prst="ellipse">
            <a:avLst/>
          </a:prstGeom>
          <a:solidFill>
            <a:schemeClr val="accent1"/>
          </a:solidFill>
          <a:ln/>
        </p:spPr>
      </p:sp>
      <p:sp>
        <p:nvSpPr>
          <p:cNvPr id="16" name="Text 14"/>
          <p:cNvSpPr txBox="1"/>
          <p:nvPr/>
        </p:nvSpPr>
        <p:spPr>
          <a:xfrm>
            <a:off x="548640" y="4215384"/>
            <a:ext cx="566928" cy="566928"/>
          </a:xfrm>
          <a:prstGeom prst="rect">
            <a:avLst/>
          </a:prstGeom>
          <a:noFill/>
          <a:ln/>
        </p:spPr>
        <p:txBody>
          <a:bodyPr wrap="square" lIns="0" tIns="0" rIns="0" bIns="0" rtlCol="0" anchor="ctr"/>
          <a:lstStyle/>
          <a:p>
            <a:pPr algn="ctr" indent="0" marL="0">
              <a:buNone/>
            </a:pPr>
            <a:r>
              <a:rPr lang="en-US" sz="1800" b="1" dirty="0">
                <a:solidFill>
                  <a:schemeClr val="bg1"/>
                </a:solidFill>
              </a:rPr>
              <a:t>4</a:t>
            </a:r>
            <a:endParaRPr lang="en-US" sz="1800" dirty="0"/>
          </a:p>
        </p:txBody>
      </p:sp>
      <p:sp>
        <p:nvSpPr>
          <p:cNvPr id="17" name="Text 15"/>
          <p:cNvSpPr txBox="1"/>
          <p:nvPr/>
        </p:nvSpPr>
        <p:spPr>
          <a:xfrm>
            <a:off x="1325880" y="4197096"/>
            <a:ext cx="4206240" cy="320040"/>
          </a:xfrm>
          <a:prstGeom prst="rect">
            <a:avLst/>
          </a:prstGeom>
          <a:noFill/>
          <a:ln/>
        </p:spPr>
        <p:txBody>
          <a:bodyPr wrap="square" lIns="0" tIns="0" rIns="0" bIns="0" rtlCol="0" anchor="t"/>
          <a:lstStyle/>
          <a:p>
            <a:pPr indent="0" marL="0">
              <a:buNone/>
            </a:pPr>
            <a:r>
              <a:rPr lang="en-US" sz="1400" b="1" dirty="0">
                <a:solidFill>
                  <a:schemeClr val="accent1"/>
                </a:solidFill>
                <a:latin typeface="Courier New" pitchFamily="34" charset="0"/>
                <a:ea typeface="Courier New" pitchFamily="34" charset="-122"/>
                <a:cs typeface="Courier New" pitchFamily="34" charset="-120"/>
              </a:rPr>
              <a:t>trie.c</a:t>
            </a:r>
            <a:endParaRPr lang="en-US" sz="1400" dirty="0"/>
          </a:p>
        </p:txBody>
      </p:sp>
      <p:sp>
        <p:nvSpPr>
          <p:cNvPr id="18" name="Text 16"/>
          <p:cNvSpPr txBox="1"/>
          <p:nvPr/>
        </p:nvSpPr>
        <p:spPr>
          <a:xfrm>
            <a:off x="1325880" y="4517136"/>
            <a:ext cx="4297680" cy="457200"/>
          </a:xfrm>
          <a:prstGeom prst="rect">
            <a:avLst/>
          </a:prstGeom>
          <a:noFill/>
          <a:ln/>
        </p:spPr>
        <p:txBody>
          <a:bodyPr wrap="square" lIns="0" tIns="0" rIns="0" bIns="0" rtlCol="0" anchor="t"/>
          <a:lstStyle/>
          <a:p>
            <a:pPr indent="0" marL="0">
              <a:buNone/>
            </a:pPr>
            <a:r>
              <a:rPr lang="en-US" sz="1400" dirty="0">
                <a:solidFill>
                  <a:schemeClr val="tx1"/>
                </a:solidFill>
              </a:rPr>
              <a:t>Walks c &gt; a &gt; b, then collects every name below</a:t>
            </a:r>
            <a:endParaRPr lang="en-US" sz="1400" dirty="0"/>
          </a:p>
        </p:txBody>
      </p:sp>
      <p:sp>
        <p:nvSpPr>
          <p:cNvPr id="19" name="step 5 badge"/>
          <p:cNvSpPr/>
          <p:nvPr/>
        </p:nvSpPr>
        <p:spPr>
          <a:xfrm>
            <a:off x="548640" y="5148072"/>
            <a:ext cx="566928" cy="566928"/>
          </a:xfrm>
          <a:prstGeom prst="ellipse">
            <a:avLst/>
          </a:prstGeom>
          <a:solidFill>
            <a:schemeClr val="accent1"/>
          </a:solidFill>
          <a:ln/>
        </p:spPr>
      </p:sp>
      <p:sp>
        <p:nvSpPr>
          <p:cNvPr id="20" name="Text 18"/>
          <p:cNvSpPr txBox="1"/>
          <p:nvPr/>
        </p:nvSpPr>
        <p:spPr>
          <a:xfrm>
            <a:off x="548640" y="5148072"/>
            <a:ext cx="566928" cy="566928"/>
          </a:xfrm>
          <a:prstGeom prst="rect">
            <a:avLst/>
          </a:prstGeom>
          <a:noFill/>
          <a:ln/>
        </p:spPr>
        <p:txBody>
          <a:bodyPr wrap="square" lIns="0" tIns="0" rIns="0" bIns="0" rtlCol="0" anchor="ctr"/>
          <a:lstStyle/>
          <a:p>
            <a:pPr algn="ctr" indent="0" marL="0">
              <a:buNone/>
            </a:pPr>
            <a:r>
              <a:rPr lang="en-US" sz="1800" b="1" dirty="0">
                <a:solidFill>
                  <a:schemeClr val="bg1"/>
                </a:solidFill>
              </a:rPr>
              <a:t>5</a:t>
            </a:r>
            <a:endParaRPr lang="en-US" sz="1800" dirty="0"/>
          </a:p>
        </p:txBody>
      </p:sp>
      <p:sp>
        <p:nvSpPr>
          <p:cNvPr id="21" name="Text 19"/>
          <p:cNvSpPr txBox="1"/>
          <p:nvPr/>
        </p:nvSpPr>
        <p:spPr>
          <a:xfrm>
            <a:off x="1325880" y="5129784"/>
            <a:ext cx="4206240" cy="320040"/>
          </a:xfrm>
          <a:prstGeom prst="rect">
            <a:avLst/>
          </a:prstGeom>
          <a:noFill/>
          <a:ln/>
        </p:spPr>
        <p:txBody>
          <a:bodyPr wrap="square" lIns="0" tIns="0" rIns="0" bIns="0" rtlCol="0" anchor="t"/>
          <a:lstStyle/>
          <a:p>
            <a:pPr indent="0" marL="0">
              <a:buNone/>
            </a:pPr>
            <a:r>
              <a:rPr lang="en-US" sz="1400" b="1" dirty="0">
                <a:solidFill>
                  <a:schemeClr val="accent1"/>
                </a:solidFill>
                <a:latin typeface="Courier New" pitchFamily="34" charset="0"/>
                <a:ea typeface="Courier New" pitchFamily="34" charset="-122"/>
                <a:cs typeface="Courier New" pitchFamily="34" charset="-120"/>
              </a:rPr>
              <a:t>app.py</a:t>
            </a:r>
            <a:endParaRPr lang="en-US" sz="1400" dirty="0"/>
          </a:p>
        </p:txBody>
      </p:sp>
      <p:sp>
        <p:nvSpPr>
          <p:cNvPr id="22" name="Text 20"/>
          <p:cNvSpPr txBox="1"/>
          <p:nvPr/>
        </p:nvSpPr>
        <p:spPr>
          <a:xfrm>
            <a:off x="1325880" y="5449824"/>
            <a:ext cx="4297680" cy="457200"/>
          </a:xfrm>
          <a:prstGeom prst="rect">
            <a:avLst/>
          </a:prstGeom>
          <a:noFill/>
          <a:ln/>
        </p:spPr>
        <p:txBody>
          <a:bodyPr wrap="square" lIns="0" tIns="0" rIns="0" bIns="0" rtlCol="0" anchor="t"/>
          <a:lstStyle/>
          <a:p>
            <a:pPr indent="0" marL="0">
              <a:buNone/>
            </a:pPr>
            <a:r>
              <a:rPr lang="en-US" sz="1400" dirty="0">
                <a:solidFill>
                  <a:schemeClr val="tx1"/>
                </a:solidFill>
              </a:rPr>
              <a:t>Shows the matching cards and "nodes visited"</a:t>
            </a:r>
            <a:endParaRPr lang="en-US" sz="1400" dirty="0"/>
          </a:p>
        </p:txBody>
      </p:sp>
      <p:sp>
        <p:nvSpPr>
          <p:cNvPr id="23" name="products screenshot frame"/>
          <p:cNvSpPr/>
          <p:nvPr/>
        </p:nvSpPr>
        <p:spPr>
          <a:xfrm>
            <a:off x="5934456" y="1408176"/>
            <a:ext cx="5687568" cy="4348501"/>
          </a:xfrm>
          <a:prstGeom prst="roundRect">
            <a:avLst>
              <a:gd name="adj" fmla="val 1682"/>
            </a:avLst>
          </a:prstGeom>
          <a:solidFill>
            <a:schemeClr val="bg1"/>
          </a:solidFill>
          <a:ln w="12700">
            <a:solidFill>
              <a:schemeClr val="bg2"/>
            </a:solidFill>
            <a:prstDash val="solid"/>
          </a:ln>
          <a:effectLst>
            <a:outerShdw sx="100000" sy="100000" kx="0" ky="0" algn="bl" rotWithShape="0" blurRad="101600" dist="25400" dir="5400000">
              <a:srgbClr val="14171F">
                <a:alpha val="18000"/>
              </a:srgbClr>
            </a:outerShdw>
          </a:effectLst>
        </p:spPr>
      </p:sp>
      <p:pic>
        <p:nvPicPr>
          <p:cNvPr id="24" name="products screenshot" descr="/tmp/claude-0/-home-user-StockWise-Dsa/ffa8d720-88b5-5029-baa4-50a8a76d3601/scratchpad/deck/img/products.png">    </p:cNvPr>
          <p:cNvPicPr>
            <a:picLocks noChangeAspect="1"/>
          </p:cNvPicPr>
          <p:nvPr/>
        </p:nvPicPr>
        <p:blipFill>
          <a:blip r:embed="rId1"/>
          <a:stretch>
            <a:fillRect/>
          </a:stretch>
        </p:blipFill>
        <p:spPr>
          <a:xfrm>
            <a:off x="5989320" y="1463040"/>
            <a:ext cx="5577840" cy="4238773"/>
          </a:xfrm>
          <a:prstGeom prst="rect">
            <a:avLst/>
          </a:prstGeom>
        </p:spPr>
      </p:pic>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77240"/>
          </a:xfrm>
          <a:prstGeom prst="rect">
            <a:avLst/>
          </a:prstGeom>
          <a:noFill/>
          <a:ln/>
        </p:spPr>
        <p:txBody>
          <a:bodyPr wrap="square" lIns="0" tIns="0" rIns="0" bIns="0" rtlCol="0" anchor="ctr"/>
          <a:lstStyle/>
          <a:p>
            <a:pPr algn="l" indent="0" marL="0">
              <a:buNone/>
            </a:pPr>
            <a:r>
              <a:rPr lang="en-US" sz="3600" b="1" dirty="0">
                <a:solidFill>
                  <a:schemeClr val="tx2"/>
                </a:solidFill>
              </a:rPr>
              <a:t>What the DSA concepts look like in the app</a:t>
            </a:r>
            <a:endParaRPr lang="en-US" sz="3600" dirty="0"/>
          </a:p>
        </p:txBody>
      </p:sp>
      <p:sp>
        <p:nvSpPr>
          <p:cNvPr id="3" name="Trie + AVL tree frame"/>
          <p:cNvSpPr/>
          <p:nvPr/>
        </p:nvSpPr>
        <p:spPr>
          <a:xfrm>
            <a:off x="548640" y="1408176"/>
            <a:ext cx="3538728" cy="3310128"/>
          </a:xfrm>
          <a:prstGeom prst="roundRect">
            <a:avLst>
              <a:gd name="adj" fmla="val 2210"/>
            </a:avLst>
          </a:prstGeom>
          <a:solidFill>
            <a:schemeClr val="bg1"/>
          </a:solidFill>
          <a:ln w="12700">
            <a:solidFill>
              <a:schemeClr val="bg2"/>
            </a:solidFill>
            <a:prstDash val="solid"/>
          </a:ln>
          <a:effectLst>
            <a:outerShdw sx="100000" sy="100000" kx="0" ky="0" algn="bl" rotWithShape="0" blurRad="101600" dist="25400" dir="5400000">
              <a:srgbClr val="14171F">
                <a:alpha val="18000"/>
              </a:srgbClr>
            </a:outerShdw>
          </a:effectLst>
        </p:spPr>
      </p:sp>
      <p:pic>
        <p:nvPicPr>
          <p:cNvPr id="4" name="Trie + AVL tree" descr="/tmp/claude-0/-home-user-StockWise-Dsa/ffa8d720-88b5-5029-baa4-50a8a76d3601/scratchpad/deck/img/sq_products.png">    </p:cNvPr>
          <p:cNvPicPr>
            <a:picLocks noChangeAspect="1"/>
          </p:cNvPicPr>
          <p:nvPr/>
        </p:nvPicPr>
        <p:blipFill>
          <a:blip r:embed="rId1"/>
          <a:stretch>
            <a:fillRect/>
          </a:stretch>
        </p:blipFill>
        <p:spPr>
          <a:xfrm>
            <a:off x="603504" y="1463040"/>
            <a:ext cx="3429000" cy="3200400"/>
          </a:xfrm>
          <a:prstGeom prst="rect">
            <a:avLst/>
          </a:prstGeom>
        </p:spPr>
      </p:pic>
      <p:sp>
        <p:nvSpPr>
          <p:cNvPr id="5" name="Text 2"/>
          <p:cNvSpPr txBox="1"/>
          <p:nvPr/>
        </p:nvSpPr>
        <p:spPr>
          <a:xfrm>
            <a:off x="548640" y="4892040"/>
            <a:ext cx="3520440" cy="384048"/>
          </a:xfrm>
          <a:prstGeom prst="rect">
            <a:avLst/>
          </a:prstGeom>
          <a:noFill/>
          <a:ln/>
        </p:spPr>
        <p:txBody>
          <a:bodyPr wrap="square" lIns="0" tIns="0" rIns="0" bIns="0" rtlCol="0" anchor="t"/>
          <a:lstStyle/>
          <a:p>
            <a:pPr indent="0" marL="0">
              <a:buNone/>
            </a:pPr>
            <a:r>
              <a:rPr lang="en-US" sz="1800" b="1" dirty="0">
                <a:solidFill>
                  <a:schemeClr val="tx2"/>
                </a:solidFill>
              </a:rPr>
              <a:t>Trie + AVL tree</a:t>
            </a:r>
            <a:endParaRPr lang="en-US" sz="1800" dirty="0"/>
          </a:p>
        </p:txBody>
      </p:sp>
      <p:sp>
        <p:nvSpPr>
          <p:cNvPr id="6" name="Text 3"/>
          <p:cNvSpPr txBox="1"/>
          <p:nvPr/>
        </p:nvSpPr>
        <p:spPr>
          <a:xfrm>
            <a:off x="548640" y="5303520"/>
            <a:ext cx="3520440" cy="685800"/>
          </a:xfrm>
          <a:prstGeom prst="rect">
            <a:avLst/>
          </a:prstGeom>
          <a:noFill/>
          <a:ln/>
        </p:spPr>
        <p:txBody>
          <a:bodyPr wrap="square" lIns="0" tIns="0" rIns="0" bIns="0" rtlCol="0" anchor="t"/>
          <a:lstStyle/>
          <a:p>
            <a:pPr indent="0" marL="0">
              <a:buNone/>
            </a:pPr>
            <a:r>
              <a:rPr lang="en-US" sz="1400" dirty="0">
                <a:solidFill>
                  <a:schemeClr val="tx1"/>
                </a:solidFill>
              </a:rPr>
              <a:t>Autocomplete and price filter</a:t>
            </a:r>
            <a:endParaRPr lang="en-US" sz="1400" dirty="0"/>
          </a:p>
          <a:p>
            <a:pPr indent="0" marL="0">
              <a:buNone/>
            </a:pPr>
            <a:r>
              <a:rPr lang="en-US" sz="1300" b="1" dirty="0">
                <a:solidFill>
                  <a:schemeClr val="accent1"/>
                </a:solidFill>
                <a:latin typeface="Courier New" pitchFamily="34" charset="0"/>
                <a:ea typeface="Courier New" pitchFamily="34" charset="-122"/>
                <a:cs typeface="Courier New" pitchFamily="34" charset="-120"/>
              </a:rPr>
              <a:t>trie.c, avl_tree.c</a:t>
            </a:r>
            <a:endParaRPr lang="en-US" sz="1400" dirty="0"/>
          </a:p>
        </p:txBody>
      </p:sp>
      <p:sp>
        <p:nvSpPr>
          <p:cNvPr id="7" name="Graph + Dijkstra frame"/>
          <p:cNvSpPr/>
          <p:nvPr/>
        </p:nvSpPr>
        <p:spPr>
          <a:xfrm>
            <a:off x="4297680" y="1408176"/>
            <a:ext cx="3538728" cy="3310128"/>
          </a:xfrm>
          <a:prstGeom prst="roundRect">
            <a:avLst>
              <a:gd name="adj" fmla="val 2210"/>
            </a:avLst>
          </a:prstGeom>
          <a:solidFill>
            <a:schemeClr val="bg1"/>
          </a:solidFill>
          <a:ln w="12700">
            <a:solidFill>
              <a:schemeClr val="bg2"/>
            </a:solidFill>
            <a:prstDash val="solid"/>
          </a:ln>
          <a:effectLst>
            <a:outerShdw sx="100000" sy="100000" kx="0" ky="0" algn="bl" rotWithShape="0" blurRad="101600" dist="25400" dir="5400000">
              <a:srgbClr val="14171F">
                <a:alpha val="18000"/>
              </a:srgbClr>
            </a:outerShdw>
          </a:effectLst>
        </p:spPr>
      </p:sp>
      <p:pic>
        <p:nvPicPr>
          <p:cNvPr id="8" name="Graph + Dijkstra" descr="/tmp/claude-0/-home-user-StockWise-Dsa/ffa8d720-88b5-5029-baa4-50a8a76d3601/scratchpad/deck/img/sq_routes.png">    </p:cNvPr>
          <p:cNvPicPr>
            <a:picLocks noChangeAspect="1"/>
          </p:cNvPicPr>
          <p:nvPr/>
        </p:nvPicPr>
        <p:blipFill>
          <a:blip r:embed="rId2"/>
          <a:stretch>
            <a:fillRect/>
          </a:stretch>
        </p:blipFill>
        <p:spPr>
          <a:xfrm>
            <a:off x="4352544" y="1463040"/>
            <a:ext cx="3429000" cy="3200400"/>
          </a:xfrm>
          <a:prstGeom prst="rect">
            <a:avLst/>
          </a:prstGeom>
        </p:spPr>
      </p:pic>
      <p:sp>
        <p:nvSpPr>
          <p:cNvPr id="9" name="Text 5"/>
          <p:cNvSpPr txBox="1"/>
          <p:nvPr/>
        </p:nvSpPr>
        <p:spPr>
          <a:xfrm>
            <a:off x="4297680" y="4892040"/>
            <a:ext cx="3520440" cy="384048"/>
          </a:xfrm>
          <a:prstGeom prst="rect">
            <a:avLst/>
          </a:prstGeom>
          <a:noFill/>
          <a:ln/>
        </p:spPr>
        <p:txBody>
          <a:bodyPr wrap="square" lIns="0" tIns="0" rIns="0" bIns="0" rtlCol="0" anchor="t"/>
          <a:lstStyle/>
          <a:p>
            <a:pPr indent="0" marL="0">
              <a:buNone/>
            </a:pPr>
            <a:r>
              <a:rPr lang="en-US" sz="1800" b="1" dirty="0">
                <a:solidFill>
                  <a:schemeClr val="tx2"/>
                </a:solidFill>
              </a:rPr>
              <a:t>Graph + Dijkstra</a:t>
            </a:r>
            <a:endParaRPr lang="en-US" sz="1800" dirty="0"/>
          </a:p>
        </p:txBody>
      </p:sp>
      <p:sp>
        <p:nvSpPr>
          <p:cNvPr id="10" name="Text 6"/>
          <p:cNvSpPr txBox="1"/>
          <p:nvPr/>
        </p:nvSpPr>
        <p:spPr>
          <a:xfrm>
            <a:off x="4297680" y="5303520"/>
            <a:ext cx="3520440" cy="685800"/>
          </a:xfrm>
          <a:prstGeom prst="rect">
            <a:avLst/>
          </a:prstGeom>
          <a:noFill/>
          <a:ln/>
        </p:spPr>
        <p:txBody>
          <a:bodyPr wrap="square" lIns="0" tIns="0" rIns="0" bIns="0" rtlCol="0" anchor="t"/>
          <a:lstStyle/>
          <a:p>
            <a:pPr indent="0" marL="0">
              <a:buNone/>
            </a:pPr>
            <a:r>
              <a:rPr lang="en-US" sz="1400" dirty="0">
                <a:solidFill>
                  <a:schemeClr val="tx1"/>
                </a:solidFill>
              </a:rPr>
              <a:t>Shortest delivery route</a:t>
            </a:r>
            <a:endParaRPr lang="en-US" sz="1400" dirty="0"/>
          </a:p>
          <a:p>
            <a:pPr indent="0" marL="0">
              <a:buNone/>
            </a:pPr>
            <a:r>
              <a:rPr lang="en-US" sz="1300" b="1" dirty="0">
                <a:solidFill>
                  <a:schemeClr val="accent1"/>
                </a:solidFill>
                <a:latin typeface="Courier New" pitchFamily="34" charset="0"/>
                <a:ea typeface="Courier New" pitchFamily="34" charset="-122"/>
                <a:cs typeface="Courier New" pitchFamily="34" charset="-120"/>
              </a:rPr>
              <a:t>graph.c</a:t>
            </a:r>
            <a:endParaRPr lang="en-US" sz="1400" dirty="0"/>
          </a:p>
        </p:txBody>
      </p:sp>
      <p:sp>
        <p:nvSpPr>
          <p:cNvPr id="11" name="Dynamic programming frame"/>
          <p:cNvSpPr/>
          <p:nvPr/>
        </p:nvSpPr>
        <p:spPr>
          <a:xfrm>
            <a:off x="8046720" y="1408176"/>
            <a:ext cx="3538728" cy="2814828"/>
          </a:xfrm>
          <a:prstGeom prst="roundRect">
            <a:avLst>
              <a:gd name="adj" fmla="val 2599"/>
            </a:avLst>
          </a:prstGeom>
          <a:solidFill>
            <a:schemeClr val="bg1"/>
          </a:solidFill>
          <a:ln w="12700">
            <a:solidFill>
              <a:schemeClr val="bg2"/>
            </a:solidFill>
            <a:prstDash val="solid"/>
          </a:ln>
          <a:effectLst>
            <a:outerShdw sx="100000" sy="100000" kx="0" ky="0" algn="bl" rotWithShape="0" blurRad="101600" dist="25400" dir="5400000">
              <a:srgbClr val="14171F">
                <a:alpha val="18000"/>
              </a:srgbClr>
            </a:outerShdw>
          </a:effectLst>
        </p:spPr>
      </p:sp>
      <p:pic>
        <p:nvPicPr>
          <p:cNvPr id="12" name="Dynamic programming" descr="/tmp/claude-0/-home-user-StockWise-Dsa/ffa8d720-88b5-5029-baa4-50a8a76d3601/scratchpad/deck/img/sq_knapsack.png">    </p:cNvPr>
          <p:cNvPicPr>
            <a:picLocks noChangeAspect="1"/>
          </p:cNvPicPr>
          <p:nvPr/>
        </p:nvPicPr>
        <p:blipFill>
          <a:blip r:embed="rId3"/>
          <a:stretch>
            <a:fillRect/>
          </a:stretch>
        </p:blipFill>
        <p:spPr>
          <a:xfrm>
            <a:off x="8101584" y="1463040"/>
            <a:ext cx="3429000" cy="2705100"/>
          </a:xfrm>
          <a:prstGeom prst="rect">
            <a:avLst/>
          </a:prstGeom>
        </p:spPr>
      </p:pic>
      <p:sp>
        <p:nvSpPr>
          <p:cNvPr id="13" name="Text 8"/>
          <p:cNvSpPr txBox="1"/>
          <p:nvPr/>
        </p:nvSpPr>
        <p:spPr>
          <a:xfrm>
            <a:off x="8046720" y="4892040"/>
            <a:ext cx="3520440" cy="384048"/>
          </a:xfrm>
          <a:prstGeom prst="rect">
            <a:avLst/>
          </a:prstGeom>
          <a:noFill/>
          <a:ln/>
        </p:spPr>
        <p:txBody>
          <a:bodyPr wrap="square" lIns="0" tIns="0" rIns="0" bIns="0" rtlCol="0" anchor="t"/>
          <a:lstStyle/>
          <a:p>
            <a:pPr indent="0" marL="0">
              <a:buNone/>
            </a:pPr>
            <a:r>
              <a:rPr lang="en-US" sz="1800" b="1" dirty="0">
                <a:solidFill>
                  <a:schemeClr val="tx2"/>
                </a:solidFill>
              </a:rPr>
              <a:t>Dynamic programming</a:t>
            </a:r>
            <a:endParaRPr lang="en-US" sz="1800" dirty="0"/>
          </a:p>
        </p:txBody>
      </p:sp>
      <p:sp>
        <p:nvSpPr>
          <p:cNvPr id="14" name="Text 9"/>
          <p:cNvSpPr txBox="1"/>
          <p:nvPr/>
        </p:nvSpPr>
        <p:spPr>
          <a:xfrm>
            <a:off x="8046720" y="5303520"/>
            <a:ext cx="3520440" cy="685800"/>
          </a:xfrm>
          <a:prstGeom prst="rect">
            <a:avLst/>
          </a:prstGeom>
          <a:noFill/>
          <a:ln/>
        </p:spPr>
        <p:txBody>
          <a:bodyPr wrap="square" lIns="0" tIns="0" rIns="0" bIns="0" rtlCol="0" anchor="t"/>
          <a:lstStyle/>
          <a:p>
            <a:pPr indent="0" marL="0">
              <a:buNone/>
            </a:pPr>
            <a:r>
              <a:rPr lang="en-US" sz="1400" dirty="0">
                <a:solidFill>
                  <a:schemeClr val="tx1"/>
                </a:solidFill>
              </a:rPr>
              <a:t>Budget plan beats greedy</a:t>
            </a:r>
            <a:endParaRPr lang="en-US" sz="1400" dirty="0"/>
          </a:p>
          <a:p>
            <a:pPr indent="0" marL="0">
              <a:buNone/>
            </a:pPr>
            <a:r>
              <a:rPr lang="en-US" sz="1300" b="1" dirty="0">
                <a:solidFill>
                  <a:schemeClr val="accent1"/>
                </a:solidFill>
                <a:latin typeface="Courier New" pitchFamily="34" charset="0"/>
                <a:ea typeface="Courier New" pitchFamily="34" charset="-122"/>
                <a:cs typeface="Courier New" pitchFamily="34" charset="-120"/>
              </a:rPr>
              <a:t>knapsack.c</a:t>
            </a:r>
            <a:endParaRPr lang="en-US" sz="14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77240"/>
          </a:xfrm>
          <a:prstGeom prst="rect">
            <a:avLst/>
          </a:prstGeom>
          <a:noFill/>
          <a:ln/>
        </p:spPr>
        <p:txBody>
          <a:bodyPr wrap="square" lIns="0" tIns="0" rIns="0" bIns="0" rtlCol="0" anchor="ctr"/>
          <a:lstStyle/>
          <a:p>
            <a:pPr algn="l" indent="0" marL="0">
              <a:buNone/>
            </a:pPr>
            <a:r>
              <a:rPr lang="en-US" sz="3600" b="1" dirty="0">
                <a:solidFill>
                  <a:schemeClr val="tx2"/>
                </a:solidFill>
              </a:rPr>
              <a:t>Tests, docs and design files at a glance</a:t>
            </a:r>
            <a:endParaRPr lang="en-US" sz="3600" dirty="0"/>
          </a:p>
        </p:txBody>
      </p:sp>
      <p:sp>
        <p:nvSpPr>
          <p:cNvPr id="3" name="test_engine.c card"/>
          <p:cNvSpPr/>
          <p:nvPr/>
        </p:nvSpPr>
        <p:spPr>
          <a:xfrm>
            <a:off x="548640" y="1371600"/>
            <a:ext cx="3520440" cy="2331720"/>
          </a:xfrm>
          <a:prstGeom prst="roundRect">
            <a:avLst>
              <a:gd name="adj" fmla="val 4706"/>
            </a:avLst>
          </a:prstGeom>
          <a:solidFill>
            <a:schemeClr val="bg2"/>
          </a:solidFill>
          <a:ln/>
        </p:spPr>
      </p:sp>
      <p:sp>
        <p:nvSpPr>
          <p:cNvPr id="4" name="test_engine.c tile"/>
          <p:cNvSpPr/>
          <p:nvPr/>
        </p:nvSpPr>
        <p:spPr>
          <a:xfrm>
            <a:off x="822960" y="1645920"/>
            <a:ext cx="640080" cy="640080"/>
          </a:xfrm>
          <a:prstGeom prst="roundRect">
            <a:avLst>
              <a:gd name="adj" fmla="val 24000"/>
            </a:avLst>
          </a:prstGeom>
          <a:solidFill>
            <a:schemeClr val="accent4">
              <a:alpha val="14000"/>
            </a:schemeClr>
          </a:solidFill>
          <a:ln/>
        </p:spPr>
      </p:sp>
      <p:pic>
        <p:nvPicPr>
          <p:cNvPr id="5" name="test_engine.c icon" descr="preencoded.png">    </p:cNvPr>
          <p:cNvPicPr>
            <a:picLocks noChangeAspect="1"/>
          </p:cNvPicPr>
          <p:nvPr/>
        </p:nvPicPr>
        <p:blipFill>
          <a:blip r:embed="rId1"/>
          <a:stretch>
            <a:fillRect/>
          </a:stretch>
        </p:blipFill>
        <p:spPr>
          <a:xfrm>
            <a:off x="963778" y="1786738"/>
            <a:ext cx="358445" cy="358445"/>
          </a:xfrm>
          <a:prstGeom prst="rect">
            <a:avLst/>
          </a:prstGeom>
        </p:spPr>
      </p:pic>
      <p:sp>
        <p:nvSpPr>
          <p:cNvPr id="6" name="Text 3"/>
          <p:cNvSpPr txBox="1"/>
          <p:nvPr/>
        </p:nvSpPr>
        <p:spPr>
          <a:xfrm>
            <a:off x="1645920" y="1645920"/>
            <a:ext cx="2286000" cy="310896"/>
          </a:xfrm>
          <a:prstGeom prst="rect">
            <a:avLst/>
          </a:prstGeom>
          <a:noFill/>
          <a:ln/>
        </p:spPr>
        <p:txBody>
          <a:bodyPr wrap="square" lIns="0" tIns="0" rIns="0" bIns="0" rtlCol="0" anchor="ctr"/>
          <a:lstStyle/>
          <a:p>
            <a:pPr indent="0" marL="0">
              <a:buNone/>
            </a:pPr>
            <a:r>
              <a:rPr lang="en-US" sz="1400" b="1" dirty="0">
                <a:solidFill>
                  <a:schemeClr val="accent1"/>
                </a:solidFill>
                <a:latin typeface="Courier New" pitchFamily="34" charset="0"/>
                <a:ea typeface="Courier New" pitchFamily="34" charset="-122"/>
                <a:cs typeface="Courier New" pitchFamily="34" charset="-120"/>
              </a:rPr>
              <a:t>test_engine.c</a:t>
            </a:r>
            <a:endParaRPr lang="en-US" sz="1400" dirty="0"/>
          </a:p>
        </p:txBody>
      </p:sp>
      <p:sp>
        <p:nvSpPr>
          <p:cNvPr id="7" name="test_engine.c tech tag"/>
          <p:cNvSpPr/>
          <p:nvPr/>
        </p:nvSpPr>
        <p:spPr>
          <a:xfrm>
            <a:off x="1645920" y="2011680"/>
            <a:ext cx="1415491" cy="292608"/>
          </a:xfrm>
          <a:prstGeom prst="roundRect">
            <a:avLst>
              <a:gd name="adj" fmla="val 50000"/>
            </a:avLst>
          </a:prstGeom>
          <a:solidFill>
            <a:schemeClr val="accent4">
              <a:alpha val="18000"/>
            </a:schemeClr>
          </a:solidFill>
          <a:ln/>
        </p:spPr>
      </p:sp>
      <p:sp>
        <p:nvSpPr>
          <p:cNvPr id="8" name="Text 5"/>
          <p:cNvSpPr txBox="1"/>
          <p:nvPr/>
        </p:nvSpPr>
        <p:spPr>
          <a:xfrm>
            <a:off x="1645920" y="2011680"/>
            <a:ext cx="1415491" cy="292608"/>
          </a:xfrm>
          <a:prstGeom prst="rect">
            <a:avLst/>
          </a:prstGeom>
          <a:noFill/>
          <a:ln/>
        </p:spPr>
        <p:txBody>
          <a:bodyPr wrap="square" lIns="0" tIns="0" rIns="0" bIns="0" rtlCol="0" anchor="ctr"/>
          <a:lstStyle/>
          <a:p>
            <a:pPr algn="ctr" indent="0" marL="0">
              <a:buNone/>
            </a:pPr>
            <a:r>
              <a:rPr lang="en-US" sz="1100" b="1" dirty="0">
                <a:solidFill>
                  <a:schemeClr val="tx2"/>
                </a:solidFill>
              </a:rPr>
              <a:t>C11 test program</a:t>
            </a:r>
            <a:endParaRPr lang="en-US" sz="1100" dirty="0"/>
          </a:p>
        </p:txBody>
      </p:sp>
      <p:sp>
        <p:nvSpPr>
          <p:cNvPr id="9" name="Text 6"/>
          <p:cNvSpPr txBox="1"/>
          <p:nvPr/>
        </p:nvSpPr>
        <p:spPr>
          <a:xfrm>
            <a:off x="822960" y="2468880"/>
            <a:ext cx="3017520" cy="1143000"/>
          </a:xfrm>
          <a:prstGeom prst="rect">
            <a:avLst/>
          </a:prstGeom>
          <a:noFill/>
          <a:ln/>
        </p:spPr>
        <p:txBody>
          <a:bodyPr wrap="square" lIns="0" tIns="0" rIns="0" bIns="0" rtlCol="0" anchor="t"/>
          <a:lstStyle/>
          <a:p>
            <a:pPr indent="0" marL="0">
              <a:buNone/>
            </a:pPr>
            <a:r>
              <a:rPr lang="en-US" sz="1400" dirty="0">
                <a:solidFill>
                  <a:schemeClr val="tx1"/>
                </a:solidFill>
              </a:rPr>
              <a:t>In backend/tests/: 283 checks that call the C functions directly, edge cases included.</a:t>
            </a:r>
            <a:endParaRPr lang="en-US" sz="1400" dirty="0"/>
          </a:p>
        </p:txBody>
      </p:sp>
      <p:sp>
        <p:nvSpPr>
          <p:cNvPr id="10" name="test_c_bridge.py card"/>
          <p:cNvSpPr/>
          <p:nvPr/>
        </p:nvSpPr>
        <p:spPr>
          <a:xfrm>
            <a:off x="4297680" y="1371600"/>
            <a:ext cx="3520440" cy="2331720"/>
          </a:xfrm>
          <a:prstGeom prst="roundRect">
            <a:avLst>
              <a:gd name="adj" fmla="val 4706"/>
            </a:avLst>
          </a:prstGeom>
          <a:solidFill>
            <a:schemeClr val="bg2"/>
          </a:solidFill>
          <a:ln/>
        </p:spPr>
      </p:sp>
      <p:sp>
        <p:nvSpPr>
          <p:cNvPr id="11" name="test_c_bridge.py tile"/>
          <p:cNvSpPr/>
          <p:nvPr/>
        </p:nvSpPr>
        <p:spPr>
          <a:xfrm>
            <a:off x="4572000" y="1645920"/>
            <a:ext cx="640080" cy="640080"/>
          </a:xfrm>
          <a:prstGeom prst="roundRect">
            <a:avLst>
              <a:gd name="adj" fmla="val 24000"/>
            </a:avLst>
          </a:prstGeom>
          <a:solidFill>
            <a:schemeClr val="accent1">
              <a:alpha val="14000"/>
            </a:schemeClr>
          </a:solidFill>
          <a:ln/>
        </p:spPr>
      </p:sp>
      <p:pic>
        <p:nvPicPr>
          <p:cNvPr id="12" name="test_c_bridge.py icon" descr="preencoded.png">    </p:cNvPr>
          <p:cNvPicPr>
            <a:picLocks noChangeAspect="1"/>
          </p:cNvPicPr>
          <p:nvPr/>
        </p:nvPicPr>
        <p:blipFill>
          <a:blip r:embed="rId2"/>
          <a:stretch>
            <a:fillRect/>
          </a:stretch>
        </p:blipFill>
        <p:spPr>
          <a:xfrm>
            <a:off x="4712818" y="1786738"/>
            <a:ext cx="358445" cy="358445"/>
          </a:xfrm>
          <a:prstGeom prst="rect">
            <a:avLst/>
          </a:prstGeom>
        </p:spPr>
      </p:pic>
      <p:sp>
        <p:nvSpPr>
          <p:cNvPr id="13" name="Text 9"/>
          <p:cNvSpPr txBox="1"/>
          <p:nvPr/>
        </p:nvSpPr>
        <p:spPr>
          <a:xfrm>
            <a:off x="5394960" y="1645920"/>
            <a:ext cx="2286000" cy="310896"/>
          </a:xfrm>
          <a:prstGeom prst="rect">
            <a:avLst/>
          </a:prstGeom>
          <a:noFill/>
          <a:ln/>
        </p:spPr>
        <p:txBody>
          <a:bodyPr wrap="square" lIns="0" tIns="0" rIns="0" bIns="0" rtlCol="0" anchor="ctr"/>
          <a:lstStyle/>
          <a:p>
            <a:pPr indent="0" marL="0">
              <a:buNone/>
            </a:pPr>
            <a:r>
              <a:rPr lang="en-US" sz="1400" b="1" dirty="0">
                <a:solidFill>
                  <a:schemeClr val="accent1"/>
                </a:solidFill>
                <a:latin typeface="Courier New" pitchFamily="34" charset="0"/>
                <a:ea typeface="Courier New" pitchFamily="34" charset="-122"/>
                <a:cs typeface="Courier New" pitchFamily="34" charset="-120"/>
              </a:rPr>
              <a:t>test_c_bridge.py</a:t>
            </a:r>
            <a:endParaRPr lang="en-US" sz="1400" dirty="0"/>
          </a:p>
        </p:txBody>
      </p:sp>
      <p:sp>
        <p:nvSpPr>
          <p:cNvPr id="14" name="test_c_bridge.py tech tag"/>
          <p:cNvSpPr/>
          <p:nvPr/>
        </p:nvSpPr>
        <p:spPr>
          <a:xfrm>
            <a:off x="5394960" y="2011680"/>
            <a:ext cx="1486814" cy="292608"/>
          </a:xfrm>
          <a:prstGeom prst="roundRect">
            <a:avLst>
              <a:gd name="adj" fmla="val 50000"/>
            </a:avLst>
          </a:prstGeom>
          <a:solidFill>
            <a:schemeClr val="accent1">
              <a:alpha val="18000"/>
            </a:schemeClr>
          </a:solidFill>
          <a:ln/>
        </p:spPr>
      </p:sp>
      <p:sp>
        <p:nvSpPr>
          <p:cNvPr id="15" name="Text 11"/>
          <p:cNvSpPr txBox="1"/>
          <p:nvPr/>
        </p:nvSpPr>
        <p:spPr>
          <a:xfrm>
            <a:off x="5394960" y="2011680"/>
            <a:ext cx="1486814" cy="292608"/>
          </a:xfrm>
          <a:prstGeom prst="rect">
            <a:avLst/>
          </a:prstGeom>
          <a:noFill/>
          <a:ln/>
        </p:spPr>
        <p:txBody>
          <a:bodyPr wrap="square" lIns="0" tIns="0" rIns="0" bIns="0" rtlCol="0" anchor="ctr"/>
          <a:lstStyle/>
          <a:p>
            <a:pPr algn="ctr" indent="0" marL="0">
              <a:buNone/>
            </a:pPr>
            <a:r>
              <a:rPr lang="en-US" sz="1100" b="1" dirty="0">
                <a:solidFill>
                  <a:schemeClr val="tx2"/>
                </a:solidFill>
              </a:rPr>
              <a:t>Python · unittest</a:t>
            </a:r>
            <a:endParaRPr lang="en-US" sz="1100" dirty="0"/>
          </a:p>
        </p:txBody>
      </p:sp>
      <p:sp>
        <p:nvSpPr>
          <p:cNvPr id="16" name="Text 12"/>
          <p:cNvSpPr txBox="1"/>
          <p:nvPr/>
        </p:nvSpPr>
        <p:spPr>
          <a:xfrm>
            <a:off x="4572000" y="2468880"/>
            <a:ext cx="3017520" cy="1143000"/>
          </a:xfrm>
          <a:prstGeom prst="rect">
            <a:avLst/>
          </a:prstGeom>
          <a:noFill/>
          <a:ln/>
        </p:spPr>
        <p:txBody>
          <a:bodyPr wrap="square" lIns="0" tIns="0" rIns="0" bIns="0" rtlCol="0" anchor="t"/>
          <a:lstStyle/>
          <a:p>
            <a:pPr indent="0" marL="0">
              <a:buNone/>
            </a:pPr>
            <a:r>
              <a:rPr lang="en-US" sz="1400" dirty="0">
                <a:solidFill>
                  <a:schemeClr val="tx1"/>
                </a:solidFill>
              </a:rPr>
              <a:t>Tests the Python-to-C calls: C sorts must match sorted(), knapsack matches brute force.</a:t>
            </a:r>
            <a:endParaRPr lang="en-US" sz="1400" dirty="0"/>
          </a:p>
        </p:txBody>
      </p:sp>
      <p:sp>
        <p:nvSpPr>
          <p:cNvPr id="17" name="test_database.py card"/>
          <p:cNvSpPr/>
          <p:nvPr/>
        </p:nvSpPr>
        <p:spPr>
          <a:xfrm>
            <a:off x="8046720" y="1371600"/>
            <a:ext cx="3520440" cy="2331720"/>
          </a:xfrm>
          <a:prstGeom prst="roundRect">
            <a:avLst>
              <a:gd name="adj" fmla="val 4706"/>
            </a:avLst>
          </a:prstGeom>
          <a:solidFill>
            <a:schemeClr val="bg2"/>
          </a:solidFill>
          <a:ln/>
        </p:spPr>
      </p:sp>
      <p:sp>
        <p:nvSpPr>
          <p:cNvPr id="18" name="test_database.py tile"/>
          <p:cNvSpPr/>
          <p:nvPr/>
        </p:nvSpPr>
        <p:spPr>
          <a:xfrm>
            <a:off x="8321040" y="1645920"/>
            <a:ext cx="640080" cy="640080"/>
          </a:xfrm>
          <a:prstGeom prst="roundRect">
            <a:avLst>
              <a:gd name="adj" fmla="val 24000"/>
            </a:avLst>
          </a:prstGeom>
          <a:solidFill>
            <a:schemeClr val="accent3">
              <a:alpha val="14000"/>
            </a:schemeClr>
          </a:solidFill>
          <a:ln/>
        </p:spPr>
      </p:sp>
      <p:pic>
        <p:nvPicPr>
          <p:cNvPr id="19" name="test_database.py icon" descr="preencoded.png">    </p:cNvPr>
          <p:cNvPicPr>
            <a:picLocks noChangeAspect="1"/>
          </p:cNvPicPr>
          <p:nvPr/>
        </p:nvPicPr>
        <p:blipFill>
          <a:blip r:embed="rId3"/>
          <a:stretch>
            <a:fillRect/>
          </a:stretch>
        </p:blipFill>
        <p:spPr>
          <a:xfrm>
            <a:off x="8461858" y="1786738"/>
            <a:ext cx="358445" cy="358445"/>
          </a:xfrm>
          <a:prstGeom prst="rect">
            <a:avLst/>
          </a:prstGeom>
        </p:spPr>
      </p:pic>
      <p:sp>
        <p:nvSpPr>
          <p:cNvPr id="20" name="Text 15"/>
          <p:cNvSpPr txBox="1"/>
          <p:nvPr/>
        </p:nvSpPr>
        <p:spPr>
          <a:xfrm>
            <a:off x="9144000" y="1645920"/>
            <a:ext cx="2286000" cy="310896"/>
          </a:xfrm>
          <a:prstGeom prst="rect">
            <a:avLst/>
          </a:prstGeom>
          <a:noFill/>
          <a:ln/>
        </p:spPr>
        <p:txBody>
          <a:bodyPr wrap="square" lIns="0" tIns="0" rIns="0" bIns="0" rtlCol="0" anchor="ctr"/>
          <a:lstStyle/>
          <a:p>
            <a:pPr indent="0" marL="0">
              <a:buNone/>
            </a:pPr>
            <a:r>
              <a:rPr lang="en-US" sz="1400" b="1" dirty="0">
                <a:solidFill>
                  <a:schemeClr val="accent1"/>
                </a:solidFill>
                <a:latin typeface="Courier New" pitchFamily="34" charset="0"/>
                <a:ea typeface="Courier New" pitchFamily="34" charset="-122"/>
                <a:cs typeface="Courier New" pitchFamily="34" charset="-120"/>
              </a:rPr>
              <a:t>test_database.py</a:t>
            </a:r>
            <a:endParaRPr lang="en-US" sz="1400" dirty="0"/>
          </a:p>
        </p:txBody>
      </p:sp>
      <p:sp>
        <p:nvSpPr>
          <p:cNvPr id="21" name="test_database.py tech tag"/>
          <p:cNvSpPr/>
          <p:nvPr/>
        </p:nvSpPr>
        <p:spPr>
          <a:xfrm>
            <a:off x="9144000" y="2011680"/>
            <a:ext cx="2128723" cy="292608"/>
          </a:xfrm>
          <a:prstGeom prst="roundRect">
            <a:avLst>
              <a:gd name="adj" fmla="val 50000"/>
            </a:avLst>
          </a:prstGeom>
          <a:solidFill>
            <a:schemeClr val="accent3">
              <a:alpha val="18000"/>
            </a:schemeClr>
          </a:solidFill>
          <a:ln/>
        </p:spPr>
      </p:sp>
      <p:sp>
        <p:nvSpPr>
          <p:cNvPr id="22" name="Text 17"/>
          <p:cNvSpPr txBox="1"/>
          <p:nvPr/>
        </p:nvSpPr>
        <p:spPr>
          <a:xfrm>
            <a:off x="9144000" y="2011680"/>
            <a:ext cx="2128723" cy="292608"/>
          </a:xfrm>
          <a:prstGeom prst="rect">
            <a:avLst/>
          </a:prstGeom>
          <a:noFill/>
          <a:ln/>
        </p:spPr>
        <p:txBody>
          <a:bodyPr wrap="square" lIns="0" tIns="0" rIns="0" bIns="0" rtlCol="0" anchor="ctr"/>
          <a:lstStyle/>
          <a:p>
            <a:pPr algn="ctr" indent="0" marL="0">
              <a:buNone/>
            </a:pPr>
            <a:r>
              <a:rPr lang="en-US" sz="1100" b="1" dirty="0">
                <a:solidFill>
                  <a:schemeClr val="tx2"/>
                </a:solidFill>
              </a:rPr>
              <a:t>Python · unittest · SQLite</a:t>
            </a:r>
            <a:endParaRPr lang="en-US" sz="1100" dirty="0"/>
          </a:p>
        </p:txBody>
      </p:sp>
      <p:sp>
        <p:nvSpPr>
          <p:cNvPr id="23" name="Text 18"/>
          <p:cNvSpPr txBox="1"/>
          <p:nvPr/>
        </p:nvSpPr>
        <p:spPr>
          <a:xfrm>
            <a:off x="8321040" y="2468880"/>
            <a:ext cx="3017520" cy="1143000"/>
          </a:xfrm>
          <a:prstGeom prst="rect">
            <a:avLst/>
          </a:prstGeom>
          <a:noFill/>
          <a:ln/>
        </p:spPr>
        <p:txBody>
          <a:bodyPr wrap="square" lIns="0" tIns="0" rIns="0" bIns="0" rtlCol="0" anchor="t"/>
          <a:lstStyle/>
          <a:p>
            <a:pPr indent="0" marL="0">
              <a:buNone/>
            </a:pPr>
            <a:r>
              <a:rPr lang="en-US" sz="1400" dirty="0">
                <a:solidFill>
                  <a:schemeClr val="tx1"/>
                </a:solidFill>
              </a:rPr>
              <a:t>Tests saving, insufficient stock, deleting, and that the C queue matches stock levels.</a:t>
            </a:r>
            <a:endParaRPr lang="en-US" sz="1400" dirty="0"/>
          </a:p>
        </p:txBody>
      </p:sp>
      <p:sp>
        <p:nvSpPr>
          <p:cNvPr id="24" name="assets/ card"/>
          <p:cNvSpPr/>
          <p:nvPr/>
        </p:nvSpPr>
        <p:spPr>
          <a:xfrm>
            <a:off x="548640" y="3840480"/>
            <a:ext cx="3520440" cy="2331720"/>
          </a:xfrm>
          <a:prstGeom prst="roundRect">
            <a:avLst>
              <a:gd name="adj" fmla="val 4706"/>
            </a:avLst>
          </a:prstGeom>
          <a:solidFill>
            <a:schemeClr val="bg2"/>
          </a:solidFill>
          <a:ln/>
        </p:spPr>
      </p:sp>
      <p:sp>
        <p:nvSpPr>
          <p:cNvPr id="25" name="assets/ tile"/>
          <p:cNvSpPr/>
          <p:nvPr/>
        </p:nvSpPr>
        <p:spPr>
          <a:xfrm>
            <a:off x="822960" y="4114800"/>
            <a:ext cx="640080" cy="640080"/>
          </a:xfrm>
          <a:prstGeom prst="roundRect">
            <a:avLst>
              <a:gd name="adj" fmla="val 24000"/>
            </a:avLst>
          </a:prstGeom>
          <a:solidFill>
            <a:schemeClr val="accent2">
              <a:alpha val="14000"/>
            </a:schemeClr>
          </a:solidFill>
          <a:ln/>
        </p:spPr>
      </p:sp>
      <p:pic>
        <p:nvPicPr>
          <p:cNvPr id="26" name="assets/ icon" descr="preencoded.png">    </p:cNvPr>
          <p:cNvPicPr>
            <a:picLocks noChangeAspect="1"/>
          </p:cNvPicPr>
          <p:nvPr/>
        </p:nvPicPr>
        <p:blipFill>
          <a:blip r:embed="rId4"/>
          <a:stretch>
            <a:fillRect/>
          </a:stretch>
        </p:blipFill>
        <p:spPr>
          <a:xfrm>
            <a:off x="963778" y="4255618"/>
            <a:ext cx="358445" cy="358445"/>
          </a:xfrm>
          <a:prstGeom prst="rect">
            <a:avLst/>
          </a:prstGeom>
        </p:spPr>
      </p:pic>
      <p:sp>
        <p:nvSpPr>
          <p:cNvPr id="27" name="Text 21"/>
          <p:cNvSpPr txBox="1"/>
          <p:nvPr/>
        </p:nvSpPr>
        <p:spPr>
          <a:xfrm>
            <a:off x="1645920" y="4114800"/>
            <a:ext cx="2286000" cy="310896"/>
          </a:xfrm>
          <a:prstGeom prst="rect">
            <a:avLst/>
          </a:prstGeom>
          <a:noFill/>
          <a:ln/>
        </p:spPr>
        <p:txBody>
          <a:bodyPr wrap="square" lIns="0" tIns="0" rIns="0" bIns="0" rtlCol="0" anchor="ctr"/>
          <a:lstStyle/>
          <a:p>
            <a:pPr indent="0" marL="0">
              <a:buNone/>
            </a:pPr>
            <a:r>
              <a:rPr lang="en-US" sz="1400" b="1" dirty="0">
                <a:solidFill>
                  <a:schemeClr val="accent1"/>
                </a:solidFill>
                <a:latin typeface="Courier New" pitchFamily="34" charset="0"/>
                <a:ea typeface="Courier New" pitchFamily="34" charset="-122"/>
                <a:cs typeface="Courier New" pitchFamily="34" charset="-120"/>
              </a:rPr>
              <a:t>assets/</a:t>
            </a:r>
            <a:endParaRPr lang="en-US" sz="1400" dirty="0"/>
          </a:p>
        </p:txBody>
      </p:sp>
      <p:sp>
        <p:nvSpPr>
          <p:cNvPr id="28" name="assets/ tech tag"/>
          <p:cNvSpPr/>
          <p:nvPr/>
        </p:nvSpPr>
        <p:spPr>
          <a:xfrm>
            <a:off x="1645920" y="4480560"/>
            <a:ext cx="987552" cy="292608"/>
          </a:xfrm>
          <a:prstGeom prst="roundRect">
            <a:avLst>
              <a:gd name="adj" fmla="val 50000"/>
            </a:avLst>
          </a:prstGeom>
          <a:solidFill>
            <a:schemeClr val="accent2">
              <a:alpha val="18000"/>
            </a:schemeClr>
          </a:solidFill>
          <a:ln/>
        </p:spPr>
      </p:sp>
      <p:sp>
        <p:nvSpPr>
          <p:cNvPr id="29" name="Text 23"/>
          <p:cNvSpPr txBox="1"/>
          <p:nvPr/>
        </p:nvSpPr>
        <p:spPr>
          <a:xfrm>
            <a:off x="1645920" y="4480560"/>
            <a:ext cx="987552" cy="292608"/>
          </a:xfrm>
          <a:prstGeom prst="rect">
            <a:avLst/>
          </a:prstGeom>
          <a:noFill/>
          <a:ln/>
        </p:spPr>
        <p:txBody>
          <a:bodyPr wrap="square" lIns="0" tIns="0" rIns="0" bIns="0" rtlCol="0" anchor="ctr"/>
          <a:lstStyle/>
          <a:p>
            <a:pPr algn="ctr" indent="0" marL="0">
              <a:buNone/>
            </a:pPr>
            <a:r>
              <a:rPr lang="en-US" sz="1100" b="1" dirty="0">
                <a:solidFill>
                  <a:schemeClr val="tx2"/>
                </a:solidFill>
              </a:rPr>
              <a:t>SVG images</a:t>
            </a:r>
            <a:endParaRPr lang="en-US" sz="1100" dirty="0"/>
          </a:p>
        </p:txBody>
      </p:sp>
      <p:sp>
        <p:nvSpPr>
          <p:cNvPr id="30" name="Text 24"/>
          <p:cNvSpPr txBox="1"/>
          <p:nvPr/>
        </p:nvSpPr>
        <p:spPr>
          <a:xfrm>
            <a:off x="822960" y="4937760"/>
            <a:ext cx="3017520" cy="1143000"/>
          </a:xfrm>
          <a:prstGeom prst="rect">
            <a:avLst/>
          </a:prstGeom>
          <a:noFill/>
          <a:ln/>
        </p:spPr>
        <p:txBody>
          <a:bodyPr wrap="square" lIns="0" tIns="0" rIns="0" bIns="0" rtlCol="0" anchor="t"/>
          <a:lstStyle/>
          <a:p>
            <a:pPr indent="0" marL="0">
              <a:buNone/>
            </a:pPr>
            <a:r>
              <a:rPr lang="en-US" sz="1400" dirty="0">
                <a:solidFill>
                  <a:schemeClr val="tx1"/>
                </a:solidFill>
              </a:rPr>
              <a:t>Logo, dashboard banner, empty-state picture, category tiles, architecture diagram.</a:t>
            </a:r>
            <a:endParaRPr lang="en-US" sz="1400" dirty="0"/>
          </a:p>
        </p:txBody>
      </p:sp>
      <p:sp>
        <p:nvSpPr>
          <p:cNvPr id="31" name="README.md card"/>
          <p:cNvSpPr/>
          <p:nvPr/>
        </p:nvSpPr>
        <p:spPr>
          <a:xfrm>
            <a:off x="4297680" y="3840480"/>
            <a:ext cx="3520440" cy="2331720"/>
          </a:xfrm>
          <a:prstGeom prst="roundRect">
            <a:avLst>
              <a:gd name="adj" fmla="val 4706"/>
            </a:avLst>
          </a:prstGeom>
          <a:solidFill>
            <a:schemeClr val="bg2"/>
          </a:solidFill>
          <a:ln/>
        </p:spPr>
      </p:sp>
      <p:sp>
        <p:nvSpPr>
          <p:cNvPr id="32" name="README.md tile"/>
          <p:cNvSpPr/>
          <p:nvPr/>
        </p:nvSpPr>
        <p:spPr>
          <a:xfrm>
            <a:off x="4572000" y="4114800"/>
            <a:ext cx="640080" cy="640080"/>
          </a:xfrm>
          <a:prstGeom prst="roundRect">
            <a:avLst>
              <a:gd name="adj" fmla="val 24000"/>
            </a:avLst>
          </a:prstGeom>
          <a:solidFill>
            <a:schemeClr val="accent6">
              <a:alpha val="14000"/>
            </a:schemeClr>
          </a:solidFill>
          <a:ln/>
        </p:spPr>
      </p:sp>
      <p:pic>
        <p:nvPicPr>
          <p:cNvPr id="33" name="README.md icon" descr="preencoded.png">    </p:cNvPr>
          <p:cNvPicPr>
            <a:picLocks noChangeAspect="1"/>
          </p:cNvPicPr>
          <p:nvPr/>
        </p:nvPicPr>
        <p:blipFill>
          <a:blip r:embed="rId5"/>
          <a:stretch>
            <a:fillRect/>
          </a:stretch>
        </p:blipFill>
        <p:spPr>
          <a:xfrm>
            <a:off x="4712818" y="4255618"/>
            <a:ext cx="358445" cy="358445"/>
          </a:xfrm>
          <a:prstGeom prst="rect">
            <a:avLst/>
          </a:prstGeom>
        </p:spPr>
      </p:pic>
      <p:sp>
        <p:nvSpPr>
          <p:cNvPr id="34" name="Text 27"/>
          <p:cNvSpPr txBox="1"/>
          <p:nvPr/>
        </p:nvSpPr>
        <p:spPr>
          <a:xfrm>
            <a:off x="5394960" y="4114800"/>
            <a:ext cx="2286000" cy="310896"/>
          </a:xfrm>
          <a:prstGeom prst="rect">
            <a:avLst/>
          </a:prstGeom>
          <a:noFill/>
          <a:ln/>
        </p:spPr>
        <p:txBody>
          <a:bodyPr wrap="square" lIns="0" tIns="0" rIns="0" bIns="0" rtlCol="0" anchor="ctr"/>
          <a:lstStyle/>
          <a:p>
            <a:pPr indent="0" marL="0">
              <a:buNone/>
            </a:pPr>
            <a:r>
              <a:rPr lang="en-US" sz="1400" b="1" dirty="0">
                <a:solidFill>
                  <a:schemeClr val="accent1"/>
                </a:solidFill>
                <a:latin typeface="Courier New" pitchFamily="34" charset="0"/>
                <a:ea typeface="Courier New" pitchFamily="34" charset="-122"/>
                <a:cs typeface="Courier New" pitchFamily="34" charset="-120"/>
              </a:rPr>
              <a:t>README.md</a:t>
            </a:r>
            <a:endParaRPr lang="en-US" sz="1400" dirty="0"/>
          </a:p>
        </p:txBody>
      </p:sp>
      <p:sp>
        <p:nvSpPr>
          <p:cNvPr id="35" name="README.md tech tag"/>
          <p:cNvSpPr/>
          <p:nvPr/>
        </p:nvSpPr>
        <p:spPr>
          <a:xfrm>
            <a:off x="5394960" y="4480560"/>
            <a:ext cx="844906" cy="292608"/>
          </a:xfrm>
          <a:prstGeom prst="roundRect">
            <a:avLst>
              <a:gd name="adj" fmla="val 50000"/>
            </a:avLst>
          </a:prstGeom>
          <a:solidFill>
            <a:schemeClr val="accent6">
              <a:alpha val="18000"/>
            </a:schemeClr>
          </a:solidFill>
          <a:ln/>
        </p:spPr>
      </p:sp>
      <p:sp>
        <p:nvSpPr>
          <p:cNvPr id="36" name="Text 29"/>
          <p:cNvSpPr txBox="1"/>
          <p:nvPr/>
        </p:nvSpPr>
        <p:spPr>
          <a:xfrm>
            <a:off x="5394960" y="4480560"/>
            <a:ext cx="844906" cy="292608"/>
          </a:xfrm>
          <a:prstGeom prst="rect">
            <a:avLst/>
          </a:prstGeom>
          <a:noFill/>
          <a:ln/>
        </p:spPr>
        <p:txBody>
          <a:bodyPr wrap="square" lIns="0" tIns="0" rIns="0" bIns="0" rtlCol="0" anchor="ctr"/>
          <a:lstStyle/>
          <a:p>
            <a:pPr algn="ctr" indent="0" marL="0">
              <a:buNone/>
            </a:pPr>
            <a:r>
              <a:rPr lang="en-US" sz="1100" b="1" dirty="0">
                <a:solidFill>
                  <a:schemeClr val="tx2"/>
                </a:solidFill>
              </a:rPr>
              <a:t>Markdown</a:t>
            </a:r>
            <a:endParaRPr lang="en-US" sz="1100" dirty="0"/>
          </a:p>
        </p:txBody>
      </p:sp>
      <p:sp>
        <p:nvSpPr>
          <p:cNvPr id="37" name="Text 30"/>
          <p:cNvSpPr txBox="1"/>
          <p:nvPr/>
        </p:nvSpPr>
        <p:spPr>
          <a:xfrm>
            <a:off x="4572000" y="4937760"/>
            <a:ext cx="3017520" cy="1143000"/>
          </a:xfrm>
          <a:prstGeom prst="rect">
            <a:avLst/>
          </a:prstGeom>
          <a:noFill/>
          <a:ln/>
        </p:spPr>
        <p:txBody>
          <a:bodyPr wrap="square" lIns="0" tIns="0" rIns="0" bIns="0" rtlCol="0" anchor="t"/>
          <a:lstStyle/>
          <a:p>
            <a:pPr indent="0" marL="0">
              <a:buNone/>
            </a:pPr>
            <a:r>
              <a:rPr lang="en-US" sz="1400" dirty="0">
                <a:solidFill>
                  <a:schemeClr val="tx1"/>
                </a:solidFill>
              </a:rPr>
              <a:t>Setup on Windows and Linux, how to build, run and test, and the C function list.</a:t>
            </a:r>
            <a:endParaRPr lang="en-US" sz="1400" dirty="0"/>
          </a:p>
        </p:txBody>
      </p:sp>
      <p:sp>
        <p:nvSpPr>
          <p:cNvPr id="38" name="docs/ card"/>
          <p:cNvSpPr/>
          <p:nvPr/>
        </p:nvSpPr>
        <p:spPr>
          <a:xfrm>
            <a:off x="8046720" y="3840480"/>
            <a:ext cx="3520440" cy="2331720"/>
          </a:xfrm>
          <a:prstGeom prst="roundRect">
            <a:avLst>
              <a:gd name="adj" fmla="val 4706"/>
            </a:avLst>
          </a:prstGeom>
          <a:solidFill>
            <a:schemeClr val="bg2"/>
          </a:solidFill>
          <a:ln/>
        </p:spPr>
      </p:sp>
      <p:sp>
        <p:nvSpPr>
          <p:cNvPr id="39" name="docs/ tile"/>
          <p:cNvSpPr/>
          <p:nvPr/>
        </p:nvSpPr>
        <p:spPr>
          <a:xfrm>
            <a:off x="8321040" y="4114800"/>
            <a:ext cx="640080" cy="640080"/>
          </a:xfrm>
          <a:prstGeom prst="roundRect">
            <a:avLst>
              <a:gd name="adj" fmla="val 24000"/>
            </a:avLst>
          </a:prstGeom>
          <a:solidFill>
            <a:schemeClr val="accent5">
              <a:alpha val="14000"/>
            </a:schemeClr>
          </a:solidFill>
          <a:ln/>
        </p:spPr>
      </p:sp>
      <p:pic>
        <p:nvPicPr>
          <p:cNvPr id="40" name="docs/ icon" descr="preencoded.png">    </p:cNvPr>
          <p:cNvPicPr>
            <a:picLocks noChangeAspect="1"/>
          </p:cNvPicPr>
          <p:nvPr/>
        </p:nvPicPr>
        <p:blipFill>
          <a:blip r:embed="rId6"/>
          <a:stretch>
            <a:fillRect/>
          </a:stretch>
        </p:blipFill>
        <p:spPr>
          <a:xfrm>
            <a:off x="8461858" y="4255618"/>
            <a:ext cx="358445" cy="358445"/>
          </a:xfrm>
          <a:prstGeom prst="rect">
            <a:avLst/>
          </a:prstGeom>
        </p:spPr>
      </p:pic>
      <p:sp>
        <p:nvSpPr>
          <p:cNvPr id="41" name="Text 33"/>
          <p:cNvSpPr txBox="1"/>
          <p:nvPr/>
        </p:nvSpPr>
        <p:spPr>
          <a:xfrm>
            <a:off x="9144000" y="4114800"/>
            <a:ext cx="2286000" cy="310896"/>
          </a:xfrm>
          <a:prstGeom prst="rect">
            <a:avLst/>
          </a:prstGeom>
          <a:noFill/>
          <a:ln/>
        </p:spPr>
        <p:txBody>
          <a:bodyPr wrap="square" lIns="0" tIns="0" rIns="0" bIns="0" rtlCol="0" anchor="ctr"/>
          <a:lstStyle/>
          <a:p>
            <a:pPr indent="0" marL="0">
              <a:buNone/>
            </a:pPr>
            <a:r>
              <a:rPr lang="en-US" sz="1400" b="1" dirty="0">
                <a:solidFill>
                  <a:schemeClr val="accent1"/>
                </a:solidFill>
                <a:latin typeface="Courier New" pitchFamily="34" charset="0"/>
                <a:ea typeface="Courier New" pitchFamily="34" charset="-122"/>
                <a:cs typeface="Courier New" pitchFamily="34" charset="-120"/>
              </a:rPr>
              <a:t>docs/</a:t>
            </a:r>
            <a:endParaRPr lang="en-US" sz="1400" dirty="0"/>
          </a:p>
        </p:txBody>
      </p:sp>
      <p:sp>
        <p:nvSpPr>
          <p:cNvPr id="42" name="docs/ tech tag"/>
          <p:cNvSpPr/>
          <p:nvPr/>
        </p:nvSpPr>
        <p:spPr>
          <a:xfrm>
            <a:off x="9144000" y="4480560"/>
            <a:ext cx="1772107" cy="292608"/>
          </a:xfrm>
          <a:prstGeom prst="roundRect">
            <a:avLst>
              <a:gd name="adj" fmla="val 50000"/>
            </a:avLst>
          </a:prstGeom>
          <a:solidFill>
            <a:schemeClr val="accent5">
              <a:alpha val="18000"/>
            </a:schemeClr>
          </a:solidFill>
          <a:ln/>
        </p:spPr>
      </p:sp>
      <p:sp>
        <p:nvSpPr>
          <p:cNvPr id="43" name="Text 35"/>
          <p:cNvSpPr txBox="1"/>
          <p:nvPr/>
        </p:nvSpPr>
        <p:spPr>
          <a:xfrm>
            <a:off x="9144000" y="4480560"/>
            <a:ext cx="1772107" cy="292608"/>
          </a:xfrm>
          <a:prstGeom prst="rect">
            <a:avLst/>
          </a:prstGeom>
          <a:noFill/>
          <a:ln/>
        </p:spPr>
        <p:txBody>
          <a:bodyPr wrap="square" lIns="0" tIns="0" rIns="0" bIns="0" rtlCol="0" anchor="ctr"/>
          <a:lstStyle/>
          <a:p>
            <a:pPr algn="ctr" indent="0" marL="0">
              <a:buNone/>
            </a:pPr>
            <a:r>
              <a:rPr lang="en-US" sz="1100" b="1" dirty="0">
                <a:solidFill>
                  <a:schemeClr val="tx2"/>
                </a:solidFill>
              </a:rPr>
              <a:t>Markdown · PowerPoint</a:t>
            </a:r>
            <a:endParaRPr lang="en-US" sz="1100" dirty="0"/>
          </a:p>
        </p:txBody>
      </p:sp>
      <p:sp>
        <p:nvSpPr>
          <p:cNvPr id="44" name="Text 36"/>
          <p:cNvSpPr txBox="1"/>
          <p:nvPr/>
        </p:nvSpPr>
        <p:spPr>
          <a:xfrm>
            <a:off x="8321040" y="4937760"/>
            <a:ext cx="3017520" cy="1143000"/>
          </a:xfrm>
          <a:prstGeom prst="rect">
            <a:avLst/>
          </a:prstGeom>
          <a:noFill/>
          <a:ln/>
        </p:spPr>
        <p:txBody>
          <a:bodyPr wrap="square" lIns="0" tIns="0" rIns="0" bIns="0" rtlCol="0" anchor="t"/>
          <a:lstStyle/>
          <a:p>
            <a:pPr indent="0" marL="0">
              <a:buNone/>
            </a:pPr>
            <a:r>
              <a:rPr lang="en-US" sz="1400" dirty="0">
                <a:solidFill>
                  <a:schemeClr val="tx1"/>
                </a:solidFill>
              </a:rPr>
              <a:t>ALGORITHMS.md (pseudocode), REPORT_AND_VIVA.md (30 viva answers) and this deck.</a:t>
            </a:r>
            <a:endParaRPr lang="en-US" sz="14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77240"/>
          </a:xfrm>
          <a:prstGeom prst="rect">
            <a:avLst/>
          </a:prstGeom>
          <a:noFill/>
          <a:ln/>
        </p:spPr>
        <p:txBody>
          <a:bodyPr wrap="square" lIns="0" tIns="0" rIns="0" bIns="0" rtlCol="0" anchor="ctr"/>
          <a:lstStyle/>
          <a:p>
            <a:pPr algn="l" indent="0" marL="0">
              <a:buNone/>
            </a:pPr>
            <a:r>
              <a:rPr lang="en-US" sz="3600" b="1" dirty="0">
                <a:solidFill>
                  <a:schemeClr val="tx2"/>
                </a:solidFill>
              </a:rPr>
              <a:t>Tests: proof that each part works</a:t>
            </a:r>
            <a:endParaRPr lang="en-US" sz="3600" dirty="0"/>
          </a:p>
        </p:txBody>
      </p:sp>
      <p:sp>
        <p:nvSpPr>
          <p:cNvPr id="3" name="C checks card"/>
          <p:cNvSpPr/>
          <p:nvPr/>
        </p:nvSpPr>
        <p:spPr>
          <a:xfrm>
            <a:off x="548640" y="1417320"/>
            <a:ext cx="2606040" cy="2011680"/>
          </a:xfrm>
          <a:prstGeom prst="roundRect">
            <a:avLst>
              <a:gd name="adj" fmla="val 5455"/>
            </a:avLst>
          </a:prstGeom>
          <a:solidFill>
            <a:schemeClr val="bg2"/>
          </a:solidFill>
          <a:ln/>
        </p:spPr>
      </p:sp>
      <p:sp>
        <p:nvSpPr>
          <p:cNvPr id="4" name="Text 2"/>
          <p:cNvSpPr txBox="1"/>
          <p:nvPr/>
        </p:nvSpPr>
        <p:spPr>
          <a:xfrm>
            <a:off x="822960" y="1554480"/>
            <a:ext cx="2103120" cy="868680"/>
          </a:xfrm>
          <a:prstGeom prst="rect">
            <a:avLst/>
          </a:prstGeom>
          <a:noFill/>
          <a:ln/>
        </p:spPr>
        <p:txBody>
          <a:bodyPr wrap="square" lIns="0" tIns="0" rIns="0" bIns="0" rtlCol="0" anchor="t"/>
          <a:lstStyle/>
          <a:p>
            <a:pPr indent="0" marL="0">
              <a:buNone/>
            </a:pPr>
            <a:r>
              <a:rPr lang="en-US" sz="5600" b="1" dirty="0">
                <a:solidFill>
                  <a:schemeClr val="accent1"/>
                </a:solidFill>
              </a:rPr>
              <a:t>283</a:t>
            </a:r>
            <a:endParaRPr lang="en-US" sz="5600" dirty="0"/>
          </a:p>
        </p:txBody>
      </p:sp>
      <p:sp>
        <p:nvSpPr>
          <p:cNvPr id="5" name="Text 3"/>
          <p:cNvSpPr txBox="1"/>
          <p:nvPr/>
        </p:nvSpPr>
        <p:spPr>
          <a:xfrm>
            <a:off x="822960" y="2450592"/>
            <a:ext cx="2103120" cy="365760"/>
          </a:xfrm>
          <a:prstGeom prst="rect">
            <a:avLst/>
          </a:prstGeom>
          <a:noFill/>
          <a:ln/>
        </p:spPr>
        <p:txBody>
          <a:bodyPr wrap="square" lIns="0" tIns="0" rIns="0" bIns="0" rtlCol="0" anchor="t"/>
          <a:lstStyle/>
          <a:p>
            <a:pPr indent="0" marL="0">
              <a:buNone/>
            </a:pPr>
            <a:r>
              <a:rPr lang="en-US" sz="1800" b="1" dirty="0">
                <a:solidFill>
                  <a:schemeClr val="tx2"/>
                </a:solidFill>
              </a:rPr>
              <a:t>C checks</a:t>
            </a:r>
            <a:endParaRPr lang="en-US" sz="1800" dirty="0"/>
          </a:p>
        </p:txBody>
      </p:sp>
      <p:sp>
        <p:nvSpPr>
          <p:cNvPr id="6" name="Text 4"/>
          <p:cNvSpPr txBox="1"/>
          <p:nvPr/>
        </p:nvSpPr>
        <p:spPr>
          <a:xfrm>
            <a:off x="822960" y="2834640"/>
            <a:ext cx="2194560" cy="502920"/>
          </a:xfrm>
          <a:prstGeom prst="rect">
            <a:avLst/>
          </a:prstGeom>
          <a:noFill/>
          <a:ln/>
        </p:spPr>
        <p:txBody>
          <a:bodyPr wrap="square" lIns="0" tIns="0" rIns="0" bIns="0" rtlCol="0" anchor="t"/>
          <a:lstStyle/>
          <a:p>
            <a:pPr indent="0" marL="0">
              <a:buNone/>
            </a:pPr>
            <a:r>
              <a:rPr lang="en-US" sz="1200" dirty="0">
                <a:solidFill>
                  <a:schemeClr val="tx2"/>
                </a:solidFill>
              </a:rPr>
              <a:t>backend/tests/test_engine.c</a:t>
            </a:r>
            <a:endParaRPr lang="en-US" sz="1200" dirty="0"/>
          </a:p>
        </p:txBody>
      </p:sp>
      <p:sp>
        <p:nvSpPr>
          <p:cNvPr id="7" name="Python tests card"/>
          <p:cNvSpPr/>
          <p:nvPr/>
        </p:nvSpPr>
        <p:spPr>
          <a:xfrm>
            <a:off x="3364992" y="1417320"/>
            <a:ext cx="2606040" cy="2011680"/>
          </a:xfrm>
          <a:prstGeom prst="roundRect">
            <a:avLst>
              <a:gd name="adj" fmla="val 5455"/>
            </a:avLst>
          </a:prstGeom>
          <a:solidFill>
            <a:schemeClr val="bg2"/>
          </a:solidFill>
          <a:ln/>
        </p:spPr>
      </p:sp>
      <p:sp>
        <p:nvSpPr>
          <p:cNvPr id="8" name="Text 6"/>
          <p:cNvSpPr txBox="1"/>
          <p:nvPr/>
        </p:nvSpPr>
        <p:spPr>
          <a:xfrm>
            <a:off x="3639312" y="1554480"/>
            <a:ext cx="2103120" cy="868680"/>
          </a:xfrm>
          <a:prstGeom prst="rect">
            <a:avLst/>
          </a:prstGeom>
          <a:noFill/>
          <a:ln/>
        </p:spPr>
        <p:txBody>
          <a:bodyPr wrap="square" lIns="0" tIns="0" rIns="0" bIns="0" rtlCol="0" anchor="t"/>
          <a:lstStyle/>
          <a:p>
            <a:pPr indent="0" marL="0">
              <a:buNone/>
            </a:pPr>
            <a:r>
              <a:rPr lang="en-US" sz="5600" b="1" dirty="0">
                <a:solidFill>
                  <a:schemeClr val="accent1"/>
                </a:solidFill>
              </a:rPr>
              <a:t>36</a:t>
            </a:r>
            <a:endParaRPr lang="en-US" sz="5600" dirty="0"/>
          </a:p>
        </p:txBody>
      </p:sp>
      <p:sp>
        <p:nvSpPr>
          <p:cNvPr id="9" name="Text 7"/>
          <p:cNvSpPr txBox="1"/>
          <p:nvPr/>
        </p:nvSpPr>
        <p:spPr>
          <a:xfrm>
            <a:off x="3639312" y="2450592"/>
            <a:ext cx="2103120" cy="365760"/>
          </a:xfrm>
          <a:prstGeom prst="rect">
            <a:avLst/>
          </a:prstGeom>
          <a:noFill/>
          <a:ln/>
        </p:spPr>
        <p:txBody>
          <a:bodyPr wrap="square" lIns="0" tIns="0" rIns="0" bIns="0" rtlCol="0" anchor="t"/>
          <a:lstStyle/>
          <a:p>
            <a:pPr indent="0" marL="0">
              <a:buNone/>
            </a:pPr>
            <a:r>
              <a:rPr lang="en-US" sz="1800" b="1" dirty="0">
                <a:solidFill>
                  <a:schemeClr val="tx2"/>
                </a:solidFill>
              </a:rPr>
              <a:t>Python tests</a:t>
            </a:r>
            <a:endParaRPr lang="en-US" sz="1800" dirty="0"/>
          </a:p>
        </p:txBody>
      </p:sp>
      <p:sp>
        <p:nvSpPr>
          <p:cNvPr id="10" name="Text 8"/>
          <p:cNvSpPr txBox="1"/>
          <p:nvPr/>
        </p:nvSpPr>
        <p:spPr>
          <a:xfrm>
            <a:off x="3639312" y="2834640"/>
            <a:ext cx="2194560" cy="502920"/>
          </a:xfrm>
          <a:prstGeom prst="rect">
            <a:avLst/>
          </a:prstGeom>
          <a:noFill/>
          <a:ln/>
        </p:spPr>
        <p:txBody>
          <a:bodyPr wrap="square" lIns="0" tIns="0" rIns="0" bIns="0" rtlCol="0" anchor="t"/>
          <a:lstStyle/>
          <a:p>
            <a:pPr indent="0" marL="0">
              <a:buNone/>
            </a:pPr>
            <a:r>
              <a:rPr lang="en-US" sz="1200" dirty="0">
                <a:solidFill>
                  <a:schemeClr val="tx2"/>
                </a:solidFill>
              </a:rPr>
              <a:t>tests/test_c_bridge.py, test_database.py</a:t>
            </a:r>
            <a:endParaRPr lang="en-US" sz="1200" dirty="0"/>
          </a:p>
        </p:txBody>
      </p:sp>
      <p:sp>
        <p:nvSpPr>
          <p:cNvPr id="11" name="memory errors card"/>
          <p:cNvSpPr/>
          <p:nvPr/>
        </p:nvSpPr>
        <p:spPr>
          <a:xfrm>
            <a:off x="6181344" y="1417320"/>
            <a:ext cx="2606040" cy="2011680"/>
          </a:xfrm>
          <a:prstGeom prst="roundRect">
            <a:avLst>
              <a:gd name="adj" fmla="val 5455"/>
            </a:avLst>
          </a:prstGeom>
          <a:solidFill>
            <a:schemeClr val="bg2"/>
          </a:solidFill>
          <a:ln/>
        </p:spPr>
      </p:sp>
      <p:sp>
        <p:nvSpPr>
          <p:cNvPr id="12" name="Text 10"/>
          <p:cNvSpPr txBox="1"/>
          <p:nvPr/>
        </p:nvSpPr>
        <p:spPr>
          <a:xfrm>
            <a:off x="6455664" y="1554480"/>
            <a:ext cx="2103120" cy="868680"/>
          </a:xfrm>
          <a:prstGeom prst="rect">
            <a:avLst/>
          </a:prstGeom>
          <a:noFill/>
          <a:ln/>
        </p:spPr>
        <p:txBody>
          <a:bodyPr wrap="square" lIns="0" tIns="0" rIns="0" bIns="0" rtlCol="0" anchor="t"/>
          <a:lstStyle/>
          <a:p>
            <a:pPr indent="0" marL="0">
              <a:buNone/>
            </a:pPr>
            <a:r>
              <a:rPr lang="en-US" sz="5600" b="1" dirty="0">
                <a:solidFill>
                  <a:schemeClr val="accent1"/>
                </a:solidFill>
              </a:rPr>
              <a:t>0</a:t>
            </a:r>
            <a:endParaRPr lang="en-US" sz="5600" dirty="0"/>
          </a:p>
        </p:txBody>
      </p:sp>
      <p:sp>
        <p:nvSpPr>
          <p:cNvPr id="13" name="Text 11"/>
          <p:cNvSpPr txBox="1"/>
          <p:nvPr/>
        </p:nvSpPr>
        <p:spPr>
          <a:xfrm>
            <a:off x="6455664" y="2450592"/>
            <a:ext cx="2103120" cy="365760"/>
          </a:xfrm>
          <a:prstGeom prst="rect">
            <a:avLst/>
          </a:prstGeom>
          <a:noFill/>
          <a:ln/>
        </p:spPr>
        <p:txBody>
          <a:bodyPr wrap="square" lIns="0" tIns="0" rIns="0" bIns="0" rtlCol="0" anchor="t"/>
          <a:lstStyle/>
          <a:p>
            <a:pPr indent="0" marL="0">
              <a:buNone/>
            </a:pPr>
            <a:r>
              <a:rPr lang="en-US" sz="1800" b="1" dirty="0">
                <a:solidFill>
                  <a:schemeClr val="tx2"/>
                </a:solidFill>
              </a:rPr>
              <a:t>memory errors</a:t>
            </a:r>
            <a:endParaRPr lang="en-US" sz="1800" dirty="0"/>
          </a:p>
        </p:txBody>
      </p:sp>
      <p:sp>
        <p:nvSpPr>
          <p:cNvPr id="14" name="Text 12"/>
          <p:cNvSpPr txBox="1"/>
          <p:nvPr/>
        </p:nvSpPr>
        <p:spPr>
          <a:xfrm>
            <a:off x="6455664" y="2834640"/>
            <a:ext cx="2194560" cy="502920"/>
          </a:xfrm>
          <a:prstGeom prst="rect">
            <a:avLst/>
          </a:prstGeom>
          <a:noFill/>
          <a:ln/>
        </p:spPr>
        <p:txBody>
          <a:bodyPr wrap="square" lIns="0" tIns="0" rIns="0" bIns="0" rtlCol="0" anchor="t"/>
          <a:lstStyle/>
          <a:p>
            <a:pPr indent="0" marL="0">
              <a:buNone/>
            </a:pPr>
            <a:r>
              <a:rPr lang="en-US" sz="1200" dirty="0">
                <a:solidFill>
                  <a:schemeClr val="tx2"/>
                </a:solidFill>
              </a:rPr>
              <a:t>C tests under AddressSanitizer</a:t>
            </a:r>
            <a:endParaRPr lang="en-US" sz="1200" dirty="0"/>
          </a:p>
        </p:txBody>
      </p:sp>
      <p:sp>
        <p:nvSpPr>
          <p:cNvPr id="15" name="live edge cases card"/>
          <p:cNvSpPr/>
          <p:nvPr/>
        </p:nvSpPr>
        <p:spPr>
          <a:xfrm>
            <a:off x="8997696" y="1417320"/>
            <a:ext cx="2606040" cy="2011680"/>
          </a:xfrm>
          <a:prstGeom prst="roundRect">
            <a:avLst>
              <a:gd name="adj" fmla="val 5455"/>
            </a:avLst>
          </a:prstGeom>
          <a:solidFill>
            <a:schemeClr val="bg2"/>
          </a:solidFill>
          <a:ln/>
        </p:spPr>
      </p:sp>
      <p:sp>
        <p:nvSpPr>
          <p:cNvPr id="16" name="Text 14"/>
          <p:cNvSpPr txBox="1"/>
          <p:nvPr/>
        </p:nvSpPr>
        <p:spPr>
          <a:xfrm>
            <a:off x="9272016" y="1554480"/>
            <a:ext cx="2103120" cy="868680"/>
          </a:xfrm>
          <a:prstGeom prst="rect">
            <a:avLst/>
          </a:prstGeom>
          <a:noFill/>
          <a:ln/>
        </p:spPr>
        <p:txBody>
          <a:bodyPr wrap="square" lIns="0" tIns="0" rIns="0" bIns="0" rtlCol="0" anchor="t"/>
          <a:lstStyle/>
          <a:p>
            <a:pPr indent="0" marL="0">
              <a:buNone/>
            </a:pPr>
            <a:r>
              <a:rPr lang="en-US" sz="5600" b="1" dirty="0">
                <a:solidFill>
                  <a:schemeClr val="accent1"/>
                </a:solidFill>
              </a:rPr>
              <a:t>19</a:t>
            </a:r>
            <a:endParaRPr lang="en-US" sz="5600" dirty="0"/>
          </a:p>
        </p:txBody>
      </p:sp>
      <p:sp>
        <p:nvSpPr>
          <p:cNvPr id="17" name="Text 15"/>
          <p:cNvSpPr txBox="1"/>
          <p:nvPr/>
        </p:nvSpPr>
        <p:spPr>
          <a:xfrm>
            <a:off x="9272016" y="2450592"/>
            <a:ext cx="2103120" cy="365760"/>
          </a:xfrm>
          <a:prstGeom prst="rect">
            <a:avLst/>
          </a:prstGeom>
          <a:noFill/>
          <a:ln/>
        </p:spPr>
        <p:txBody>
          <a:bodyPr wrap="square" lIns="0" tIns="0" rIns="0" bIns="0" rtlCol="0" anchor="t"/>
          <a:lstStyle/>
          <a:p>
            <a:pPr indent="0" marL="0">
              <a:buNone/>
            </a:pPr>
            <a:r>
              <a:rPr lang="en-US" sz="1800" b="1" dirty="0">
                <a:solidFill>
                  <a:schemeClr val="tx2"/>
                </a:solidFill>
              </a:rPr>
              <a:t>live edge cases</a:t>
            </a:r>
            <a:endParaRPr lang="en-US" sz="1800" dirty="0"/>
          </a:p>
        </p:txBody>
      </p:sp>
      <p:sp>
        <p:nvSpPr>
          <p:cNvPr id="18" name="Text 16"/>
          <p:cNvSpPr txBox="1"/>
          <p:nvPr/>
        </p:nvSpPr>
        <p:spPr>
          <a:xfrm>
            <a:off x="9272016" y="2834640"/>
            <a:ext cx="2194560" cy="502920"/>
          </a:xfrm>
          <a:prstGeom prst="rect">
            <a:avLst/>
          </a:prstGeom>
          <a:noFill/>
          <a:ln/>
        </p:spPr>
        <p:txBody>
          <a:bodyPr wrap="square" lIns="0" tIns="0" rIns="0" bIns="0" rtlCol="0" anchor="t"/>
          <a:lstStyle/>
          <a:p>
            <a:pPr indent="0" marL="0">
              <a:buNone/>
            </a:pPr>
            <a:r>
              <a:rPr lang="en-US" sz="1200" dirty="0">
                <a:solidFill>
                  <a:schemeClr val="tx2"/>
                </a:solidFill>
              </a:rPr>
              <a:t>DSA laboratory, Edge cases tab</a:t>
            </a:r>
            <a:endParaRPr lang="en-US" sz="1200" dirty="0"/>
          </a:p>
        </p:txBody>
      </p:sp>
      <p:sp>
        <p:nvSpPr>
          <p:cNvPr id="19" name="backend/tests/test_engine.c card"/>
          <p:cNvSpPr/>
          <p:nvPr/>
        </p:nvSpPr>
        <p:spPr>
          <a:xfrm>
            <a:off x="548640" y="3703320"/>
            <a:ext cx="5440680" cy="2377440"/>
          </a:xfrm>
          <a:prstGeom prst="roundRect">
            <a:avLst>
              <a:gd name="adj" fmla="val 4615"/>
            </a:avLst>
          </a:prstGeom>
          <a:solidFill>
            <a:schemeClr val="bg2"/>
          </a:solidFill>
          <a:ln/>
        </p:spPr>
      </p:sp>
      <p:sp>
        <p:nvSpPr>
          <p:cNvPr id="20" name="backend/tests/test_engine.c tile"/>
          <p:cNvSpPr/>
          <p:nvPr/>
        </p:nvSpPr>
        <p:spPr>
          <a:xfrm>
            <a:off x="822960" y="3977640"/>
            <a:ext cx="640080" cy="640080"/>
          </a:xfrm>
          <a:prstGeom prst="roundRect">
            <a:avLst>
              <a:gd name="adj" fmla="val 24000"/>
            </a:avLst>
          </a:prstGeom>
          <a:solidFill>
            <a:schemeClr val="accent4">
              <a:alpha val="14000"/>
            </a:schemeClr>
          </a:solidFill>
          <a:ln/>
        </p:spPr>
      </p:sp>
      <p:pic>
        <p:nvPicPr>
          <p:cNvPr id="21" name="backend/tests/test_engine.c icon" descr="preencoded.png">    </p:cNvPr>
          <p:cNvPicPr>
            <a:picLocks noChangeAspect="1"/>
          </p:cNvPicPr>
          <p:nvPr/>
        </p:nvPicPr>
        <p:blipFill>
          <a:blip r:embed="rId1"/>
          <a:stretch>
            <a:fillRect/>
          </a:stretch>
        </p:blipFill>
        <p:spPr>
          <a:xfrm>
            <a:off x="963778" y="4118458"/>
            <a:ext cx="358445" cy="358445"/>
          </a:xfrm>
          <a:prstGeom prst="rect">
            <a:avLst/>
          </a:prstGeom>
        </p:spPr>
      </p:pic>
      <p:sp>
        <p:nvSpPr>
          <p:cNvPr id="22" name="Text 19"/>
          <p:cNvSpPr txBox="1"/>
          <p:nvPr/>
        </p:nvSpPr>
        <p:spPr>
          <a:xfrm>
            <a:off x="1645920" y="4069080"/>
            <a:ext cx="4114800" cy="457200"/>
          </a:xfrm>
          <a:prstGeom prst="rect">
            <a:avLst/>
          </a:prstGeom>
          <a:noFill/>
          <a:ln/>
        </p:spPr>
        <p:txBody>
          <a:bodyPr wrap="square" lIns="0" tIns="0" rIns="0" bIns="0" rtlCol="0" anchor="ctr"/>
          <a:lstStyle/>
          <a:p>
            <a:pPr indent="0" marL="0">
              <a:buNone/>
            </a:pPr>
            <a:r>
              <a:rPr lang="en-US" sz="1300" b="1" dirty="0">
                <a:solidFill>
                  <a:schemeClr val="accent1"/>
                </a:solidFill>
                <a:latin typeface="Courier New" pitchFamily="34" charset="0"/>
                <a:ea typeface="Courier New" pitchFamily="34" charset="-122"/>
                <a:cs typeface="Courier New" pitchFamily="34" charset="-120"/>
              </a:rPr>
              <a:t>backend/tests/test_engine.c</a:t>
            </a:r>
            <a:endParaRPr lang="en-US" sz="1300" dirty="0"/>
          </a:p>
        </p:txBody>
      </p:sp>
      <p:sp>
        <p:nvSpPr>
          <p:cNvPr id="23" name="Text 20"/>
          <p:cNvSpPr txBox="1"/>
          <p:nvPr/>
        </p:nvSpPr>
        <p:spPr>
          <a:xfrm>
            <a:off x="822960" y="4800600"/>
            <a:ext cx="4892040" cy="1188720"/>
          </a:xfrm>
          <a:prstGeom prst="rect">
            <a:avLst/>
          </a:prstGeom>
          <a:noFill/>
          <a:ln/>
        </p:spPr>
        <p:txBody>
          <a:bodyPr wrap="square" lIns="0" tIns="0" rIns="0" bIns="0" rtlCol="0" anchor="t"/>
          <a:lstStyle/>
          <a:p>
            <a:pPr indent="0" marL="0">
              <a:buNone/>
            </a:pPr>
            <a:r>
              <a:rPr lang="en-US" sz="1400" dirty="0">
                <a:solidFill>
                  <a:schemeClr val="tx1"/>
                </a:solidFill>
              </a:rPr>
              <a:t>Calls the C functions directly: searches with missing IDs, hash collisions, all four sorts, heap order, AVL balance after 1,000 sorted inserts, trie prefixes, knapsack, Dijkstra, FIFO queue</a:t>
            </a:r>
            <a:endParaRPr lang="en-US" sz="1400" dirty="0"/>
          </a:p>
        </p:txBody>
      </p:sp>
      <p:sp>
        <p:nvSpPr>
          <p:cNvPr id="24" name="tests/test_c_bridge.py, test_database.py card"/>
          <p:cNvSpPr/>
          <p:nvPr/>
        </p:nvSpPr>
        <p:spPr>
          <a:xfrm>
            <a:off x="6172200" y="3703320"/>
            <a:ext cx="5440680" cy="2377440"/>
          </a:xfrm>
          <a:prstGeom prst="roundRect">
            <a:avLst>
              <a:gd name="adj" fmla="val 4615"/>
            </a:avLst>
          </a:prstGeom>
          <a:solidFill>
            <a:schemeClr val="bg2"/>
          </a:solidFill>
          <a:ln/>
        </p:spPr>
      </p:sp>
      <p:sp>
        <p:nvSpPr>
          <p:cNvPr id="25" name="tests/test_c_bridge.py, test_database.py tile"/>
          <p:cNvSpPr/>
          <p:nvPr/>
        </p:nvSpPr>
        <p:spPr>
          <a:xfrm>
            <a:off x="6446520" y="3977640"/>
            <a:ext cx="640080" cy="640080"/>
          </a:xfrm>
          <a:prstGeom prst="roundRect">
            <a:avLst>
              <a:gd name="adj" fmla="val 24000"/>
            </a:avLst>
          </a:prstGeom>
          <a:solidFill>
            <a:schemeClr val="accent1">
              <a:alpha val="14000"/>
            </a:schemeClr>
          </a:solidFill>
          <a:ln/>
        </p:spPr>
      </p:sp>
      <p:pic>
        <p:nvPicPr>
          <p:cNvPr id="26" name="tests/test_c_bridge.py, test_database.py icon" descr="preencoded.png">    </p:cNvPr>
          <p:cNvPicPr>
            <a:picLocks noChangeAspect="1"/>
          </p:cNvPicPr>
          <p:nvPr/>
        </p:nvPicPr>
        <p:blipFill>
          <a:blip r:embed="rId2"/>
          <a:stretch>
            <a:fillRect/>
          </a:stretch>
        </p:blipFill>
        <p:spPr>
          <a:xfrm>
            <a:off x="6587338" y="4118458"/>
            <a:ext cx="358445" cy="358445"/>
          </a:xfrm>
          <a:prstGeom prst="rect">
            <a:avLst/>
          </a:prstGeom>
        </p:spPr>
      </p:pic>
      <p:sp>
        <p:nvSpPr>
          <p:cNvPr id="27" name="Text 23"/>
          <p:cNvSpPr txBox="1"/>
          <p:nvPr/>
        </p:nvSpPr>
        <p:spPr>
          <a:xfrm>
            <a:off x="7269480" y="4069080"/>
            <a:ext cx="4114800" cy="457200"/>
          </a:xfrm>
          <a:prstGeom prst="rect">
            <a:avLst/>
          </a:prstGeom>
          <a:noFill/>
          <a:ln/>
        </p:spPr>
        <p:txBody>
          <a:bodyPr wrap="square" lIns="0" tIns="0" rIns="0" bIns="0" rtlCol="0" anchor="ctr"/>
          <a:lstStyle/>
          <a:p>
            <a:pPr indent="0" marL="0">
              <a:buNone/>
            </a:pPr>
            <a:r>
              <a:rPr lang="en-US" sz="1300" b="1" dirty="0">
                <a:solidFill>
                  <a:schemeClr val="accent1"/>
                </a:solidFill>
                <a:latin typeface="Courier New" pitchFamily="34" charset="0"/>
                <a:ea typeface="Courier New" pitchFamily="34" charset="-122"/>
                <a:cs typeface="Courier New" pitchFamily="34" charset="-120"/>
              </a:rPr>
              <a:t>tests/test_c_bridge.py, test_database.py</a:t>
            </a:r>
            <a:endParaRPr lang="en-US" sz="1300" dirty="0"/>
          </a:p>
        </p:txBody>
      </p:sp>
      <p:sp>
        <p:nvSpPr>
          <p:cNvPr id="28" name="Text 24"/>
          <p:cNvSpPr txBox="1"/>
          <p:nvPr/>
        </p:nvSpPr>
        <p:spPr>
          <a:xfrm>
            <a:off x="6446520" y="4800600"/>
            <a:ext cx="4892040" cy="1188720"/>
          </a:xfrm>
          <a:prstGeom prst="rect">
            <a:avLst/>
          </a:prstGeom>
          <a:noFill/>
          <a:ln/>
        </p:spPr>
        <p:txBody>
          <a:bodyPr wrap="square" lIns="0" tIns="0" rIns="0" bIns="0" rtlCol="0" anchor="t"/>
          <a:lstStyle/>
          <a:p>
            <a:pPr indent="0" marL="0">
              <a:buNone/>
            </a:pPr>
            <a:r>
              <a:rPr lang="en-US" sz="1400" dirty="0">
                <a:solidFill>
                  <a:schemeClr val="tx1"/>
                </a:solidFill>
              </a:rPr>
              <a:t>Checks the Python side: C sorts against Python's sorted(), knapsack against brute force, invalid prices, insufficient stock, saving to SQLite, seeded history</a:t>
            </a:r>
            <a:endParaRPr lang="en-US" sz="14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77240"/>
          </a:xfrm>
          <a:prstGeom prst="rect">
            <a:avLst/>
          </a:prstGeom>
          <a:noFill/>
          <a:ln/>
        </p:spPr>
        <p:txBody>
          <a:bodyPr wrap="square" lIns="0" tIns="0" rIns="0" bIns="0" rtlCol="0" anchor="ctr"/>
          <a:lstStyle/>
          <a:p>
            <a:pPr algn="l" indent="0" marL="0">
              <a:buNone/>
            </a:pPr>
            <a:r>
              <a:rPr lang="en-US" sz="3600" b="1" dirty="0">
                <a:solidFill>
                  <a:schemeClr val="tx2"/>
                </a:solidFill>
              </a:rPr>
              <a:t>How to run it in three steps</a:t>
            </a:r>
            <a:endParaRPr lang="en-US" sz="3600" dirty="0"/>
          </a:p>
        </p:txBody>
      </p:sp>
      <p:sp>
        <p:nvSpPr>
          <p:cNvPr id="3" name="run 1 tile"/>
          <p:cNvSpPr/>
          <p:nvPr/>
        </p:nvSpPr>
        <p:spPr>
          <a:xfrm>
            <a:off x="548640" y="1463040"/>
            <a:ext cx="822960" cy="822960"/>
          </a:xfrm>
          <a:prstGeom prst="roundRect">
            <a:avLst>
              <a:gd name="adj" fmla="val 24000"/>
            </a:avLst>
          </a:prstGeom>
          <a:solidFill>
            <a:schemeClr val="accent1">
              <a:alpha val="14000"/>
            </a:schemeClr>
          </a:solidFill>
          <a:ln/>
        </p:spPr>
      </p:sp>
      <p:pic>
        <p:nvPicPr>
          <p:cNvPr id="4" name="run 1 icon" descr="preencoded.png">    </p:cNvPr>
          <p:cNvPicPr>
            <a:picLocks noChangeAspect="1"/>
          </p:cNvPicPr>
          <p:nvPr/>
        </p:nvPicPr>
        <p:blipFill>
          <a:blip r:embed="rId1"/>
          <a:stretch>
            <a:fillRect/>
          </a:stretch>
        </p:blipFill>
        <p:spPr>
          <a:xfrm>
            <a:off x="729691" y="1644091"/>
            <a:ext cx="460858" cy="460858"/>
          </a:xfrm>
          <a:prstGeom prst="rect">
            <a:avLst/>
          </a:prstGeom>
        </p:spPr>
      </p:pic>
      <p:sp>
        <p:nvSpPr>
          <p:cNvPr id="5" name="Text 2"/>
          <p:cNvSpPr txBox="1"/>
          <p:nvPr/>
        </p:nvSpPr>
        <p:spPr>
          <a:xfrm>
            <a:off x="1645920" y="1463040"/>
            <a:ext cx="5486400" cy="384048"/>
          </a:xfrm>
          <a:prstGeom prst="rect">
            <a:avLst/>
          </a:prstGeom>
          <a:noFill/>
          <a:ln/>
        </p:spPr>
        <p:txBody>
          <a:bodyPr wrap="square" lIns="0" tIns="0" rIns="0" bIns="0" rtlCol="0" anchor="t"/>
          <a:lstStyle/>
          <a:p>
            <a:pPr indent="0" marL="0">
              <a:buNone/>
            </a:pPr>
            <a:r>
              <a:rPr lang="en-US" sz="2000" b="1" dirty="0">
                <a:solidFill>
                  <a:schemeClr val="tx2"/>
                </a:solidFill>
              </a:rPr>
              <a:t>1.  Install the Python packages</a:t>
            </a:r>
            <a:endParaRPr lang="en-US" sz="2000" dirty="0"/>
          </a:p>
        </p:txBody>
      </p:sp>
      <p:sp>
        <p:nvSpPr>
          <p:cNvPr id="6" name="cmd 1"/>
          <p:cNvSpPr/>
          <p:nvPr/>
        </p:nvSpPr>
        <p:spPr>
          <a:xfrm>
            <a:off x="1645920" y="1938528"/>
            <a:ext cx="6035040" cy="457200"/>
          </a:xfrm>
          <a:prstGeom prst="roundRect">
            <a:avLst>
              <a:gd name="adj" fmla="val 16000"/>
            </a:avLst>
          </a:prstGeom>
          <a:solidFill>
            <a:schemeClr val="tx2"/>
          </a:solidFill>
          <a:ln/>
        </p:spPr>
      </p:sp>
      <p:sp>
        <p:nvSpPr>
          <p:cNvPr id="7" name="Text 4"/>
          <p:cNvSpPr txBox="1"/>
          <p:nvPr/>
        </p:nvSpPr>
        <p:spPr>
          <a:xfrm>
            <a:off x="1828800" y="1938528"/>
            <a:ext cx="5760720" cy="457200"/>
          </a:xfrm>
          <a:prstGeom prst="rect">
            <a:avLst/>
          </a:prstGeom>
          <a:noFill/>
          <a:ln/>
        </p:spPr>
        <p:txBody>
          <a:bodyPr wrap="square" lIns="0" tIns="0" rIns="0" bIns="0" rtlCol="0" anchor="ctr"/>
          <a:lstStyle/>
          <a:p>
            <a:pPr indent="0" marL="0">
              <a:buNone/>
            </a:pPr>
            <a:r>
              <a:rPr lang="en-US" sz="1500" dirty="0">
                <a:solidFill>
                  <a:schemeClr val="bg1"/>
                </a:solidFill>
                <a:latin typeface="Courier New" pitchFamily="34" charset="0"/>
                <a:ea typeface="Courier New" pitchFamily="34" charset="-122"/>
                <a:cs typeface="Courier New" pitchFamily="34" charset="-120"/>
              </a:rPr>
              <a:t>pip install -r requirements.txt</a:t>
            </a:r>
            <a:endParaRPr lang="en-US" sz="1500" dirty="0"/>
          </a:p>
        </p:txBody>
      </p:sp>
      <p:sp>
        <p:nvSpPr>
          <p:cNvPr id="8" name="run 2 tile"/>
          <p:cNvSpPr/>
          <p:nvPr/>
        </p:nvSpPr>
        <p:spPr>
          <a:xfrm>
            <a:off x="548640" y="2926080"/>
            <a:ext cx="822960" cy="822960"/>
          </a:xfrm>
          <a:prstGeom prst="roundRect">
            <a:avLst>
              <a:gd name="adj" fmla="val 24000"/>
            </a:avLst>
          </a:prstGeom>
          <a:solidFill>
            <a:schemeClr val="accent1">
              <a:alpha val="14000"/>
            </a:schemeClr>
          </a:solidFill>
          <a:ln/>
        </p:spPr>
      </p:sp>
      <p:pic>
        <p:nvPicPr>
          <p:cNvPr id="9" name="run 2 icon" descr="preencoded.png">    </p:cNvPr>
          <p:cNvPicPr>
            <a:picLocks noChangeAspect="1"/>
          </p:cNvPicPr>
          <p:nvPr/>
        </p:nvPicPr>
        <p:blipFill>
          <a:blip r:embed="rId2"/>
          <a:stretch>
            <a:fillRect/>
          </a:stretch>
        </p:blipFill>
        <p:spPr>
          <a:xfrm>
            <a:off x="729691" y="3107131"/>
            <a:ext cx="460858" cy="460858"/>
          </a:xfrm>
          <a:prstGeom prst="rect">
            <a:avLst/>
          </a:prstGeom>
        </p:spPr>
      </p:pic>
      <p:sp>
        <p:nvSpPr>
          <p:cNvPr id="10" name="Text 6"/>
          <p:cNvSpPr txBox="1"/>
          <p:nvPr/>
        </p:nvSpPr>
        <p:spPr>
          <a:xfrm>
            <a:off x="1645920" y="2926080"/>
            <a:ext cx="5486400" cy="384048"/>
          </a:xfrm>
          <a:prstGeom prst="rect">
            <a:avLst/>
          </a:prstGeom>
          <a:noFill/>
          <a:ln/>
        </p:spPr>
        <p:txBody>
          <a:bodyPr wrap="square" lIns="0" tIns="0" rIns="0" bIns="0" rtlCol="0" anchor="t"/>
          <a:lstStyle/>
          <a:p>
            <a:pPr indent="0" marL="0">
              <a:buNone/>
            </a:pPr>
            <a:r>
              <a:rPr lang="en-US" sz="2000" b="1" dirty="0">
                <a:solidFill>
                  <a:schemeClr val="tx2"/>
                </a:solidFill>
              </a:rPr>
              <a:t>2.  Build the C library and test it</a:t>
            </a:r>
            <a:endParaRPr lang="en-US" sz="2000" dirty="0"/>
          </a:p>
        </p:txBody>
      </p:sp>
      <p:sp>
        <p:nvSpPr>
          <p:cNvPr id="11" name="cmd 2"/>
          <p:cNvSpPr/>
          <p:nvPr/>
        </p:nvSpPr>
        <p:spPr>
          <a:xfrm>
            <a:off x="1645920" y="3401568"/>
            <a:ext cx="6035040" cy="457200"/>
          </a:xfrm>
          <a:prstGeom prst="roundRect">
            <a:avLst>
              <a:gd name="adj" fmla="val 16000"/>
            </a:avLst>
          </a:prstGeom>
          <a:solidFill>
            <a:schemeClr val="tx2"/>
          </a:solidFill>
          <a:ln/>
        </p:spPr>
      </p:sp>
      <p:sp>
        <p:nvSpPr>
          <p:cNvPr id="12" name="Text 8"/>
          <p:cNvSpPr txBox="1"/>
          <p:nvPr/>
        </p:nvSpPr>
        <p:spPr>
          <a:xfrm>
            <a:off x="1828800" y="3401568"/>
            <a:ext cx="5760720" cy="457200"/>
          </a:xfrm>
          <a:prstGeom prst="rect">
            <a:avLst/>
          </a:prstGeom>
          <a:noFill/>
          <a:ln/>
        </p:spPr>
        <p:txBody>
          <a:bodyPr wrap="square" lIns="0" tIns="0" rIns="0" bIns="0" rtlCol="0" anchor="ctr"/>
          <a:lstStyle/>
          <a:p>
            <a:pPr indent="0" marL="0">
              <a:buNone/>
            </a:pPr>
            <a:r>
              <a:rPr lang="en-US" sz="1500" dirty="0">
                <a:solidFill>
                  <a:schemeClr val="bg1"/>
                </a:solidFill>
                <a:latin typeface="Courier New" pitchFamily="34" charset="0"/>
                <a:ea typeface="Courier New" pitchFamily="34" charset="-122"/>
                <a:cs typeface="Courier New" pitchFamily="34" charset="-120"/>
              </a:rPr>
              <a:t>cd backend &amp;&amp; make &amp;&amp; make test</a:t>
            </a:r>
            <a:endParaRPr lang="en-US" sz="1500" dirty="0"/>
          </a:p>
        </p:txBody>
      </p:sp>
      <p:sp>
        <p:nvSpPr>
          <p:cNvPr id="13" name="run 3 tile"/>
          <p:cNvSpPr/>
          <p:nvPr/>
        </p:nvSpPr>
        <p:spPr>
          <a:xfrm>
            <a:off x="548640" y="4389120"/>
            <a:ext cx="822960" cy="822960"/>
          </a:xfrm>
          <a:prstGeom prst="roundRect">
            <a:avLst>
              <a:gd name="adj" fmla="val 24000"/>
            </a:avLst>
          </a:prstGeom>
          <a:solidFill>
            <a:schemeClr val="accent1">
              <a:alpha val="14000"/>
            </a:schemeClr>
          </a:solidFill>
          <a:ln/>
        </p:spPr>
      </p:sp>
      <p:pic>
        <p:nvPicPr>
          <p:cNvPr id="14" name="run 3 icon" descr="preencoded.png">    </p:cNvPr>
          <p:cNvPicPr>
            <a:picLocks noChangeAspect="1"/>
          </p:cNvPicPr>
          <p:nvPr/>
        </p:nvPicPr>
        <p:blipFill>
          <a:blip r:embed="rId3"/>
          <a:stretch>
            <a:fillRect/>
          </a:stretch>
        </p:blipFill>
        <p:spPr>
          <a:xfrm>
            <a:off x="729691" y="4570171"/>
            <a:ext cx="460858" cy="460858"/>
          </a:xfrm>
          <a:prstGeom prst="rect">
            <a:avLst/>
          </a:prstGeom>
        </p:spPr>
      </p:pic>
      <p:sp>
        <p:nvSpPr>
          <p:cNvPr id="15" name="Text 10"/>
          <p:cNvSpPr txBox="1"/>
          <p:nvPr/>
        </p:nvSpPr>
        <p:spPr>
          <a:xfrm>
            <a:off x="1645920" y="4389120"/>
            <a:ext cx="5486400" cy="384048"/>
          </a:xfrm>
          <a:prstGeom prst="rect">
            <a:avLst/>
          </a:prstGeom>
          <a:noFill/>
          <a:ln/>
        </p:spPr>
        <p:txBody>
          <a:bodyPr wrap="square" lIns="0" tIns="0" rIns="0" bIns="0" rtlCol="0" anchor="t"/>
          <a:lstStyle/>
          <a:p>
            <a:pPr indent="0" marL="0">
              <a:buNone/>
            </a:pPr>
            <a:r>
              <a:rPr lang="en-US" sz="2000" b="1" dirty="0">
                <a:solidFill>
                  <a:schemeClr val="tx2"/>
                </a:solidFill>
              </a:rPr>
              <a:t>3.  Start the app</a:t>
            </a:r>
            <a:endParaRPr lang="en-US" sz="2000" dirty="0"/>
          </a:p>
        </p:txBody>
      </p:sp>
      <p:sp>
        <p:nvSpPr>
          <p:cNvPr id="16" name="cmd 3"/>
          <p:cNvSpPr/>
          <p:nvPr/>
        </p:nvSpPr>
        <p:spPr>
          <a:xfrm>
            <a:off x="1645920" y="4864608"/>
            <a:ext cx="6035040" cy="457200"/>
          </a:xfrm>
          <a:prstGeom prst="roundRect">
            <a:avLst>
              <a:gd name="adj" fmla="val 16000"/>
            </a:avLst>
          </a:prstGeom>
          <a:solidFill>
            <a:schemeClr val="tx2"/>
          </a:solidFill>
          <a:ln/>
        </p:spPr>
      </p:sp>
      <p:sp>
        <p:nvSpPr>
          <p:cNvPr id="17" name="Text 12"/>
          <p:cNvSpPr txBox="1"/>
          <p:nvPr/>
        </p:nvSpPr>
        <p:spPr>
          <a:xfrm>
            <a:off x="1828800" y="4864608"/>
            <a:ext cx="5760720" cy="457200"/>
          </a:xfrm>
          <a:prstGeom prst="rect">
            <a:avLst/>
          </a:prstGeom>
          <a:noFill/>
          <a:ln/>
        </p:spPr>
        <p:txBody>
          <a:bodyPr wrap="square" lIns="0" tIns="0" rIns="0" bIns="0" rtlCol="0" anchor="ctr"/>
          <a:lstStyle/>
          <a:p>
            <a:pPr indent="0" marL="0">
              <a:buNone/>
            </a:pPr>
            <a:r>
              <a:rPr lang="en-US" sz="1500" dirty="0">
                <a:solidFill>
                  <a:schemeClr val="bg1"/>
                </a:solidFill>
                <a:latin typeface="Courier New" pitchFamily="34" charset="0"/>
                <a:ea typeface="Courier New" pitchFamily="34" charset="-122"/>
                <a:cs typeface="Courier New" pitchFamily="34" charset="-120"/>
              </a:rPr>
              <a:t>streamlit run app.py</a:t>
            </a:r>
            <a:endParaRPr lang="en-US" sz="1500" dirty="0"/>
          </a:p>
        </p:txBody>
      </p:sp>
      <p:sp>
        <p:nvSpPr>
          <p:cNvPr id="18" name="windows note card"/>
          <p:cNvSpPr/>
          <p:nvPr/>
        </p:nvSpPr>
        <p:spPr>
          <a:xfrm>
            <a:off x="8229600" y="1463040"/>
            <a:ext cx="3383280" cy="4023360"/>
          </a:xfrm>
          <a:prstGeom prst="roundRect">
            <a:avLst>
              <a:gd name="adj" fmla="val 3243"/>
            </a:avLst>
          </a:prstGeom>
          <a:solidFill>
            <a:schemeClr val="bg2"/>
          </a:solidFill>
          <a:ln/>
        </p:spPr>
      </p:sp>
      <p:sp>
        <p:nvSpPr>
          <p:cNvPr id="19" name="windows tile"/>
          <p:cNvSpPr/>
          <p:nvPr/>
        </p:nvSpPr>
        <p:spPr>
          <a:xfrm>
            <a:off x="8503920" y="1737360"/>
            <a:ext cx="640080" cy="640080"/>
          </a:xfrm>
          <a:prstGeom prst="roundRect">
            <a:avLst>
              <a:gd name="adj" fmla="val 24000"/>
            </a:avLst>
          </a:prstGeom>
          <a:solidFill>
            <a:schemeClr val="accent2">
              <a:alpha val="14000"/>
            </a:schemeClr>
          </a:solidFill>
          <a:ln/>
        </p:spPr>
      </p:sp>
      <p:pic>
        <p:nvPicPr>
          <p:cNvPr id="20" name="windows icon" descr="preencoded.png">    </p:cNvPr>
          <p:cNvPicPr>
            <a:picLocks noChangeAspect="1"/>
          </p:cNvPicPr>
          <p:nvPr/>
        </p:nvPicPr>
        <p:blipFill>
          <a:blip r:embed="rId4"/>
          <a:stretch>
            <a:fillRect/>
          </a:stretch>
        </p:blipFill>
        <p:spPr>
          <a:xfrm>
            <a:off x="8644738" y="1878178"/>
            <a:ext cx="358445" cy="358445"/>
          </a:xfrm>
          <a:prstGeom prst="rect">
            <a:avLst/>
          </a:prstGeom>
        </p:spPr>
      </p:pic>
      <p:sp>
        <p:nvSpPr>
          <p:cNvPr id="21" name="Text 15"/>
          <p:cNvSpPr txBox="1"/>
          <p:nvPr/>
        </p:nvSpPr>
        <p:spPr>
          <a:xfrm>
            <a:off x="8503920" y="2560320"/>
            <a:ext cx="2834640" cy="384048"/>
          </a:xfrm>
          <a:prstGeom prst="rect">
            <a:avLst/>
          </a:prstGeom>
          <a:noFill/>
          <a:ln/>
        </p:spPr>
        <p:txBody>
          <a:bodyPr wrap="square" lIns="0" tIns="0" rIns="0" bIns="0" rtlCol="0" anchor="t"/>
          <a:lstStyle/>
          <a:p>
            <a:pPr indent="0" marL="0">
              <a:buNone/>
            </a:pPr>
            <a:r>
              <a:rPr lang="en-US" sz="1800" b="1" dirty="0">
                <a:solidFill>
                  <a:schemeClr val="tx2"/>
                </a:solidFill>
              </a:rPr>
              <a:t>On Windows</a:t>
            </a:r>
            <a:endParaRPr lang="en-US" sz="1800" dirty="0"/>
          </a:p>
        </p:txBody>
      </p:sp>
      <p:sp>
        <p:nvSpPr>
          <p:cNvPr id="22" name="Text 16"/>
          <p:cNvSpPr txBox="1"/>
          <p:nvPr/>
        </p:nvSpPr>
        <p:spPr>
          <a:xfrm>
            <a:off x="8503920" y="3017520"/>
            <a:ext cx="2834640" cy="2194560"/>
          </a:xfrm>
          <a:prstGeom prst="rect">
            <a:avLst/>
          </a:prstGeom>
          <a:noFill/>
          <a:ln/>
        </p:spPr>
        <p:txBody>
          <a:bodyPr wrap="square" lIns="0" tIns="0" rIns="0" bIns="0" rtlCol="0" anchor="t"/>
          <a:lstStyle/>
          <a:p>
            <a:pPr indent="0" marL="0">
              <a:buNone/>
            </a:pPr>
            <a:r>
              <a:rPr lang="en-US" sz="1400" dirty="0">
                <a:solidFill>
                  <a:schemeClr val="tx1"/>
                </a:solidFill>
              </a:rPr>
              <a:t>Install GCC with MSYS2 and use mingw32-make instead of make. It builds stockwise.dll. README.md has the full steps.</a:t>
            </a:r>
            <a:endParaRPr lang="en-US" sz="14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731520" y="2377440"/>
            <a:ext cx="10698480" cy="1005840"/>
          </a:xfrm>
          <a:prstGeom prst="rect">
            <a:avLst/>
          </a:prstGeom>
          <a:noFill/>
          <a:ln/>
        </p:spPr>
        <p:txBody>
          <a:bodyPr wrap="square" lIns="0" tIns="0" rIns="0" bIns="0" rtlCol="0" anchor="b"/>
          <a:lstStyle/>
          <a:p>
            <a:pPr algn="l" indent="0" marL="0">
              <a:buNone/>
            </a:pPr>
            <a:r>
              <a:rPr lang="en-US" sz="4400" b="1" dirty="0">
                <a:solidFill>
                  <a:schemeClr val="bg1"/>
                </a:solidFill>
              </a:rPr>
              <a:t>Thank you</a:t>
            </a:r>
            <a:endParaRPr lang="en-US" sz="4400" dirty="0"/>
          </a:p>
        </p:txBody>
      </p:sp>
      <p:sp>
        <p:nvSpPr>
          <p:cNvPr id="3" name="Text 0"/>
          <p:cNvSpPr/>
          <p:nvPr>
            <p:ph idx="101" type="body" hasCustomPrompt="1"/>
          </p:nvPr>
        </p:nvSpPr>
        <p:spPr>
          <a:xfrm>
            <a:off x="731520" y="3520440"/>
            <a:ext cx="10698480" cy="731520"/>
          </a:xfrm>
          <a:prstGeom prst="rect">
            <a:avLst/>
          </a:prstGeom>
          <a:noFill/>
          <a:ln/>
        </p:spPr>
        <p:txBody>
          <a:bodyPr wrap="square" lIns="0" tIns="0" rIns="0" bIns="0" rtlCol="0" anchor="t"/>
          <a:lstStyle/>
          <a:p>
            <a:pPr algn="l" indent="0" marL="0">
              <a:buNone/>
            </a:pPr>
            <a:r>
              <a:rPr lang="en-US" sz="2200" dirty="0">
                <a:solidFill>
                  <a:schemeClr val="bg1"/>
                </a:solidFill>
              </a:rPr>
              <a:t>Screens in app.py  ·  translation in c_bridge.py  ·  algorithms in backend/  ·  data in SQLite</a:t>
            </a:r>
            <a:endParaRPr lang="en-US" sz="22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1"/>
                </a:solidFill>
              </a:defRPr>
            </a:lvl1pPr>
          </a:lstStyle>
          <a:p>
            <a:pPr algn="l"/>
            <a:fld id="{F7021451-1387-4CA6-816F-3879F97B5CBC}" type="slidenum">
              <a:rPr b="0" lang="en-US"/>
              <a:t>20</a:t>
            </a:fld>
            <a:endParaRPr lang="en-US"/>
          </a:p>
        </p:txBody>
      </p:sp>
    </p:spTree>
  </p:cSld>
  <p:clrMapOvr>
    <a:masterClrMapping/>
  </p:clrMapOvr>
</p:sld>
</file>

<file path=ppt/theme/theme1.xml><?xml version="1.0" encoding="utf-8"?>
<a:theme xmlns:a="http://schemas.openxmlformats.org/drawingml/2006/main" name="StockWise">
  <a:themeElements>
    <a:clrScheme name="StockWise">
      <a:dk1>
        <a:srgbClr val="14171F"/>
      </a:dk1>
      <a:lt1>
        <a:srgbClr val="FFFFFF"/>
      </a:lt1>
      <a:dk2>
        <a:srgbClr val="0D366B"/>
      </a:dk2>
      <a:lt2>
        <a:srgbClr val="F2F4F7"/>
      </a:lt2>
      <a:accent1>
        <a:srgbClr val="2A78D6"/>
      </a:accent1>
      <a:accent2>
        <a:srgbClr val="EB6834"/>
      </a:accent2>
      <a:accent3>
        <a:srgbClr val="1BAF7A"/>
      </a:accent3>
      <a:accent4>
        <a:srgbClr val="6250D6"/>
      </a:accent4>
      <a:accent5>
        <a:srgbClr val="D55181"/>
      </a:accent5>
      <a:accent6>
        <a:srgbClr val="C98500"/>
      </a:accent6>
      <a:hlink>
        <a:srgbClr val="1C5CAB"/>
      </a:hlink>
      <a:folHlink>
        <a:srgbClr val="6250D6"/>
      </a:folHlink>
    </a:clrScheme>
    <a:fontScheme name="StockWise">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StockWise: project files explained</dc:title>
  <dc:subject>PptxGenJS Presentation</dc:subject>
  <dc:creator>StockWise team</dc:creator>
  <cp:lastModifiedBy>StockWise team</cp:lastModifiedBy>
  <cp:revision>1</cp:revision>
  <dcterms:created xsi:type="dcterms:W3CDTF">2026-10-26T05:22:20Z</dcterms:created>
  <dcterms:modified xsi:type="dcterms:W3CDTF">2026-10-26T05:22:20Z</dcterms:modified>
</cp:coreProperties>
</file>