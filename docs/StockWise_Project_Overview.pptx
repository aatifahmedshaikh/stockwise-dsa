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2c3b24da-e620-58a0-0ddc-5006730b2bd5}">
          <p14:sldIdLst>
            <p14:sldId id="256"/>
            <p14:sldId id="257"/>
            <p14:sldId id="258"/>
          </p14:sldIdLst>
        </p14:section>
        <p14:section name="Python side" id="{5e33c696-c5dd-2ffa-6d62-7472dc5df0c3}">
          <p14:sldIdLst>
            <p14:sldId id="259"/>
            <p14:sldId id="260"/>
            <p14:sldId id="261"/>
            <p14:sldId id="262"/>
          </p14:sldIdLst>
        </p14:section>
        <p14:section name="C engine" id="{3d5d3865-01cf-d357-13c5-e08a4d4a951d}">
          <p14:sldIdLst>
            <p14:sldId id="263"/>
            <p14:sldId id="264"/>
            <p14:sldId id="265"/>
            <p14:sldId id="266"/>
            <p14:sldId id="267"/>
          </p14:sldIdLst>
        </p14:section>
        <p14:section name="Quality and running" id="{dda32959-7198-d38c-7e3f-4e544046d9a1}">
          <p14:sldIdLst>
            <p14:sldId id="268"/>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StockWise helps a small shop manage products, track stock and decide what to restock. The screens are written in Python with Streamlit, and every data structure and algorithm is written from scratch in C. This deck walks through what each file in the project is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four layers. The screens are app.py. When a screen needs an algorithm, it calls c_bridge.py, which converts Python data into C structs and calls the compiled C library. The C engine does the actual searching, sorting and planning and sends back results. All data is stored by database.py in a SQLite file, which is the single source of truth; the C engine is rebuilt from it on every page load, so it is never out of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project on one slide. Six groups, and each file belongs to exactly one. If someone asks where something happens, this slide answers it: screens in app.py, translation in c_bridge.py, storage in database.py, algorithms in backend, proof in the test folders, and explanations in the docs.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the three Python files: the screens, the translator, and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app.py is the Streamlit frontend. It draws the eight pages you see in the sidebar. It never sorts or searches by itself: whenever it needs an algorithm, it asks the C engine through c_bridge.py and only displays the answer, including how many comparisons the algorithm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and C cannot share data directly, so c_bridge.py translates. It checks the data first, so C never receives a bad value, packs it into C-shaped structs using Python's ctypes module, calls the C function, and converts the answer back. It also loads the compiled library and frees the C memory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schema.sql defines two tables: products and inventory transactions. database.py is the only file that talks to SQLite. Its key rule: a stock change and its history record are saved in one database transaction, so they always agree, and the update refuses to make stock negative. It also creates realistic sample data on first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backend folder: ten C files, each holding one data structure or algorithm.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project. Read it row by row: each C file holds one concept, and the right column says which feature of the app it powers. The last row, inventory_engine.c, is not an algorithm; it is the front door that Python calls.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files hold the C side together. The header is the contract: it declares the shared structures and every function, and c_bridge.py mirrors it exactly. The engine file builds all the indexes when Python hands it the products. The Makefile compiles everything into one shared library and runs the C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one real request travelling through the files. The user types cab. app.py hands it to c_bridge.py, which calls the engine, which asks the trie. The trie walks three characters and collects every product name below that point, in alphabetical order. The results travel back and app.py draws the product cards.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concept powers a visible feature. The trie and AVL tree drive search and the price slider on the Products page. Dijkstra's algorithm draws the shortest delivery route. The knapsack dynamic programme picks the best restock plan for a budget, and the lab shows its table and why the greedy shortcut can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tests are the proof. The C test program runs 283 checks directly on the algorithms, also under a memory checker that found no errors. The Python tests check the bridge and the database, including comparing the knapsack answer with a brute-force search. The lab page also runs 19 edge cases live in front of examiners.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files are not code that runs, but the project needs them: the package list, the theme, the artwork, and the documentation, including the viva preparation.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Running it takes three commands: install the Python packages, compile the C library with make, and start Streamlit. The first run creates the database with sample data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app.py draws the screens, c_bridge.py translates, the C files do the algorithms, and SQLite keeps the data. Happy to take questions or show any page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7863840" cy="118872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r>
              <a:rPr lang="en-US" sz="5400" b="1" dirty="0">
                <a:solidFill>
                  <a:schemeClr val="bg1"/>
                </a:solidFill>
              </a:rPr>
              <a:t>Title</a:t>
            </a:r>
            <a:endParaRPr lang="en-US" sz="5400" dirty="0"/>
          </a:p>
        </p:txBody>
      </p:sp>
      <p:sp>
        <p:nvSpPr>
          <p:cNvPr id="3" name="Text 0"/>
          <p:cNvSpPr/>
          <p:nvPr>
            <p:ph idx="101" type="body" hasCustomPrompt="1"/>
          </p:nvPr>
        </p:nvSpPr>
        <p:spPr>
          <a:xfrm>
            <a:off x="731520" y="3474720"/>
            <a:ext cx="7498080" cy="109728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r>
              <a:rPr lang="en-US" sz="2200" dirty="0">
                <a:solidFill>
                  <a:schemeClr val="bg1"/>
                </a:solidFill>
              </a:rPr>
              <a:t>Subtitle</a:t>
            </a: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058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r>
              <a:rPr lang="en-US" sz="4400" b="1" dirty="0">
                <a:solidFill>
                  <a:schemeClr val="bg1"/>
                </a:solidFill>
              </a:rPr>
              <a:t>Section</a:t>
            </a:r>
            <a:endParaRPr lang="en-US" sz="4400" dirty="0"/>
          </a:p>
        </p:txBody>
      </p:sp>
      <p:sp>
        <p:nvSpPr>
          <p:cNvPr id="3" name="Text 0"/>
          <p:cNvSpPr/>
          <p:nvPr>
            <p:ph idx="101" type="body" hasCustomPrompt="1"/>
          </p:nvPr>
        </p:nvSpPr>
        <p:spPr>
          <a:xfrm>
            <a:off x="731520" y="3520440"/>
            <a:ext cx="10698480" cy="731520"/>
          </a:xfrm>
          <a:prstGeom prst="rect">
            <a:avLst/>
          </a:prstGeom>
          <a:noFill/>
          <a:ln/>
        </p:spPr>
        <p:txBody>
          <a:bodyPr wrap="square" rtlCol="0"/>
          <a:lstStyle>
            <a:lvl1pPr algn="l" indent="0" marL="0">
              <a:buNone/>
              <a:defRPr lang="en-US" sz="2200" dirty="0">
                <a:solidFill>
                  <a:schemeClr val="bg1"/>
                </a:solidFill>
              </a:defRPr>
            </a:lvl1pPr>
          </a:lstStyle>
          <a:p>
            <a:pPr algn="l" indent="0" marL="0">
              <a:buNone/>
            </a:pPr>
            <a:r>
              <a:rPr lang="en-US" sz="2200" dirty="0">
                <a:solidFill>
                  <a:schemeClr val="bg1"/>
                </a:solidFill>
              </a:rPr>
              <a:t>Subtitle</a:t>
            </a:r>
            <a:endParaRPr lang="en-US" sz="2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rtlCol="0"/>
          <a:lstStyle>
            <a:lvl1pPr algn="l" indent="0" marL="0">
              <a:buNone/>
              <a:defRPr lang="en-US" sz="3600" b="1" dirty="0">
                <a:solidFill>
                  <a:schemeClr val="tx2"/>
                </a:solidFill>
              </a:defRPr>
            </a:lvl1pPr>
          </a:lstStyle>
          <a:p>
            <a:pPr algn="l" indent="0" marL="0">
              <a:buNone/>
            </a:pPr>
            <a:r>
              <a:rPr lang="en-US" sz="3600" b="1" dirty="0">
                <a:solidFill>
                  <a:schemeClr val="tx2"/>
                </a:solidFill>
              </a:rPr>
              <a:t>Title</a:t>
            </a:r>
            <a:endParaRPr lang="en-US" sz="3600" dirty="0"/>
          </a:p>
        </p:txBody>
      </p:sp>
      <p:sp>
        <p:nvSpPr>
          <p:cNvPr id="3" name="Text 0"/>
          <p:cNvSpPr/>
          <p:nvPr/>
        </p:nvSpPr>
        <p:spPr>
          <a:xfrm>
            <a:off x="548640" y="6355080"/>
            <a:ext cx="7315200" cy="274320"/>
          </a:xfrm>
          <a:prstGeom prst="rect">
            <a:avLst/>
          </a:prstGeom>
          <a:noFill/>
          <a:ln/>
        </p:spPr>
        <p:txBody>
          <a:bodyPr wrap="square" lIns="0" tIns="0" rIns="0" bIns="0" rtlCol="0" anchor="ctr"/>
          <a:lstStyle/>
          <a:p>
            <a:pPr indent="0" marL="0">
              <a:buNone/>
            </a:pPr>
            <a:r>
              <a:rPr lang="en-US" sz="1000" dirty="0">
                <a:solidFill>
                  <a:schemeClr val="tx2"/>
                </a:solidFill>
              </a:rPr>
              <a:t>StockWise  ·  Inventory Optimization System using DSA</a:t>
            </a:r>
            <a:endParaRPr 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4.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4.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4.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4.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4.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slideLayout" Target="../slideLayouts/slideLayout4.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4.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7863840" cy="1188720"/>
          </a:xfrm>
          <a:prstGeom prst="rect">
            <a:avLst/>
          </a:prstGeom>
          <a:noFill/>
          <a:ln/>
        </p:spPr>
        <p:txBody>
          <a:bodyPr wrap="square" lIns="0" tIns="0" rIns="0" bIns="0" rtlCol="0" anchor="b"/>
          <a:lstStyle/>
          <a:p>
            <a:pPr algn="l" indent="0" marL="0">
              <a:buNone/>
            </a:pPr>
            <a:r>
              <a:rPr lang="en-US" sz="5400" b="1" dirty="0">
                <a:solidFill>
                  <a:schemeClr val="bg1"/>
                </a:solidFill>
              </a:rPr>
              <a:t>StockWise</a:t>
            </a:r>
            <a:endParaRPr lang="en-US" sz="5400" dirty="0"/>
          </a:p>
        </p:txBody>
      </p:sp>
      <p:sp>
        <p:nvSpPr>
          <p:cNvPr id="3" name="Text 0"/>
          <p:cNvSpPr/>
          <p:nvPr>
            <p:ph idx="101" type="body" hasCustomPrompt="1"/>
          </p:nvPr>
        </p:nvSpPr>
        <p:spPr>
          <a:xfrm>
            <a:off x="731520" y="3474720"/>
            <a:ext cx="7498080" cy="1097280"/>
          </a:xfrm>
          <a:prstGeom prst="rect">
            <a:avLst/>
          </a:prstGeom>
          <a:noFill/>
          <a:ln/>
        </p:spPr>
        <p:txBody>
          <a:bodyPr wrap="square" lIns="0" tIns="0" rIns="0" bIns="0" rtlCol="0" anchor="t"/>
          <a:lstStyle/>
          <a:p>
            <a:pPr algn="l" indent="0" marL="0">
              <a:buNone/>
            </a:pPr>
            <a:r>
              <a:rPr lang="en-US" sz="2200" dirty="0">
                <a:solidFill>
                  <a:schemeClr val="bg1"/>
                </a:solidFill>
              </a:rPr>
              <a:t>An inventory app with a Python interface and a C engine for every data structure and algorithm</a:t>
            </a:r>
            <a:endParaRPr lang="en-US" sz="2200" dirty="0"/>
          </a:p>
        </p:txBody>
      </p:sp>
      <p:pic>
        <p:nvPicPr>
          <p:cNvPr id="4" name="logo" descr="/tmp/claude-0/-home-user-StockWise-Dsa/ffa8d720-88b5-5029-baa4-50a8a76d3601/scratchpad/deck/img/mark.png">    </p:cNvPr>
          <p:cNvPicPr>
            <a:picLocks noChangeAspect="1"/>
          </p:cNvPicPr>
          <p:nvPr/>
        </p:nvPicPr>
        <p:blipFill>
          <a:blip r:embed="rId1"/>
          <a:stretch>
            <a:fillRect/>
          </a:stretch>
        </p:blipFill>
        <p:spPr>
          <a:xfrm>
            <a:off x="9052560" y="1920240"/>
            <a:ext cx="2377440" cy="23774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The big picture: four layers</a:t>
            </a:r>
            <a:endParaRPr lang="en-US" sz="3600" dirty="0"/>
          </a:p>
        </p:txBody>
      </p:sp>
      <p:sp>
        <p:nvSpPr>
          <p:cNvPr id="3" name="layer 1 tile"/>
          <p:cNvSpPr/>
          <p:nvPr/>
        </p:nvSpPr>
        <p:spPr>
          <a:xfrm>
            <a:off x="548640" y="1463040"/>
            <a:ext cx="777240" cy="777240"/>
          </a:xfrm>
          <a:prstGeom prst="roundRect">
            <a:avLst>
              <a:gd name="adj" fmla="val 24000"/>
            </a:avLst>
          </a:prstGeom>
          <a:solidFill>
            <a:schemeClr val="accent1">
              <a:alpha val="14000"/>
            </a:schemeClr>
          </a:solidFill>
          <a:ln/>
        </p:spPr>
      </p:sp>
      <p:pic>
        <p:nvPicPr>
          <p:cNvPr id="4" name="layer 1 icon" descr="preencoded.png">    </p:cNvPr>
          <p:cNvPicPr>
            <a:picLocks noChangeAspect="1"/>
          </p:cNvPicPr>
          <p:nvPr/>
        </p:nvPicPr>
        <p:blipFill>
          <a:blip r:embed="rId1"/>
          <a:stretch>
            <a:fillRect/>
          </a:stretch>
        </p:blipFill>
        <p:spPr>
          <a:xfrm>
            <a:off x="719633" y="1634033"/>
            <a:ext cx="435254" cy="435254"/>
          </a:xfrm>
          <a:prstGeom prst="rect">
            <a:avLst/>
          </a:prstGeom>
        </p:spPr>
      </p:pic>
      <p:sp>
        <p:nvSpPr>
          <p:cNvPr id="5" name="Text 2"/>
          <p:cNvSpPr txBox="1"/>
          <p:nvPr/>
        </p:nvSpPr>
        <p:spPr>
          <a:xfrm>
            <a:off x="1508760" y="1481328"/>
            <a:ext cx="3291840" cy="365760"/>
          </a:xfrm>
          <a:prstGeom prst="rect">
            <a:avLst/>
          </a:prstGeom>
          <a:noFill/>
          <a:ln/>
        </p:spPr>
        <p:txBody>
          <a:bodyPr wrap="square" lIns="0" tIns="0" rIns="0" bIns="0" rtlCol="0" anchor="t"/>
          <a:lstStyle/>
          <a:p>
            <a:pPr indent="0" marL="0">
              <a:buNone/>
            </a:pPr>
            <a:r>
              <a:rPr lang="en-US" sz="1800" b="1" dirty="0">
                <a:solidFill>
                  <a:schemeClr val="tx2"/>
                </a:solidFill>
              </a:rPr>
              <a:t>1  Screens</a:t>
            </a:r>
            <a:endParaRPr lang="en-US" sz="1800" dirty="0"/>
          </a:p>
        </p:txBody>
      </p:sp>
      <p:sp>
        <p:nvSpPr>
          <p:cNvPr id="6" name="Text 3"/>
          <p:cNvSpPr txBox="1"/>
          <p:nvPr/>
        </p:nvSpPr>
        <p:spPr>
          <a:xfrm>
            <a:off x="1508760" y="1865376"/>
            <a:ext cx="3383280" cy="457200"/>
          </a:xfrm>
          <a:prstGeom prst="rect">
            <a:avLst/>
          </a:prstGeom>
          <a:noFill/>
          <a:ln/>
        </p:spPr>
        <p:txBody>
          <a:bodyPr wrap="square" lIns="0" tIns="0" rIns="0" bIns="0" rtlCol="0" anchor="t"/>
          <a:lstStyle/>
          <a:p>
            <a:pPr indent="0" marL="0">
              <a:buNone/>
            </a:pPr>
            <a:r>
              <a:rPr lang="en-US" sz="1400" dirty="0">
                <a:solidFill>
                  <a:schemeClr val="tx1"/>
                </a:solidFill>
              </a:rPr>
              <a:t>app.py shows the pages and charts</a:t>
            </a:r>
            <a:endParaRPr lang="en-US" sz="1400" dirty="0"/>
          </a:p>
        </p:txBody>
      </p:sp>
      <p:sp>
        <p:nvSpPr>
          <p:cNvPr id="7" name="layer 2 tile"/>
          <p:cNvSpPr/>
          <p:nvPr/>
        </p:nvSpPr>
        <p:spPr>
          <a:xfrm>
            <a:off x="548640" y="2606040"/>
            <a:ext cx="777240" cy="777240"/>
          </a:xfrm>
          <a:prstGeom prst="roundRect">
            <a:avLst>
              <a:gd name="adj" fmla="val 24000"/>
            </a:avLst>
          </a:prstGeom>
          <a:solidFill>
            <a:schemeClr val="accent2">
              <a:alpha val="14000"/>
            </a:schemeClr>
          </a:solidFill>
          <a:ln/>
        </p:spPr>
      </p:sp>
      <p:pic>
        <p:nvPicPr>
          <p:cNvPr id="8" name="layer 2 icon" descr="preencoded.png">    </p:cNvPr>
          <p:cNvPicPr>
            <a:picLocks noChangeAspect="1"/>
          </p:cNvPicPr>
          <p:nvPr/>
        </p:nvPicPr>
        <p:blipFill>
          <a:blip r:embed="rId2"/>
          <a:stretch>
            <a:fillRect/>
          </a:stretch>
        </p:blipFill>
        <p:spPr>
          <a:xfrm>
            <a:off x="719633" y="2777033"/>
            <a:ext cx="435254" cy="435254"/>
          </a:xfrm>
          <a:prstGeom prst="rect">
            <a:avLst/>
          </a:prstGeom>
        </p:spPr>
      </p:pic>
      <p:sp>
        <p:nvSpPr>
          <p:cNvPr id="9" name="Text 5"/>
          <p:cNvSpPr txBox="1"/>
          <p:nvPr/>
        </p:nvSpPr>
        <p:spPr>
          <a:xfrm>
            <a:off x="1508760" y="2624328"/>
            <a:ext cx="3291840" cy="365760"/>
          </a:xfrm>
          <a:prstGeom prst="rect">
            <a:avLst/>
          </a:prstGeom>
          <a:noFill/>
          <a:ln/>
        </p:spPr>
        <p:txBody>
          <a:bodyPr wrap="square" lIns="0" tIns="0" rIns="0" bIns="0" rtlCol="0" anchor="t"/>
          <a:lstStyle/>
          <a:p>
            <a:pPr indent="0" marL="0">
              <a:buNone/>
            </a:pPr>
            <a:r>
              <a:rPr lang="en-US" sz="1800" b="1" dirty="0">
                <a:solidFill>
                  <a:schemeClr val="tx2"/>
                </a:solidFill>
              </a:rPr>
              <a:t>2  Translator</a:t>
            </a:r>
            <a:endParaRPr lang="en-US" sz="1800" dirty="0"/>
          </a:p>
        </p:txBody>
      </p:sp>
      <p:sp>
        <p:nvSpPr>
          <p:cNvPr id="10" name="Text 6"/>
          <p:cNvSpPr txBox="1"/>
          <p:nvPr/>
        </p:nvSpPr>
        <p:spPr>
          <a:xfrm>
            <a:off x="1508760" y="3008376"/>
            <a:ext cx="3383280" cy="457200"/>
          </a:xfrm>
          <a:prstGeom prst="rect">
            <a:avLst/>
          </a:prstGeom>
          <a:noFill/>
          <a:ln/>
        </p:spPr>
        <p:txBody>
          <a:bodyPr wrap="square" lIns="0" tIns="0" rIns="0" bIns="0" rtlCol="0" anchor="t"/>
          <a:lstStyle/>
          <a:p>
            <a:pPr indent="0" marL="0">
              <a:buNone/>
            </a:pPr>
            <a:r>
              <a:rPr lang="en-US" sz="1400" dirty="0">
                <a:solidFill>
                  <a:schemeClr val="tx1"/>
                </a:solidFill>
              </a:rPr>
              <a:t>c_bridge.py links Python and C</a:t>
            </a:r>
            <a:endParaRPr lang="en-US" sz="1400" dirty="0"/>
          </a:p>
        </p:txBody>
      </p:sp>
      <p:sp>
        <p:nvSpPr>
          <p:cNvPr id="11" name="layer 3 tile"/>
          <p:cNvSpPr/>
          <p:nvPr/>
        </p:nvSpPr>
        <p:spPr>
          <a:xfrm>
            <a:off x="548640" y="3749040"/>
            <a:ext cx="777240" cy="777240"/>
          </a:xfrm>
          <a:prstGeom prst="roundRect">
            <a:avLst>
              <a:gd name="adj" fmla="val 24000"/>
            </a:avLst>
          </a:prstGeom>
          <a:solidFill>
            <a:schemeClr val="accent4">
              <a:alpha val="14000"/>
            </a:schemeClr>
          </a:solidFill>
          <a:ln/>
        </p:spPr>
      </p:sp>
      <p:pic>
        <p:nvPicPr>
          <p:cNvPr id="12" name="layer 3 icon" descr="preencoded.png">    </p:cNvPr>
          <p:cNvPicPr>
            <a:picLocks noChangeAspect="1"/>
          </p:cNvPicPr>
          <p:nvPr/>
        </p:nvPicPr>
        <p:blipFill>
          <a:blip r:embed="rId3"/>
          <a:stretch>
            <a:fillRect/>
          </a:stretch>
        </p:blipFill>
        <p:spPr>
          <a:xfrm>
            <a:off x="719633" y="3920033"/>
            <a:ext cx="435254" cy="435254"/>
          </a:xfrm>
          <a:prstGeom prst="rect">
            <a:avLst/>
          </a:prstGeom>
        </p:spPr>
      </p:pic>
      <p:sp>
        <p:nvSpPr>
          <p:cNvPr id="13" name="Text 8"/>
          <p:cNvSpPr txBox="1"/>
          <p:nvPr/>
        </p:nvSpPr>
        <p:spPr>
          <a:xfrm>
            <a:off x="1508760" y="3767328"/>
            <a:ext cx="3291840" cy="365760"/>
          </a:xfrm>
          <a:prstGeom prst="rect">
            <a:avLst/>
          </a:prstGeom>
          <a:noFill/>
          <a:ln/>
        </p:spPr>
        <p:txBody>
          <a:bodyPr wrap="square" lIns="0" tIns="0" rIns="0" bIns="0" rtlCol="0" anchor="t"/>
          <a:lstStyle/>
          <a:p>
            <a:pPr indent="0" marL="0">
              <a:buNone/>
            </a:pPr>
            <a:r>
              <a:rPr lang="en-US" sz="1800" b="1" dirty="0">
                <a:solidFill>
                  <a:schemeClr val="tx2"/>
                </a:solidFill>
              </a:rPr>
              <a:t>3  C engine</a:t>
            </a:r>
            <a:endParaRPr lang="en-US" sz="1800" dirty="0"/>
          </a:p>
        </p:txBody>
      </p:sp>
      <p:sp>
        <p:nvSpPr>
          <p:cNvPr id="14" name="Text 9"/>
          <p:cNvSpPr txBox="1"/>
          <p:nvPr/>
        </p:nvSpPr>
        <p:spPr>
          <a:xfrm>
            <a:off x="1508760" y="4151376"/>
            <a:ext cx="3383280" cy="457200"/>
          </a:xfrm>
          <a:prstGeom prst="rect">
            <a:avLst/>
          </a:prstGeom>
          <a:noFill/>
          <a:ln/>
        </p:spPr>
        <p:txBody>
          <a:bodyPr wrap="square" lIns="0" tIns="0" rIns="0" bIns="0" rtlCol="0" anchor="t"/>
          <a:lstStyle/>
          <a:p>
            <a:pPr indent="0" marL="0">
              <a:buNone/>
            </a:pPr>
            <a:r>
              <a:rPr lang="en-US" sz="1400" dirty="0">
                <a:solidFill>
                  <a:schemeClr val="tx1"/>
                </a:solidFill>
              </a:rPr>
              <a:t>backend/*.c runs every algorithm</a:t>
            </a:r>
            <a:endParaRPr lang="en-US" sz="1400" dirty="0"/>
          </a:p>
        </p:txBody>
      </p:sp>
      <p:sp>
        <p:nvSpPr>
          <p:cNvPr id="15" name="layer 4 tile"/>
          <p:cNvSpPr/>
          <p:nvPr/>
        </p:nvSpPr>
        <p:spPr>
          <a:xfrm>
            <a:off x="548640" y="4892040"/>
            <a:ext cx="777240" cy="777240"/>
          </a:xfrm>
          <a:prstGeom prst="roundRect">
            <a:avLst>
              <a:gd name="adj" fmla="val 24000"/>
            </a:avLst>
          </a:prstGeom>
          <a:solidFill>
            <a:schemeClr val="accent3">
              <a:alpha val="14000"/>
            </a:schemeClr>
          </a:solidFill>
          <a:ln/>
        </p:spPr>
      </p:sp>
      <p:pic>
        <p:nvPicPr>
          <p:cNvPr id="16" name="layer 4 icon" descr="preencoded.png">    </p:cNvPr>
          <p:cNvPicPr>
            <a:picLocks noChangeAspect="1"/>
          </p:cNvPicPr>
          <p:nvPr/>
        </p:nvPicPr>
        <p:blipFill>
          <a:blip r:embed="rId4"/>
          <a:stretch>
            <a:fillRect/>
          </a:stretch>
        </p:blipFill>
        <p:spPr>
          <a:xfrm>
            <a:off x="719633" y="5063033"/>
            <a:ext cx="435254" cy="435254"/>
          </a:xfrm>
          <a:prstGeom prst="rect">
            <a:avLst/>
          </a:prstGeom>
        </p:spPr>
      </p:pic>
      <p:sp>
        <p:nvSpPr>
          <p:cNvPr id="17" name="Text 11"/>
          <p:cNvSpPr txBox="1"/>
          <p:nvPr/>
        </p:nvSpPr>
        <p:spPr>
          <a:xfrm>
            <a:off x="1508760" y="4910328"/>
            <a:ext cx="3291840" cy="365760"/>
          </a:xfrm>
          <a:prstGeom prst="rect">
            <a:avLst/>
          </a:prstGeom>
          <a:noFill/>
          <a:ln/>
        </p:spPr>
        <p:txBody>
          <a:bodyPr wrap="square" lIns="0" tIns="0" rIns="0" bIns="0" rtlCol="0" anchor="t"/>
          <a:lstStyle/>
          <a:p>
            <a:pPr indent="0" marL="0">
              <a:buNone/>
            </a:pPr>
            <a:r>
              <a:rPr lang="en-US" sz="1800" b="1" dirty="0">
                <a:solidFill>
                  <a:schemeClr val="tx2"/>
                </a:solidFill>
              </a:rPr>
              <a:t>4  Database</a:t>
            </a:r>
            <a:endParaRPr lang="en-US" sz="1800" dirty="0"/>
          </a:p>
        </p:txBody>
      </p:sp>
      <p:sp>
        <p:nvSpPr>
          <p:cNvPr id="18" name="Text 12"/>
          <p:cNvSpPr txBox="1"/>
          <p:nvPr/>
        </p:nvSpPr>
        <p:spPr>
          <a:xfrm>
            <a:off x="1508760" y="5294376"/>
            <a:ext cx="3383280" cy="457200"/>
          </a:xfrm>
          <a:prstGeom prst="rect">
            <a:avLst/>
          </a:prstGeom>
          <a:noFill/>
          <a:ln/>
        </p:spPr>
        <p:txBody>
          <a:bodyPr wrap="square" lIns="0" tIns="0" rIns="0" bIns="0" rtlCol="0" anchor="t"/>
          <a:lstStyle/>
          <a:p>
            <a:pPr indent="0" marL="0">
              <a:buNone/>
            </a:pPr>
            <a:r>
              <a:rPr lang="en-US" sz="1400" dirty="0">
                <a:solidFill>
                  <a:schemeClr val="tx1"/>
                </a:solidFill>
              </a:rPr>
              <a:t>database.py saves everything in SQLite</a:t>
            </a:r>
            <a:endParaRPr lang="en-US" sz="1400" dirty="0"/>
          </a:p>
        </p:txBody>
      </p:sp>
      <p:pic>
        <p:nvPicPr>
          <p:cNvPr id="19" name="architecture diagram" descr="/tmp/claude-0/-home-user-StockWise-Dsa/ffa8d720-88b5-5029-baa4-50a8a76d3601/scratchpad/deck/img/architecture.png">    </p:cNvPr>
          <p:cNvPicPr>
            <a:picLocks noChangeAspect="1"/>
          </p:cNvPicPr>
          <p:nvPr/>
        </p:nvPicPr>
        <p:blipFill>
          <a:blip r:embed="rId5"/>
          <a:stretch>
            <a:fillRect/>
          </a:stretch>
        </p:blipFill>
        <p:spPr>
          <a:xfrm>
            <a:off x="5257800" y="1417320"/>
            <a:ext cx="6355080" cy="3813048"/>
          </a:xfrm>
          <a:prstGeom prst="rect">
            <a:avLst/>
          </a:prstGeom>
        </p:spPr>
      </p:pic>
      <p:sp>
        <p:nvSpPr>
          <p:cNvPr id="20" name="Text 13"/>
          <p:cNvSpPr txBox="1"/>
          <p:nvPr/>
        </p:nvSpPr>
        <p:spPr>
          <a:xfrm>
            <a:off x="5257800" y="5440680"/>
            <a:ext cx="6355080" cy="548640"/>
          </a:xfrm>
          <a:prstGeom prst="rect">
            <a:avLst/>
          </a:prstGeom>
          <a:noFill/>
          <a:ln/>
        </p:spPr>
        <p:txBody>
          <a:bodyPr wrap="square" lIns="0" tIns="0" rIns="0" bIns="0" rtlCol="0" anchor="t"/>
          <a:lstStyle/>
          <a:p>
            <a:pPr indent="0" marL="0">
              <a:buNone/>
            </a:pPr>
            <a:r>
              <a:rPr lang="en-US" sz="1400" i="1" dirty="0">
                <a:solidFill>
                  <a:schemeClr val="tx2"/>
                </a:solidFill>
              </a:rPr>
              <a:t>Every page load: read products from SQLite, copy them into C, run the algorithm, show the result.</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Project map: every file has one job</a:t>
            </a:r>
            <a:endParaRPr lang="en-US" sz="3600" dirty="0"/>
          </a:p>
        </p:txBody>
      </p:sp>
      <p:sp>
        <p:nvSpPr>
          <p:cNvPr id="3" name="Screens card"/>
          <p:cNvSpPr/>
          <p:nvPr/>
        </p:nvSpPr>
        <p:spPr>
          <a:xfrm>
            <a:off x="548640" y="1371600"/>
            <a:ext cx="3520440" cy="2331720"/>
          </a:xfrm>
          <a:prstGeom prst="roundRect">
            <a:avLst>
              <a:gd name="adj" fmla="val 4706"/>
            </a:avLst>
          </a:prstGeom>
          <a:solidFill>
            <a:schemeClr val="bg2"/>
          </a:solidFill>
          <a:ln/>
        </p:spPr>
      </p:sp>
      <p:sp>
        <p:nvSpPr>
          <p:cNvPr id="4" name="Screens tile"/>
          <p:cNvSpPr/>
          <p:nvPr/>
        </p:nvSpPr>
        <p:spPr>
          <a:xfrm>
            <a:off x="822960" y="1645920"/>
            <a:ext cx="640080" cy="640080"/>
          </a:xfrm>
          <a:prstGeom prst="roundRect">
            <a:avLst>
              <a:gd name="adj" fmla="val 24000"/>
            </a:avLst>
          </a:prstGeom>
          <a:solidFill>
            <a:schemeClr val="accent1">
              <a:alpha val="14000"/>
            </a:schemeClr>
          </a:solidFill>
          <a:ln/>
        </p:spPr>
      </p:sp>
      <p:pic>
        <p:nvPicPr>
          <p:cNvPr id="5" name="Screens icon" descr="preencoded.png">    </p:cNvPr>
          <p:cNvPicPr>
            <a:picLocks noChangeAspect="1"/>
          </p:cNvPicPr>
          <p:nvPr/>
        </p:nvPicPr>
        <p:blipFill>
          <a:blip r:embed="rId1"/>
          <a:stretch>
            <a:fillRect/>
          </a:stretch>
        </p:blipFill>
        <p:spPr>
          <a:xfrm>
            <a:off x="963778" y="1786738"/>
            <a:ext cx="358445" cy="358445"/>
          </a:xfrm>
          <a:prstGeom prst="rect">
            <a:avLst/>
          </a:prstGeom>
        </p:spPr>
      </p:pic>
      <p:sp>
        <p:nvSpPr>
          <p:cNvPr id="6" name="Text 3"/>
          <p:cNvSpPr txBox="1"/>
          <p:nvPr/>
        </p:nvSpPr>
        <p:spPr>
          <a:xfrm>
            <a:off x="1645920" y="1755648"/>
            <a:ext cx="2286000" cy="411480"/>
          </a:xfrm>
          <a:prstGeom prst="rect">
            <a:avLst/>
          </a:prstGeom>
          <a:noFill/>
          <a:ln/>
        </p:spPr>
        <p:txBody>
          <a:bodyPr wrap="square" lIns="0" tIns="0" rIns="0" bIns="0" rtlCol="0" anchor="t"/>
          <a:lstStyle/>
          <a:p>
            <a:pPr indent="0" marL="0">
              <a:buNone/>
            </a:pPr>
            <a:r>
              <a:rPr lang="en-US" sz="2000" b="1" dirty="0">
                <a:solidFill>
                  <a:schemeClr val="tx2"/>
                </a:solidFill>
              </a:rPr>
              <a:t>Screens</a:t>
            </a:r>
            <a:endParaRPr lang="en-US" sz="2000" dirty="0"/>
          </a:p>
        </p:txBody>
      </p:sp>
      <p:sp>
        <p:nvSpPr>
          <p:cNvPr id="7" name="Text 4"/>
          <p:cNvSpPr txBox="1"/>
          <p:nvPr/>
        </p:nvSpPr>
        <p:spPr>
          <a:xfrm>
            <a:off x="822960" y="2423160"/>
            <a:ext cx="3063240" cy="68580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8" name="Text 5"/>
          <p:cNvSpPr txBox="1"/>
          <p:nvPr/>
        </p:nvSpPr>
        <p:spPr>
          <a:xfrm>
            <a:off x="822960" y="3218688"/>
            <a:ext cx="3063240" cy="320040"/>
          </a:xfrm>
          <a:prstGeom prst="rect">
            <a:avLst/>
          </a:prstGeom>
          <a:noFill/>
          <a:ln/>
        </p:spPr>
        <p:txBody>
          <a:bodyPr wrap="square" lIns="0" tIns="0" rIns="0" bIns="0" rtlCol="0" anchor="t"/>
          <a:lstStyle/>
          <a:p>
            <a:pPr indent="0" marL="0">
              <a:buNone/>
            </a:pPr>
            <a:r>
              <a:rPr lang="en-US" sz="1400" dirty="0">
                <a:solidFill>
                  <a:schemeClr val="tx1"/>
                </a:solidFill>
              </a:rPr>
              <a:t>All 8 pages, charts and forms</a:t>
            </a:r>
            <a:endParaRPr lang="en-US" sz="1400" dirty="0"/>
          </a:p>
        </p:txBody>
      </p:sp>
      <p:sp>
        <p:nvSpPr>
          <p:cNvPr id="9" name="Bridge card"/>
          <p:cNvSpPr/>
          <p:nvPr/>
        </p:nvSpPr>
        <p:spPr>
          <a:xfrm>
            <a:off x="4297680" y="1371600"/>
            <a:ext cx="3520440" cy="2331720"/>
          </a:xfrm>
          <a:prstGeom prst="roundRect">
            <a:avLst>
              <a:gd name="adj" fmla="val 4706"/>
            </a:avLst>
          </a:prstGeom>
          <a:solidFill>
            <a:schemeClr val="bg2"/>
          </a:solidFill>
          <a:ln/>
        </p:spPr>
      </p:sp>
      <p:sp>
        <p:nvSpPr>
          <p:cNvPr id="10" name="Bridge tile"/>
          <p:cNvSpPr/>
          <p:nvPr/>
        </p:nvSpPr>
        <p:spPr>
          <a:xfrm>
            <a:off x="4572000" y="1645920"/>
            <a:ext cx="640080" cy="640080"/>
          </a:xfrm>
          <a:prstGeom prst="roundRect">
            <a:avLst>
              <a:gd name="adj" fmla="val 24000"/>
            </a:avLst>
          </a:prstGeom>
          <a:solidFill>
            <a:schemeClr val="accent2">
              <a:alpha val="14000"/>
            </a:schemeClr>
          </a:solidFill>
          <a:ln/>
        </p:spPr>
      </p:sp>
      <p:pic>
        <p:nvPicPr>
          <p:cNvPr id="11" name="Bridge icon" descr="preencoded.png">    </p:cNvPr>
          <p:cNvPicPr>
            <a:picLocks noChangeAspect="1"/>
          </p:cNvPicPr>
          <p:nvPr/>
        </p:nvPicPr>
        <p:blipFill>
          <a:blip r:embed="rId2"/>
          <a:stretch>
            <a:fillRect/>
          </a:stretch>
        </p:blipFill>
        <p:spPr>
          <a:xfrm>
            <a:off x="4712818" y="1786738"/>
            <a:ext cx="358445" cy="358445"/>
          </a:xfrm>
          <a:prstGeom prst="rect">
            <a:avLst/>
          </a:prstGeom>
        </p:spPr>
      </p:pic>
      <p:sp>
        <p:nvSpPr>
          <p:cNvPr id="12" name="Text 8"/>
          <p:cNvSpPr txBox="1"/>
          <p:nvPr/>
        </p:nvSpPr>
        <p:spPr>
          <a:xfrm>
            <a:off x="5394960" y="1755648"/>
            <a:ext cx="2286000" cy="411480"/>
          </a:xfrm>
          <a:prstGeom prst="rect">
            <a:avLst/>
          </a:prstGeom>
          <a:noFill/>
          <a:ln/>
        </p:spPr>
        <p:txBody>
          <a:bodyPr wrap="square" lIns="0" tIns="0" rIns="0" bIns="0" rtlCol="0" anchor="t"/>
          <a:lstStyle/>
          <a:p>
            <a:pPr indent="0" marL="0">
              <a:buNone/>
            </a:pPr>
            <a:r>
              <a:rPr lang="en-US" sz="2000" b="1" dirty="0">
                <a:solidFill>
                  <a:schemeClr val="tx2"/>
                </a:solidFill>
              </a:rPr>
              <a:t>Bridge</a:t>
            </a:r>
            <a:endParaRPr lang="en-US" sz="2000" dirty="0"/>
          </a:p>
        </p:txBody>
      </p:sp>
      <p:sp>
        <p:nvSpPr>
          <p:cNvPr id="13" name="Text 9"/>
          <p:cNvSpPr txBox="1"/>
          <p:nvPr/>
        </p:nvSpPr>
        <p:spPr>
          <a:xfrm>
            <a:off x="4572000" y="2423160"/>
            <a:ext cx="3063240" cy="68580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c_bridge.py</a:t>
            </a:r>
            <a:endParaRPr lang="en-US" sz="1400" dirty="0"/>
          </a:p>
        </p:txBody>
      </p:sp>
      <p:sp>
        <p:nvSpPr>
          <p:cNvPr id="14" name="Text 10"/>
          <p:cNvSpPr txBox="1"/>
          <p:nvPr/>
        </p:nvSpPr>
        <p:spPr>
          <a:xfrm>
            <a:off x="4572000" y="3218688"/>
            <a:ext cx="3063240" cy="320040"/>
          </a:xfrm>
          <a:prstGeom prst="rect">
            <a:avLst/>
          </a:prstGeom>
          <a:noFill/>
          <a:ln/>
        </p:spPr>
        <p:txBody>
          <a:bodyPr wrap="square" lIns="0" tIns="0" rIns="0" bIns="0" rtlCol="0" anchor="t"/>
          <a:lstStyle/>
          <a:p>
            <a:pPr indent="0" marL="0">
              <a:buNone/>
            </a:pPr>
            <a:r>
              <a:rPr lang="en-US" sz="1400" dirty="0">
                <a:solidFill>
                  <a:schemeClr val="tx1"/>
                </a:solidFill>
              </a:rPr>
              <a:t>Python &lt;-&gt; C translation</a:t>
            </a:r>
            <a:endParaRPr lang="en-US" sz="1400" dirty="0"/>
          </a:p>
        </p:txBody>
      </p:sp>
      <p:sp>
        <p:nvSpPr>
          <p:cNvPr id="15" name="Data card"/>
          <p:cNvSpPr/>
          <p:nvPr/>
        </p:nvSpPr>
        <p:spPr>
          <a:xfrm>
            <a:off x="8046720" y="1371600"/>
            <a:ext cx="3520440" cy="2331720"/>
          </a:xfrm>
          <a:prstGeom prst="roundRect">
            <a:avLst>
              <a:gd name="adj" fmla="val 4706"/>
            </a:avLst>
          </a:prstGeom>
          <a:solidFill>
            <a:schemeClr val="bg2"/>
          </a:solidFill>
          <a:ln/>
        </p:spPr>
      </p:sp>
      <p:sp>
        <p:nvSpPr>
          <p:cNvPr id="16" name="Data tile"/>
          <p:cNvSpPr/>
          <p:nvPr/>
        </p:nvSpPr>
        <p:spPr>
          <a:xfrm>
            <a:off x="8321040" y="1645920"/>
            <a:ext cx="640080" cy="640080"/>
          </a:xfrm>
          <a:prstGeom prst="roundRect">
            <a:avLst>
              <a:gd name="adj" fmla="val 24000"/>
            </a:avLst>
          </a:prstGeom>
          <a:solidFill>
            <a:schemeClr val="accent3">
              <a:alpha val="14000"/>
            </a:schemeClr>
          </a:solidFill>
          <a:ln/>
        </p:spPr>
      </p:sp>
      <p:pic>
        <p:nvPicPr>
          <p:cNvPr id="17" name="Data icon" descr="preencoded.png">    </p:cNvPr>
          <p:cNvPicPr>
            <a:picLocks noChangeAspect="1"/>
          </p:cNvPicPr>
          <p:nvPr/>
        </p:nvPicPr>
        <p:blipFill>
          <a:blip r:embed="rId3"/>
          <a:stretch>
            <a:fillRect/>
          </a:stretch>
        </p:blipFill>
        <p:spPr>
          <a:xfrm>
            <a:off x="8461858" y="1786738"/>
            <a:ext cx="358445" cy="358445"/>
          </a:xfrm>
          <a:prstGeom prst="rect">
            <a:avLst/>
          </a:prstGeom>
        </p:spPr>
      </p:pic>
      <p:sp>
        <p:nvSpPr>
          <p:cNvPr id="18" name="Text 13"/>
          <p:cNvSpPr txBox="1"/>
          <p:nvPr/>
        </p:nvSpPr>
        <p:spPr>
          <a:xfrm>
            <a:off x="9144000" y="1755648"/>
            <a:ext cx="2286000" cy="411480"/>
          </a:xfrm>
          <a:prstGeom prst="rect">
            <a:avLst/>
          </a:prstGeom>
          <a:noFill/>
          <a:ln/>
        </p:spPr>
        <p:txBody>
          <a:bodyPr wrap="square" lIns="0" tIns="0" rIns="0" bIns="0" rtlCol="0" anchor="t"/>
          <a:lstStyle/>
          <a:p>
            <a:pPr indent="0" marL="0">
              <a:buNone/>
            </a:pPr>
            <a:r>
              <a:rPr lang="en-US" sz="2000" b="1" dirty="0">
                <a:solidFill>
                  <a:schemeClr val="tx2"/>
                </a:solidFill>
              </a:rPr>
              <a:t>Data</a:t>
            </a:r>
            <a:endParaRPr lang="en-US" sz="2000" dirty="0"/>
          </a:p>
        </p:txBody>
      </p:sp>
      <p:sp>
        <p:nvSpPr>
          <p:cNvPr id="19" name="Text 14"/>
          <p:cNvSpPr txBox="1"/>
          <p:nvPr/>
        </p:nvSpPr>
        <p:spPr>
          <a:xfrm>
            <a:off x="8321040" y="2423160"/>
            <a:ext cx="3063240" cy="68580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database.py</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schema.sql</a:t>
            </a:r>
            <a:endParaRPr lang="en-US" sz="1400" dirty="0"/>
          </a:p>
        </p:txBody>
      </p:sp>
      <p:sp>
        <p:nvSpPr>
          <p:cNvPr id="20" name="Text 15"/>
          <p:cNvSpPr txBox="1"/>
          <p:nvPr/>
        </p:nvSpPr>
        <p:spPr>
          <a:xfrm>
            <a:off x="8321040" y="3218688"/>
            <a:ext cx="3063240" cy="320040"/>
          </a:xfrm>
          <a:prstGeom prst="rect">
            <a:avLst/>
          </a:prstGeom>
          <a:noFill/>
          <a:ln/>
        </p:spPr>
        <p:txBody>
          <a:bodyPr wrap="square" lIns="0" tIns="0" rIns="0" bIns="0" rtlCol="0" anchor="t"/>
          <a:lstStyle/>
          <a:p>
            <a:pPr indent="0" marL="0">
              <a:buNone/>
            </a:pPr>
            <a:r>
              <a:rPr lang="en-US" sz="1400" dirty="0">
                <a:solidFill>
                  <a:schemeClr val="tx1"/>
                </a:solidFill>
              </a:rPr>
              <a:t>Tables, saving, sample data</a:t>
            </a:r>
            <a:endParaRPr lang="en-US" sz="1400" dirty="0"/>
          </a:p>
        </p:txBody>
      </p:sp>
      <p:sp>
        <p:nvSpPr>
          <p:cNvPr id="21" name="C engine card"/>
          <p:cNvSpPr/>
          <p:nvPr/>
        </p:nvSpPr>
        <p:spPr>
          <a:xfrm>
            <a:off x="548640" y="3840480"/>
            <a:ext cx="3520440" cy="2331720"/>
          </a:xfrm>
          <a:prstGeom prst="roundRect">
            <a:avLst>
              <a:gd name="adj" fmla="val 4706"/>
            </a:avLst>
          </a:prstGeom>
          <a:solidFill>
            <a:schemeClr val="bg2"/>
          </a:solidFill>
          <a:ln/>
        </p:spPr>
      </p:sp>
      <p:sp>
        <p:nvSpPr>
          <p:cNvPr id="22" name="C engine tile"/>
          <p:cNvSpPr/>
          <p:nvPr/>
        </p:nvSpPr>
        <p:spPr>
          <a:xfrm>
            <a:off x="822960" y="4114800"/>
            <a:ext cx="640080" cy="640080"/>
          </a:xfrm>
          <a:prstGeom prst="roundRect">
            <a:avLst>
              <a:gd name="adj" fmla="val 24000"/>
            </a:avLst>
          </a:prstGeom>
          <a:solidFill>
            <a:schemeClr val="accent4">
              <a:alpha val="14000"/>
            </a:schemeClr>
          </a:solidFill>
          <a:ln/>
        </p:spPr>
      </p:sp>
      <p:pic>
        <p:nvPicPr>
          <p:cNvPr id="23" name="C engine icon" descr="preencoded.png">    </p:cNvPr>
          <p:cNvPicPr>
            <a:picLocks noChangeAspect="1"/>
          </p:cNvPicPr>
          <p:nvPr/>
        </p:nvPicPr>
        <p:blipFill>
          <a:blip r:embed="rId4"/>
          <a:stretch>
            <a:fillRect/>
          </a:stretch>
        </p:blipFill>
        <p:spPr>
          <a:xfrm>
            <a:off x="963778" y="4255618"/>
            <a:ext cx="358445" cy="358445"/>
          </a:xfrm>
          <a:prstGeom prst="rect">
            <a:avLst/>
          </a:prstGeom>
        </p:spPr>
      </p:pic>
      <p:sp>
        <p:nvSpPr>
          <p:cNvPr id="24" name="Text 18"/>
          <p:cNvSpPr txBox="1"/>
          <p:nvPr/>
        </p:nvSpPr>
        <p:spPr>
          <a:xfrm>
            <a:off x="1645920" y="4224528"/>
            <a:ext cx="2286000" cy="411480"/>
          </a:xfrm>
          <a:prstGeom prst="rect">
            <a:avLst/>
          </a:prstGeom>
          <a:noFill/>
          <a:ln/>
        </p:spPr>
        <p:txBody>
          <a:bodyPr wrap="square" lIns="0" tIns="0" rIns="0" bIns="0" rtlCol="0" anchor="t"/>
          <a:lstStyle/>
          <a:p>
            <a:pPr indent="0" marL="0">
              <a:buNone/>
            </a:pPr>
            <a:r>
              <a:rPr lang="en-US" sz="2000" b="1" dirty="0">
                <a:solidFill>
                  <a:schemeClr val="tx2"/>
                </a:solidFill>
              </a:rPr>
              <a:t>C engine</a:t>
            </a:r>
            <a:endParaRPr lang="en-US" sz="2000" dirty="0"/>
          </a:p>
        </p:txBody>
      </p:sp>
      <p:sp>
        <p:nvSpPr>
          <p:cNvPr id="25" name="Text 19"/>
          <p:cNvSpPr txBox="1"/>
          <p:nvPr/>
        </p:nvSpPr>
        <p:spPr>
          <a:xfrm>
            <a:off x="822960" y="4892040"/>
            <a:ext cx="3063240" cy="68580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backend/*.c</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inventory_types.h</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Makefile</a:t>
            </a:r>
            <a:endParaRPr lang="en-US" sz="1400" dirty="0"/>
          </a:p>
        </p:txBody>
      </p:sp>
      <p:sp>
        <p:nvSpPr>
          <p:cNvPr id="26" name="Text 20"/>
          <p:cNvSpPr txBox="1"/>
          <p:nvPr/>
        </p:nvSpPr>
        <p:spPr>
          <a:xfrm>
            <a:off x="822960" y="5687568"/>
            <a:ext cx="3063240" cy="320040"/>
          </a:xfrm>
          <a:prstGeom prst="rect">
            <a:avLst/>
          </a:prstGeom>
          <a:noFill/>
          <a:ln/>
        </p:spPr>
        <p:txBody>
          <a:bodyPr wrap="square" lIns="0" tIns="0" rIns="0" bIns="0" rtlCol="0" anchor="t"/>
          <a:lstStyle/>
          <a:p>
            <a:pPr indent="0" marL="0">
              <a:buNone/>
            </a:pPr>
            <a:r>
              <a:rPr lang="en-US" sz="1400" dirty="0">
                <a:solidFill>
                  <a:schemeClr val="tx1"/>
                </a:solidFill>
              </a:rPr>
              <a:t>The DSA code, compiled to a library</a:t>
            </a:r>
            <a:endParaRPr lang="en-US" sz="1400" dirty="0"/>
          </a:p>
        </p:txBody>
      </p:sp>
      <p:sp>
        <p:nvSpPr>
          <p:cNvPr id="27" name="Tests card"/>
          <p:cNvSpPr/>
          <p:nvPr/>
        </p:nvSpPr>
        <p:spPr>
          <a:xfrm>
            <a:off x="4297680" y="3840480"/>
            <a:ext cx="3520440" cy="2331720"/>
          </a:xfrm>
          <a:prstGeom prst="roundRect">
            <a:avLst>
              <a:gd name="adj" fmla="val 4706"/>
            </a:avLst>
          </a:prstGeom>
          <a:solidFill>
            <a:schemeClr val="bg2"/>
          </a:solidFill>
          <a:ln/>
        </p:spPr>
      </p:sp>
      <p:sp>
        <p:nvSpPr>
          <p:cNvPr id="28" name="Tests tile"/>
          <p:cNvSpPr/>
          <p:nvPr/>
        </p:nvSpPr>
        <p:spPr>
          <a:xfrm>
            <a:off x="4572000" y="4114800"/>
            <a:ext cx="640080" cy="640080"/>
          </a:xfrm>
          <a:prstGeom prst="roundRect">
            <a:avLst>
              <a:gd name="adj" fmla="val 24000"/>
            </a:avLst>
          </a:prstGeom>
          <a:solidFill>
            <a:schemeClr val="accent5">
              <a:alpha val="14000"/>
            </a:schemeClr>
          </a:solidFill>
          <a:ln/>
        </p:spPr>
      </p:sp>
      <p:pic>
        <p:nvPicPr>
          <p:cNvPr id="29" name="Tests icon" descr="preencoded.png">    </p:cNvPr>
          <p:cNvPicPr>
            <a:picLocks noChangeAspect="1"/>
          </p:cNvPicPr>
          <p:nvPr/>
        </p:nvPicPr>
        <p:blipFill>
          <a:blip r:embed="rId5"/>
          <a:stretch>
            <a:fillRect/>
          </a:stretch>
        </p:blipFill>
        <p:spPr>
          <a:xfrm>
            <a:off x="4712818" y="4255618"/>
            <a:ext cx="358445" cy="358445"/>
          </a:xfrm>
          <a:prstGeom prst="rect">
            <a:avLst/>
          </a:prstGeom>
        </p:spPr>
      </p:pic>
      <p:sp>
        <p:nvSpPr>
          <p:cNvPr id="30" name="Text 23"/>
          <p:cNvSpPr txBox="1"/>
          <p:nvPr/>
        </p:nvSpPr>
        <p:spPr>
          <a:xfrm>
            <a:off x="5394960" y="4224528"/>
            <a:ext cx="2286000" cy="411480"/>
          </a:xfrm>
          <a:prstGeom prst="rect">
            <a:avLst/>
          </a:prstGeom>
          <a:noFill/>
          <a:ln/>
        </p:spPr>
        <p:txBody>
          <a:bodyPr wrap="square" lIns="0" tIns="0" rIns="0" bIns="0" rtlCol="0" anchor="t"/>
          <a:lstStyle/>
          <a:p>
            <a:pPr indent="0" marL="0">
              <a:buNone/>
            </a:pPr>
            <a:r>
              <a:rPr lang="en-US" sz="2000" b="1" dirty="0">
                <a:solidFill>
                  <a:schemeClr val="tx2"/>
                </a:solidFill>
              </a:rPr>
              <a:t>Tests</a:t>
            </a:r>
            <a:endParaRPr lang="en-US" sz="2000" dirty="0"/>
          </a:p>
        </p:txBody>
      </p:sp>
      <p:sp>
        <p:nvSpPr>
          <p:cNvPr id="31" name="Text 24"/>
          <p:cNvSpPr txBox="1"/>
          <p:nvPr/>
        </p:nvSpPr>
        <p:spPr>
          <a:xfrm>
            <a:off x="4572000" y="4892040"/>
            <a:ext cx="3063240" cy="68580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backend/tests/</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tests/</a:t>
            </a:r>
            <a:endParaRPr lang="en-US" sz="1400" dirty="0"/>
          </a:p>
        </p:txBody>
      </p:sp>
      <p:sp>
        <p:nvSpPr>
          <p:cNvPr id="32" name="Text 25"/>
          <p:cNvSpPr txBox="1"/>
          <p:nvPr/>
        </p:nvSpPr>
        <p:spPr>
          <a:xfrm>
            <a:off x="4572000" y="5687568"/>
            <a:ext cx="3063240" cy="320040"/>
          </a:xfrm>
          <a:prstGeom prst="rect">
            <a:avLst/>
          </a:prstGeom>
          <a:noFill/>
          <a:ln/>
        </p:spPr>
        <p:txBody>
          <a:bodyPr wrap="square" lIns="0" tIns="0" rIns="0" bIns="0" rtlCol="0" anchor="t"/>
          <a:lstStyle/>
          <a:p>
            <a:pPr indent="0" marL="0">
              <a:buNone/>
            </a:pPr>
            <a:r>
              <a:rPr lang="en-US" sz="1400" dirty="0">
                <a:solidFill>
                  <a:schemeClr val="tx1"/>
                </a:solidFill>
              </a:rPr>
              <a:t>Prove each part works</a:t>
            </a:r>
            <a:endParaRPr lang="en-US" sz="1400" dirty="0"/>
          </a:p>
        </p:txBody>
      </p:sp>
      <p:sp>
        <p:nvSpPr>
          <p:cNvPr id="33" name="Docs and design card"/>
          <p:cNvSpPr/>
          <p:nvPr/>
        </p:nvSpPr>
        <p:spPr>
          <a:xfrm>
            <a:off x="8046720" y="3840480"/>
            <a:ext cx="3520440" cy="2331720"/>
          </a:xfrm>
          <a:prstGeom prst="roundRect">
            <a:avLst>
              <a:gd name="adj" fmla="val 4706"/>
            </a:avLst>
          </a:prstGeom>
          <a:solidFill>
            <a:schemeClr val="bg2"/>
          </a:solidFill>
          <a:ln/>
        </p:spPr>
      </p:sp>
      <p:sp>
        <p:nvSpPr>
          <p:cNvPr id="34" name="Docs and design tile"/>
          <p:cNvSpPr/>
          <p:nvPr/>
        </p:nvSpPr>
        <p:spPr>
          <a:xfrm>
            <a:off x="8321040" y="4114800"/>
            <a:ext cx="640080" cy="640080"/>
          </a:xfrm>
          <a:prstGeom prst="roundRect">
            <a:avLst>
              <a:gd name="adj" fmla="val 24000"/>
            </a:avLst>
          </a:prstGeom>
          <a:solidFill>
            <a:schemeClr val="accent6">
              <a:alpha val="14000"/>
            </a:schemeClr>
          </a:solidFill>
          <a:ln/>
        </p:spPr>
      </p:sp>
      <p:pic>
        <p:nvPicPr>
          <p:cNvPr id="35" name="Docs and design icon" descr="preencoded.png">    </p:cNvPr>
          <p:cNvPicPr>
            <a:picLocks noChangeAspect="1"/>
          </p:cNvPicPr>
          <p:nvPr/>
        </p:nvPicPr>
        <p:blipFill>
          <a:blip r:embed="rId6"/>
          <a:stretch>
            <a:fillRect/>
          </a:stretch>
        </p:blipFill>
        <p:spPr>
          <a:xfrm>
            <a:off x="8461858" y="4255618"/>
            <a:ext cx="358445" cy="358445"/>
          </a:xfrm>
          <a:prstGeom prst="rect">
            <a:avLst/>
          </a:prstGeom>
        </p:spPr>
      </p:pic>
      <p:sp>
        <p:nvSpPr>
          <p:cNvPr id="36" name="Text 28"/>
          <p:cNvSpPr txBox="1"/>
          <p:nvPr/>
        </p:nvSpPr>
        <p:spPr>
          <a:xfrm>
            <a:off x="9144000" y="4224528"/>
            <a:ext cx="2286000" cy="411480"/>
          </a:xfrm>
          <a:prstGeom prst="rect">
            <a:avLst/>
          </a:prstGeom>
          <a:noFill/>
          <a:ln/>
        </p:spPr>
        <p:txBody>
          <a:bodyPr wrap="square" lIns="0" tIns="0" rIns="0" bIns="0" rtlCol="0" anchor="t"/>
          <a:lstStyle/>
          <a:p>
            <a:pPr indent="0" marL="0">
              <a:buNone/>
            </a:pPr>
            <a:r>
              <a:rPr lang="en-US" sz="2000" b="1" dirty="0">
                <a:solidFill>
                  <a:schemeClr val="tx2"/>
                </a:solidFill>
              </a:rPr>
              <a:t>Docs and design</a:t>
            </a:r>
            <a:endParaRPr lang="en-US" sz="2000" dirty="0"/>
          </a:p>
        </p:txBody>
      </p:sp>
      <p:sp>
        <p:nvSpPr>
          <p:cNvPr id="37" name="Text 29"/>
          <p:cNvSpPr txBox="1"/>
          <p:nvPr/>
        </p:nvSpPr>
        <p:spPr>
          <a:xfrm>
            <a:off x="8321040" y="4892040"/>
            <a:ext cx="3063240" cy="685800"/>
          </a:xfrm>
          <a:prstGeom prst="rect">
            <a:avLst/>
          </a:prstGeom>
          <a:noFill/>
          <a:ln/>
        </p:spPr>
        <p:txBody>
          <a:bodyPr wrap="square" lIns="0" tIns="0" rIns="0" bIns="0" rtlCol="0" anchor="t"/>
          <a:lstStyle/>
          <a:p>
            <a:pPr indent="0" marL="0">
              <a:buNone/>
            </a:pPr>
            <a:r>
              <a:rPr lang="en-US" sz="1300" b="1" dirty="0">
                <a:solidFill>
                  <a:schemeClr val="accent1"/>
                </a:solidFill>
                <a:latin typeface="Courier New" pitchFamily="34" charset="0"/>
                <a:ea typeface="Courier New" pitchFamily="34" charset="-122"/>
                <a:cs typeface="Courier New" pitchFamily="34" charset="-120"/>
              </a:rPr>
              <a:t>README.md</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docs/</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assets/</a:t>
            </a:r>
            <a:endParaRPr lang="en-US" sz="1400" dirty="0"/>
          </a:p>
        </p:txBody>
      </p:sp>
      <p:sp>
        <p:nvSpPr>
          <p:cNvPr id="38" name="Text 30"/>
          <p:cNvSpPr txBox="1"/>
          <p:nvPr/>
        </p:nvSpPr>
        <p:spPr>
          <a:xfrm>
            <a:off x="8321040" y="5687568"/>
            <a:ext cx="3063240" cy="320040"/>
          </a:xfrm>
          <a:prstGeom prst="rect">
            <a:avLst/>
          </a:prstGeom>
          <a:noFill/>
          <a:ln/>
        </p:spPr>
        <p:txBody>
          <a:bodyPr wrap="square" lIns="0" tIns="0" rIns="0" bIns="0" rtlCol="0" anchor="t"/>
          <a:lstStyle/>
          <a:p>
            <a:pPr indent="0" marL="0">
              <a:buNone/>
            </a:pPr>
            <a:r>
              <a:rPr lang="en-US" sz="1400" dirty="0">
                <a:solidFill>
                  <a:schemeClr val="tx1"/>
                </a:solidFill>
              </a:rPr>
              <a:t>Setup guide, viva notes, artwork</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05840"/>
          </a:xfrm>
          <a:prstGeom prst="rect">
            <a:avLst/>
          </a:prstGeom>
          <a:noFill/>
          <a:ln/>
        </p:spPr>
        <p:txBody>
          <a:bodyPr wrap="square" lIns="0" tIns="0" rIns="0" bIns="0" rtlCol="0" anchor="b"/>
          <a:lstStyle/>
          <a:p>
            <a:pPr algn="l" indent="0" marL="0">
              <a:buNone/>
            </a:pPr>
            <a:r>
              <a:rPr lang="en-US" sz="4400" b="1" dirty="0">
                <a:solidFill>
                  <a:schemeClr val="bg1"/>
                </a:solidFill>
              </a:rPr>
              <a:t>The Python side</a:t>
            </a:r>
            <a:endParaRPr lang="en-US" sz="4400" dirty="0"/>
          </a:p>
        </p:txBody>
      </p:sp>
      <p:sp>
        <p:nvSpPr>
          <p:cNvPr id="3" name="Text 0"/>
          <p:cNvSpPr/>
          <p:nvPr>
            <p:ph idx="101" type="body" hasCustomPrompt="1"/>
          </p:nvPr>
        </p:nvSpPr>
        <p:spPr>
          <a:xfrm>
            <a:off x="731520" y="3520440"/>
            <a:ext cx="10698480" cy="731520"/>
          </a:xfrm>
          <a:prstGeom prst="rect">
            <a:avLst/>
          </a:prstGeom>
          <a:noFill/>
          <a:ln/>
        </p:spPr>
        <p:txBody>
          <a:bodyPr wrap="square" lIns="0" tIns="0" rIns="0" bIns="0" rtlCol="0" anchor="t"/>
          <a:lstStyle/>
          <a:p>
            <a:pPr algn="l" indent="0" marL="0">
              <a:buNone/>
            </a:pPr>
            <a:r>
              <a:rPr lang="en-US" sz="2200" dirty="0">
                <a:solidFill>
                  <a:schemeClr val="bg1"/>
                </a:solidFill>
              </a:rPr>
              <a:t>What the user sees, and where the data is kept</a:t>
            </a:r>
            <a:endParaRPr lang="en-US" sz="2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app.py: everything the user sees</a:t>
            </a:r>
            <a:endParaRPr lang="en-US" sz="3600" dirty="0"/>
          </a:p>
        </p:txBody>
      </p:sp>
      <p:sp>
        <p:nvSpPr>
          <p:cNvPr id="3" name="dashboard screenshot frame"/>
          <p:cNvSpPr/>
          <p:nvPr/>
        </p:nvSpPr>
        <p:spPr>
          <a:xfrm>
            <a:off x="548640" y="1408176"/>
            <a:ext cx="6144768" cy="4487477"/>
          </a:xfrm>
          <a:prstGeom prst="roundRect">
            <a:avLst>
              <a:gd name="adj" fmla="val 1630"/>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4" name="dashboard screenshot" descr="/tmp/claude-0/-home-user-StockWise-Dsa/ffa8d720-88b5-5029-baa4-50a8a76d3601/scratchpad/deck/img/dashboard.png">    </p:cNvPr>
          <p:cNvPicPr>
            <a:picLocks noChangeAspect="1"/>
          </p:cNvPicPr>
          <p:nvPr/>
        </p:nvPicPr>
        <p:blipFill>
          <a:blip r:embed="rId1"/>
          <a:stretch>
            <a:fillRect/>
          </a:stretch>
        </p:blipFill>
        <p:spPr>
          <a:xfrm>
            <a:off x="603504" y="1463040"/>
            <a:ext cx="6035040" cy="4377749"/>
          </a:xfrm>
          <a:prstGeom prst="rect">
            <a:avLst/>
          </a:prstGeom>
        </p:spPr>
      </p:pic>
      <p:sp>
        <p:nvSpPr>
          <p:cNvPr id="5" name="Text 2"/>
          <p:cNvSpPr txBox="1"/>
          <p:nvPr/>
        </p:nvSpPr>
        <p:spPr>
          <a:xfrm>
            <a:off x="7086600" y="1463040"/>
            <a:ext cx="4526280" cy="4480560"/>
          </a:xfrm>
          <a:prstGeom prst="rect">
            <a:avLst/>
          </a:prstGeom>
          <a:noFill/>
          <a:ln/>
        </p:spPr>
        <p:txBody>
          <a:bodyPr wrap="square" lIns="0" tIns="0" rIns="0" bIns="0" rtlCol="0" anchor="t"/>
          <a:lstStyle/>
          <a:p>
            <a:pPr indent="0" marL="0">
              <a:spcAft>
                <a:spcPts val="1700"/>
              </a:spcAft>
              <a:buNone/>
            </a:pPr>
            <a:r>
              <a:rPr lang="en-US" sz="1500" b="1" dirty="0">
                <a:solidFill>
                  <a:schemeClr val="tx2"/>
                </a:solidFill>
              </a:rPr>
              <a:t>Dashboard</a:t>
            </a:r>
            <a:pPr indent="0" marL="0">
              <a:spcAft>
                <a:spcPts val="1700"/>
              </a:spcAft>
              <a:buNone/>
            </a:pPr>
            <a:r>
              <a:rPr lang="en-US" sz="1400" dirty="0">
                <a:solidFill>
                  <a:schemeClr val="tx1"/>
                </a:solidFill>
              </a:rPr>
              <a:t>  KPIs, stock trend, what needs attention</a:t>
            </a:r>
            <a:endParaRPr lang="en-US" sz="1400" dirty="0"/>
          </a:p>
          <a:p>
            <a:pPr indent="0" marL="0">
              <a:spcAft>
                <a:spcPts val="1700"/>
              </a:spcAft>
              <a:buNone/>
            </a:pPr>
            <a:r>
              <a:rPr lang="en-US" sz="1500" b="1" dirty="0">
                <a:solidFill>
                  <a:schemeClr val="tx2"/>
                </a:solidFill>
              </a:rPr>
              <a:t>Products</a:t>
            </a:r>
            <a:pPr indent="0" marL="0">
              <a:spcAft>
                <a:spcPts val="1700"/>
              </a:spcAft>
              <a:buNone/>
            </a:pPr>
            <a:r>
              <a:rPr lang="en-US" sz="1400" dirty="0">
                <a:solidFill>
                  <a:schemeClr val="tx1"/>
                </a:solidFill>
              </a:rPr>
              <a:t>  Card grid, search, price filter, add/edit/delete</a:t>
            </a:r>
            <a:endParaRPr lang="en-US" sz="1400" dirty="0"/>
          </a:p>
          <a:p>
            <a:pPr indent="0" marL="0">
              <a:spcAft>
                <a:spcPts val="1700"/>
              </a:spcAft>
              <a:buNone/>
            </a:pPr>
            <a:r>
              <a:rPr lang="en-US" sz="1500" b="1" dirty="0">
                <a:solidFill>
                  <a:schemeClr val="tx2"/>
                </a:solidFill>
              </a:rPr>
              <a:t>Transactions</a:t>
            </a:r>
            <a:pPr indent="0" marL="0">
              <a:spcAft>
                <a:spcPts val="1700"/>
              </a:spcAft>
              <a:buNone/>
            </a:pPr>
            <a:r>
              <a:rPr lang="en-US" sz="1400" dirty="0">
                <a:solidFill>
                  <a:schemeClr val="tx1"/>
                </a:solidFill>
              </a:rPr>
              <a:t>  Stock in/out, history, stock age</a:t>
            </a:r>
            <a:endParaRPr lang="en-US" sz="1400" dirty="0"/>
          </a:p>
          <a:p>
            <a:pPr indent="0" marL="0">
              <a:spcAft>
                <a:spcPts val="1700"/>
              </a:spcAft>
              <a:buNone/>
            </a:pPr>
            <a:r>
              <a:rPr lang="en-US" sz="1500" b="1" dirty="0">
                <a:solidFill>
                  <a:schemeClr val="tx2"/>
                </a:solidFill>
              </a:rPr>
              <a:t>Restocking</a:t>
            </a:r>
            <a:pPr indent="0" marL="0">
              <a:spcAft>
                <a:spcPts val="1700"/>
              </a:spcAft>
              <a:buNone/>
            </a:pPr>
            <a:r>
              <a:rPr lang="en-US" sz="1400" dirty="0">
                <a:solidFill>
                  <a:schemeClr val="tx1"/>
                </a:solidFill>
              </a:rPr>
              <a:t>  Priority ranking and budget planner</a:t>
            </a:r>
            <a:endParaRPr lang="en-US" sz="1400" dirty="0"/>
          </a:p>
          <a:p>
            <a:pPr indent="0" marL="0">
              <a:spcAft>
                <a:spcPts val="1700"/>
              </a:spcAft>
              <a:buNone/>
            </a:pPr>
            <a:r>
              <a:rPr lang="en-US" sz="1500" b="1" dirty="0">
                <a:solidFill>
                  <a:schemeClr val="tx2"/>
                </a:solidFill>
              </a:rPr>
              <a:t>Delivery routes</a:t>
            </a:r>
            <a:pPr indent="0" marL="0">
              <a:spcAft>
                <a:spcPts val="1700"/>
              </a:spcAft>
              <a:buNone/>
            </a:pPr>
            <a:r>
              <a:rPr lang="en-US" sz="1400" dirty="0">
                <a:solidFill>
                  <a:schemeClr val="tx1"/>
                </a:solidFill>
              </a:rPr>
              <a:t>  Shortest route on a map</a:t>
            </a:r>
            <a:endParaRPr lang="en-US" sz="1400" dirty="0"/>
          </a:p>
          <a:p>
            <a:pPr indent="0" marL="0">
              <a:spcAft>
                <a:spcPts val="1700"/>
              </a:spcAft>
              <a:buNone/>
            </a:pPr>
            <a:r>
              <a:rPr lang="en-US" sz="1500" b="1" dirty="0">
                <a:solidFill>
                  <a:schemeClr val="tx2"/>
                </a:solidFill>
              </a:rPr>
              <a:t>Search and sorting</a:t>
            </a:r>
            <a:pPr indent="0" marL="0">
              <a:spcAft>
                <a:spcPts val="1700"/>
              </a:spcAft>
              <a:buNone/>
            </a:pPr>
            <a:r>
              <a:rPr lang="en-US" sz="1400" dirty="0">
                <a:solidFill>
                  <a:schemeClr val="tx1"/>
                </a:solidFill>
              </a:rPr>
              <a:t>  Try each algorithm, see the work done</a:t>
            </a:r>
            <a:endParaRPr lang="en-US" sz="1400" dirty="0"/>
          </a:p>
          <a:p>
            <a:pPr indent="0" marL="0">
              <a:spcAft>
                <a:spcPts val="1700"/>
              </a:spcAft>
              <a:buNone/>
            </a:pPr>
            <a:r>
              <a:rPr lang="en-US" sz="1500" b="1" dirty="0">
                <a:solidFill>
                  <a:schemeClr val="tx2"/>
                </a:solidFill>
              </a:rPr>
              <a:t>DSA laboratory</a:t>
            </a:r>
            <a:pPr indent="0" marL="0">
              <a:spcAft>
                <a:spcPts val="1700"/>
              </a:spcAft>
              <a:buNone/>
            </a:pPr>
            <a:r>
              <a:rPr lang="en-US" sz="1400" dirty="0">
                <a:solidFill>
                  <a:schemeClr val="tx1"/>
                </a:solidFill>
              </a:rPr>
              <a:t>  Visual trees, heaps, DP table, edge cases</a:t>
            </a:r>
            <a:endParaRPr lang="en-US" sz="1400" dirty="0"/>
          </a:p>
          <a:p>
            <a:pPr indent="0" marL="0">
              <a:spcAft>
                <a:spcPts val="1700"/>
              </a:spcAft>
              <a:buNone/>
            </a:pPr>
            <a:r>
              <a:rPr lang="en-US" sz="1500" b="1" dirty="0">
                <a:solidFill>
                  <a:schemeClr val="tx2"/>
                </a:solidFill>
              </a:rPr>
              <a:t>About</a:t>
            </a:r>
            <a:pPr indent="0" marL="0">
              <a:spcAft>
                <a:spcPts val="1700"/>
              </a:spcAft>
              <a:buNone/>
            </a:pPr>
            <a:r>
              <a:rPr lang="en-US" sz="1400" dirty="0">
                <a:solidFill>
                  <a:schemeClr val="tx1"/>
                </a:solidFill>
              </a:rPr>
              <a:t>  Architecture and complexity table</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c_bridge.py: the translator between Python and C</a:t>
            </a:r>
            <a:endParaRPr lang="en-US" sz="3600" dirty="0"/>
          </a:p>
        </p:txBody>
      </p:sp>
      <p:sp>
        <p:nvSpPr>
          <p:cNvPr id="3" name="step 1 card"/>
          <p:cNvSpPr/>
          <p:nvPr/>
        </p:nvSpPr>
        <p:spPr>
          <a:xfrm>
            <a:off x="548640" y="1508760"/>
            <a:ext cx="2011680" cy="2331720"/>
          </a:xfrm>
          <a:prstGeom prst="roundRect">
            <a:avLst>
              <a:gd name="adj" fmla="val 5455"/>
            </a:avLst>
          </a:prstGeom>
          <a:solidFill>
            <a:schemeClr val="bg2"/>
          </a:solidFill>
          <a:ln/>
        </p:spPr>
      </p:sp>
      <p:sp>
        <p:nvSpPr>
          <p:cNvPr id="4" name="step 1 tile"/>
          <p:cNvSpPr/>
          <p:nvPr/>
        </p:nvSpPr>
        <p:spPr>
          <a:xfrm>
            <a:off x="1207008" y="1737360"/>
            <a:ext cx="694944" cy="694944"/>
          </a:xfrm>
          <a:prstGeom prst="roundRect">
            <a:avLst>
              <a:gd name="adj" fmla="val 24000"/>
            </a:avLst>
          </a:prstGeom>
          <a:solidFill>
            <a:schemeClr val="accent1">
              <a:alpha val="14000"/>
            </a:schemeClr>
          </a:solidFill>
          <a:ln/>
        </p:spPr>
      </p:sp>
      <p:pic>
        <p:nvPicPr>
          <p:cNvPr id="5" name="step 1 icon" descr="preencoded.png">    </p:cNvPr>
          <p:cNvPicPr>
            <a:picLocks noChangeAspect="1"/>
          </p:cNvPicPr>
          <p:nvPr/>
        </p:nvPicPr>
        <p:blipFill>
          <a:blip r:embed="rId1"/>
          <a:stretch>
            <a:fillRect/>
          </a:stretch>
        </p:blipFill>
        <p:spPr>
          <a:xfrm>
            <a:off x="1359896" y="1890248"/>
            <a:ext cx="389169" cy="389169"/>
          </a:xfrm>
          <a:prstGeom prst="rect">
            <a:avLst/>
          </a:prstGeom>
        </p:spPr>
      </p:pic>
      <p:sp>
        <p:nvSpPr>
          <p:cNvPr id="6" name="Text 3"/>
          <p:cNvSpPr txBox="1"/>
          <p:nvPr/>
        </p:nvSpPr>
        <p:spPr>
          <a:xfrm>
            <a:off x="685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Python data</a:t>
            </a:r>
            <a:endParaRPr lang="en-US" sz="1800" dirty="0"/>
          </a:p>
        </p:txBody>
      </p:sp>
      <p:sp>
        <p:nvSpPr>
          <p:cNvPr id="7" name="Text 4"/>
          <p:cNvSpPr txBox="1"/>
          <p:nvPr/>
        </p:nvSpPr>
        <p:spPr>
          <a:xfrm>
            <a:off x="685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a list of product dicts</a:t>
            </a:r>
            <a:endParaRPr lang="en-US" sz="1400" dirty="0"/>
          </a:p>
        </p:txBody>
      </p:sp>
      <p:sp>
        <p:nvSpPr>
          <p:cNvPr id="8" name="arrow 1"/>
          <p:cNvSpPr/>
          <p:nvPr/>
        </p:nvSpPr>
        <p:spPr>
          <a:xfrm>
            <a:off x="2596896" y="2542032"/>
            <a:ext cx="201168" cy="274320"/>
          </a:xfrm>
          <a:prstGeom prst="rightArrow">
            <a:avLst/>
          </a:prstGeom>
          <a:solidFill>
            <a:schemeClr val="tx2"/>
          </a:solidFill>
          <a:ln/>
        </p:spPr>
      </p:sp>
      <p:sp>
        <p:nvSpPr>
          <p:cNvPr id="9" name="step 2 card"/>
          <p:cNvSpPr/>
          <p:nvPr/>
        </p:nvSpPr>
        <p:spPr>
          <a:xfrm>
            <a:off x="2834640" y="1508760"/>
            <a:ext cx="2011680" cy="2331720"/>
          </a:xfrm>
          <a:prstGeom prst="roundRect">
            <a:avLst>
              <a:gd name="adj" fmla="val 5455"/>
            </a:avLst>
          </a:prstGeom>
          <a:solidFill>
            <a:schemeClr val="bg2"/>
          </a:solidFill>
          <a:ln/>
        </p:spPr>
      </p:sp>
      <p:sp>
        <p:nvSpPr>
          <p:cNvPr id="10" name="step 2 tile"/>
          <p:cNvSpPr/>
          <p:nvPr/>
        </p:nvSpPr>
        <p:spPr>
          <a:xfrm>
            <a:off x="3493008" y="1737360"/>
            <a:ext cx="694944" cy="694944"/>
          </a:xfrm>
          <a:prstGeom prst="roundRect">
            <a:avLst>
              <a:gd name="adj" fmla="val 24000"/>
            </a:avLst>
          </a:prstGeom>
          <a:solidFill>
            <a:schemeClr val="accent3">
              <a:alpha val="14000"/>
            </a:schemeClr>
          </a:solidFill>
          <a:ln/>
        </p:spPr>
      </p:sp>
      <p:pic>
        <p:nvPicPr>
          <p:cNvPr id="11" name="step 2 icon" descr="preencoded.png">    </p:cNvPr>
          <p:cNvPicPr>
            <a:picLocks noChangeAspect="1"/>
          </p:cNvPicPr>
          <p:nvPr/>
        </p:nvPicPr>
        <p:blipFill>
          <a:blip r:embed="rId2"/>
          <a:stretch>
            <a:fillRect/>
          </a:stretch>
        </p:blipFill>
        <p:spPr>
          <a:xfrm>
            <a:off x="3645896" y="1890248"/>
            <a:ext cx="389169" cy="389169"/>
          </a:xfrm>
          <a:prstGeom prst="rect">
            <a:avLst/>
          </a:prstGeom>
        </p:spPr>
      </p:pic>
      <p:sp>
        <p:nvSpPr>
          <p:cNvPr id="12" name="Text 8"/>
          <p:cNvSpPr txBox="1"/>
          <p:nvPr/>
        </p:nvSpPr>
        <p:spPr>
          <a:xfrm>
            <a:off x="2971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Validate</a:t>
            </a:r>
            <a:endParaRPr lang="en-US" sz="1800" dirty="0"/>
          </a:p>
        </p:txBody>
      </p:sp>
      <p:sp>
        <p:nvSpPr>
          <p:cNvPr id="13" name="Text 9"/>
          <p:cNvSpPr txBox="1"/>
          <p:nvPr/>
        </p:nvSpPr>
        <p:spPr>
          <a:xfrm>
            <a:off x="2971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no negative price, no duplicate ID</a:t>
            </a:r>
            <a:endParaRPr lang="en-US" sz="1400" dirty="0"/>
          </a:p>
        </p:txBody>
      </p:sp>
      <p:sp>
        <p:nvSpPr>
          <p:cNvPr id="14" name="arrow 2"/>
          <p:cNvSpPr/>
          <p:nvPr/>
        </p:nvSpPr>
        <p:spPr>
          <a:xfrm>
            <a:off x="4882896" y="2542032"/>
            <a:ext cx="201168" cy="274320"/>
          </a:xfrm>
          <a:prstGeom prst="rightArrow">
            <a:avLst/>
          </a:prstGeom>
          <a:solidFill>
            <a:schemeClr val="tx2"/>
          </a:solidFill>
          <a:ln/>
        </p:spPr>
      </p:sp>
      <p:sp>
        <p:nvSpPr>
          <p:cNvPr id="15" name="step 3 card"/>
          <p:cNvSpPr/>
          <p:nvPr/>
        </p:nvSpPr>
        <p:spPr>
          <a:xfrm>
            <a:off x="5120640" y="1508760"/>
            <a:ext cx="2011680" cy="2331720"/>
          </a:xfrm>
          <a:prstGeom prst="roundRect">
            <a:avLst>
              <a:gd name="adj" fmla="val 5455"/>
            </a:avLst>
          </a:prstGeom>
          <a:solidFill>
            <a:schemeClr val="bg2"/>
          </a:solidFill>
          <a:ln/>
        </p:spPr>
      </p:sp>
      <p:sp>
        <p:nvSpPr>
          <p:cNvPr id="16" name="step 3 tile"/>
          <p:cNvSpPr/>
          <p:nvPr/>
        </p:nvSpPr>
        <p:spPr>
          <a:xfrm>
            <a:off x="5779008" y="1737360"/>
            <a:ext cx="694944" cy="694944"/>
          </a:xfrm>
          <a:prstGeom prst="roundRect">
            <a:avLst>
              <a:gd name="adj" fmla="val 24000"/>
            </a:avLst>
          </a:prstGeom>
          <a:solidFill>
            <a:schemeClr val="accent2">
              <a:alpha val="14000"/>
            </a:schemeClr>
          </a:solidFill>
          <a:ln/>
        </p:spPr>
      </p:sp>
      <p:pic>
        <p:nvPicPr>
          <p:cNvPr id="17" name="step 3 icon" descr="preencoded.png">    </p:cNvPr>
          <p:cNvPicPr>
            <a:picLocks noChangeAspect="1"/>
          </p:cNvPicPr>
          <p:nvPr/>
        </p:nvPicPr>
        <p:blipFill>
          <a:blip r:embed="rId3"/>
          <a:stretch>
            <a:fillRect/>
          </a:stretch>
        </p:blipFill>
        <p:spPr>
          <a:xfrm>
            <a:off x="5931896" y="1890248"/>
            <a:ext cx="389169" cy="389169"/>
          </a:xfrm>
          <a:prstGeom prst="rect">
            <a:avLst/>
          </a:prstGeom>
        </p:spPr>
      </p:pic>
      <p:sp>
        <p:nvSpPr>
          <p:cNvPr id="18" name="Text 13"/>
          <p:cNvSpPr txBox="1"/>
          <p:nvPr/>
        </p:nvSpPr>
        <p:spPr>
          <a:xfrm>
            <a:off x="5257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Pack</a:t>
            </a:r>
            <a:endParaRPr lang="en-US" sz="1800" dirty="0"/>
          </a:p>
        </p:txBody>
      </p:sp>
      <p:sp>
        <p:nvSpPr>
          <p:cNvPr id="19" name="Text 14"/>
          <p:cNvSpPr txBox="1"/>
          <p:nvPr/>
        </p:nvSpPr>
        <p:spPr>
          <a:xfrm>
            <a:off x="5257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copy into C structs (ctypes)</a:t>
            </a:r>
            <a:endParaRPr lang="en-US" sz="1400" dirty="0"/>
          </a:p>
        </p:txBody>
      </p:sp>
      <p:sp>
        <p:nvSpPr>
          <p:cNvPr id="20" name="arrow 3"/>
          <p:cNvSpPr/>
          <p:nvPr/>
        </p:nvSpPr>
        <p:spPr>
          <a:xfrm>
            <a:off x="7168896" y="2542032"/>
            <a:ext cx="201168" cy="274320"/>
          </a:xfrm>
          <a:prstGeom prst="rightArrow">
            <a:avLst/>
          </a:prstGeom>
          <a:solidFill>
            <a:schemeClr val="tx2"/>
          </a:solidFill>
          <a:ln/>
        </p:spPr>
      </p:sp>
      <p:sp>
        <p:nvSpPr>
          <p:cNvPr id="21" name="step 4 card"/>
          <p:cNvSpPr/>
          <p:nvPr/>
        </p:nvSpPr>
        <p:spPr>
          <a:xfrm>
            <a:off x="7406640" y="1508760"/>
            <a:ext cx="2011680" cy="2331720"/>
          </a:xfrm>
          <a:prstGeom prst="roundRect">
            <a:avLst>
              <a:gd name="adj" fmla="val 5455"/>
            </a:avLst>
          </a:prstGeom>
          <a:solidFill>
            <a:schemeClr val="bg2"/>
          </a:solidFill>
          <a:ln/>
        </p:spPr>
      </p:sp>
      <p:sp>
        <p:nvSpPr>
          <p:cNvPr id="22" name="step 4 tile"/>
          <p:cNvSpPr/>
          <p:nvPr/>
        </p:nvSpPr>
        <p:spPr>
          <a:xfrm>
            <a:off x="8065008" y="1737360"/>
            <a:ext cx="694944" cy="694944"/>
          </a:xfrm>
          <a:prstGeom prst="roundRect">
            <a:avLst>
              <a:gd name="adj" fmla="val 24000"/>
            </a:avLst>
          </a:prstGeom>
          <a:solidFill>
            <a:schemeClr val="accent4">
              <a:alpha val="14000"/>
            </a:schemeClr>
          </a:solidFill>
          <a:ln/>
        </p:spPr>
      </p:sp>
      <p:pic>
        <p:nvPicPr>
          <p:cNvPr id="23" name="step 4 icon" descr="preencoded.png">    </p:cNvPr>
          <p:cNvPicPr>
            <a:picLocks noChangeAspect="1"/>
          </p:cNvPicPr>
          <p:nvPr/>
        </p:nvPicPr>
        <p:blipFill>
          <a:blip r:embed="rId4"/>
          <a:stretch>
            <a:fillRect/>
          </a:stretch>
        </p:blipFill>
        <p:spPr>
          <a:xfrm>
            <a:off x="8217896" y="1890248"/>
            <a:ext cx="389169" cy="389169"/>
          </a:xfrm>
          <a:prstGeom prst="rect">
            <a:avLst/>
          </a:prstGeom>
        </p:spPr>
      </p:pic>
      <p:sp>
        <p:nvSpPr>
          <p:cNvPr id="24" name="Text 18"/>
          <p:cNvSpPr txBox="1"/>
          <p:nvPr/>
        </p:nvSpPr>
        <p:spPr>
          <a:xfrm>
            <a:off x="7543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Call C</a:t>
            </a:r>
            <a:endParaRPr lang="en-US" sz="1800" dirty="0"/>
          </a:p>
        </p:txBody>
      </p:sp>
      <p:sp>
        <p:nvSpPr>
          <p:cNvPr id="25" name="Text 19"/>
          <p:cNvSpPr txBox="1"/>
          <p:nvPr/>
        </p:nvSpPr>
        <p:spPr>
          <a:xfrm>
            <a:off x="7543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e.g. sw_prefix_search()</a:t>
            </a:r>
            <a:endParaRPr lang="en-US" sz="1400" dirty="0"/>
          </a:p>
        </p:txBody>
      </p:sp>
      <p:sp>
        <p:nvSpPr>
          <p:cNvPr id="26" name="arrow 4"/>
          <p:cNvSpPr/>
          <p:nvPr/>
        </p:nvSpPr>
        <p:spPr>
          <a:xfrm>
            <a:off x="9454896" y="2542032"/>
            <a:ext cx="201168" cy="274320"/>
          </a:xfrm>
          <a:prstGeom prst="rightArrow">
            <a:avLst/>
          </a:prstGeom>
          <a:solidFill>
            <a:schemeClr val="tx2"/>
          </a:solidFill>
          <a:ln/>
        </p:spPr>
      </p:sp>
      <p:sp>
        <p:nvSpPr>
          <p:cNvPr id="27" name="step 5 card"/>
          <p:cNvSpPr/>
          <p:nvPr/>
        </p:nvSpPr>
        <p:spPr>
          <a:xfrm>
            <a:off x="9692640" y="1508760"/>
            <a:ext cx="2011680" cy="2331720"/>
          </a:xfrm>
          <a:prstGeom prst="roundRect">
            <a:avLst>
              <a:gd name="adj" fmla="val 5455"/>
            </a:avLst>
          </a:prstGeom>
          <a:solidFill>
            <a:schemeClr val="bg2"/>
          </a:solidFill>
          <a:ln/>
        </p:spPr>
      </p:sp>
      <p:sp>
        <p:nvSpPr>
          <p:cNvPr id="28" name="step 5 tile"/>
          <p:cNvSpPr/>
          <p:nvPr/>
        </p:nvSpPr>
        <p:spPr>
          <a:xfrm>
            <a:off x="10351008" y="1737360"/>
            <a:ext cx="694944" cy="694944"/>
          </a:xfrm>
          <a:prstGeom prst="roundRect">
            <a:avLst>
              <a:gd name="adj" fmla="val 24000"/>
            </a:avLst>
          </a:prstGeom>
          <a:solidFill>
            <a:schemeClr val="accent1">
              <a:alpha val="14000"/>
            </a:schemeClr>
          </a:solidFill>
          <a:ln/>
        </p:spPr>
      </p:sp>
      <p:pic>
        <p:nvPicPr>
          <p:cNvPr id="29" name="step 5 icon" descr="preencoded.png">    </p:cNvPr>
          <p:cNvPicPr>
            <a:picLocks noChangeAspect="1"/>
          </p:cNvPicPr>
          <p:nvPr/>
        </p:nvPicPr>
        <p:blipFill>
          <a:blip r:embed="rId5"/>
          <a:stretch>
            <a:fillRect/>
          </a:stretch>
        </p:blipFill>
        <p:spPr>
          <a:xfrm>
            <a:off x="10503896" y="1890248"/>
            <a:ext cx="389169" cy="389169"/>
          </a:xfrm>
          <a:prstGeom prst="rect">
            <a:avLst/>
          </a:prstGeom>
        </p:spPr>
      </p:pic>
      <p:sp>
        <p:nvSpPr>
          <p:cNvPr id="30" name="Text 23"/>
          <p:cNvSpPr txBox="1"/>
          <p:nvPr/>
        </p:nvSpPr>
        <p:spPr>
          <a:xfrm>
            <a:off x="9829800" y="2560320"/>
            <a:ext cx="1737360" cy="384048"/>
          </a:xfrm>
          <a:prstGeom prst="rect">
            <a:avLst/>
          </a:prstGeom>
          <a:noFill/>
          <a:ln/>
        </p:spPr>
        <p:txBody>
          <a:bodyPr wrap="square" lIns="0" tIns="0" rIns="0" bIns="0" rtlCol="0" anchor="t"/>
          <a:lstStyle/>
          <a:p>
            <a:pPr algn="ctr" indent="0" marL="0">
              <a:buNone/>
            </a:pPr>
            <a:r>
              <a:rPr lang="en-US" sz="1800" b="1" dirty="0">
                <a:solidFill>
                  <a:schemeClr val="tx2"/>
                </a:solidFill>
              </a:rPr>
              <a:t>Unpack</a:t>
            </a:r>
            <a:endParaRPr lang="en-US" sz="1800" dirty="0"/>
          </a:p>
        </p:txBody>
      </p:sp>
      <p:sp>
        <p:nvSpPr>
          <p:cNvPr id="31" name="Text 24"/>
          <p:cNvSpPr txBox="1"/>
          <p:nvPr/>
        </p:nvSpPr>
        <p:spPr>
          <a:xfrm>
            <a:off x="9829800" y="2971800"/>
            <a:ext cx="1737360" cy="731520"/>
          </a:xfrm>
          <a:prstGeom prst="rect">
            <a:avLst/>
          </a:prstGeom>
          <a:noFill/>
          <a:ln/>
        </p:spPr>
        <p:txBody>
          <a:bodyPr wrap="square" lIns="0" tIns="0" rIns="0" bIns="0" rtlCol="0" anchor="t"/>
          <a:lstStyle/>
          <a:p>
            <a:pPr algn="ctr" indent="0" marL="0">
              <a:buNone/>
            </a:pPr>
            <a:r>
              <a:rPr lang="en-US" sz="1400" dirty="0">
                <a:solidFill>
                  <a:schemeClr val="tx1"/>
                </a:solidFill>
              </a:rPr>
              <a:t>results back to dicts</a:t>
            </a:r>
            <a:endParaRPr lang="en-US" sz="1400" dirty="0"/>
          </a:p>
        </p:txBody>
      </p:sp>
      <p:sp>
        <p:nvSpPr>
          <p:cNvPr id="32" name="Text 25"/>
          <p:cNvSpPr txBox="1"/>
          <p:nvPr/>
        </p:nvSpPr>
        <p:spPr>
          <a:xfrm>
            <a:off x="548640" y="4297680"/>
            <a:ext cx="3474720" cy="365760"/>
          </a:xfrm>
          <a:prstGeom prst="rect">
            <a:avLst/>
          </a:prstGeom>
          <a:noFill/>
          <a:ln/>
        </p:spPr>
        <p:txBody>
          <a:bodyPr wrap="square" lIns="0" tIns="0" rIns="0" bIns="0" rtlCol="0" anchor="t"/>
          <a:lstStyle/>
          <a:p>
            <a:pPr indent="0" marL="0">
              <a:buNone/>
            </a:pPr>
            <a:r>
              <a:rPr lang="en-US" sz="1800" b="1" dirty="0">
                <a:solidFill>
                  <a:schemeClr val="tx2"/>
                </a:solidFill>
              </a:rPr>
              <a:t>Loads the library</a:t>
            </a:r>
            <a:endParaRPr lang="en-US" sz="1800" dirty="0"/>
          </a:p>
        </p:txBody>
      </p:sp>
      <p:sp>
        <p:nvSpPr>
          <p:cNvPr id="33" name="Text 26"/>
          <p:cNvSpPr txBox="1"/>
          <p:nvPr/>
        </p:nvSpPr>
        <p:spPr>
          <a:xfrm>
            <a:off x="548640" y="4709160"/>
            <a:ext cx="3474720" cy="731520"/>
          </a:xfrm>
          <a:prstGeom prst="rect">
            <a:avLst/>
          </a:prstGeom>
          <a:noFill/>
          <a:ln/>
        </p:spPr>
        <p:txBody>
          <a:bodyPr wrap="square" lIns="0" tIns="0" rIns="0" bIns="0" rtlCol="0" anchor="t"/>
          <a:lstStyle/>
          <a:p>
            <a:pPr indent="0" marL="0">
              <a:buNone/>
            </a:pPr>
            <a:r>
              <a:rPr lang="en-US" sz="1400" dirty="0">
                <a:solidFill>
                  <a:schemeClr val="tx1"/>
                </a:solidFill>
              </a:rPr>
              <a:t>libstockwise.so on Linux, stockwise.dll on Windows</a:t>
            </a:r>
            <a:endParaRPr lang="en-US" sz="1400" dirty="0"/>
          </a:p>
        </p:txBody>
      </p:sp>
      <p:sp>
        <p:nvSpPr>
          <p:cNvPr id="34" name="Text 27"/>
          <p:cNvSpPr txBox="1"/>
          <p:nvPr/>
        </p:nvSpPr>
        <p:spPr>
          <a:xfrm>
            <a:off x="4297680" y="4297680"/>
            <a:ext cx="3474720" cy="365760"/>
          </a:xfrm>
          <a:prstGeom prst="rect">
            <a:avLst/>
          </a:prstGeom>
          <a:noFill/>
          <a:ln/>
        </p:spPr>
        <p:txBody>
          <a:bodyPr wrap="square" lIns="0" tIns="0" rIns="0" bIns="0" rtlCol="0" anchor="t"/>
          <a:lstStyle/>
          <a:p>
            <a:pPr indent="0" marL="0">
              <a:buNone/>
            </a:pPr>
            <a:r>
              <a:rPr lang="en-US" sz="1800" b="1" dirty="0">
                <a:solidFill>
                  <a:schemeClr val="tx2"/>
                </a:solidFill>
              </a:rPr>
              <a:t>Declares every C function</a:t>
            </a:r>
            <a:endParaRPr lang="en-US" sz="1800" dirty="0"/>
          </a:p>
        </p:txBody>
      </p:sp>
      <p:sp>
        <p:nvSpPr>
          <p:cNvPr id="35" name="Text 28"/>
          <p:cNvSpPr txBox="1"/>
          <p:nvPr/>
        </p:nvSpPr>
        <p:spPr>
          <a:xfrm>
            <a:off x="4297680" y="4709160"/>
            <a:ext cx="3474720" cy="731520"/>
          </a:xfrm>
          <a:prstGeom prst="rect">
            <a:avLst/>
          </a:prstGeom>
          <a:noFill/>
          <a:ln/>
        </p:spPr>
        <p:txBody>
          <a:bodyPr wrap="square" lIns="0" tIns="0" rIns="0" bIns="0" rtlCol="0" anchor="t"/>
          <a:lstStyle/>
          <a:p>
            <a:pPr indent="0" marL="0">
              <a:buNone/>
            </a:pPr>
            <a:r>
              <a:rPr lang="en-US" sz="1400" dirty="0">
                <a:solidFill>
                  <a:schemeClr val="tx1"/>
                </a:solidFill>
              </a:rPr>
              <a:t>argument and return types, so Python calls them safely</a:t>
            </a:r>
            <a:endParaRPr lang="en-US" sz="1400" dirty="0"/>
          </a:p>
        </p:txBody>
      </p:sp>
      <p:sp>
        <p:nvSpPr>
          <p:cNvPr id="36" name="Text 29"/>
          <p:cNvSpPr txBox="1"/>
          <p:nvPr/>
        </p:nvSpPr>
        <p:spPr>
          <a:xfrm>
            <a:off x="8046720" y="4297680"/>
            <a:ext cx="3474720" cy="365760"/>
          </a:xfrm>
          <a:prstGeom prst="rect">
            <a:avLst/>
          </a:prstGeom>
          <a:noFill/>
          <a:ln/>
        </p:spPr>
        <p:txBody>
          <a:bodyPr wrap="square" lIns="0" tIns="0" rIns="0" bIns="0" rtlCol="0" anchor="t"/>
          <a:lstStyle/>
          <a:p>
            <a:pPr indent="0" marL="0">
              <a:buNone/>
            </a:pPr>
            <a:r>
              <a:rPr lang="en-US" sz="1800" b="1" dirty="0">
                <a:solidFill>
                  <a:schemeClr val="tx2"/>
                </a:solidFill>
              </a:rPr>
              <a:t>Frees memory</a:t>
            </a:r>
            <a:endParaRPr lang="en-US" sz="1800" dirty="0"/>
          </a:p>
        </p:txBody>
      </p:sp>
      <p:sp>
        <p:nvSpPr>
          <p:cNvPr id="37" name="Text 30"/>
          <p:cNvSpPr txBox="1"/>
          <p:nvPr/>
        </p:nvSpPr>
        <p:spPr>
          <a:xfrm>
            <a:off x="8046720" y="4709160"/>
            <a:ext cx="3474720" cy="731520"/>
          </a:xfrm>
          <a:prstGeom prst="rect">
            <a:avLst/>
          </a:prstGeom>
          <a:noFill/>
          <a:ln/>
        </p:spPr>
        <p:txBody>
          <a:bodyPr wrap="square" lIns="0" tIns="0" rIns="0" bIns="0" rtlCol="0" anchor="t"/>
          <a:lstStyle/>
          <a:p>
            <a:pPr indent="0" marL="0">
              <a:buNone/>
            </a:pPr>
            <a:r>
              <a:rPr lang="en-US" sz="1400" dirty="0">
                <a:solidFill>
                  <a:schemeClr val="tx1"/>
                </a:solidFill>
              </a:rPr>
              <a:t>Engine.close() releases all C memory; nothing leaks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database.py and schema.sql: permanent storage</a:t>
            </a:r>
            <a:endParaRPr lang="en-US" sz="3600" dirty="0"/>
          </a:p>
        </p:txBody>
      </p:sp>
      <p:sp>
        <p:nvSpPr>
          <p:cNvPr id="3" name="products card"/>
          <p:cNvSpPr/>
          <p:nvPr/>
        </p:nvSpPr>
        <p:spPr>
          <a:xfrm>
            <a:off x="548640" y="1463040"/>
            <a:ext cx="5669280" cy="1645920"/>
          </a:xfrm>
          <a:prstGeom prst="roundRect">
            <a:avLst>
              <a:gd name="adj" fmla="val 6667"/>
            </a:avLst>
          </a:prstGeom>
          <a:solidFill>
            <a:schemeClr val="bg2"/>
          </a:solidFill>
          <a:ln/>
        </p:spPr>
      </p:sp>
      <p:sp>
        <p:nvSpPr>
          <p:cNvPr id="4" name="products tile"/>
          <p:cNvSpPr/>
          <p:nvPr/>
        </p:nvSpPr>
        <p:spPr>
          <a:xfrm>
            <a:off x="822960" y="1737360"/>
            <a:ext cx="685800" cy="685800"/>
          </a:xfrm>
          <a:prstGeom prst="roundRect">
            <a:avLst>
              <a:gd name="adj" fmla="val 24000"/>
            </a:avLst>
          </a:prstGeom>
          <a:solidFill>
            <a:schemeClr val="accent1">
              <a:alpha val="14000"/>
            </a:schemeClr>
          </a:solidFill>
          <a:ln/>
        </p:spPr>
      </p:sp>
      <p:pic>
        <p:nvPicPr>
          <p:cNvPr id="5" name="products icon" descr="preencoded.png">    </p:cNvPr>
          <p:cNvPicPr>
            <a:picLocks noChangeAspect="1"/>
          </p:cNvPicPr>
          <p:nvPr/>
        </p:nvPicPr>
        <p:blipFill>
          <a:blip r:embed="rId1"/>
          <a:stretch>
            <a:fillRect/>
          </a:stretch>
        </p:blipFill>
        <p:spPr>
          <a:xfrm>
            <a:off x="973836" y="1888236"/>
            <a:ext cx="384048" cy="384048"/>
          </a:xfrm>
          <a:prstGeom prst="rect">
            <a:avLst/>
          </a:prstGeom>
        </p:spPr>
      </p:pic>
      <p:sp>
        <p:nvSpPr>
          <p:cNvPr id="6" name="Text 3"/>
          <p:cNvSpPr txBox="1"/>
          <p:nvPr/>
        </p:nvSpPr>
        <p:spPr>
          <a:xfrm>
            <a:off x="1737360" y="1737360"/>
            <a:ext cx="4297680" cy="365760"/>
          </a:xfrm>
          <a:prstGeom prst="rect">
            <a:avLst/>
          </a:prstGeom>
          <a:noFill/>
          <a:ln/>
        </p:spPr>
        <p:txBody>
          <a:bodyPr wrap="square" lIns="0" tIns="0" rIns="0" bIns="0" rtlCol="0" anchor="t"/>
          <a:lstStyle/>
          <a:p>
            <a:pPr indent="0" marL="0">
              <a:buNone/>
            </a:pPr>
            <a:r>
              <a:rPr lang="en-US" sz="1700" b="1" dirty="0">
                <a:solidFill>
                  <a:schemeClr val="accent1"/>
                </a:solidFill>
                <a:latin typeface="Courier New" pitchFamily="34" charset="0"/>
                <a:ea typeface="Courier New" pitchFamily="34" charset="-122"/>
                <a:cs typeface="Courier New" pitchFamily="34" charset="-120"/>
              </a:rPr>
              <a:t>products</a:t>
            </a:r>
            <a:endParaRPr lang="en-US" sz="1700" dirty="0"/>
          </a:p>
        </p:txBody>
      </p:sp>
      <p:sp>
        <p:nvSpPr>
          <p:cNvPr id="7" name="Text 4"/>
          <p:cNvSpPr txBox="1"/>
          <p:nvPr/>
        </p:nvSpPr>
        <p:spPr>
          <a:xfrm>
            <a:off x="1737360" y="2176272"/>
            <a:ext cx="4297680" cy="822960"/>
          </a:xfrm>
          <a:prstGeom prst="rect">
            <a:avLst/>
          </a:prstGeom>
          <a:noFill/>
          <a:ln/>
        </p:spPr>
        <p:txBody>
          <a:bodyPr wrap="square" lIns="0" tIns="0" rIns="0" bIns="0" rtlCol="0" anchor="t"/>
          <a:lstStyle/>
          <a:p>
            <a:pPr indent="0" marL="0">
              <a:buNone/>
            </a:pPr>
            <a:r>
              <a:rPr lang="en-US" sz="1400" dirty="0">
                <a:solidFill>
                  <a:schemeClr val="tx1"/>
                </a:solidFill>
              </a:rPr>
              <a:t>id, name, category, price, quantity, minimum stock, demand, importance</a:t>
            </a:r>
            <a:endParaRPr lang="en-US" sz="1400" dirty="0"/>
          </a:p>
        </p:txBody>
      </p:sp>
      <p:sp>
        <p:nvSpPr>
          <p:cNvPr id="8" name="inventory_transactions card"/>
          <p:cNvSpPr/>
          <p:nvPr/>
        </p:nvSpPr>
        <p:spPr>
          <a:xfrm>
            <a:off x="548640" y="3337560"/>
            <a:ext cx="5669280" cy="1645920"/>
          </a:xfrm>
          <a:prstGeom prst="roundRect">
            <a:avLst>
              <a:gd name="adj" fmla="val 6667"/>
            </a:avLst>
          </a:prstGeom>
          <a:solidFill>
            <a:schemeClr val="bg2"/>
          </a:solidFill>
          <a:ln/>
        </p:spPr>
      </p:sp>
      <p:sp>
        <p:nvSpPr>
          <p:cNvPr id="9" name="inventory_transactions tile"/>
          <p:cNvSpPr/>
          <p:nvPr/>
        </p:nvSpPr>
        <p:spPr>
          <a:xfrm>
            <a:off x="822960" y="3611880"/>
            <a:ext cx="685800" cy="685800"/>
          </a:xfrm>
          <a:prstGeom prst="roundRect">
            <a:avLst>
              <a:gd name="adj" fmla="val 24000"/>
            </a:avLst>
          </a:prstGeom>
          <a:solidFill>
            <a:schemeClr val="accent3">
              <a:alpha val="14000"/>
            </a:schemeClr>
          </a:solidFill>
          <a:ln/>
        </p:spPr>
      </p:sp>
      <p:pic>
        <p:nvPicPr>
          <p:cNvPr id="10" name="inventory_transactions icon" descr="preencoded.png">    </p:cNvPr>
          <p:cNvPicPr>
            <a:picLocks noChangeAspect="1"/>
          </p:cNvPicPr>
          <p:nvPr/>
        </p:nvPicPr>
        <p:blipFill>
          <a:blip r:embed="rId2"/>
          <a:stretch>
            <a:fillRect/>
          </a:stretch>
        </p:blipFill>
        <p:spPr>
          <a:xfrm>
            <a:off x="973836" y="3762756"/>
            <a:ext cx="384048" cy="384048"/>
          </a:xfrm>
          <a:prstGeom prst="rect">
            <a:avLst/>
          </a:prstGeom>
        </p:spPr>
      </p:pic>
      <p:sp>
        <p:nvSpPr>
          <p:cNvPr id="11" name="Text 7"/>
          <p:cNvSpPr txBox="1"/>
          <p:nvPr/>
        </p:nvSpPr>
        <p:spPr>
          <a:xfrm>
            <a:off x="1737360" y="3611880"/>
            <a:ext cx="4297680" cy="365760"/>
          </a:xfrm>
          <a:prstGeom prst="rect">
            <a:avLst/>
          </a:prstGeom>
          <a:noFill/>
          <a:ln/>
        </p:spPr>
        <p:txBody>
          <a:bodyPr wrap="square" lIns="0" tIns="0" rIns="0" bIns="0" rtlCol="0" anchor="t"/>
          <a:lstStyle/>
          <a:p>
            <a:pPr indent="0" marL="0">
              <a:buNone/>
            </a:pPr>
            <a:r>
              <a:rPr lang="en-US" sz="1700" b="1" dirty="0">
                <a:solidFill>
                  <a:schemeClr val="accent1"/>
                </a:solidFill>
                <a:latin typeface="Courier New" pitchFamily="34" charset="0"/>
                <a:ea typeface="Courier New" pitchFamily="34" charset="-122"/>
                <a:cs typeface="Courier New" pitchFamily="34" charset="-120"/>
              </a:rPr>
              <a:t>inventory_transactions</a:t>
            </a:r>
            <a:endParaRPr lang="en-US" sz="1700" dirty="0"/>
          </a:p>
        </p:txBody>
      </p:sp>
      <p:sp>
        <p:nvSpPr>
          <p:cNvPr id="12" name="Text 8"/>
          <p:cNvSpPr txBox="1"/>
          <p:nvPr/>
        </p:nvSpPr>
        <p:spPr>
          <a:xfrm>
            <a:off x="1737360" y="4050792"/>
            <a:ext cx="4297680" cy="822960"/>
          </a:xfrm>
          <a:prstGeom prst="rect">
            <a:avLst/>
          </a:prstGeom>
          <a:noFill/>
          <a:ln/>
        </p:spPr>
        <p:txBody>
          <a:bodyPr wrap="square" lIns="0" tIns="0" rIns="0" bIns="0" rtlCol="0" anchor="t"/>
          <a:lstStyle/>
          <a:p>
            <a:pPr indent="0" marL="0">
              <a:buNone/>
            </a:pPr>
            <a:r>
              <a:rPr lang="en-US" sz="1400" dirty="0">
                <a:solidFill>
                  <a:schemeClr val="tx1"/>
                </a:solidFill>
              </a:rPr>
              <a:t>every stock in and stock out: product, type, quantity, balance after, time</a:t>
            </a:r>
            <a:endParaRPr lang="en-US" sz="1400" dirty="0"/>
          </a:p>
        </p:txBody>
      </p:sp>
      <p:sp>
        <p:nvSpPr>
          <p:cNvPr id="13" name="Text 9"/>
          <p:cNvSpPr txBox="1"/>
          <p:nvPr/>
        </p:nvSpPr>
        <p:spPr>
          <a:xfrm>
            <a:off x="548640" y="5303520"/>
            <a:ext cx="5669280" cy="548640"/>
          </a:xfrm>
          <a:prstGeom prst="rect">
            <a:avLst/>
          </a:prstGeom>
          <a:noFill/>
          <a:ln/>
        </p:spPr>
        <p:txBody>
          <a:bodyPr wrap="square" lIns="0" tIns="0" rIns="0" bIns="0" rtlCol="0" anchor="t"/>
          <a:lstStyle/>
          <a:p>
            <a:pPr indent="0" marL="0">
              <a:buNone/>
            </a:pPr>
            <a:r>
              <a:rPr lang="en-US" sz="1400" i="1" dirty="0">
                <a:solidFill>
                  <a:schemeClr val="tx2"/>
                </a:solidFill>
              </a:rPr>
              <a:t>schema.sql creates the two tables. database.py adds, edits and deletes rows.</a:t>
            </a:r>
            <a:endParaRPr lang="en-US" sz="1400" dirty="0"/>
          </a:p>
        </p:txBody>
      </p:sp>
      <p:sp>
        <p:nvSpPr>
          <p:cNvPr id="14" name="rule 1 tile"/>
          <p:cNvSpPr/>
          <p:nvPr/>
        </p:nvSpPr>
        <p:spPr>
          <a:xfrm>
            <a:off x="6766560" y="1463040"/>
            <a:ext cx="548640" cy="548640"/>
          </a:xfrm>
          <a:prstGeom prst="roundRect">
            <a:avLst>
              <a:gd name="adj" fmla="val 24000"/>
            </a:avLst>
          </a:prstGeom>
          <a:solidFill>
            <a:schemeClr val="accent3">
              <a:alpha val="14000"/>
            </a:schemeClr>
          </a:solidFill>
          <a:ln/>
        </p:spPr>
      </p:sp>
      <p:pic>
        <p:nvPicPr>
          <p:cNvPr id="15" name="rule 1 icon" descr="preencoded.png">    </p:cNvPr>
          <p:cNvPicPr>
            <a:picLocks noChangeAspect="1"/>
          </p:cNvPicPr>
          <p:nvPr/>
        </p:nvPicPr>
        <p:blipFill>
          <a:blip r:embed="rId3"/>
          <a:stretch>
            <a:fillRect/>
          </a:stretch>
        </p:blipFill>
        <p:spPr>
          <a:xfrm>
            <a:off x="6887261" y="1583741"/>
            <a:ext cx="307238" cy="307238"/>
          </a:xfrm>
          <a:prstGeom prst="rect">
            <a:avLst/>
          </a:prstGeom>
        </p:spPr>
      </p:pic>
      <p:sp>
        <p:nvSpPr>
          <p:cNvPr id="16" name="Text 11"/>
          <p:cNvSpPr txBox="1"/>
          <p:nvPr/>
        </p:nvSpPr>
        <p:spPr>
          <a:xfrm>
            <a:off x="7498080" y="1444752"/>
            <a:ext cx="4114800" cy="365760"/>
          </a:xfrm>
          <a:prstGeom prst="rect">
            <a:avLst/>
          </a:prstGeom>
          <a:noFill/>
          <a:ln/>
        </p:spPr>
        <p:txBody>
          <a:bodyPr wrap="square" lIns="0" tIns="0" rIns="0" bIns="0" rtlCol="0" anchor="t"/>
          <a:lstStyle/>
          <a:p>
            <a:pPr indent="0" marL="0">
              <a:buNone/>
            </a:pPr>
            <a:r>
              <a:rPr lang="en-US" sz="1800" b="1" dirty="0">
                <a:solidFill>
                  <a:schemeClr val="tx2"/>
                </a:solidFill>
              </a:rPr>
              <a:t>Stock can never go negative</a:t>
            </a:r>
            <a:endParaRPr lang="en-US" sz="1800" dirty="0"/>
          </a:p>
        </p:txBody>
      </p:sp>
      <p:sp>
        <p:nvSpPr>
          <p:cNvPr id="17" name="Text 12"/>
          <p:cNvSpPr txBox="1"/>
          <p:nvPr/>
        </p:nvSpPr>
        <p:spPr>
          <a:xfrm>
            <a:off x="7498080" y="1847088"/>
            <a:ext cx="4114800" cy="640080"/>
          </a:xfrm>
          <a:prstGeom prst="rect">
            <a:avLst/>
          </a:prstGeom>
          <a:noFill/>
          <a:ln/>
        </p:spPr>
        <p:txBody>
          <a:bodyPr wrap="square" lIns="0" tIns="0" rIns="0" bIns="0" rtlCol="0" anchor="t"/>
          <a:lstStyle/>
          <a:p>
            <a:pPr indent="0" marL="0">
              <a:buNone/>
            </a:pPr>
            <a:r>
              <a:rPr lang="en-US" sz="1400" dirty="0">
                <a:solidFill>
                  <a:schemeClr val="tx1"/>
                </a:solidFill>
              </a:rPr>
              <a:t>the check and the update happen in one SQL statement</a:t>
            </a:r>
            <a:endParaRPr lang="en-US" sz="1400" dirty="0"/>
          </a:p>
        </p:txBody>
      </p:sp>
      <p:sp>
        <p:nvSpPr>
          <p:cNvPr id="18" name="rule 2 tile"/>
          <p:cNvSpPr/>
          <p:nvPr/>
        </p:nvSpPr>
        <p:spPr>
          <a:xfrm>
            <a:off x="6766560" y="2880360"/>
            <a:ext cx="548640" cy="548640"/>
          </a:xfrm>
          <a:prstGeom prst="roundRect">
            <a:avLst>
              <a:gd name="adj" fmla="val 24000"/>
            </a:avLst>
          </a:prstGeom>
          <a:solidFill>
            <a:schemeClr val="accent3">
              <a:alpha val="14000"/>
            </a:schemeClr>
          </a:solidFill>
          <a:ln/>
        </p:spPr>
      </p:sp>
      <p:pic>
        <p:nvPicPr>
          <p:cNvPr id="19" name="rule 2 icon" descr="preencoded.png">    </p:cNvPr>
          <p:cNvPicPr>
            <a:picLocks noChangeAspect="1"/>
          </p:cNvPicPr>
          <p:nvPr/>
        </p:nvPicPr>
        <p:blipFill>
          <a:blip r:embed="rId4"/>
          <a:stretch>
            <a:fillRect/>
          </a:stretch>
        </p:blipFill>
        <p:spPr>
          <a:xfrm>
            <a:off x="6887261" y="3001061"/>
            <a:ext cx="307238" cy="307238"/>
          </a:xfrm>
          <a:prstGeom prst="rect">
            <a:avLst/>
          </a:prstGeom>
        </p:spPr>
      </p:pic>
      <p:sp>
        <p:nvSpPr>
          <p:cNvPr id="20" name="Text 14"/>
          <p:cNvSpPr txBox="1"/>
          <p:nvPr/>
        </p:nvSpPr>
        <p:spPr>
          <a:xfrm>
            <a:off x="7498080" y="2862072"/>
            <a:ext cx="4114800" cy="365760"/>
          </a:xfrm>
          <a:prstGeom prst="rect">
            <a:avLst/>
          </a:prstGeom>
          <a:noFill/>
          <a:ln/>
        </p:spPr>
        <p:txBody>
          <a:bodyPr wrap="square" lIns="0" tIns="0" rIns="0" bIns="0" rtlCol="0" anchor="t"/>
          <a:lstStyle/>
          <a:p>
            <a:pPr indent="0" marL="0">
              <a:buNone/>
            </a:pPr>
            <a:r>
              <a:rPr lang="en-US" sz="1800" b="1" dirty="0">
                <a:solidFill>
                  <a:schemeClr val="tx2"/>
                </a:solidFill>
              </a:rPr>
              <a:t>History always matches stock</a:t>
            </a:r>
            <a:endParaRPr lang="en-US" sz="1800" dirty="0"/>
          </a:p>
        </p:txBody>
      </p:sp>
      <p:sp>
        <p:nvSpPr>
          <p:cNvPr id="21" name="Text 15"/>
          <p:cNvSpPr txBox="1"/>
          <p:nvPr/>
        </p:nvSpPr>
        <p:spPr>
          <a:xfrm>
            <a:off x="7498080" y="3264408"/>
            <a:ext cx="4114800" cy="640080"/>
          </a:xfrm>
          <a:prstGeom prst="rect">
            <a:avLst/>
          </a:prstGeom>
          <a:noFill/>
          <a:ln/>
        </p:spPr>
        <p:txBody>
          <a:bodyPr wrap="square" lIns="0" tIns="0" rIns="0" bIns="0" rtlCol="0" anchor="t"/>
          <a:lstStyle/>
          <a:p>
            <a:pPr indent="0" marL="0">
              <a:buNone/>
            </a:pPr>
            <a:r>
              <a:rPr lang="en-US" sz="1400" dirty="0">
                <a:solidFill>
                  <a:schemeClr val="tx1"/>
                </a:solidFill>
              </a:rPr>
              <a:t>the stock change and its history row are saved together</a:t>
            </a:r>
            <a:endParaRPr lang="en-US" sz="1400" dirty="0"/>
          </a:p>
        </p:txBody>
      </p:sp>
      <p:sp>
        <p:nvSpPr>
          <p:cNvPr id="22" name="rule 3 tile"/>
          <p:cNvSpPr/>
          <p:nvPr/>
        </p:nvSpPr>
        <p:spPr>
          <a:xfrm>
            <a:off x="6766560" y="4297680"/>
            <a:ext cx="548640" cy="548640"/>
          </a:xfrm>
          <a:prstGeom prst="roundRect">
            <a:avLst>
              <a:gd name="adj" fmla="val 24000"/>
            </a:avLst>
          </a:prstGeom>
          <a:solidFill>
            <a:schemeClr val="accent3">
              <a:alpha val="14000"/>
            </a:schemeClr>
          </a:solidFill>
          <a:ln/>
        </p:spPr>
      </p:sp>
      <p:pic>
        <p:nvPicPr>
          <p:cNvPr id="23" name="rule 3 icon" descr="preencoded.png">    </p:cNvPr>
          <p:cNvPicPr>
            <a:picLocks noChangeAspect="1"/>
          </p:cNvPicPr>
          <p:nvPr/>
        </p:nvPicPr>
        <p:blipFill>
          <a:blip r:embed="rId5"/>
          <a:stretch>
            <a:fillRect/>
          </a:stretch>
        </p:blipFill>
        <p:spPr>
          <a:xfrm>
            <a:off x="6887261" y="4418381"/>
            <a:ext cx="307238" cy="307238"/>
          </a:xfrm>
          <a:prstGeom prst="rect">
            <a:avLst/>
          </a:prstGeom>
        </p:spPr>
      </p:pic>
      <p:sp>
        <p:nvSpPr>
          <p:cNvPr id="24" name="Text 17"/>
          <p:cNvSpPr txBox="1"/>
          <p:nvPr/>
        </p:nvSpPr>
        <p:spPr>
          <a:xfrm>
            <a:off x="7498080" y="4279392"/>
            <a:ext cx="4114800" cy="365760"/>
          </a:xfrm>
          <a:prstGeom prst="rect">
            <a:avLst/>
          </a:prstGeom>
          <a:noFill/>
          <a:ln/>
        </p:spPr>
        <p:txBody>
          <a:bodyPr wrap="square" lIns="0" tIns="0" rIns="0" bIns="0" rtlCol="0" anchor="t"/>
          <a:lstStyle/>
          <a:p>
            <a:pPr indent="0" marL="0">
              <a:buNone/>
            </a:pPr>
            <a:r>
              <a:rPr lang="en-US" sz="1800" b="1" dirty="0">
                <a:solidFill>
                  <a:schemeClr val="tx2"/>
                </a:solidFill>
              </a:rPr>
              <a:t>Ready-made sample data</a:t>
            </a:r>
            <a:endParaRPr lang="en-US" sz="1800" dirty="0"/>
          </a:p>
        </p:txBody>
      </p:sp>
      <p:sp>
        <p:nvSpPr>
          <p:cNvPr id="25" name="Text 18"/>
          <p:cNvSpPr txBox="1"/>
          <p:nvPr/>
        </p:nvSpPr>
        <p:spPr>
          <a:xfrm>
            <a:off x="7498080" y="4681728"/>
            <a:ext cx="4114800" cy="640080"/>
          </a:xfrm>
          <a:prstGeom prst="rect">
            <a:avLst/>
          </a:prstGeom>
          <a:noFill/>
          <a:ln/>
        </p:spPr>
        <p:txBody>
          <a:bodyPr wrap="square" lIns="0" tIns="0" rIns="0" bIns="0" rtlCol="0" anchor="t"/>
          <a:lstStyle/>
          <a:p>
            <a:pPr indent="0" marL="0">
              <a:buNone/>
            </a:pPr>
            <a:r>
              <a:rPr lang="en-US" sz="1400" dirty="0">
                <a:solidFill>
                  <a:schemeClr val="tx1"/>
                </a:solidFill>
              </a:rPr>
              <a:t>25 products with 90 days of deliveries and sales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05840"/>
          </a:xfrm>
          <a:prstGeom prst="rect">
            <a:avLst/>
          </a:prstGeom>
          <a:noFill/>
          <a:ln/>
        </p:spPr>
        <p:txBody>
          <a:bodyPr wrap="square" lIns="0" tIns="0" rIns="0" bIns="0" rtlCol="0" anchor="b"/>
          <a:lstStyle/>
          <a:p>
            <a:pPr algn="l" indent="0" marL="0">
              <a:buNone/>
            </a:pPr>
            <a:r>
              <a:rPr lang="en-US" sz="4400" b="1" dirty="0">
                <a:solidFill>
                  <a:schemeClr val="bg1"/>
                </a:solidFill>
              </a:rPr>
              <a:t>The C engine</a:t>
            </a:r>
            <a:endParaRPr lang="en-US" sz="4400" dirty="0"/>
          </a:p>
        </p:txBody>
      </p:sp>
      <p:sp>
        <p:nvSpPr>
          <p:cNvPr id="3" name="Text 0"/>
          <p:cNvSpPr/>
          <p:nvPr>
            <p:ph idx="101" type="body" hasCustomPrompt="1"/>
          </p:nvPr>
        </p:nvSpPr>
        <p:spPr>
          <a:xfrm>
            <a:off x="731520" y="3520440"/>
            <a:ext cx="10698480" cy="731520"/>
          </a:xfrm>
          <a:prstGeom prst="rect">
            <a:avLst/>
          </a:prstGeom>
          <a:noFill/>
          <a:ln/>
        </p:spPr>
        <p:txBody>
          <a:bodyPr wrap="square" lIns="0" tIns="0" rIns="0" bIns="0" rtlCol="0" anchor="t"/>
          <a:lstStyle/>
          <a:p>
            <a:pPr algn="l" indent="0" marL="0">
              <a:buNone/>
            </a:pPr>
            <a:r>
              <a:rPr lang="en-US" sz="2200" dirty="0">
                <a:solidFill>
                  <a:schemeClr val="bg1"/>
                </a:solidFill>
              </a:rPr>
              <a:t>Where every data structure and algorithm runs</a:t>
            </a:r>
            <a:endParaRPr lang="en-US" sz="2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Ten C files, one concept each</a:t>
            </a:r>
            <a:endParaRPr lang="en-US" sz="3600" dirty="0"/>
          </a:p>
        </p:txBody>
      </p:sp>
      <p:graphicFrame>
        <p:nvGraphicFramePr>
          <p:cNvPr id="10" name="C files table"/>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743200"/>
                <a:gridCol w="4343400"/>
                <a:gridCol w="3977640"/>
              </a:tblGrid>
              <a:tr h="402336">
                <a:tc>
                  <a:txBody>
                    <a:bodyPr/>
                    <a:lstStyle/>
                    <a:p>
                      <a:pPr indent="0" marL="0">
                        <a:buNone/>
                      </a:pPr>
                      <a:r>
                        <a:rPr lang="en-US" sz="1400" b="1" dirty="0">
                          <a:solidFill>
                            <a:schemeClr val="bg1"/>
                          </a:solidFill>
                        </a:rPr>
                        <a:t>File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Data structure / algorithm</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c>
                  <a:txBody>
                    <a:bodyPr/>
                    <a:lstStyle/>
                    <a:p>
                      <a:pPr indent="0" marL="0">
                        <a:buNone/>
                      </a:pPr>
                      <a:r>
                        <a:rPr lang="en-US" sz="1400" b="1" dirty="0">
                          <a:solidFill>
                            <a:schemeClr val="bg1"/>
                          </a:solidFill>
                        </a:rPr>
                        <a:t>Used for</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tx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search.c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Linear and binary search</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Find a product by ID</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hash_table.c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Hash table (separate chaining)</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Instant lookup by ID</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sorting.c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Merge, Insertion, Quick, Heap Sort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Sort products by any column</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max_heap.c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Max-Heap priority queue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Rank what to restock first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avl_tree.c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AVL tree (self-balancing BST)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Filter by price range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trie.c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Trie (prefix tree)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Autocomplete product names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knapsack.c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0/1 knapsack, dynamic programming</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Best restock plan within a budget</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graph.c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Graph + Dijkstra's shortest path</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Shortest delivery route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fifo_queue.c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Circular queue (FIFO)</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indent="0" marL="0">
                        <a:buNone/>
                      </a:pPr>
                      <a:r>
                        <a:rPr lang="en-US" sz="1400" dirty="0">
                          <a:solidFill>
                            <a:schemeClr val="tx1"/>
                          </a:solidFill>
                        </a:rPr>
                        <a:t>Track stock lots and their age</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402336">
                <a:tc>
                  <a:txBody>
                    <a:bodyP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inventory_engine.c</a:t>
                      </a:r>
                      <a:endParaRPr lang="en-US" sz="1300" dirty="0">
                        <a:latin typeface="Courier New" charset="0"/>
                        <a:ea typeface="Courier New" charset="0"/>
                        <a:cs typeface="Courier New"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Public API (sw_* functions)</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indent="0" marL="0">
                        <a:buNone/>
                      </a:pPr>
                      <a:r>
                        <a:rPr lang="en-US" sz="1400" dirty="0">
                          <a:solidFill>
                            <a:schemeClr val="tx1"/>
                          </a:solidFill>
                        </a:rPr>
                        <a:t>The door Python calls through</a:t>
                      </a:r>
                      <a:endParaRPr lang="en-US" sz="1400" dirty="0"/>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The glue: header, engine and Makefile</a:t>
            </a:r>
            <a:endParaRPr lang="en-US" sz="3600" dirty="0"/>
          </a:p>
        </p:txBody>
      </p:sp>
      <p:sp>
        <p:nvSpPr>
          <p:cNvPr id="3" name="inventory_types.h card"/>
          <p:cNvSpPr/>
          <p:nvPr/>
        </p:nvSpPr>
        <p:spPr>
          <a:xfrm>
            <a:off x="548640" y="1463040"/>
            <a:ext cx="3520440" cy="3246120"/>
          </a:xfrm>
          <a:prstGeom prst="roundRect">
            <a:avLst>
              <a:gd name="adj" fmla="val 3380"/>
            </a:avLst>
          </a:prstGeom>
          <a:solidFill>
            <a:schemeClr val="bg2"/>
          </a:solidFill>
          <a:ln/>
        </p:spPr>
      </p:sp>
      <p:sp>
        <p:nvSpPr>
          <p:cNvPr id="4" name="inventory_types.h tile"/>
          <p:cNvSpPr/>
          <p:nvPr/>
        </p:nvSpPr>
        <p:spPr>
          <a:xfrm>
            <a:off x="868680" y="1737360"/>
            <a:ext cx="868680" cy="868680"/>
          </a:xfrm>
          <a:prstGeom prst="roundRect">
            <a:avLst>
              <a:gd name="adj" fmla="val 24000"/>
            </a:avLst>
          </a:prstGeom>
          <a:solidFill>
            <a:schemeClr val="accent1">
              <a:alpha val="14000"/>
            </a:schemeClr>
          </a:solidFill>
          <a:ln/>
        </p:spPr>
      </p:sp>
      <p:pic>
        <p:nvPicPr>
          <p:cNvPr id="5" name="inventory_types.h icon" descr="preencoded.png">    </p:cNvPr>
          <p:cNvPicPr>
            <a:picLocks noChangeAspect="1"/>
          </p:cNvPicPr>
          <p:nvPr/>
        </p:nvPicPr>
        <p:blipFill>
          <a:blip r:embed="rId1"/>
          <a:stretch>
            <a:fillRect/>
          </a:stretch>
        </p:blipFill>
        <p:spPr>
          <a:xfrm>
            <a:off x="1059790" y="1928470"/>
            <a:ext cx="486461" cy="486461"/>
          </a:xfrm>
          <a:prstGeom prst="rect">
            <a:avLst/>
          </a:prstGeom>
        </p:spPr>
      </p:pic>
      <p:sp>
        <p:nvSpPr>
          <p:cNvPr id="6" name="Text 3"/>
          <p:cNvSpPr txBox="1"/>
          <p:nvPr/>
        </p:nvSpPr>
        <p:spPr>
          <a:xfrm>
            <a:off x="868680" y="278892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contract</a:t>
            </a:r>
            <a:endParaRPr lang="en-US" sz="2000" dirty="0"/>
          </a:p>
        </p:txBody>
      </p:sp>
      <p:sp>
        <p:nvSpPr>
          <p:cNvPr id="7" name="Text 4"/>
          <p:cNvSpPr txBox="1"/>
          <p:nvPr/>
        </p:nvSpPr>
        <p:spPr>
          <a:xfrm>
            <a:off x="868680" y="3200400"/>
            <a:ext cx="2926080" cy="36576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inventory_types.h</a:t>
            </a:r>
            <a:endParaRPr lang="en-US" sz="1400" dirty="0"/>
          </a:p>
        </p:txBody>
      </p:sp>
      <p:sp>
        <p:nvSpPr>
          <p:cNvPr id="8" name="Text 5"/>
          <p:cNvSpPr txBox="1"/>
          <p:nvPr/>
        </p:nvSpPr>
        <p:spPr>
          <a:xfrm>
            <a:off x="868680" y="3611880"/>
            <a:ext cx="2926080" cy="1005840"/>
          </a:xfrm>
          <a:prstGeom prst="rect">
            <a:avLst/>
          </a:prstGeom>
          <a:noFill/>
          <a:ln/>
        </p:spPr>
        <p:txBody>
          <a:bodyPr wrap="square" lIns="0" tIns="0" rIns="0" bIns="0" rtlCol="0" anchor="t"/>
          <a:lstStyle/>
          <a:p>
            <a:pPr indent="0" marL="0">
              <a:buNone/>
            </a:pPr>
            <a:r>
              <a:rPr lang="en-US" sz="1400" dirty="0">
                <a:solidFill>
                  <a:schemeClr val="tx1"/>
                </a:solidFill>
              </a:rPr>
              <a:t>Shared structs (Product, SearchResult...), error codes, and the declaration of every function</a:t>
            </a:r>
            <a:endParaRPr lang="en-US" sz="1400" dirty="0"/>
          </a:p>
        </p:txBody>
      </p:sp>
      <p:sp>
        <p:nvSpPr>
          <p:cNvPr id="9" name="inventory_engine.c card"/>
          <p:cNvSpPr/>
          <p:nvPr/>
        </p:nvSpPr>
        <p:spPr>
          <a:xfrm>
            <a:off x="4297680" y="1463040"/>
            <a:ext cx="3520440" cy="3246120"/>
          </a:xfrm>
          <a:prstGeom prst="roundRect">
            <a:avLst>
              <a:gd name="adj" fmla="val 3380"/>
            </a:avLst>
          </a:prstGeom>
          <a:solidFill>
            <a:schemeClr val="bg2"/>
          </a:solidFill>
          <a:ln/>
        </p:spPr>
      </p:sp>
      <p:sp>
        <p:nvSpPr>
          <p:cNvPr id="10" name="inventory_engine.c tile"/>
          <p:cNvSpPr/>
          <p:nvPr/>
        </p:nvSpPr>
        <p:spPr>
          <a:xfrm>
            <a:off x="4617720" y="1737360"/>
            <a:ext cx="868680" cy="868680"/>
          </a:xfrm>
          <a:prstGeom prst="roundRect">
            <a:avLst>
              <a:gd name="adj" fmla="val 24000"/>
            </a:avLst>
          </a:prstGeom>
          <a:solidFill>
            <a:schemeClr val="accent4">
              <a:alpha val="14000"/>
            </a:schemeClr>
          </a:solidFill>
          <a:ln/>
        </p:spPr>
      </p:sp>
      <p:pic>
        <p:nvPicPr>
          <p:cNvPr id="11" name="inventory_engine.c icon" descr="preencoded.png">    </p:cNvPr>
          <p:cNvPicPr>
            <a:picLocks noChangeAspect="1"/>
          </p:cNvPicPr>
          <p:nvPr/>
        </p:nvPicPr>
        <p:blipFill>
          <a:blip r:embed="rId2"/>
          <a:stretch>
            <a:fillRect/>
          </a:stretch>
        </p:blipFill>
        <p:spPr>
          <a:xfrm>
            <a:off x="4808830" y="1928470"/>
            <a:ext cx="486461" cy="486461"/>
          </a:xfrm>
          <a:prstGeom prst="rect">
            <a:avLst/>
          </a:prstGeom>
        </p:spPr>
      </p:pic>
      <p:sp>
        <p:nvSpPr>
          <p:cNvPr id="12" name="Text 8"/>
          <p:cNvSpPr txBox="1"/>
          <p:nvPr/>
        </p:nvSpPr>
        <p:spPr>
          <a:xfrm>
            <a:off x="4617720" y="278892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front door</a:t>
            </a:r>
            <a:endParaRPr lang="en-US" sz="2000" dirty="0"/>
          </a:p>
        </p:txBody>
      </p:sp>
      <p:sp>
        <p:nvSpPr>
          <p:cNvPr id="13" name="Text 9"/>
          <p:cNvSpPr txBox="1"/>
          <p:nvPr/>
        </p:nvSpPr>
        <p:spPr>
          <a:xfrm>
            <a:off x="4617720" y="3200400"/>
            <a:ext cx="2926080" cy="36576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inventory_engine.c</a:t>
            </a:r>
            <a:endParaRPr lang="en-US" sz="1400" dirty="0"/>
          </a:p>
        </p:txBody>
      </p:sp>
      <p:sp>
        <p:nvSpPr>
          <p:cNvPr id="14" name="Text 10"/>
          <p:cNvSpPr txBox="1"/>
          <p:nvPr/>
        </p:nvSpPr>
        <p:spPr>
          <a:xfrm>
            <a:off x="4617720" y="3611880"/>
            <a:ext cx="2926080" cy="1005840"/>
          </a:xfrm>
          <a:prstGeom prst="rect">
            <a:avLst/>
          </a:prstGeom>
          <a:noFill/>
          <a:ln/>
        </p:spPr>
        <p:txBody>
          <a:bodyPr wrap="square" lIns="0" tIns="0" rIns="0" bIns="0" rtlCol="0" anchor="t"/>
          <a:lstStyle/>
          <a:p>
            <a:pPr indent="0" marL="0">
              <a:buNone/>
            </a:pPr>
            <a:r>
              <a:rPr lang="en-US" sz="1400" dirty="0">
                <a:solidFill>
                  <a:schemeClr val="tx1"/>
                </a:solidFill>
              </a:rPr>
              <a:t>Copies the products, builds the hash table, AVL tree and trie, and exposes the sw_* functions</a:t>
            </a:r>
            <a:endParaRPr lang="en-US" sz="1400" dirty="0"/>
          </a:p>
        </p:txBody>
      </p:sp>
      <p:sp>
        <p:nvSpPr>
          <p:cNvPr id="15" name="Makefile card"/>
          <p:cNvSpPr/>
          <p:nvPr/>
        </p:nvSpPr>
        <p:spPr>
          <a:xfrm>
            <a:off x="8046720" y="1463040"/>
            <a:ext cx="3520440" cy="3246120"/>
          </a:xfrm>
          <a:prstGeom prst="roundRect">
            <a:avLst>
              <a:gd name="adj" fmla="val 3380"/>
            </a:avLst>
          </a:prstGeom>
          <a:solidFill>
            <a:schemeClr val="bg2"/>
          </a:solidFill>
          <a:ln/>
        </p:spPr>
      </p:sp>
      <p:sp>
        <p:nvSpPr>
          <p:cNvPr id="16" name="Makefile tile"/>
          <p:cNvSpPr/>
          <p:nvPr/>
        </p:nvSpPr>
        <p:spPr>
          <a:xfrm>
            <a:off x="8366760" y="1737360"/>
            <a:ext cx="868680" cy="868680"/>
          </a:xfrm>
          <a:prstGeom prst="roundRect">
            <a:avLst>
              <a:gd name="adj" fmla="val 24000"/>
            </a:avLst>
          </a:prstGeom>
          <a:solidFill>
            <a:schemeClr val="accent2">
              <a:alpha val="14000"/>
            </a:schemeClr>
          </a:solidFill>
          <a:ln/>
        </p:spPr>
      </p:sp>
      <p:pic>
        <p:nvPicPr>
          <p:cNvPr id="17" name="Makefile icon" descr="preencoded.png">    </p:cNvPr>
          <p:cNvPicPr>
            <a:picLocks noChangeAspect="1"/>
          </p:cNvPicPr>
          <p:nvPr/>
        </p:nvPicPr>
        <p:blipFill>
          <a:blip r:embed="rId3"/>
          <a:stretch>
            <a:fillRect/>
          </a:stretch>
        </p:blipFill>
        <p:spPr>
          <a:xfrm>
            <a:off x="8557870" y="1928470"/>
            <a:ext cx="486461" cy="486461"/>
          </a:xfrm>
          <a:prstGeom prst="rect">
            <a:avLst/>
          </a:prstGeom>
        </p:spPr>
      </p:pic>
      <p:sp>
        <p:nvSpPr>
          <p:cNvPr id="18" name="Text 13"/>
          <p:cNvSpPr txBox="1"/>
          <p:nvPr/>
        </p:nvSpPr>
        <p:spPr>
          <a:xfrm>
            <a:off x="8366760" y="278892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build recipe</a:t>
            </a:r>
            <a:endParaRPr lang="en-US" sz="2000" dirty="0"/>
          </a:p>
        </p:txBody>
      </p:sp>
      <p:sp>
        <p:nvSpPr>
          <p:cNvPr id="19" name="Text 14"/>
          <p:cNvSpPr txBox="1"/>
          <p:nvPr/>
        </p:nvSpPr>
        <p:spPr>
          <a:xfrm>
            <a:off x="8366760" y="3200400"/>
            <a:ext cx="2926080" cy="36576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Makefile</a:t>
            </a:r>
            <a:endParaRPr lang="en-US" sz="1400" dirty="0"/>
          </a:p>
        </p:txBody>
      </p:sp>
      <p:sp>
        <p:nvSpPr>
          <p:cNvPr id="20" name="Text 15"/>
          <p:cNvSpPr txBox="1"/>
          <p:nvPr/>
        </p:nvSpPr>
        <p:spPr>
          <a:xfrm>
            <a:off x="8366760" y="3611880"/>
            <a:ext cx="2926080" cy="1005840"/>
          </a:xfrm>
          <a:prstGeom prst="rect">
            <a:avLst/>
          </a:prstGeom>
          <a:noFill/>
          <a:ln/>
        </p:spPr>
        <p:txBody>
          <a:bodyPr wrap="square" lIns="0" tIns="0" rIns="0" bIns="0" rtlCol="0" anchor="t"/>
          <a:lstStyle/>
          <a:p>
            <a:pPr indent="0" marL="0">
              <a:buNone/>
            </a:pPr>
            <a:r>
              <a:rPr lang="en-US" sz="1400" dirty="0">
                <a:solidFill>
                  <a:schemeClr val="tx1"/>
                </a:solidFill>
              </a:rPr>
              <a:t>make compiles all .c files into one library; make test builds and runs the C tests</a:t>
            </a:r>
            <a:endParaRPr lang="en-US" sz="1400" dirty="0"/>
          </a:p>
        </p:txBody>
      </p:sp>
      <p:sp>
        <p:nvSpPr>
          <p:cNvPr id="21" name="terminal"/>
          <p:cNvSpPr/>
          <p:nvPr/>
        </p:nvSpPr>
        <p:spPr>
          <a:xfrm>
            <a:off x="548640" y="4937760"/>
            <a:ext cx="11064240" cy="1143000"/>
          </a:xfrm>
          <a:prstGeom prst="roundRect">
            <a:avLst>
              <a:gd name="adj" fmla="val 8000"/>
            </a:avLst>
          </a:prstGeom>
          <a:solidFill>
            <a:schemeClr val="tx2"/>
          </a:solidFill>
          <a:ln/>
        </p:spPr>
      </p:sp>
      <p:sp>
        <p:nvSpPr>
          <p:cNvPr id="22" name="Text 17"/>
          <p:cNvSpPr txBox="1"/>
          <p:nvPr/>
        </p:nvSpPr>
        <p:spPr>
          <a:xfrm>
            <a:off x="822960" y="5074920"/>
            <a:ext cx="10607040" cy="914400"/>
          </a:xfrm>
          <a:prstGeom prst="rect">
            <a:avLst/>
          </a:prstGeom>
          <a:noFill/>
          <a:ln/>
        </p:spPr>
        <p:txBody>
          <a:bodyPr wrap="square" lIns="0" tIns="0" rIns="0" bIns="0" rtlCol="0" anchor="t"/>
          <a:lstStyle/>
          <a:p>
            <a:pPr indent="0" marL="0">
              <a:spcAft>
                <a:spcPts val="200"/>
              </a:spcAft>
              <a:buNone/>
            </a:pPr>
            <a:r>
              <a:rPr lang="en-US" sz="1400" dirty="0">
                <a:solidFill>
                  <a:schemeClr val="bg1"/>
                </a:solidFill>
                <a:latin typeface="Courier New" pitchFamily="34" charset="0"/>
                <a:ea typeface="Courier New" pitchFamily="34" charset="-122"/>
                <a:cs typeface="Courier New" pitchFamily="34" charset="-120"/>
              </a:rPr>
              <a:t>$ cd backend &amp;&amp; make &amp;&amp; make test</a:t>
            </a:r>
            <a:endParaRPr lang="en-US" sz="1400" dirty="0"/>
          </a:p>
          <a:p>
            <a:pPr indent="0" marL="0">
              <a:spcAft>
                <a:spcPts val="200"/>
              </a:spcAft>
              <a:buNone/>
            </a:pPr>
            <a:r>
              <a:rPr lang="en-US" sz="1400" dirty="0">
                <a:solidFill>
                  <a:schemeClr val="bg2"/>
                </a:solidFill>
                <a:latin typeface="Courier New" pitchFamily="34" charset="0"/>
                <a:ea typeface="Courier New" pitchFamily="34" charset="-122"/>
                <a:cs typeface="Courier New" pitchFamily="34" charset="-120"/>
              </a:rPr>
              <a:t>gcc -std=c11 -O2 -Wall -Wextra -fPIC -shared -o libstockwise.so search.c ... inventory_engine.c</a:t>
            </a:r>
            <a:endParaRPr lang="en-US" sz="1400" dirty="0"/>
          </a:p>
          <a:p>
            <a:pPr indent="0" marL="0">
              <a:spcAft>
                <a:spcPts val="200"/>
              </a:spcAft>
              <a:buNone/>
            </a:pPr>
            <a:r>
              <a:rPr lang="en-US" sz="1400" b="1" dirty="0">
                <a:solidFill>
                  <a:schemeClr val="accent3"/>
                </a:solidFill>
                <a:latin typeface="Courier New" pitchFamily="34" charset="0"/>
                <a:ea typeface="Courier New" pitchFamily="34" charset="-122"/>
                <a:cs typeface="Courier New" pitchFamily="34" charset="-120"/>
              </a:rPr>
              <a:t>283/283 checks passed</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One search, from keypress to result</a:t>
            </a:r>
            <a:endParaRPr lang="en-US" sz="3600" dirty="0"/>
          </a:p>
        </p:txBody>
      </p:sp>
      <p:sp>
        <p:nvSpPr>
          <p:cNvPr id="3" name="step 1 badge"/>
          <p:cNvSpPr/>
          <p:nvPr/>
        </p:nvSpPr>
        <p:spPr>
          <a:xfrm>
            <a:off x="548640" y="1417320"/>
            <a:ext cx="566928" cy="566928"/>
          </a:xfrm>
          <a:prstGeom prst="ellipse">
            <a:avLst/>
          </a:prstGeom>
          <a:solidFill>
            <a:schemeClr val="accent1"/>
          </a:solidFill>
          <a:ln/>
        </p:spPr>
      </p:sp>
      <p:sp>
        <p:nvSpPr>
          <p:cNvPr id="4" name="Text 2"/>
          <p:cNvSpPr txBox="1"/>
          <p:nvPr/>
        </p:nvSpPr>
        <p:spPr>
          <a:xfrm>
            <a:off x="548640" y="1417320"/>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5" name="Text 3"/>
          <p:cNvSpPr txBox="1"/>
          <p:nvPr/>
        </p:nvSpPr>
        <p:spPr>
          <a:xfrm>
            <a:off x="1325880" y="1399032"/>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6" name="Text 4"/>
          <p:cNvSpPr txBox="1"/>
          <p:nvPr/>
        </p:nvSpPr>
        <p:spPr>
          <a:xfrm>
            <a:off x="1325880" y="1719072"/>
            <a:ext cx="4297680" cy="457200"/>
          </a:xfrm>
          <a:prstGeom prst="rect">
            <a:avLst/>
          </a:prstGeom>
          <a:noFill/>
          <a:ln/>
        </p:spPr>
        <p:txBody>
          <a:bodyPr wrap="square" lIns="0" tIns="0" rIns="0" bIns="0" rtlCol="0" anchor="t"/>
          <a:lstStyle/>
          <a:p>
            <a:pPr indent="0" marL="0">
              <a:buNone/>
            </a:pPr>
            <a:r>
              <a:rPr lang="en-US" sz="1400" dirty="0">
                <a:solidFill>
                  <a:schemeClr val="tx1"/>
                </a:solidFill>
              </a:rPr>
              <a:t>The user types "cab" in the search box</a:t>
            </a:r>
            <a:endParaRPr lang="en-US" sz="1400" dirty="0"/>
          </a:p>
        </p:txBody>
      </p:sp>
      <p:sp>
        <p:nvSpPr>
          <p:cNvPr id="7" name="step 2 badge"/>
          <p:cNvSpPr/>
          <p:nvPr/>
        </p:nvSpPr>
        <p:spPr>
          <a:xfrm>
            <a:off x="548640" y="2350008"/>
            <a:ext cx="566928" cy="566928"/>
          </a:xfrm>
          <a:prstGeom prst="ellipse">
            <a:avLst/>
          </a:prstGeom>
          <a:solidFill>
            <a:schemeClr val="accent1"/>
          </a:solidFill>
          <a:ln/>
        </p:spPr>
      </p:sp>
      <p:sp>
        <p:nvSpPr>
          <p:cNvPr id="8" name="Text 6"/>
          <p:cNvSpPr txBox="1"/>
          <p:nvPr/>
        </p:nvSpPr>
        <p:spPr>
          <a:xfrm>
            <a:off x="548640" y="2350008"/>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9" name="Text 7"/>
          <p:cNvSpPr txBox="1"/>
          <p:nvPr/>
        </p:nvSpPr>
        <p:spPr>
          <a:xfrm>
            <a:off x="1325880" y="2331720"/>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c_bridge.py</a:t>
            </a:r>
            <a:endParaRPr lang="en-US" sz="1400" dirty="0"/>
          </a:p>
        </p:txBody>
      </p:sp>
      <p:sp>
        <p:nvSpPr>
          <p:cNvPr id="10" name="Text 8"/>
          <p:cNvSpPr txBox="1"/>
          <p:nvPr/>
        </p:nvSpPr>
        <p:spPr>
          <a:xfrm>
            <a:off x="1325880" y="2651760"/>
            <a:ext cx="4297680" cy="457200"/>
          </a:xfrm>
          <a:prstGeom prst="rect">
            <a:avLst/>
          </a:prstGeom>
          <a:noFill/>
          <a:ln/>
        </p:spPr>
        <p:txBody>
          <a:bodyPr wrap="square" lIns="0" tIns="0" rIns="0" bIns="0" rtlCol="0" anchor="t"/>
          <a:lstStyle/>
          <a:p>
            <a:pPr indent="0" marL="0">
              <a:buNone/>
            </a:pPr>
            <a:r>
              <a:rPr lang="en-US" sz="1400" dirty="0">
                <a:solidFill>
                  <a:schemeClr val="tx1"/>
                </a:solidFill>
              </a:rPr>
              <a:t>prefix_search("cab") checks the text and calls C</a:t>
            </a:r>
            <a:endParaRPr lang="en-US" sz="1400" dirty="0"/>
          </a:p>
        </p:txBody>
      </p:sp>
      <p:sp>
        <p:nvSpPr>
          <p:cNvPr id="11" name="step 3 badge"/>
          <p:cNvSpPr/>
          <p:nvPr/>
        </p:nvSpPr>
        <p:spPr>
          <a:xfrm>
            <a:off x="548640" y="3282696"/>
            <a:ext cx="566928" cy="566928"/>
          </a:xfrm>
          <a:prstGeom prst="ellipse">
            <a:avLst/>
          </a:prstGeom>
          <a:solidFill>
            <a:schemeClr val="accent1"/>
          </a:solidFill>
          <a:ln/>
        </p:spPr>
      </p:sp>
      <p:sp>
        <p:nvSpPr>
          <p:cNvPr id="12" name="Text 10"/>
          <p:cNvSpPr txBox="1"/>
          <p:nvPr/>
        </p:nvSpPr>
        <p:spPr>
          <a:xfrm>
            <a:off x="548640" y="3282696"/>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3" name="Text 11"/>
          <p:cNvSpPr txBox="1"/>
          <p:nvPr/>
        </p:nvSpPr>
        <p:spPr>
          <a:xfrm>
            <a:off x="1325880" y="3264408"/>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inventory_engine.c</a:t>
            </a:r>
            <a:endParaRPr lang="en-US" sz="1400" dirty="0"/>
          </a:p>
        </p:txBody>
      </p:sp>
      <p:sp>
        <p:nvSpPr>
          <p:cNvPr id="14" name="Text 12"/>
          <p:cNvSpPr txBox="1"/>
          <p:nvPr/>
        </p:nvSpPr>
        <p:spPr>
          <a:xfrm>
            <a:off x="1325880" y="3584448"/>
            <a:ext cx="4297680" cy="457200"/>
          </a:xfrm>
          <a:prstGeom prst="rect">
            <a:avLst/>
          </a:prstGeom>
          <a:noFill/>
          <a:ln/>
        </p:spPr>
        <p:txBody>
          <a:bodyPr wrap="square" lIns="0" tIns="0" rIns="0" bIns="0" rtlCol="0" anchor="t"/>
          <a:lstStyle/>
          <a:p>
            <a:pPr indent="0" marL="0">
              <a:buNone/>
            </a:pPr>
            <a:r>
              <a:rPr lang="en-US" sz="1400" dirty="0">
                <a:solidFill>
                  <a:schemeClr val="tx1"/>
                </a:solidFill>
              </a:rPr>
              <a:t>sw_prefix_search() passes it to the trie</a:t>
            </a:r>
            <a:endParaRPr lang="en-US" sz="1400" dirty="0"/>
          </a:p>
        </p:txBody>
      </p:sp>
      <p:sp>
        <p:nvSpPr>
          <p:cNvPr id="15" name="step 4 badge"/>
          <p:cNvSpPr/>
          <p:nvPr/>
        </p:nvSpPr>
        <p:spPr>
          <a:xfrm>
            <a:off x="548640" y="4215384"/>
            <a:ext cx="566928" cy="566928"/>
          </a:xfrm>
          <a:prstGeom prst="ellipse">
            <a:avLst/>
          </a:prstGeom>
          <a:solidFill>
            <a:schemeClr val="accent1"/>
          </a:solidFill>
          <a:ln/>
        </p:spPr>
      </p:sp>
      <p:sp>
        <p:nvSpPr>
          <p:cNvPr id="16" name="Text 14"/>
          <p:cNvSpPr txBox="1"/>
          <p:nvPr/>
        </p:nvSpPr>
        <p:spPr>
          <a:xfrm>
            <a:off x="548640" y="4215384"/>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4</a:t>
            </a:r>
            <a:endParaRPr lang="en-US" sz="1800" dirty="0"/>
          </a:p>
        </p:txBody>
      </p:sp>
      <p:sp>
        <p:nvSpPr>
          <p:cNvPr id="17" name="Text 15"/>
          <p:cNvSpPr txBox="1"/>
          <p:nvPr/>
        </p:nvSpPr>
        <p:spPr>
          <a:xfrm>
            <a:off x="1325880" y="4197096"/>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trie.c</a:t>
            </a:r>
            <a:endParaRPr lang="en-US" sz="1400" dirty="0"/>
          </a:p>
        </p:txBody>
      </p:sp>
      <p:sp>
        <p:nvSpPr>
          <p:cNvPr id="18" name="Text 16"/>
          <p:cNvSpPr txBox="1"/>
          <p:nvPr/>
        </p:nvSpPr>
        <p:spPr>
          <a:xfrm>
            <a:off x="1325880" y="4517136"/>
            <a:ext cx="4297680" cy="457200"/>
          </a:xfrm>
          <a:prstGeom prst="rect">
            <a:avLst/>
          </a:prstGeom>
          <a:noFill/>
          <a:ln/>
        </p:spPr>
        <p:txBody>
          <a:bodyPr wrap="square" lIns="0" tIns="0" rIns="0" bIns="0" rtlCol="0" anchor="t"/>
          <a:lstStyle/>
          <a:p>
            <a:pPr indent="0" marL="0">
              <a:buNone/>
            </a:pPr>
            <a:r>
              <a:rPr lang="en-US" sz="1400" dirty="0">
                <a:solidFill>
                  <a:schemeClr val="tx1"/>
                </a:solidFill>
              </a:rPr>
              <a:t>Walks c &gt; a &gt; b, then collects every name below</a:t>
            </a:r>
            <a:endParaRPr lang="en-US" sz="1400" dirty="0"/>
          </a:p>
        </p:txBody>
      </p:sp>
      <p:sp>
        <p:nvSpPr>
          <p:cNvPr id="19" name="step 5 badge"/>
          <p:cNvSpPr/>
          <p:nvPr/>
        </p:nvSpPr>
        <p:spPr>
          <a:xfrm>
            <a:off x="548640" y="5148072"/>
            <a:ext cx="566928" cy="566928"/>
          </a:xfrm>
          <a:prstGeom prst="ellipse">
            <a:avLst/>
          </a:prstGeom>
          <a:solidFill>
            <a:schemeClr val="accent1"/>
          </a:solidFill>
          <a:ln/>
        </p:spPr>
      </p:sp>
      <p:sp>
        <p:nvSpPr>
          <p:cNvPr id="20" name="Text 18"/>
          <p:cNvSpPr txBox="1"/>
          <p:nvPr/>
        </p:nvSpPr>
        <p:spPr>
          <a:xfrm>
            <a:off x="548640" y="5148072"/>
            <a:ext cx="566928" cy="566928"/>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1" name="Text 19"/>
          <p:cNvSpPr txBox="1"/>
          <p:nvPr/>
        </p:nvSpPr>
        <p:spPr>
          <a:xfrm>
            <a:off x="1325880" y="5129784"/>
            <a:ext cx="4206240" cy="320040"/>
          </a:xfrm>
          <a:prstGeom prst="rect">
            <a:avLst/>
          </a:prstGeom>
          <a:noFill/>
          <a:ln/>
        </p:spPr>
        <p:txBody>
          <a:bodyPr wrap="square" lIns="0" tIns="0" rIns="0" bIns="0" rtlCol="0" anchor="t"/>
          <a:lstStyle/>
          <a:p>
            <a:pPr indent="0" marL="0">
              <a:buNone/>
            </a:pPr>
            <a:r>
              <a:rPr lang="en-US" sz="1400" b="1" dirty="0">
                <a:solidFill>
                  <a:schemeClr val="accent1"/>
                </a:solidFill>
                <a:latin typeface="Courier New" pitchFamily="34" charset="0"/>
                <a:ea typeface="Courier New" pitchFamily="34" charset="-122"/>
                <a:cs typeface="Courier New" pitchFamily="34" charset="-120"/>
              </a:rPr>
              <a:t>app.py</a:t>
            </a:r>
            <a:endParaRPr lang="en-US" sz="1400" dirty="0"/>
          </a:p>
        </p:txBody>
      </p:sp>
      <p:sp>
        <p:nvSpPr>
          <p:cNvPr id="22" name="Text 20"/>
          <p:cNvSpPr txBox="1"/>
          <p:nvPr/>
        </p:nvSpPr>
        <p:spPr>
          <a:xfrm>
            <a:off x="1325880" y="5449824"/>
            <a:ext cx="4297680" cy="457200"/>
          </a:xfrm>
          <a:prstGeom prst="rect">
            <a:avLst/>
          </a:prstGeom>
          <a:noFill/>
          <a:ln/>
        </p:spPr>
        <p:txBody>
          <a:bodyPr wrap="square" lIns="0" tIns="0" rIns="0" bIns="0" rtlCol="0" anchor="t"/>
          <a:lstStyle/>
          <a:p>
            <a:pPr indent="0" marL="0">
              <a:buNone/>
            </a:pPr>
            <a:r>
              <a:rPr lang="en-US" sz="1400" dirty="0">
                <a:solidFill>
                  <a:schemeClr val="tx1"/>
                </a:solidFill>
              </a:rPr>
              <a:t>Shows the matching cards and "nodes visited"</a:t>
            </a:r>
            <a:endParaRPr lang="en-US" sz="1400" dirty="0"/>
          </a:p>
        </p:txBody>
      </p:sp>
      <p:sp>
        <p:nvSpPr>
          <p:cNvPr id="23" name="products screenshot frame"/>
          <p:cNvSpPr/>
          <p:nvPr/>
        </p:nvSpPr>
        <p:spPr>
          <a:xfrm>
            <a:off x="5934456" y="1408176"/>
            <a:ext cx="5687568" cy="4348501"/>
          </a:xfrm>
          <a:prstGeom prst="roundRect">
            <a:avLst>
              <a:gd name="adj" fmla="val 1682"/>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24" name="products screenshot" descr="/tmp/claude-0/-home-user-StockWise-Dsa/ffa8d720-88b5-5029-baa4-50a8a76d3601/scratchpad/deck/img/products.png">    </p:cNvPr>
          <p:cNvPicPr>
            <a:picLocks noChangeAspect="1"/>
          </p:cNvPicPr>
          <p:nvPr/>
        </p:nvPicPr>
        <p:blipFill>
          <a:blip r:embed="rId1"/>
          <a:stretch>
            <a:fillRect/>
          </a:stretch>
        </p:blipFill>
        <p:spPr>
          <a:xfrm>
            <a:off x="5989320" y="1463040"/>
            <a:ext cx="5577840" cy="4238773"/>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What the DSA concepts look like in the app</a:t>
            </a:r>
            <a:endParaRPr lang="en-US" sz="3600" dirty="0"/>
          </a:p>
        </p:txBody>
      </p:sp>
      <p:sp>
        <p:nvSpPr>
          <p:cNvPr id="3" name="Trie + AVL tree frame"/>
          <p:cNvSpPr/>
          <p:nvPr/>
        </p:nvSpPr>
        <p:spPr>
          <a:xfrm>
            <a:off x="548640" y="1408176"/>
            <a:ext cx="3538728" cy="3310128"/>
          </a:xfrm>
          <a:prstGeom prst="roundRect">
            <a:avLst>
              <a:gd name="adj" fmla="val 2210"/>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4" name="Trie + AVL tree" descr="/tmp/claude-0/-home-user-StockWise-Dsa/ffa8d720-88b5-5029-baa4-50a8a76d3601/scratchpad/deck/img/sq_products.png">    </p:cNvPr>
          <p:cNvPicPr>
            <a:picLocks noChangeAspect="1"/>
          </p:cNvPicPr>
          <p:nvPr/>
        </p:nvPicPr>
        <p:blipFill>
          <a:blip r:embed="rId1"/>
          <a:stretch>
            <a:fillRect/>
          </a:stretch>
        </p:blipFill>
        <p:spPr>
          <a:xfrm>
            <a:off x="603504" y="1463040"/>
            <a:ext cx="3429000" cy="3200400"/>
          </a:xfrm>
          <a:prstGeom prst="rect">
            <a:avLst/>
          </a:prstGeom>
        </p:spPr>
      </p:pic>
      <p:sp>
        <p:nvSpPr>
          <p:cNvPr id="5" name="Text 2"/>
          <p:cNvSpPr txBox="1"/>
          <p:nvPr/>
        </p:nvSpPr>
        <p:spPr>
          <a:xfrm>
            <a:off x="548640" y="4892040"/>
            <a:ext cx="3520440" cy="384048"/>
          </a:xfrm>
          <a:prstGeom prst="rect">
            <a:avLst/>
          </a:prstGeom>
          <a:noFill/>
          <a:ln/>
        </p:spPr>
        <p:txBody>
          <a:bodyPr wrap="square" lIns="0" tIns="0" rIns="0" bIns="0" rtlCol="0" anchor="t"/>
          <a:lstStyle/>
          <a:p>
            <a:pPr indent="0" marL="0">
              <a:buNone/>
            </a:pPr>
            <a:r>
              <a:rPr lang="en-US" sz="1800" b="1" dirty="0">
                <a:solidFill>
                  <a:schemeClr val="tx2"/>
                </a:solidFill>
              </a:rPr>
              <a:t>Trie + AVL tree</a:t>
            </a:r>
            <a:endParaRPr lang="en-US" sz="1800" dirty="0"/>
          </a:p>
        </p:txBody>
      </p:sp>
      <p:sp>
        <p:nvSpPr>
          <p:cNvPr id="6" name="Text 3"/>
          <p:cNvSpPr txBox="1"/>
          <p:nvPr/>
        </p:nvSpPr>
        <p:spPr>
          <a:xfrm>
            <a:off x="548640" y="5303520"/>
            <a:ext cx="3520440" cy="685800"/>
          </a:xfrm>
          <a:prstGeom prst="rect">
            <a:avLst/>
          </a:prstGeom>
          <a:noFill/>
          <a:ln/>
        </p:spPr>
        <p:txBody>
          <a:bodyPr wrap="square" lIns="0" tIns="0" rIns="0" bIns="0" rtlCol="0" anchor="t"/>
          <a:lstStyle/>
          <a:p>
            <a:pPr indent="0" marL="0">
              <a:buNone/>
            </a:pPr>
            <a:r>
              <a:rPr lang="en-US" sz="1400" dirty="0">
                <a:solidFill>
                  <a:schemeClr val="tx1"/>
                </a:solidFill>
              </a:rPr>
              <a:t>Autocomplete and price filter</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trie.c, avl_tree.c</a:t>
            </a:r>
            <a:endParaRPr lang="en-US" sz="1400" dirty="0"/>
          </a:p>
        </p:txBody>
      </p:sp>
      <p:sp>
        <p:nvSpPr>
          <p:cNvPr id="7" name="Graph + Dijkstra frame"/>
          <p:cNvSpPr/>
          <p:nvPr/>
        </p:nvSpPr>
        <p:spPr>
          <a:xfrm>
            <a:off x="4297680" y="1408176"/>
            <a:ext cx="3538728" cy="3310128"/>
          </a:xfrm>
          <a:prstGeom prst="roundRect">
            <a:avLst>
              <a:gd name="adj" fmla="val 2210"/>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8" name="Graph + Dijkstra" descr="/tmp/claude-0/-home-user-StockWise-Dsa/ffa8d720-88b5-5029-baa4-50a8a76d3601/scratchpad/deck/img/sq_routes.png">    </p:cNvPr>
          <p:cNvPicPr>
            <a:picLocks noChangeAspect="1"/>
          </p:cNvPicPr>
          <p:nvPr/>
        </p:nvPicPr>
        <p:blipFill>
          <a:blip r:embed="rId2"/>
          <a:stretch>
            <a:fillRect/>
          </a:stretch>
        </p:blipFill>
        <p:spPr>
          <a:xfrm>
            <a:off x="4352544" y="1463040"/>
            <a:ext cx="3429000" cy="3200400"/>
          </a:xfrm>
          <a:prstGeom prst="rect">
            <a:avLst/>
          </a:prstGeom>
        </p:spPr>
      </p:pic>
      <p:sp>
        <p:nvSpPr>
          <p:cNvPr id="9" name="Text 5"/>
          <p:cNvSpPr txBox="1"/>
          <p:nvPr/>
        </p:nvSpPr>
        <p:spPr>
          <a:xfrm>
            <a:off x="4297680" y="4892040"/>
            <a:ext cx="3520440" cy="384048"/>
          </a:xfrm>
          <a:prstGeom prst="rect">
            <a:avLst/>
          </a:prstGeom>
          <a:noFill/>
          <a:ln/>
        </p:spPr>
        <p:txBody>
          <a:bodyPr wrap="square" lIns="0" tIns="0" rIns="0" bIns="0" rtlCol="0" anchor="t"/>
          <a:lstStyle/>
          <a:p>
            <a:pPr indent="0" marL="0">
              <a:buNone/>
            </a:pPr>
            <a:r>
              <a:rPr lang="en-US" sz="1800" b="1" dirty="0">
                <a:solidFill>
                  <a:schemeClr val="tx2"/>
                </a:solidFill>
              </a:rPr>
              <a:t>Graph + Dijkstra</a:t>
            </a:r>
            <a:endParaRPr lang="en-US" sz="1800" dirty="0"/>
          </a:p>
        </p:txBody>
      </p:sp>
      <p:sp>
        <p:nvSpPr>
          <p:cNvPr id="10" name="Text 6"/>
          <p:cNvSpPr txBox="1"/>
          <p:nvPr/>
        </p:nvSpPr>
        <p:spPr>
          <a:xfrm>
            <a:off x="4297680" y="5303520"/>
            <a:ext cx="3520440" cy="685800"/>
          </a:xfrm>
          <a:prstGeom prst="rect">
            <a:avLst/>
          </a:prstGeom>
          <a:noFill/>
          <a:ln/>
        </p:spPr>
        <p:txBody>
          <a:bodyPr wrap="square" lIns="0" tIns="0" rIns="0" bIns="0" rtlCol="0" anchor="t"/>
          <a:lstStyle/>
          <a:p>
            <a:pPr indent="0" marL="0">
              <a:buNone/>
            </a:pPr>
            <a:r>
              <a:rPr lang="en-US" sz="1400" dirty="0">
                <a:solidFill>
                  <a:schemeClr val="tx1"/>
                </a:solidFill>
              </a:rPr>
              <a:t>Shortest delivery route</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graph.c</a:t>
            </a:r>
            <a:endParaRPr lang="en-US" sz="1400" dirty="0"/>
          </a:p>
        </p:txBody>
      </p:sp>
      <p:sp>
        <p:nvSpPr>
          <p:cNvPr id="11" name="Dynamic programming frame"/>
          <p:cNvSpPr/>
          <p:nvPr/>
        </p:nvSpPr>
        <p:spPr>
          <a:xfrm>
            <a:off x="8046720" y="1408176"/>
            <a:ext cx="3538728" cy="2814828"/>
          </a:xfrm>
          <a:prstGeom prst="roundRect">
            <a:avLst>
              <a:gd name="adj" fmla="val 2599"/>
            </a:avLst>
          </a:prstGeom>
          <a:solidFill>
            <a:schemeClr val="bg1"/>
          </a:solidFill>
          <a:ln w="12700">
            <a:solidFill>
              <a:schemeClr val="bg2"/>
            </a:solidFill>
            <a:prstDash val="solid"/>
          </a:ln>
          <a:effectLst>
            <a:outerShdw sx="100000" sy="100000" kx="0" ky="0" algn="bl" rotWithShape="0" blurRad="101600" dist="25400" dir="5400000">
              <a:srgbClr val="14171F">
                <a:alpha val="18000"/>
              </a:srgbClr>
            </a:outerShdw>
          </a:effectLst>
        </p:spPr>
      </p:sp>
      <p:pic>
        <p:nvPicPr>
          <p:cNvPr id="12" name="Dynamic programming" descr="/tmp/claude-0/-home-user-StockWise-Dsa/ffa8d720-88b5-5029-baa4-50a8a76d3601/scratchpad/deck/img/sq_knapsack.png">    </p:cNvPr>
          <p:cNvPicPr>
            <a:picLocks noChangeAspect="1"/>
          </p:cNvPicPr>
          <p:nvPr/>
        </p:nvPicPr>
        <p:blipFill>
          <a:blip r:embed="rId3"/>
          <a:stretch>
            <a:fillRect/>
          </a:stretch>
        </p:blipFill>
        <p:spPr>
          <a:xfrm>
            <a:off x="8101584" y="1463040"/>
            <a:ext cx="3429000" cy="2705100"/>
          </a:xfrm>
          <a:prstGeom prst="rect">
            <a:avLst/>
          </a:prstGeom>
        </p:spPr>
      </p:pic>
      <p:sp>
        <p:nvSpPr>
          <p:cNvPr id="13" name="Text 8"/>
          <p:cNvSpPr txBox="1"/>
          <p:nvPr/>
        </p:nvSpPr>
        <p:spPr>
          <a:xfrm>
            <a:off x="8046720" y="4892040"/>
            <a:ext cx="3520440" cy="384048"/>
          </a:xfrm>
          <a:prstGeom prst="rect">
            <a:avLst/>
          </a:prstGeom>
          <a:noFill/>
          <a:ln/>
        </p:spPr>
        <p:txBody>
          <a:bodyPr wrap="square" lIns="0" tIns="0" rIns="0" bIns="0" rtlCol="0" anchor="t"/>
          <a:lstStyle/>
          <a:p>
            <a:pPr indent="0" marL="0">
              <a:buNone/>
            </a:pPr>
            <a:r>
              <a:rPr lang="en-US" sz="1800" b="1" dirty="0">
                <a:solidFill>
                  <a:schemeClr val="tx2"/>
                </a:solidFill>
              </a:rPr>
              <a:t>Dynamic programming</a:t>
            </a:r>
            <a:endParaRPr lang="en-US" sz="1800" dirty="0"/>
          </a:p>
        </p:txBody>
      </p:sp>
      <p:sp>
        <p:nvSpPr>
          <p:cNvPr id="14" name="Text 9"/>
          <p:cNvSpPr txBox="1"/>
          <p:nvPr/>
        </p:nvSpPr>
        <p:spPr>
          <a:xfrm>
            <a:off x="8046720" y="5303520"/>
            <a:ext cx="3520440" cy="685800"/>
          </a:xfrm>
          <a:prstGeom prst="rect">
            <a:avLst/>
          </a:prstGeom>
          <a:noFill/>
          <a:ln/>
        </p:spPr>
        <p:txBody>
          <a:bodyPr wrap="square" lIns="0" tIns="0" rIns="0" bIns="0" rtlCol="0" anchor="t"/>
          <a:lstStyle/>
          <a:p>
            <a:pPr indent="0" marL="0">
              <a:buNone/>
            </a:pPr>
            <a:r>
              <a:rPr lang="en-US" sz="1400" dirty="0">
                <a:solidFill>
                  <a:schemeClr val="tx1"/>
                </a:solidFill>
              </a:rPr>
              <a:t>Budget plan beats greedy</a:t>
            </a:r>
            <a:endParaRPr lang="en-US" sz="1400" dirty="0"/>
          </a:p>
          <a:p>
            <a:pPr indent="0" marL="0">
              <a:buNone/>
            </a:pPr>
            <a:r>
              <a:rPr lang="en-US" sz="1300" b="1" dirty="0">
                <a:solidFill>
                  <a:schemeClr val="accent1"/>
                </a:solidFill>
                <a:latin typeface="Courier New" pitchFamily="34" charset="0"/>
                <a:ea typeface="Courier New" pitchFamily="34" charset="-122"/>
                <a:cs typeface="Courier New" pitchFamily="34" charset="-120"/>
              </a:rPr>
              <a:t>knapsack.c</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Tests: proof that each part works</a:t>
            </a:r>
            <a:endParaRPr lang="en-US" sz="3600" dirty="0"/>
          </a:p>
        </p:txBody>
      </p:sp>
      <p:sp>
        <p:nvSpPr>
          <p:cNvPr id="3" name="C checks card"/>
          <p:cNvSpPr/>
          <p:nvPr/>
        </p:nvSpPr>
        <p:spPr>
          <a:xfrm>
            <a:off x="548640" y="1417320"/>
            <a:ext cx="2606040" cy="2011680"/>
          </a:xfrm>
          <a:prstGeom prst="roundRect">
            <a:avLst>
              <a:gd name="adj" fmla="val 5455"/>
            </a:avLst>
          </a:prstGeom>
          <a:solidFill>
            <a:schemeClr val="bg2"/>
          </a:solidFill>
          <a:ln/>
        </p:spPr>
      </p:sp>
      <p:sp>
        <p:nvSpPr>
          <p:cNvPr id="4" name="Text 2"/>
          <p:cNvSpPr txBox="1"/>
          <p:nvPr/>
        </p:nvSpPr>
        <p:spPr>
          <a:xfrm>
            <a:off x="822960" y="1554480"/>
            <a:ext cx="2103120" cy="868680"/>
          </a:xfrm>
          <a:prstGeom prst="rect">
            <a:avLst/>
          </a:prstGeom>
          <a:noFill/>
          <a:ln/>
        </p:spPr>
        <p:txBody>
          <a:bodyPr wrap="square" lIns="0" tIns="0" rIns="0" bIns="0" rtlCol="0" anchor="t"/>
          <a:lstStyle/>
          <a:p>
            <a:pPr indent="0" marL="0">
              <a:buNone/>
            </a:pPr>
            <a:r>
              <a:rPr lang="en-US" sz="5600" b="1" dirty="0">
                <a:solidFill>
                  <a:schemeClr val="accent1"/>
                </a:solidFill>
              </a:rPr>
              <a:t>283</a:t>
            </a:r>
            <a:endParaRPr lang="en-US" sz="5600" dirty="0"/>
          </a:p>
        </p:txBody>
      </p:sp>
      <p:sp>
        <p:nvSpPr>
          <p:cNvPr id="5" name="Text 3"/>
          <p:cNvSpPr txBox="1"/>
          <p:nvPr/>
        </p:nvSpPr>
        <p:spPr>
          <a:xfrm>
            <a:off x="822960" y="2450592"/>
            <a:ext cx="2103120" cy="365760"/>
          </a:xfrm>
          <a:prstGeom prst="rect">
            <a:avLst/>
          </a:prstGeom>
          <a:noFill/>
          <a:ln/>
        </p:spPr>
        <p:txBody>
          <a:bodyPr wrap="square" lIns="0" tIns="0" rIns="0" bIns="0" rtlCol="0" anchor="t"/>
          <a:lstStyle/>
          <a:p>
            <a:pPr indent="0" marL="0">
              <a:buNone/>
            </a:pPr>
            <a:r>
              <a:rPr lang="en-US" sz="1800" b="1" dirty="0">
                <a:solidFill>
                  <a:schemeClr val="tx2"/>
                </a:solidFill>
              </a:rPr>
              <a:t>C checks</a:t>
            </a:r>
            <a:endParaRPr lang="en-US" sz="1800" dirty="0"/>
          </a:p>
        </p:txBody>
      </p:sp>
      <p:sp>
        <p:nvSpPr>
          <p:cNvPr id="6" name="Text 4"/>
          <p:cNvSpPr txBox="1"/>
          <p:nvPr/>
        </p:nvSpPr>
        <p:spPr>
          <a:xfrm>
            <a:off x="822960" y="2834640"/>
            <a:ext cx="2194560" cy="502920"/>
          </a:xfrm>
          <a:prstGeom prst="rect">
            <a:avLst/>
          </a:prstGeom>
          <a:noFill/>
          <a:ln/>
        </p:spPr>
        <p:txBody>
          <a:bodyPr wrap="square" lIns="0" tIns="0" rIns="0" bIns="0" rtlCol="0" anchor="t"/>
          <a:lstStyle/>
          <a:p>
            <a:pPr indent="0" marL="0">
              <a:buNone/>
            </a:pPr>
            <a:r>
              <a:rPr lang="en-US" sz="1200" dirty="0">
                <a:solidFill>
                  <a:schemeClr val="tx2"/>
                </a:solidFill>
              </a:rPr>
              <a:t>backend/tests/test_engine.c</a:t>
            </a:r>
            <a:endParaRPr lang="en-US" sz="1200" dirty="0"/>
          </a:p>
        </p:txBody>
      </p:sp>
      <p:sp>
        <p:nvSpPr>
          <p:cNvPr id="7" name="Python tests card"/>
          <p:cNvSpPr/>
          <p:nvPr/>
        </p:nvSpPr>
        <p:spPr>
          <a:xfrm>
            <a:off x="3364992" y="1417320"/>
            <a:ext cx="2606040" cy="2011680"/>
          </a:xfrm>
          <a:prstGeom prst="roundRect">
            <a:avLst>
              <a:gd name="adj" fmla="val 5455"/>
            </a:avLst>
          </a:prstGeom>
          <a:solidFill>
            <a:schemeClr val="bg2"/>
          </a:solidFill>
          <a:ln/>
        </p:spPr>
      </p:sp>
      <p:sp>
        <p:nvSpPr>
          <p:cNvPr id="8" name="Text 6"/>
          <p:cNvSpPr txBox="1"/>
          <p:nvPr/>
        </p:nvSpPr>
        <p:spPr>
          <a:xfrm>
            <a:off x="3639312" y="1554480"/>
            <a:ext cx="2103120" cy="868680"/>
          </a:xfrm>
          <a:prstGeom prst="rect">
            <a:avLst/>
          </a:prstGeom>
          <a:noFill/>
          <a:ln/>
        </p:spPr>
        <p:txBody>
          <a:bodyPr wrap="square" lIns="0" tIns="0" rIns="0" bIns="0" rtlCol="0" anchor="t"/>
          <a:lstStyle/>
          <a:p>
            <a:pPr indent="0" marL="0">
              <a:buNone/>
            </a:pPr>
            <a:r>
              <a:rPr lang="en-US" sz="5600" b="1" dirty="0">
                <a:solidFill>
                  <a:schemeClr val="accent1"/>
                </a:solidFill>
              </a:rPr>
              <a:t>36</a:t>
            </a:r>
            <a:endParaRPr lang="en-US" sz="5600" dirty="0"/>
          </a:p>
        </p:txBody>
      </p:sp>
      <p:sp>
        <p:nvSpPr>
          <p:cNvPr id="9" name="Text 7"/>
          <p:cNvSpPr txBox="1"/>
          <p:nvPr/>
        </p:nvSpPr>
        <p:spPr>
          <a:xfrm>
            <a:off x="3639312" y="2450592"/>
            <a:ext cx="2103120" cy="365760"/>
          </a:xfrm>
          <a:prstGeom prst="rect">
            <a:avLst/>
          </a:prstGeom>
          <a:noFill/>
          <a:ln/>
        </p:spPr>
        <p:txBody>
          <a:bodyPr wrap="square" lIns="0" tIns="0" rIns="0" bIns="0" rtlCol="0" anchor="t"/>
          <a:lstStyle/>
          <a:p>
            <a:pPr indent="0" marL="0">
              <a:buNone/>
            </a:pPr>
            <a:r>
              <a:rPr lang="en-US" sz="1800" b="1" dirty="0">
                <a:solidFill>
                  <a:schemeClr val="tx2"/>
                </a:solidFill>
              </a:rPr>
              <a:t>Python tests</a:t>
            </a:r>
            <a:endParaRPr lang="en-US" sz="1800" dirty="0"/>
          </a:p>
        </p:txBody>
      </p:sp>
      <p:sp>
        <p:nvSpPr>
          <p:cNvPr id="10" name="Text 8"/>
          <p:cNvSpPr txBox="1"/>
          <p:nvPr/>
        </p:nvSpPr>
        <p:spPr>
          <a:xfrm>
            <a:off x="3639312" y="2834640"/>
            <a:ext cx="2194560" cy="502920"/>
          </a:xfrm>
          <a:prstGeom prst="rect">
            <a:avLst/>
          </a:prstGeom>
          <a:noFill/>
          <a:ln/>
        </p:spPr>
        <p:txBody>
          <a:bodyPr wrap="square" lIns="0" tIns="0" rIns="0" bIns="0" rtlCol="0" anchor="t"/>
          <a:lstStyle/>
          <a:p>
            <a:pPr indent="0" marL="0">
              <a:buNone/>
            </a:pPr>
            <a:r>
              <a:rPr lang="en-US" sz="1200" dirty="0">
                <a:solidFill>
                  <a:schemeClr val="tx2"/>
                </a:solidFill>
              </a:rPr>
              <a:t>tests/test_c_bridge.py, test_database.py</a:t>
            </a:r>
            <a:endParaRPr lang="en-US" sz="1200" dirty="0"/>
          </a:p>
        </p:txBody>
      </p:sp>
      <p:sp>
        <p:nvSpPr>
          <p:cNvPr id="11" name="memory errors card"/>
          <p:cNvSpPr/>
          <p:nvPr/>
        </p:nvSpPr>
        <p:spPr>
          <a:xfrm>
            <a:off x="6181344" y="1417320"/>
            <a:ext cx="2606040" cy="2011680"/>
          </a:xfrm>
          <a:prstGeom prst="roundRect">
            <a:avLst>
              <a:gd name="adj" fmla="val 5455"/>
            </a:avLst>
          </a:prstGeom>
          <a:solidFill>
            <a:schemeClr val="bg2"/>
          </a:solidFill>
          <a:ln/>
        </p:spPr>
      </p:sp>
      <p:sp>
        <p:nvSpPr>
          <p:cNvPr id="12" name="Text 10"/>
          <p:cNvSpPr txBox="1"/>
          <p:nvPr/>
        </p:nvSpPr>
        <p:spPr>
          <a:xfrm>
            <a:off x="6455664" y="1554480"/>
            <a:ext cx="2103120" cy="868680"/>
          </a:xfrm>
          <a:prstGeom prst="rect">
            <a:avLst/>
          </a:prstGeom>
          <a:noFill/>
          <a:ln/>
        </p:spPr>
        <p:txBody>
          <a:bodyPr wrap="square" lIns="0" tIns="0" rIns="0" bIns="0" rtlCol="0" anchor="t"/>
          <a:lstStyle/>
          <a:p>
            <a:pPr indent="0" marL="0">
              <a:buNone/>
            </a:pPr>
            <a:r>
              <a:rPr lang="en-US" sz="5600" b="1" dirty="0">
                <a:solidFill>
                  <a:schemeClr val="accent1"/>
                </a:solidFill>
              </a:rPr>
              <a:t>0</a:t>
            </a:r>
            <a:endParaRPr lang="en-US" sz="5600" dirty="0"/>
          </a:p>
        </p:txBody>
      </p:sp>
      <p:sp>
        <p:nvSpPr>
          <p:cNvPr id="13" name="Text 11"/>
          <p:cNvSpPr txBox="1"/>
          <p:nvPr/>
        </p:nvSpPr>
        <p:spPr>
          <a:xfrm>
            <a:off x="6455664" y="2450592"/>
            <a:ext cx="2103120" cy="365760"/>
          </a:xfrm>
          <a:prstGeom prst="rect">
            <a:avLst/>
          </a:prstGeom>
          <a:noFill/>
          <a:ln/>
        </p:spPr>
        <p:txBody>
          <a:bodyPr wrap="square" lIns="0" tIns="0" rIns="0" bIns="0" rtlCol="0" anchor="t"/>
          <a:lstStyle/>
          <a:p>
            <a:pPr indent="0" marL="0">
              <a:buNone/>
            </a:pPr>
            <a:r>
              <a:rPr lang="en-US" sz="1800" b="1" dirty="0">
                <a:solidFill>
                  <a:schemeClr val="tx2"/>
                </a:solidFill>
              </a:rPr>
              <a:t>memory errors</a:t>
            </a:r>
            <a:endParaRPr lang="en-US" sz="1800" dirty="0"/>
          </a:p>
        </p:txBody>
      </p:sp>
      <p:sp>
        <p:nvSpPr>
          <p:cNvPr id="14" name="Text 12"/>
          <p:cNvSpPr txBox="1"/>
          <p:nvPr/>
        </p:nvSpPr>
        <p:spPr>
          <a:xfrm>
            <a:off x="6455664" y="2834640"/>
            <a:ext cx="2194560" cy="502920"/>
          </a:xfrm>
          <a:prstGeom prst="rect">
            <a:avLst/>
          </a:prstGeom>
          <a:noFill/>
          <a:ln/>
        </p:spPr>
        <p:txBody>
          <a:bodyPr wrap="square" lIns="0" tIns="0" rIns="0" bIns="0" rtlCol="0" anchor="t"/>
          <a:lstStyle/>
          <a:p>
            <a:pPr indent="0" marL="0">
              <a:buNone/>
            </a:pPr>
            <a:r>
              <a:rPr lang="en-US" sz="1200" dirty="0">
                <a:solidFill>
                  <a:schemeClr val="tx2"/>
                </a:solidFill>
              </a:rPr>
              <a:t>C tests under AddressSanitizer</a:t>
            </a:r>
            <a:endParaRPr lang="en-US" sz="1200" dirty="0"/>
          </a:p>
        </p:txBody>
      </p:sp>
      <p:sp>
        <p:nvSpPr>
          <p:cNvPr id="15" name="live edge cases card"/>
          <p:cNvSpPr/>
          <p:nvPr/>
        </p:nvSpPr>
        <p:spPr>
          <a:xfrm>
            <a:off x="8997696" y="1417320"/>
            <a:ext cx="2606040" cy="2011680"/>
          </a:xfrm>
          <a:prstGeom prst="roundRect">
            <a:avLst>
              <a:gd name="adj" fmla="val 5455"/>
            </a:avLst>
          </a:prstGeom>
          <a:solidFill>
            <a:schemeClr val="bg2"/>
          </a:solidFill>
          <a:ln/>
        </p:spPr>
      </p:sp>
      <p:sp>
        <p:nvSpPr>
          <p:cNvPr id="16" name="Text 14"/>
          <p:cNvSpPr txBox="1"/>
          <p:nvPr/>
        </p:nvSpPr>
        <p:spPr>
          <a:xfrm>
            <a:off x="9272016" y="1554480"/>
            <a:ext cx="2103120" cy="868680"/>
          </a:xfrm>
          <a:prstGeom prst="rect">
            <a:avLst/>
          </a:prstGeom>
          <a:noFill/>
          <a:ln/>
        </p:spPr>
        <p:txBody>
          <a:bodyPr wrap="square" lIns="0" tIns="0" rIns="0" bIns="0" rtlCol="0" anchor="t"/>
          <a:lstStyle/>
          <a:p>
            <a:pPr indent="0" marL="0">
              <a:buNone/>
            </a:pPr>
            <a:r>
              <a:rPr lang="en-US" sz="5600" b="1" dirty="0">
                <a:solidFill>
                  <a:schemeClr val="accent1"/>
                </a:solidFill>
              </a:rPr>
              <a:t>19</a:t>
            </a:r>
            <a:endParaRPr lang="en-US" sz="5600" dirty="0"/>
          </a:p>
        </p:txBody>
      </p:sp>
      <p:sp>
        <p:nvSpPr>
          <p:cNvPr id="17" name="Text 15"/>
          <p:cNvSpPr txBox="1"/>
          <p:nvPr/>
        </p:nvSpPr>
        <p:spPr>
          <a:xfrm>
            <a:off x="9272016" y="2450592"/>
            <a:ext cx="2103120" cy="365760"/>
          </a:xfrm>
          <a:prstGeom prst="rect">
            <a:avLst/>
          </a:prstGeom>
          <a:noFill/>
          <a:ln/>
        </p:spPr>
        <p:txBody>
          <a:bodyPr wrap="square" lIns="0" tIns="0" rIns="0" bIns="0" rtlCol="0" anchor="t"/>
          <a:lstStyle/>
          <a:p>
            <a:pPr indent="0" marL="0">
              <a:buNone/>
            </a:pPr>
            <a:r>
              <a:rPr lang="en-US" sz="1800" b="1" dirty="0">
                <a:solidFill>
                  <a:schemeClr val="tx2"/>
                </a:solidFill>
              </a:rPr>
              <a:t>live edge cases</a:t>
            </a:r>
            <a:endParaRPr lang="en-US" sz="1800" dirty="0"/>
          </a:p>
        </p:txBody>
      </p:sp>
      <p:sp>
        <p:nvSpPr>
          <p:cNvPr id="18" name="Text 16"/>
          <p:cNvSpPr txBox="1"/>
          <p:nvPr/>
        </p:nvSpPr>
        <p:spPr>
          <a:xfrm>
            <a:off x="9272016" y="2834640"/>
            <a:ext cx="2194560" cy="502920"/>
          </a:xfrm>
          <a:prstGeom prst="rect">
            <a:avLst/>
          </a:prstGeom>
          <a:noFill/>
          <a:ln/>
        </p:spPr>
        <p:txBody>
          <a:bodyPr wrap="square" lIns="0" tIns="0" rIns="0" bIns="0" rtlCol="0" anchor="t"/>
          <a:lstStyle/>
          <a:p>
            <a:pPr indent="0" marL="0">
              <a:buNone/>
            </a:pPr>
            <a:r>
              <a:rPr lang="en-US" sz="1200" dirty="0">
                <a:solidFill>
                  <a:schemeClr val="tx2"/>
                </a:solidFill>
              </a:rPr>
              <a:t>DSA laboratory, Edge cases tab</a:t>
            </a:r>
            <a:endParaRPr lang="en-US" sz="1200" dirty="0"/>
          </a:p>
        </p:txBody>
      </p:sp>
      <p:sp>
        <p:nvSpPr>
          <p:cNvPr id="19" name="backend/tests/test_engine.c card"/>
          <p:cNvSpPr/>
          <p:nvPr/>
        </p:nvSpPr>
        <p:spPr>
          <a:xfrm>
            <a:off x="548640" y="3703320"/>
            <a:ext cx="5440680" cy="2377440"/>
          </a:xfrm>
          <a:prstGeom prst="roundRect">
            <a:avLst>
              <a:gd name="adj" fmla="val 4615"/>
            </a:avLst>
          </a:prstGeom>
          <a:solidFill>
            <a:schemeClr val="bg2"/>
          </a:solidFill>
          <a:ln/>
        </p:spPr>
      </p:sp>
      <p:sp>
        <p:nvSpPr>
          <p:cNvPr id="20" name="backend/tests/test_engine.c tile"/>
          <p:cNvSpPr/>
          <p:nvPr/>
        </p:nvSpPr>
        <p:spPr>
          <a:xfrm>
            <a:off x="822960" y="3977640"/>
            <a:ext cx="640080" cy="640080"/>
          </a:xfrm>
          <a:prstGeom prst="roundRect">
            <a:avLst>
              <a:gd name="adj" fmla="val 24000"/>
            </a:avLst>
          </a:prstGeom>
          <a:solidFill>
            <a:schemeClr val="accent4">
              <a:alpha val="14000"/>
            </a:schemeClr>
          </a:solidFill>
          <a:ln/>
        </p:spPr>
      </p:sp>
      <p:pic>
        <p:nvPicPr>
          <p:cNvPr id="21" name="backend/tests/test_engine.c icon" descr="preencoded.png">    </p:cNvPr>
          <p:cNvPicPr>
            <a:picLocks noChangeAspect="1"/>
          </p:cNvPicPr>
          <p:nvPr/>
        </p:nvPicPr>
        <p:blipFill>
          <a:blip r:embed="rId1"/>
          <a:stretch>
            <a:fillRect/>
          </a:stretch>
        </p:blipFill>
        <p:spPr>
          <a:xfrm>
            <a:off x="963778" y="4118458"/>
            <a:ext cx="358445" cy="358445"/>
          </a:xfrm>
          <a:prstGeom prst="rect">
            <a:avLst/>
          </a:prstGeom>
        </p:spPr>
      </p:pic>
      <p:sp>
        <p:nvSpPr>
          <p:cNvPr id="22" name="Text 19"/>
          <p:cNvSpPr txBox="1"/>
          <p:nvPr/>
        </p:nvSpPr>
        <p:spPr>
          <a:xfrm>
            <a:off x="1645920" y="4069080"/>
            <a:ext cx="4114800" cy="45720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backend/tests/test_engine.c</a:t>
            </a:r>
            <a:endParaRPr lang="en-US" sz="1300" dirty="0"/>
          </a:p>
        </p:txBody>
      </p:sp>
      <p:sp>
        <p:nvSpPr>
          <p:cNvPr id="23" name="Text 20"/>
          <p:cNvSpPr txBox="1"/>
          <p:nvPr/>
        </p:nvSpPr>
        <p:spPr>
          <a:xfrm>
            <a:off x="822960" y="4800600"/>
            <a:ext cx="4892040" cy="1188720"/>
          </a:xfrm>
          <a:prstGeom prst="rect">
            <a:avLst/>
          </a:prstGeom>
          <a:noFill/>
          <a:ln/>
        </p:spPr>
        <p:txBody>
          <a:bodyPr wrap="square" lIns="0" tIns="0" rIns="0" bIns="0" rtlCol="0" anchor="t"/>
          <a:lstStyle/>
          <a:p>
            <a:pPr indent="0" marL="0">
              <a:buNone/>
            </a:pPr>
            <a:r>
              <a:rPr lang="en-US" sz="1400" dirty="0">
                <a:solidFill>
                  <a:schemeClr val="tx1"/>
                </a:solidFill>
              </a:rPr>
              <a:t>Calls the C functions directly: searches with missing IDs, hash collisions, all four sorts, heap order, AVL balance after 1,000 sorted inserts, trie prefixes, knapsack, Dijkstra, FIFO queue</a:t>
            </a:r>
            <a:endParaRPr lang="en-US" sz="1400" dirty="0"/>
          </a:p>
        </p:txBody>
      </p:sp>
      <p:sp>
        <p:nvSpPr>
          <p:cNvPr id="24" name="tests/test_c_bridge.py, test_database.py card"/>
          <p:cNvSpPr/>
          <p:nvPr/>
        </p:nvSpPr>
        <p:spPr>
          <a:xfrm>
            <a:off x="6172200" y="3703320"/>
            <a:ext cx="5440680" cy="2377440"/>
          </a:xfrm>
          <a:prstGeom prst="roundRect">
            <a:avLst>
              <a:gd name="adj" fmla="val 4615"/>
            </a:avLst>
          </a:prstGeom>
          <a:solidFill>
            <a:schemeClr val="bg2"/>
          </a:solidFill>
          <a:ln/>
        </p:spPr>
      </p:sp>
      <p:sp>
        <p:nvSpPr>
          <p:cNvPr id="25" name="tests/test_c_bridge.py, test_database.py tile"/>
          <p:cNvSpPr/>
          <p:nvPr/>
        </p:nvSpPr>
        <p:spPr>
          <a:xfrm>
            <a:off x="6446520" y="3977640"/>
            <a:ext cx="640080" cy="640080"/>
          </a:xfrm>
          <a:prstGeom prst="roundRect">
            <a:avLst>
              <a:gd name="adj" fmla="val 24000"/>
            </a:avLst>
          </a:prstGeom>
          <a:solidFill>
            <a:schemeClr val="accent1">
              <a:alpha val="14000"/>
            </a:schemeClr>
          </a:solidFill>
          <a:ln/>
        </p:spPr>
      </p:sp>
      <p:pic>
        <p:nvPicPr>
          <p:cNvPr id="26" name="tests/test_c_bridge.py, test_database.py icon" descr="preencoded.png">    </p:cNvPr>
          <p:cNvPicPr>
            <a:picLocks noChangeAspect="1"/>
          </p:cNvPicPr>
          <p:nvPr/>
        </p:nvPicPr>
        <p:blipFill>
          <a:blip r:embed="rId2"/>
          <a:stretch>
            <a:fillRect/>
          </a:stretch>
        </p:blipFill>
        <p:spPr>
          <a:xfrm>
            <a:off x="6587338" y="4118458"/>
            <a:ext cx="358445" cy="358445"/>
          </a:xfrm>
          <a:prstGeom prst="rect">
            <a:avLst/>
          </a:prstGeom>
        </p:spPr>
      </p:pic>
      <p:sp>
        <p:nvSpPr>
          <p:cNvPr id="27" name="Text 23"/>
          <p:cNvSpPr txBox="1"/>
          <p:nvPr/>
        </p:nvSpPr>
        <p:spPr>
          <a:xfrm>
            <a:off x="7269480" y="4069080"/>
            <a:ext cx="4114800" cy="457200"/>
          </a:xfrm>
          <a:prstGeom prst="rect">
            <a:avLst/>
          </a:prstGeom>
          <a:noFill/>
          <a:ln/>
        </p:spPr>
        <p:txBody>
          <a:bodyPr wrap="square" lIns="0" tIns="0" rIns="0" bIns="0" rtlCol="0" anchor="ctr"/>
          <a:lstStyle/>
          <a:p>
            <a:pPr indent="0" marL="0">
              <a:buNone/>
            </a:pPr>
            <a:r>
              <a:rPr lang="en-US" sz="1300" b="1" dirty="0">
                <a:solidFill>
                  <a:schemeClr val="accent1"/>
                </a:solidFill>
                <a:latin typeface="Courier New" pitchFamily="34" charset="0"/>
                <a:ea typeface="Courier New" pitchFamily="34" charset="-122"/>
                <a:cs typeface="Courier New" pitchFamily="34" charset="-120"/>
              </a:rPr>
              <a:t>tests/test_c_bridge.py, test_database.py</a:t>
            </a:r>
            <a:endParaRPr lang="en-US" sz="1300" dirty="0"/>
          </a:p>
        </p:txBody>
      </p:sp>
      <p:sp>
        <p:nvSpPr>
          <p:cNvPr id="28" name="Text 24"/>
          <p:cNvSpPr txBox="1"/>
          <p:nvPr/>
        </p:nvSpPr>
        <p:spPr>
          <a:xfrm>
            <a:off x="6446520" y="4800600"/>
            <a:ext cx="4892040" cy="1188720"/>
          </a:xfrm>
          <a:prstGeom prst="rect">
            <a:avLst/>
          </a:prstGeom>
          <a:noFill/>
          <a:ln/>
        </p:spPr>
        <p:txBody>
          <a:bodyPr wrap="square" lIns="0" tIns="0" rIns="0" bIns="0" rtlCol="0" anchor="t"/>
          <a:lstStyle/>
          <a:p>
            <a:pPr indent="0" marL="0">
              <a:buNone/>
            </a:pPr>
            <a:r>
              <a:rPr lang="en-US" sz="1400" dirty="0">
                <a:solidFill>
                  <a:schemeClr val="tx1"/>
                </a:solidFill>
              </a:rPr>
              <a:t>Checks the Python side: C sorts against Python's sorted(), knapsack against brute force, invalid prices, insufficient stock, saving to SQLite, seeded history</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Supporting files</a:t>
            </a:r>
            <a:endParaRPr lang="en-US" sz="3600" dirty="0"/>
          </a:p>
        </p:txBody>
      </p:sp>
      <p:sp>
        <p:nvSpPr>
          <p:cNvPr id="3" name="requirements.txt tile"/>
          <p:cNvSpPr/>
          <p:nvPr/>
        </p:nvSpPr>
        <p:spPr>
          <a:xfrm>
            <a:off x="548640" y="1463040"/>
            <a:ext cx="731520" cy="731520"/>
          </a:xfrm>
          <a:prstGeom prst="roundRect">
            <a:avLst>
              <a:gd name="adj" fmla="val 24000"/>
            </a:avLst>
          </a:prstGeom>
          <a:solidFill>
            <a:schemeClr val="accent1">
              <a:alpha val="14000"/>
            </a:schemeClr>
          </a:solidFill>
          <a:ln/>
        </p:spPr>
      </p:sp>
      <p:pic>
        <p:nvPicPr>
          <p:cNvPr id="4" name="requirements.txt icon" descr="preencoded.png">    </p:cNvPr>
          <p:cNvPicPr>
            <a:picLocks noChangeAspect="1"/>
          </p:cNvPicPr>
          <p:nvPr/>
        </p:nvPicPr>
        <p:blipFill>
          <a:blip r:embed="rId1"/>
          <a:stretch>
            <a:fillRect/>
          </a:stretch>
        </p:blipFill>
        <p:spPr>
          <a:xfrm>
            <a:off x="709574" y="1623974"/>
            <a:ext cx="409651" cy="409651"/>
          </a:xfrm>
          <a:prstGeom prst="rect">
            <a:avLst/>
          </a:prstGeom>
        </p:spPr>
      </p:pic>
      <p:sp>
        <p:nvSpPr>
          <p:cNvPr id="5" name="Text 2"/>
          <p:cNvSpPr txBox="1"/>
          <p:nvPr/>
        </p:nvSpPr>
        <p:spPr>
          <a:xfrm>
            <a:off x="1508760" y="1481328"/>
            <a:ext cx="4480560" cy="347472"/>
          </a:xfrm>
          <a:prstGeom prst="rect">
            <a:avLst/>
          </a:prstGeom>
          <a:noFill/>
          <a:ln/>
        </p:spPr>
        <p:txBody>
          <a:bodyPr wrap="square" lIns="0" tIns="0" rIns="0" bIns="0" rtlCol="0" anchor="t"/>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requirements.txt</a:t>
            </a:r>
            <a:endParaRPr lang="en-US" sz="1500" dirty="0"/>
          </a:p>
        </p:txBody>
      </p:sp>
      <p:sp>
        <p:nvSpPr>
          <p:cNvPr id="6" name="Text 3"/>
          <p:cNvSpPr txBox="1"/>
          <p:nvPr/>
        </p:nvSpPr>
        <p:spPr>
          <a:xfrm>
            <a:off x="1508760" y="1874520"/>
            <a:ext cx="4480560" cy="640080"/>
          </a:xfrm>
          <a:prstGeom prst="rect">
            <a:avLst/>
          </a:prstGeom>
          <a:noFill/>
          <a:ln/>
        </p:spPr>
        <p:txBody>
          <a:bodyPr wrap="square" lIns="0" tIns="0" rIns="0" bIns="0" rtlCol="0" anchor="t"/>
          <a:lstStyle/>
          <a:p>
            <a:pPr indent="0" marL="0">
              <a:buNone/>
            </a:pPr>
            <a:r>
              <a:rPr lang="en-US" sz="1400" dirty="0">
                <a:solidFill>
                  <a:schemeClr val="tx1"/>
                </a:solidFill>
              </a:rPr>
              <a:t>Python packages to install: Streamlit, Plotly, pandas</a:t>
            </a:r>
            <a:endParaRPr lang="en-US" sz="1400" dirty="0"/>
          </a:p>
        </p:txBody>
      </p:sp>
      <p:sp>
        <p:nvSpPr>
          <p:cNvPr id="7" name=".streamlit/config.toml tile"/>
          <p:cNvSpPr/>
          <p:nvPr/>
        </p:nvSpPr>
        <p:spPr>
          <a:xfrm>
            <a:off x="6217920" y="1463040"/>
            <a:ext cx="731520" cy="731520"/>
          </a:xfrm>
          <a:prstGeom prst="roundRect">
            <a:avLst>
              <a:gd name="adj" fmla="val 24000"/>
            </a:avLst>
          </a:prstGeom>
          <a:solidFill>
            <a:schemeClr val="accent5">
              <a:alpha val="14000"/>
            </a:schemeClr>
          </a:solidFill>
          <a:ln/>
        </p:spPr>
      </p:sp>
      <p:pic>
        <p:nvPicPr>
          <p:cNvPr id="8" name=".streamlit/config.toml icon" descr="preencoded.png">    </p:cNvPr>
          <p:cNvPicPr>
            <a:picLocks noChangeAspect="1"/>
          </p:cNvPicPr>
          <p:nvPr/>
        </p:nvPicPr>
        <p:blipFill>
          <a:blip r:embed="rId2"/>
          <a:stretch>
            <a:fillRect/>
          </a:stretch>
        </p:blipFill>
        <p:spPr>
          <a:xfrm>
            <a:off x="6378854" y="1623974"/>
            <a:ext cx="409651" cy="409651"/>
          </a:xfrm>
          <a:prstGeom prst="rect">
            <a:avLst/>
          </a:prstGeom>
        </p:spPr>
      </p:pic>
      <p:sp>
        <p:nvSpPr>
          <p:cNvPr id="9" name="Text 5"/>
          <p:cNvSpPr txBox="1"/>
          <p:nvPr/>
        </p:nvSpPr>
        <p:spPr>
          <a:xfrm>
            <a:off x="7178040" y="1481328"/>
            <a:ext cx="4480560" cy="347472"/>
          </a:xfrm>
          <a:prstGeom prst="rect">
            <a:avLst/>
          </a:prstGeom>
          <a:noFill/>
          <a:ln/>
        </p:spPr>
        <p:txBody>
          <a:bodyPr wrap="square" lIns="0" tIns="0" rIns="0" bIns="0" rtlCol="0" anchor="t"/>
          <a:lstStyle/>
          <a:p>
            <a:pPr indent="0" marL="0">
              <a:buNone/>
            </a:pPr>
            <a:r>
              <a:rPr lang="en-US" sz="1500" b="1" dirty="0">
                <a:solidFill>
                  <a:schemeClr val="accent1"/>
                </a:solidFill>
                <a:latin typeface="Courier New" pitchFamily="34" charset="0"/>
                <a:ea typeface="Courier New" pitchFamily="34" charset="-122"/>
                <a:cs typeface="Courier New" pitchFamily="34" charset="-120"/>
              </a:rPr>
              <a:t>.streamlit/config.toml</a:t>
            </a:r>
            <a:endParaRPr lang="en-US" sz="1500" dirty="0"/>
          </a:p>
        </p:txBody>
      </p:sp>
      <p:sp>
        <p:nvSpPr>
          <p:cNvPr id="10" name="Text 6"/>
          <p:cNvSpPr txBox="1"/>
          <p:nvPr/>
        </p:nvSpPr>
        <p:spPr>
          <a:xfrm>
            <a:off x="7178040" y="1874520"/>
            <a:ext cx="4480560" cy="640080"/>
          </a:xfrm>
          <a:prstGeom prst="rect">
            <a:avLst/>
          </a:prstGeom>
          <a:noFill/>
          <a:ln/>
        </p:spPr>
        <p:txBody>
          <a:bodyPr wrap="square" lIns="0" tIns="0" rIns="0" bIns="0" rtlCol="0" anchor="t"/>
          <a:lstStyle/>
          <a:p>
            <a:pPr indent="0" marL="0">
              <a:buNone/>
            </a:pPr>
            <a:r>
              <a:rPr lang="en-US" sz="1400" dirty="0">
                <a:solidFill>
                  <a:schemeClr val="tx1"/>
                </a:solidFill>
              </a:rPr>
              <a:t>The app's theme: colors, font, rounded corners</a:t>
            </a:r>
            <a:endParaRPr lang="en-US" sz="1400" dirty="0"/>
          </a:p>
        </p:txBody>
      </p:sp>
      <p:sp>
        <p:nvSpPr>
          <p:cNvPr id="11" name="assets/ tile"/>
          <p:cNvSpPr/>
          <p:nvPr/>
        </p:nvSpPr>
        <p:spPr>
          <a:xfrm>
            <a:off x="548640" y="2926080"/>
            <a:ext cx="731520" cy="731520"/>
          </a:xfrm>
          <a:prstGeom prst="roundRect">
            <a:avLst>
              <a:gd name="adj" fmla="val 24000"/>
            </a:avLst>
          </a:prstGeom>
          <a:solidFill>
            <a:schemeClr val="accent2">
              <a:alpha val="14000"/>
            </a:schemeClr>
          </a:solidFill>
          <a:ln/>
        </p:spPr>
      </p:sp>
      <p:pic>
        <p:nvPicPr>
          <p:cNvPr id="12" name="assets/ icon" descr="preencoded.png">    </p:cNvPr>
          <p:cNvPicPr>
            <a:picLocks noChangeAspect="1"/>
          </p:cNvPicPr>
          <p:nvPr/>
        </p:nvPicPr>
        <p:blipFill>
          <a:blip r:embed="rId3"/>
          <a:stretch>
            <a:fillRect/>
          </a:stretch>
        </p:blipFill>
        <p:spPr>
          <a:xfrm>
            <a:off x="709574" y="3087014"/>
            <a:ext cx="409651" cy="409651"/>
          </a:xfrm>
          <a:prstGeom prst="rect">
            <a:avLst/>
          </a:prstGeom>
        </p:spPr>
      </p:pic>
      <p:sp>
        <p:nvSpPr>
          <p:cNvPr id="13" name="Text 8"/>
          <p:cNvSpPr txBox="1"/>
          <p:nvPr/>
        </p:nvSpPr>
        <p:spPr>
          <a:xfrm>
            <a:off x="1508760" y="2944368"/>
            <a:ext cx="4480560" cy="347472"/>
          </a:xfrm>
          <a:prstGeom prst="rect">
            <a:avLst/>
          </a:prstGeom>
          <a:noFill/>
          <a:ln/>
        </p:spPr>
        <p:txBody>
          <a:bodyPr wrap="square" lIns="0" tIns="0" rIns="0" bIns="0" rtlCol="0" anchor="t"/>
          <a:lstStyle/>
          <a:p>
            <a:pPr indent="0" marL="0">
              <a:buNone/>
            </a:pPr>
            <a:r>
              <a:rPr lang="en-US" sz="1500" b="1" dirty="0">
                <a:solidFill>
                  <a:schemeClr val="accent1"/>
                </a:solidFill>
                <a:latin typeface="Courier New" pitchFamily="34" charset="0"/>
                <a:ea typeface="Courier New" pitchFamily="34" charset="-122"/>
                <a:cs typeface="Courier New" pitchFamily="34" charset="-120"/>
              </a:rPr>
              <a:t>assets/</a:t>
            </a:r>
            <a:endParaRPr lang="en-US" sz="1500" dirty="0"/>
          </a:p>
        </p:txBody>
      </p:sp>
      <p:sp>
        <p:nvSpPr>
          <p:cNvPr id="14" name="Text 9"/>
          <p:cNvSpPr txBox="1"/>
          <p:nvPr/>
        </p:nvSpPr>
        <p:spPr>
          <a:xfrm>
            <a:off x="1508760" y="3337560"/>
            <a:ext cx="4480560" cy="640080"/>
          </a:xfrm>
          <a:prstGeom prst="rect">
            <a:avLst/>
          </a:prstGeom>
          <a:noFill/>
          <a:ln/>
        </p:spPr>
        <p:txBody>
          <a:bodyPr wrap="square" lIns="0" tIns="0" rIns="0" bIns="0" rtlCol="0" anchor="t"/>
          <a:lstStyle/>
          <a:p>
            <a:pPr indent="0" marL="0">
              <a:buNone/>
            </a:pPr>
            <a:r>
              <a:rPr lang="en-US" sz="1400" dirty="0">
                <a:solidFill>
                  <a:schemeClr val="tx1"/>
                </a:solidFill>
              </a:rPr>
              <a:t>Logo, banner, category pictures and the architecture diagram</a:t>
            </a:r>
            <a:endParaRPr lang="en-US" sz="1400" dirty="0"/>
          </a:p>
        </p:txBody>
      </p:sp>
      <p:sp>
        <p:nvSpPr>
          <p:cNvPr id="15" name="README.md tile"/>
          <p:cNvSpPr/>
          <p:nvPr/>
        </p:nvSpPr>
        <p:spPr>
          <a:xfrm>
            <a:off x="6217920" y="2926080"/>
            <a:ext cx="731520" cy="731520"/>
          </a:xfrm>
          <a:prstGeom prst="roundRect">
            <a:avLst>
              <a:gd name="adj" fmla="val 24000"/>
            </a:avLst>
          </a:prstGeom>
          <a:solidFill>
            <a:schemeClr val="accent6">
              <a:alpha val="14000"/>
            </a:schemeClr>
          </a:solidFill>
          <a:ln/>
        </p:spPr>
      </p:sp>
      <p:pic>
        <p:nvPicPr>
          <p:cNvPr id="16" name="README.md icon" descr="preencoded.png">    </p:cNvPr>
          <p:cNvPicPr>
            <a:picLocks noChangeAspect="1"/>
          </p:cNvPicPr>
          <p:nvPr/>
        </p:nvPicPr>
        <p:blipFill>
          <a:blip r:embed="rId4"/>
          <a:stretch>
            <a:fillRect/>
          </a:stretch>
        </p:blipFill>
        <p:spPr>
          <a:xfrm>
            <a:off x="6378854" y="3087014"/>
            <a:ext cx="409651" cy="409651"/>
          </a:xfrm>
          <a:prstGeom prst="rect">
            <a:avLst/>
          </a:prstGeom>
        </p:spPr>
      </p:pic>
      <p:sp>
        <p:nvSpPr>
          <p:cNvPr id="17" name="Text 11"/>
          <p:cNvSpPr txBox="1"/>
          <p:nvPr/>
        </p:nvSpPr>
        <p:spPr>
          <a:xfrm>
            <a:off x="7178040" y="2944368"/>
            <a:ext cx="4480560" cy="347472"/>
          </a:xfrm>
          <a:prstGeom prst="rect">
            <a:avLst/>
          </a:prstGeom>
          <a:noFill/>
          <a:ln/>
        </p:spPr>
        <p:txBody>
          <a:bodyPr wrap="square" lIns="0" tIns="0" rIns="0" bIns="0" rtlCol="0" anchor="t"/>
          <a:lstStyle/>
          <a:p>
            <a:pPr indent="0" marL="0">
              <a:buNone/>
            </a:pPr>
            <a:r>
              <a:rPr lang="en-US" sz="1500" b="1" dirty="0">
                <a:solidFill>
                  <a:schemeClr val="accent1"/>
                </a:solidFill>
                <a:latin typeface="Courier New" pitchFamily="34" charset="0"/>
                <a:ea typeface="Courier New" pitchFamily="34" charset="-122"/>
                <a:cs typeface="Courier New" pitchFamily="34" charset="-120"/>
              </a:rPr>
              <a:t>README.md</a:t>
            </a:r>
            <a:endParaRPr lang="en-US" sz="1500" dirty="0"/>
          </a:p>
        </p:txBody>
      </p:sp>
      <p:sp>
        <p:nvSpPr>
          <p:cNvPr id="18" name="Text 12"/>
          <p:cNvSpPr txBox="1"/>
          <p:nvPr/>
        </p:nvSpPr>
        <p:spPr>
          <a:xfrm>
            <a:off x="7178040" y="3337560"/>
            <a:ext cx="4480560" cy="640080"/>
          </a:xfrm>
          <a:prstGeom prst="rect">
            <a:avLst/>
          </a:prstGeom>
          <a:noFill/>
          <a:ln/>
        </p:spPr>
        <p:txBody>
          <a:bodyPr wrap="square" lIns="0" tIns="0" rIns="0" bIns="0" rtlCol="0" anchor="t"/>
          <a:lstStyle/>
          <a:p>
            <a:pPr indent="0" marL="0">
              <a:buNone/>
            </a:pPr>
            <a:r>
              <a:rPr lang="en-US" sz="1400" dirty="0">
                <a:solidFill>
                  <a:schemeClr val="tx1"/>
                </a:solidFill>
              </a:rPr>
              <a:t>Setup on Windows and Linux, how to run and test</a:t>
            </a:r>
            <a:endParaRPr lang="en-US" sz="1400" dirty="0"/>
          </a:p>
        </p:txBody>
      </p:sp>
      <p:sp>
        <p:nvSpPr>
          <p:cNvPr id="19" name="docs/ALGORITHMS.md tile"/>
          <p:cNvSpPr/>
          <p:nvPr/>
        </p:nvSpPr>
        <p:spPr>
          <a:xfrm>
            <a:off x="548640" y="4389120"/>
            <a:ext cx="731520" cy="731520"/>
          </a:xfrm>
          <a:prstGeom prst="roundRect">
            <a:avLst>
              <a:gd name="adj" fmla="val 24000"/>
            </a:avLst>
          </a:prstGeom>
          <a:solidFill>
            <a:schemeClr val="accent4">
              <a:alpha val="14000"/>
            </a:schemeClr>
          </a:solidFill>
          <a:ln/>
        </p:spPr>
      </p:sp>
      <p:pic>
        <p:nvPicPr>
          <p:cNvPr id="20" name="docs/ALGORITHMS.md icon" descr="preencoded.png">    </p:cNvPr>
          <p:cNvPicPr>
            <a:picLocks noChangeAspect="1"/>
          </p:cNvPicPr>
          <p:nvPr/>
        </p:nvPicPr>
        <p:blipFill>
          <a:blip r:embed="rId5"/>
          <a:stretch>
            <a:fillRect/>
          </a:stretch>
        </p:blipFill>
        <p:spPr>
          <a:xfrm>
            <a:off x="709574" y="4550054"/>
            <a:ext cx="409651" cy="409651"/>
          </a:xfrm>
          <a:prstGeom prst="rect">
            <a:avLst/>
          </a:prstGeom>
        </p:spPr>
      </p:pic>
      <p:sp>
        <p:nvSpPr>
          <p:cNvPr id="21" name="Text 14"/>
          <p:cNvSpPr txBox="1"/>
          <p:nvPr/>
        </p:nvSpPr>
        <p:spPr>
          <a:xfrm>
            <a:off x="1508760" y="4407408"/>
            <a:ext cx="4480560" cy="347472"/>
          </a:xfrm>
          <a:prstGeom prst="rect">
            <a:avLst/>
          </a:prstGeom>
          <a:noFill/>
          <a:ln/>
        </p:spPr>
        <p:txBody>
          <a:bodyPr wrap="square" lIns="0" tIns="0" rIns="0" bIns="0" rtlCol="0" anchor="t"/>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docs/ALGORITHMS.md</a:t>
            </a:r>
            <a:endParaRPr lang="en-US" sz="1500" dirty="0"/>
          </a:p>
        </p:txBody>
      </p:sp>
      <p:sp>
        <p:nvSpPr>
          <p:cNvPr id="22" name="Text 15"/>
          <p:cNvSpPr txBox="1"/>
          <p:nvPr/>
        </p:nvSpPr>
        <p:spPr>
          <a:xfrm>
            <a:off x="1508760" y="4800600"/>
            <a:ext cx="4480560" cy="640080"/>
          </a:xfrm>
          <a:prstGeom prst="rect">
            <a:avLst/>
          </a:prstGeom>
          <a:noFill/>
          <a:ln/>
        </p:spPr>
        <p:txBody>
          <a:bodyPr wrap="square" lIns="0" tIns="0" rIns="0" bIns="0" rtlCol="0" anchor="t"/>
          <a:lstStyle/>
          <a:p>
            <a:pPr indent="0" marL="0">
              <a:buNone/>
            </a:pPr>
            <a:r>
              <a:rPr lang="en-US" sz="1400" dirty="0">
                <a:solidFill>
                  <a:schemeClr val="tx1"/>
                </a:solidFill>
              </a:rPr>
              <a:t>Pseudocode and the complexity of every algorithm</a:t>
            </a:r>
            <a:endParaRPr lang="en-US" sz="1400" dirty="0"/>
          </a:p>
        </p:txBody>
      </p:sp>
      <p:sp>
        <p:nvSpPr>
          <p:cNvPr id="23" name="docs/REPORT_AND_VIVA.md tile"/>
          <p:cNvSpPr/>
          <p:nvPr/>
        </p:nvSpPr>
        <p:spPr>
          <a:xfrm>
            <a:off x="6217920" y="4389120"/>
            <a:ext cx="731520" cy="731520"/>
          </a:xfrm>
          <a:prstGeom prst="roundRect">
            <a:avLst>
              <a:gd name="adj" fmla="val 24000"/>
            </a:avLst>
          </a:prstGeom>
          <a:solidFill>
            <a:schemeClr val="accent3">
              <a:alpha val="14000"/>
            </a:schemeClr>
          </a:solidFill>
          <a:ln/>
        </p:spPr>
      </p:sp>
      <p:pic>
        <p:nvPicPr>
          <p:cNvPr id="24" name="docs/REPORT_AND_VIVA.md icon" descr="preencoded.png">    </p:cNvPr>
          <p:cNvPicPr>
            <a:picLocks noChangeAspect="1"/>
          </p:cNvPicPr>
          <p:nvPr/>
        </p:nvPicPr>
        <p:blipFill>
          <a:blip r:embed="rId6"/>
          <a:stretch>
            <a:fillRect/>
          </a:stretch>
        </p:blipFill>
        <p:spPr>
          <a:xfrm>
            <a:off x="6378854" y="4550054"/>
            <a:ext cx="409651" cy="409651"/>
          </a:xfrm>
          <a:prstGeom prst="rect">
            <a:avLst/>
          </a:prstGeom>
        </p:spPr>
      </p:pic>
      <p:sp>
        <p:nvSpPr>
          <p:cNvPr id="25" name="Text 17"/>
          <p:cNvSpPr txBox="1"/>
          <p:nvPr/>
        </p:nvSpPr>
        <p:spPr>
          <a:xfrm>
            <a:off x="7178040" y="4407408"/>
            <a:ext cx="4480560" cy="347472"/>
          </a:xfrm>
          <a:prstGeom prst="rect">
            <a:avLst/>
          </a:prstGeom>
          <a:noFill/>
          <a:ln/>
        </p:spPr>
        <p:txBody>
          <a:bodyPr wrap="square" lIns="0" tIns="0" rIns="0" bIns="0" rtlCol="0" anchor="t"/>
          <a:lstStyle/>
          <a:p>
            <a:pPr indent="0" marL="0">
              <a:buNone/>
            </a:pPr>
            <a:r>
              <a:rPr lang="en-US" sz="1500" b="1" dirty="0">
                <a:solidFill>
                  <a:schemeClr val="accent1"/>
                </a:solidFill>
                <a:latin typeface="Courier New" pitchFamily="34" charset="0"/>
                <a:ea typeface="Courier New" pitchFamily="34" charset="-122"/>
                <a:cs typeface="Courier New" pitchFamily="34" charset="-120"/>
              </a:rPr>
              <a:t>docs/REPORT_AND_VIVA.md</a:t>
            </a:r>
            <a:endParaRPr lang="en-US" sz="1500" dirty="0"/>
          </a:p>
        </p:txBody>
      </p:sp>
      <p:sp>
        <p:nvSpPr>
          <p:cNvPr id="26" name="Text 18"/>
          <p:cNvSpPr txBox="1"/>
          <p:nvPr/>
        </p:nvSpPr>
        <p:spPr>
          <a:xfrm>
            <a:off x="7178040" y="4800600"/>
            <a:ext cx="4480560" cy="640080"/>
          </a:xfrm>
          <a:prstGeom prst="rect">
            <a:avLst/>
          </a:prstGeom>
          <a:noFill/>
          <a:ln/>
        </p:spPr>
        <p:txBody>
          <a:bodyPr wrap="square" lIns="0" tIns="0" rIns="0" bIns="0" rtlCol="0" anchor="t"/>
          <a:lstStyle/>
          <a:p>
            <a:pPr indent="0" marL="0">
              <a:buNone/>
            </a:pPr>
            <a:r>
              <a:rPr lang="en-US" sz="1400" dirty="0">
                <a:solidFill>
                  <a:schemeClr val="tx1"/>
                </a:solidFill>
              </a:rPr>
              <a:t>Report outline and 30 viva questions with answers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64240" cy="777240"/>
          </a:xfrm>
          <a:prstGeom prst="rect">
            <a:avLst/>
          </a:prstGeom>
          <a:noFill/>
          <a:ln/>
        </p:spPr>
        <p:txBody>
          <a:bodyPr wrap="square" lIns="0" tIns="0" rIns="0" bIns="0" rtlCol="0" anchor="ctr"/>
          <a:lstStyle/>
          <a:p>
            <a:pPr algn="l" indent="0" marL="0">
              <a:buNone/>
            </a:pPr>
            <a:r>
              <a:rPr lang="en-US" sz="3600" b="1" dirty="0">
                <a:solidFill>
                  <a:schemeClr val="tx2"/>
                </a:solidFill>
              </a:rPr>
              <a:t>How to run it in three steps</a:t>
            </a:r>
            <a:endParaRPr lang="en-US" sz="3600" dirty="0"/>
          </a:p>
        </p:txBody>
      </p:sp>
      <p:sp>
        <p:nvSpPr>
          <p:cNvPr id="3" name="run 1 tile"/>
          <p:cNvSpPr/>
          <p:nvPr/>
        </p:nvSpPr>
        <p:spPr>
          <a:xfrm>
            <a:off x="548640" y="1463040"/>
            <a:ext cx="822960" cy="822960"/>
          </a:xfrm>
          <a:prstGeom prst="roundRect">
            <a:avLst>
              <a:gd name="adj" fmla="val 24000"/>
            </a:avLst>
          </a:prstGeom>
          <a:solidFill>
            <a:schemeClr val="accent1">
              <a:alpha val="14000"/>
            </a:schemeClr>
          </a:solidFill>
          <a:ln/>
        </p:spPr>
      </p:sp>
      <p:pic>
        <p:nvPicPr>
          <p:cNvPr id="4" name="run 1 icon" descr="preencoded.png">    </p:cNvPr>
          <p:cNvPicPr>
            <a:picLocks noChangeAspect="1"/>
          </p:cNvPicPr>
          <p:nvPr/>
        </p:nvPicPr>
        <p:blipFill>
          <a:blip r:embed="rId1"/>
          <a:stretch>
            <a:fillRect/>
          </a:stretch>
        </p:blipFill>
        <p:spPr>
          <a:xfrm>
            <a:off x="729691" y="1644091"/>
            <a:ext cx="460858" cy="460858"/>
          </a:xfrm>
          <a:prstGeom prst="rect">
            <a:avLst/>
          </a:prstGeom>
        </p:spPr>
      </p:pic>
      <p:sp>
        <p:nvSpPr>
          <p:cNvPr id="5" name="Text 2"/>
          <p:cNvSpPr txBox="1"/>
          <p:nvPr/>
        </p:nvSpPr>
        <p:spPr>
          <a:xfrm>
            <a:off x="1645920" y="1463040"/>
            <a:ext cx="5486400" cy="384048"/>
          </a:xfrm>
          <a:prstGeom prst="rect">
            <a:avLst/>
          </a:prstGeom>
          <a:noFill/>
          <a:ln/>
        </p:spPr>
        <p:txBody>
          <a:bodyPr wrap="square" lIns="0" tIns="0" rIns="0" bIns="0" rtlCol="0" anchor="t"/>
          <a:lstStyle/>
          <a:p>
            <a:pPr indent="0" marL="0">
              <a:buNone/>
            </a:pPr>
            <a:r>
              <a:rPr lang="en-US" sz="2000" b="1" dirty="0">
                <a:solidFill>
                  <a:schemeClr val="tx2"/>
                </a:solidFill>
              </a:rPr>
              <a:t>1.  Install the Python packages</a:t>
            </a:r>
            <a:endParaRPr lang="en-US" sz="2000" dirty="0"/>
          </a:p>
        </p:txBody>
      </p:sp>
      <p:sp>
        <p:nvSpPr>
          <p:cNvPr id="6" name="cmd 1"/>
          <p:cNvSpPr/>
          <p:nvPr/>
        </p:nvSpPr>
        <p:spPr>
          <a:xfrm>
            <a:off x="1645920" y="1938528"/>
            <a:ext cx="6035040" cy="457200"/>
          </a:xfrm>
          <a:prstGeom prst="roundRect">
            <a:avLst>
              <a:gd name="adj" fmla="val 16000"/>
            </a:avLst>
          </a:prstGeom>
          <a:solidFill>
            <a:schemeClr val="tx2"/>
          </a:solidFill>
          <a:ln/>
        </p:spPr>
      </p:sp>
      <p:sp>
        <p:nvSpPr>
          <p:cNvPr id="7" name="Text 4"/>
          <p:cNvSpPr txBox="1"/>
          <p:nvPr/>
        </p:nvSpPr>
        <p:spPr>
          <a:xfrm>
            <a:off x="1828800" y="1938528"/>
            <a:ext cx="5760720" cy="4572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pip install -r requirements.txt</a:t>
            </a:r>
            <a:endParaRPr lang="en-US" sz="1500" dirty="0"/>
          </a:p>
        </p:txBody>
      </p:sp>
      <p:sp>
        <p:nvSpPr>
          <p:cNvPr id="8" name="run 2 tile"/>
          <p:cNvSpPr/>
          <p:nvPr/>
        </p:nvSpPr>
        <p:spPr>
          <a:xfrm>
            <a:off x="548640" y="2926080"/>
            <a:ext cx="822960" cy="822960"/>
          </a:xfrm>
          <a:prstGeom prst="roundRect">
            <a:avLst>
              <a:gd name="adj" fmla="val 24000"/>
            </a:avLst>
          </a:prstGeom>
          <a:solidFill>
            <a:schemeClr val="accent1">
              <a:alpha val="14000"/>
            </a:schemeClr>
          </a:solidFill>
          <a:ln/>
        </p:spPr>
      </p:sp>
      <p:pic>
        <p:nvPicPr>
          <p:cNvPr id="9" name="run 2 icon" descr="preencoded.png">    </p:cNvPr>
          <p:cNvPicPr>
            <a:picLocks noChangeAspect="1"/>
          </p:cNvPicPr>
          <p:nvPr/>
        </p:nvPicPr>
        <p:blipFill>
          <a:blip r:embed="rId2"/>
          <a:stretch>
            <a:fillRect/>
          </a:stretch>
        </p:blipFill>
        <p:spPr>
          <a:xfrm>
            <a:off x="729691" y="3107131"/>
            <a:ext cx="460858" cy="460858"/>
          </a:xfrm>
          <a:prstGeom prst="rect">
            <a:avLst/>
          </a:prstGeom>
        </p:spPr>
      </p:pic>
      <p:sp>
        <p:nvSpPr>
          <p:cNvPr id="10" name="Text 6"/>
          <p:cNvSpPr txBox="1"/>
          <p:nvPr/>
        </p:nvSpPr>
        <p:spPr>
          <a:xfrm>
            <a:off x="1645920" y="2926080"/>
            <a:ext cx="5486400" cy="384048"/>
          </a:xfrm>
          <a:prstGeom prst="rect">
            <a:avLst/>
          </a:prstGeom>
          <a:noFill/>
          <a:ln/>
        </p:spPr>
        <p:txBody>
          <a:bodyPr wrap="square" lIns="0" tIns="0" rIns="0" bIns="0" rtlCol="0" anchor="t"/>
          <a:lstStyle/>
          <a:p>
            <a:pPr indent="0" marL="0">
              <a:buNone/>
            </a:pPr>
            <a:r>
              <a:rPr lang="en-US" sz="2000" b="1" dirty="0">
                <a:solidFill>
                  <a:schemeClr val="tx2"/>
                </a:solidFill>
              </a:rPr>
              <a:t>2.  Build the C library and test it</a:t>
            </a:r>
            <a:endParaRPr lang="en-US" sz="2000" dirty="0"/>
          </a:p>
        </p:txBody>
      </p:sp>
      <p:sp>
        <p:nvSpPr>
          <p:cNvPr id="11" name="cmd 2"/>
          <p:cNvSpPr/>
          <p:nvPr/>
        </p:nvSpPr>
        <p:spPr>
          <a:xfrm>
            <a:off x="1645920" y="3401568"/>
            <a:ext cx="6035040" cy="457200"/>
          </a:xfrm>
          <a:prstGeom prst="roundRect">
            <a:avLst>
              <a:gd name="adj" fmla="val 16000"/>
            </a:avLst>
          </a:prstGeom>
          <a:solidFill>
            <a:schemeClr val="tx2"/>
          </a:solidFill>
          <a:ln/>
        </p:spPr>
      </p:sp>
      <p:sp>
        <p:nvSpPr>
          <p:cNvPr id="12" name="Text 8"/>
          <p:cNvSpPr txBox="1"/>
          <p:nvPr/>
        </p:nvSpPr>
        <p:spPr>
          <a:xfrm>
            <a:off x="1828800" y="3401568"/>
            <a:ext cx="5760720" cy="4572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cd backend &amp;&amp; make &amp;&amp; make test</a:t>
            </a:r>
            <a:endParaRPr lang="en-US" sz="1500" dirty="0"/>
          </a:p>
        </p:txBody>
      </p:sp>
      <p:sp>
        <p:nvSpPr>
          <p:cNvPr id="13" name="run 3 tile"/>
          <p:cNvSpPr/>
          <p:nvPr/>
        </p:nvSpPr>
        <p:spPr>
          <a:xfrm>
            <a:off x="548640" y="4389120"/>
            <a:ext cx="822960" cy="822960"/>
          </a:xfrm>
          <a:prstGeom prst="roundRect">
            <a:avLst>
              <a:gd name="adj" fmla="val 24000"/>
            </a:avLst>
          </a:prstGeom>
          <a:solidFill>
            <a:schemeClr val="accent1">
              <a:alpha val="14000"/>
            </a:schemeClr>
          </a:solidFill>
          <a:ln/>
        </p:spPr>
      </p:sp>
      <p:pic>
        <p:nvPicPr>
          <p:cNvPr id="14" name="run 3 icon" descr="preencoded.png">    </p:cNvPr>
          <p:cNvPicPr>
            <a:picLocks noChangeAspect="1"/>
          </p:cNvPicPr>
          <p:nvPr/>
        </p:nvPicPr>
        <p:blipFill>
          <a:blip r:embed="rId3"/>
          <a:stretch>
            <a:fillRect/>
          </a:stretch>
        </p:blipFill>
        <p:spPr>
          <a:xfrm>
            <a:off x="729691" y="4570171"/>
            <a:ext cx="460858" cy="460858"/>
          </a:xfrm>
          <a:prstGeom prst="rect">
            <a:avLst/>
          </a:prstGeom>
        </p:spPr>
      </p:pic>
      <p:sp>
        <p:nvSpPr>
          <p:cNvPr id="15" name="Text 10"/>
          <p:cNvSpPr txBox="1"/>
          <p:nvPr/>
        </p:nvSpPr>
        <p:spPr>
          <a:xfrm>
            <a:off x="1645920" y="4389120"/>
            <a:ext cx="5486400" cy="384048"/>
          </a:xfrm>
          <a:prstGeom prst="rect">
            <a:avLst/>
          </a:prstGeom>
          <a:noFill/>
          <a:ln/>
        </p:spPr>
        <p:txBody>
          <a:bodyPr wrap="square" lIns="0" tIns="0" rIns="0" bIns="0" rtlCol="0" anchor="t"/>
          <a:lstStyle/>
          <a:p>
            <a:pPr indent="0" marL="0">
              <a:buNone/>
            </a:pPr>
            <a:r>
              <a:rPr lang="en-US" sz="2000" b="1" dirty="0">
                <a:solidFill>
                  <a:schemeClr val="tx2"/>
                </a:solidFill>
              </a:rPr>
              <a:t>3.  Start the app</a:t>
            </a:r>
            <a:endParaRPr lang="en-US" sz="2000" dirty="0"/>
          </a:p>
        </p:txBody>
      </p:sp>
      <p:sp>
        <p:nvSpPr>
          <p:cNvPr id="16" name="cmd 3"/>
          <p:cNvSpPr/>
          <p:nvPr/>
        </p:nvSpPr>
        <p:spPr>
          <a:xfrm>
            <a:off x="1645920" y="4864608"/>
            <a:ext cx="6035040" cy="457200"/>
          </a:xfrm>
          <a:prstGeom prst="roundRect">
            <a:avLst>
              <a:gd name="adj" fmla="val 16000"/>
            </a:avLst>
          </a:prstGeom>
          <a:solidFill>
            <a:schemeClr val="tx2"/>
          </a:solidFill>
          <a:ln/>
        </p:spPr>
      </p:sp>
      <p:sp>
        <p:nvSpPr>
          <p:cNvPr id="17" name="Text 12"/>
          <p:cNvSpPr txBox="1"/>
          <p:nvPr/>
        </p:nvSpPr>
        <p:spPr>
          <a:xfrm>
            <a:off x="1828800" y="4864608"/>
            <a:ext cx="5760720" cy="457200"/>
          </a:xfrm>
          <a:prstGeom prst="rect">
            <a:avLst/>
          </a:prstGeom>
          <a:noFill/>
          <a:ln/>
        </p:spPr>
        <p:txBody>
          <a:bodyPr wrap="square" lIns="0" tIns="0" rIns="0" bIns="0" rtlCol="0" anchor="ctr"/>
          <a:lstStyle/>
          <a:p>
            <a:pPr indent="0" marL="0">
              <a:buNone/>
            </a:pPr>
            <a:r>
              <a:rPr lang="en-US" sz="1500" dirty="0">
                <a:solidFill>
                  <a:schemeClr val="bg1"/>
                </a:solidFill>
                <a:latin typeface="Courier New" pitchFamily="34" charset="0"/>
                <a:ea typeface="Courier New" pitchFamily="34" charset="-122"/>
                <a:cs typeface="Courier New" pitchFamily="34" charset="-120"/>
              </a:rPr>
              <a:t>streamlit run app.py</a:t>
            </a:r>
            <a:endParaRPr lang="en-US" sz="1500" dirty="0"/>
          </a:p>
        </p:txBody>
      </p:sp>
      <p:sp>
        <p:nvSpPr>
          <p:cNvPr id="18" name="windows note card"/>
          <p:cNvSpPr/>
          <p:nvPr/>
        </p:nvSpPr>
        <p:spPr>
          <a:xfrm>
            <a:off x="8229600" y="1463040"/>
            <a:ext cx="3383280" cy="4023360"/>
          </a:xfrm>
          <a:prstGeom prst="roundRect">
            <a:avLst>
              <a:gd name="adj" fmla="val 3243"/>
            </a:avLst>
          </a:prstGeom>
          <a:solidFill>
            <a:schemeClr val="bg2"/>
          </a:solidFill>
          <a:ln/>
        </p:spPr>
      </p:sp>
      <p:sp>
        <p:nvSpPr>
          <p:cNvPr id="19" name="windows tile"/>
          <p:cNvSpPr/>
          <p:nvPr/>
        </p:nvSpPr>
        <p:spPr>
          <a:xfrm>
            <a:off x="8503920" y="1737360"/>
            <a:ext cx="640080" cy="640080"/>
          </a:xfrm>
          <a:prstGeom prst="roundRect">
            <a:avLst>
              <a:gd name="adj" fmla="val 24000"/>
            </a:avLst>
          </a:prstGeom>
          <a:solidFill>
            <a:schemeClr val="accent2">
              <a:alpha val="14000"/>
            </a:schemeClr>
          </a:solidFill>
          <a:ln/>
        </p:spPr>
      </p:sp>
      <p:pic>
        <p:nvPicPr>
          <p:cNvPr id="20" name="windows icon" descr="preencoded.png">    </p:cNvPr>
          <p:cNvPicPr>
            <a:picLocks noChangeAspect="1"/>
          </p:cNvPicPr>
          <p:nvPr/>
        </p:nvPicPr>
        <p:blipFill>
          <a:blip r:embed="rId4"/>
          <a:stretch>
            <a:fillRect/>
          </a:stretch>
        </p:blipFill>
        <p:spPr>
          <a:xfrm>
            <a:off x="8644738" y="1878178"/>
            <a:ext cx="358445" cy="358445"/>
          </a:xfrm>
          <a:prstGeom prst="rect">
            <a:avLst/>
          </a:prstGeom>
        </p:spPr>
      </p:pic>
      <p:sp>
        <p:nvSpPr>
          <p:cNvPr id="21" name="Text 15"/>
          <p:cNvSpPr txBox="1"/>
          <p:nvPr/>
        </p:nvSpPr>
        <p:spPr>
          <a:xfrm>
            <a:off x="8503920" y="2560320"/>
            <a:ext cx="2834640" cy="384048"/>
          </a:xfrm>
          <a:prstGeom prst="rect">
            <a:avLst/>
          </a:prstGeom>
          <a:noFill/>
          <a:ln/>
        </p:spPr>
        <p:txBody>
          <a:bodyPr wrap="square" lIns="0" tIns="0" rIns="0" bIns="0" rtlCol="0" anchor="t"/>
          <a:lstStyle/>
          <a:p>
            <a:pPr indent="0" marL="0">
              <a:buNone/>
            </a:pPr>
            <a:r>
              <a:rPr lang="en-US" sz="1800" b="1" dirty="0">
                <a:solidFill>
                  <a:schemeClr val="tx2"/>
                </a:solidFill>
              </a:rPr>
              <a:t>On Windows</a:t>
            </a:r>
            <a:endParaRPr lang="en-US" sz="1800" dirty="0"/>
          </a:p>
        </p:txBody>
      </p:sp>
      <p:sp>
        <p:nvSpPr>
          <p:cNvPr id="22" name="Text 16"/>
          <p:cNvSpPr txBox="1"/>
          <p:nvPr/>
        </p:nvSpPr>
        <p:spPr>
          <a:xfrm>
            <a:off x="8503920" y="3017520"/>
            <a:ext cx="2834640" cy="2194560"/>
          </a:xfrm>
          <a:prstGeom prst="rect">
            <a:avLst/>
          </a:prstGeom>
          <a:noFill/>
          <a:ln/>
        </p:spPr>
        <p:txBody>
          <a:bodyPr wrap="square" lIns="0" tIns="0" rIns="0" bIns="0" rtlCol="0" anchor="t"/>
          <a:lstStyle/>
          <a:p>
            <a:pPr indent="0" marL="0">
              <a:buNone/>
            </a:pPr>
            <a:r>
              <a:rPr lang="en-US" sz="1400" dirty="0">
                <a:solidFill>
                  <a:schemeClr val="tx1"/>
                </a:solidFill>
              </a:rPr>
              <a:t>Install GCC with MSYS2 and use mingw32-make instead of make. It builds stockwise.dll. README.md has the full steps.</a:t>
            </a:r>
            <a:endParaRPr 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2377440"/>
            <a:ext cx="10698480" cy="1005840"/>
          </a:xfrm>
          <a:prstGeom prst="rect">
            <a:avLst/>
          </a:prstGeom>
          <a:noFill/>
          <a:ln/>
        </p:spPr>
        <p:txBody>
          <a:bodyPr wrap="square" lIns="0" tIns="0" rIns="0" bIns="0" rtlCol="0" anchor="b"/>
          <a:lstStyle/>
          <a:p>
            <a:pPr algn="l" indent="0" marL="0">
              <a:buNone/>
            </a:pPr>
            <a:r>
              <a:rPr lang="en-US" sz="4400" b="1" dirty="0">
                <a:solidFill>
                  <a:schemeClr val="bg1"/>
                </a:solidFill>
              </a:rPr>
              <a:t>Thank you</a:t>
            </a:r>
            <a:endParaRPr lang="en-US" sz="4400" dirty="0"/>
          </a:p>
        </p:txBody>
      </p:sp>
      <p:sp>
        <p:nvSpPr>
          <p:cNvPr id="3" name="Text 0"/>
          <p:cNvSpPr/>
          <p:nvPr>
            <p:ph idx="101" type="body" hasCustomPrompt="1"/>
          </p:nvPr>
        </p:nvSpPr>
        <p:spPr>
          <a:xfrm>
            <a:off x="731520" y="3520440"/>
            <a:ext cx="10698480" cy="731520"/>
          </a:xfrm>
          <a:prstGeom prst="rect">
            <a:avLst/>
          </a:prstGeom>
          <a:noFill/>
          <a:ln/>
        </p:spPr>
        <p:txBody>
          <a:bodyPr wrap="square" lIns="0" tIns="0" rIns="0" bIns="0" rtlCol="0" anchor="t"/>
          <a:lstStyle/>
          <a:p>
            <a:pPr algn="l" indent="0" marL="0">
              <a:buNone/>
            </a:pPr>
            <a:r>
              <a:rPr lang="en-US" sz="2200" dirty="0">
                <a:solidFill>
                  <a:schemeClr val="bg1"/>
                </a:solidFill>
              </a:rPr>
              <a:t>Screens in app.py  ·  translation in c_bridge.py  ·  algorithms in backend/  ·  data in SQLite</a:t>
            </a:r>
            <a:endParaRPr lang="en-US" sz="2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1"/>
                </a:solidFill>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StockWise">
  <a:themeElements>
    <a:clrScheme name="StockWise">
      <a:dk1>
        <a:srgbClr val="14171F"/>
      </a:dk1>
      <a:lt1>
        <a:srgbClr val="FFFFFF"/>
      </a:lt1>
      <a:dk2>
        <a:srgbClr val="0D366B"/>
      </a:dk2>
      <a:lt2>
        <a:srgbClr val="F2F4F7"/>
      </a:lt2>
      <a:accent1>
        <a:srgbClr val="2A78D6"/>
      </a:accent1>
      <a:accent2>
        <a:srgbClr val="EB6834"/>
      </a:accent2>
      <a:accent3>
        <a:srgbClr val="1BAF7A"/>
      </a:accent3>
      <a:accent4>
        <a:srgbClr val="6250D6"/>
      </a:accent4>
      <a:accent5>
        <a:srgbClr val="D55181"/>
      </a:accent5>
      <a:accent6>
        <a:srgbClr val="C98500"/>
      </a:accent6>
      <a:hlink>
        <a:srgbClr val="1C5CAB"/>
      </a:hlink>
      <a:folHlink>
        <a:srgbClr val="6250D6"/>
      </a:folHlink>
    </a:clrScheme>
    <a:fontScheme name="StockWis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StockWise: project files explained</dc:title>
  <dc:subject>PptxGenJS Presentation</dc:subject>
  <dc:creator>StockWise team</dc:creator>
  <cp:lastModifiedBy>StockWise team</cp:lastModifiedBy>
  <cp:revision>1</cp:revision>
  <dcterms:created xsi:type="dcterms:W3CDTF">2026-10-26T05:10:19Z</dcterms:created>
  <dcterms:modified xsi:type="dcterms:W3CDTF">2026-10-26T05:10:19Z</dcterms:modified>
</cp:coreProperties>
</file>