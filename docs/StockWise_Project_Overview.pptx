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0ac0d5d-ed8b-e97a-bd02-2b0c2ce82422}">
          <p14:sldIdLst>
            <p14:sldId id="256"/>
            <p14:sldId id="257"/>
            <p14:sldId id="258"/>
            <p14:sldId id="259"/>
            <p14:sldId id="260"/>
            <p14:sldId id="261"/>
            <p14:sldId id="262"/>
            <p14:sldId id="263"/>
          </p14:sldIdLst>
        </p14:section>
        <p14:section name="Python side" id="{6489b747-c075-38f0-2390-e19715e2b134}">
          <p14:sldIdLst>
            <p14:sldId id="264"/>
            <p14:sldId id="265"/>
            <p14:sldId id="266"/>
            <p14:sldId id="267"/>
            <p14:sldId id="268"/>
            <p14:sldId id="269"/>
          </p14:sldIdLst>
        </p14:section>
        <p14:section name="C engine" id="{4df7f2d1-109a-5a69-e4e6-474d55816fc7}">
          <p14:sldIdLst>
            <p14:sldId id="270"/>
            <p14:sldId id="271"/>
            <p14:sldId id="272"/>
            <p14:sldId id="273"/>
            <p14:sldId id="274"/>
          </p14:sldIdLst>
        </p14:section>
        <p14:section name="How it works" id="{8776c1e7-635d-c4a8-2fd7-d179a3cec2bb}">
          <p14:sldIdLst>
            <p14:sldId id="275"/>
            <p14:sldId id="276"/>
            <p14:sldId id="277"/>
            <p14:sldId id="278"/>
          </p14:sldIdLst>
        </p14:section>
        <p14:section name="Quality and running" id="{ecc4547b-d5ba-e37c-ba63-d268cc9bf12d}">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StockWise helps a small shop manage products, track stock and decide what to restock. The screens are written in Python with Streamlit, and every data structure and algorithm is written from scratch in C. This deck walks through what each file in the project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StockWise is an inventory management web app for a small business. It answers everyday questions: what do I have, what is running out, what should I reorder with the money I have, and what is the shortest delivery route. It is a college Data Structures and Algorithms project, so every algorithm is written by hand in C, while the screens are written in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feature exists to solve a real shop problem, and each one is powered by a data structure. Running out of stock is solved by a priority queue. Slow searching is solved by a hash table and a trie. A limited budget is a knapsack problem solved with dynamic programming. Long delivery routes are a shortest-path problem on a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pages in the sidebar. The first five are for running a shop: the dashboard, products, stock transactions, restocking and delivery routes. The last three are for the DSA course: you can run each algorithm, watch the data structures, and read their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is the easy choice for a web interface and for working with a database. The course asks for data structures implemented from scratch, and C makes you handle arrays, pointers and memory yourself, which is exactly what shows understanding. Python's ctypes module joins the two halves. There are about 1,900 lines of Python, 1,800 lines of C and 900 lines of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all the technologies. Python with Streamlit builds the web interface, Plotly and pandas draw the charts and tables, and Graphviz draws the trees and the route map. The algorithms are in C, standard C11, compiled with GCC using a Makefile. Python's built-in ctypes module calls the C library, and SQLite, also built into Python, stores the data. Tests use Python's unittest plus a C test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layers. The screens are app.py. When a screen needs an algorithm, it calls c_bridge.py, which converts Python data into C structs and calls the compiled C library. The C engine does the actual searching, sorting and planning and sends back results. All data is stored by database.py in a SQLite file, which is the single source of truth; the C engine is rebuilt from it on every page load, so it is never out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folder you get from GitHub. On the left, the top level: the Python files, the database schema, setup files, artwork, documentation and Python tests. On the right, the backend folder: one C file per data structure, the shared header, the engine that Python calls, the Makefile and the C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three Python files: the screens, the translator, and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every Python-side file in one view. Each card says the technology it uses and what it does in one sentence. The next three slides go deeper into the three main ones: app.py, c_bridge.py and database.py.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app.py is the Streamlit frontend. It draws the eight pages you see in the sidebar. It never sorts or searches by itself: whenever it needs an algorithm, it asks the C engine through c_bridge.py and only displays the answer, including how many comparisons the algorithm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app.py is long but simple. At the top are constants such as the complexity table. Then small helper functions, for example chart, which styles every chart the same way, and search_box, which decides between the hash table, the trie and linear search. Then one function per page. Finally main, which Streamlit runs on every click: it reads the products, builds the C engine and shows the page the user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and C cannot share data directly, so c_bridge.py translates. It checks the data first, so C never receives a bad value, packs it into C-shaped structs using Python's ctypes module, calls the C function, and converts the answer back. It also loads the compiled library and frees the C memory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schema.sql defines two tables: products and inventory transactions. database.py is the only file that talks to SQLite. Its key rule: a stock change and its history record are saved in one database transaction, so they always agree, and the update refuses to make stock negative. It also creates realistic sample data on first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backend folder: ten C files, each holding one data structure or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files are the core of the engine. The header defines the shared structures. The engine file is what Python calls. Then search, hash table, sorting and the max-heap: the classic data structures, each in its own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files add the advanced structures: an AVL tree for price ranges, a trie for autocomplete, dynamic programming for the budget, a graph with Dijkstra for routes, and a circular queue for stock age. The Makefile compiles everything into one shared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C side. When Python hands over the product list, the engine checks it, copies it, and builds all its indexes at once: the hash table, which also catches duplicate IDs, the AVL tree, the trie, and an ID-sorted index for binary search. After that, Python can call the sw functions to search, sort, rank and plan, and finally sw_engine_destroy frees all the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project. Read it row by row: each C file holds one concept, and the right column says which feature of the app it powers. The last row, inventory_engine.c, is not an algorithm; it is the front door that Python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real request travelling through the files. The user types cab. app.py hands it to c_bridge.py, which calls the engine, which asks the trie. The trie walks three characters and collects every product name below that point, in alphabetical order. The results travel back and app.py draws the product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sale shows how Python, SQLite and C cooperate. The form in app.py calls record_transaction in database.py. That function lowers the stock and writes the history row in one database transaction, and its SQL refuses to go below zero. Streamlit then reruns the page, main rebuilds the C engine from the database, and every C result, such as the restock ranking and the stock lots, already includes the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restocking page chains two algorithms. First the max-heap in C ranks the low-stock products by priority. app.py turns each suggested restock into a cost. Then the knapsack code in C finds the set of restocks with the highest total priority that fits the budget, and a greedy version runs beside it to show that greedy can do worse. One click records the chosen deliveries in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concept powers a visible feature. The trie and AVL tree drive search and the price slider on the Products page. Dijkstra's algorithm draws the shortest delivery route. The knapsack dynamic programme picks the best restock plan for a budget, and the lab shows its table and why the greedy shortcut can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group: three test files that prove the code works, the artwork in assets, and the documentation, including the viva preparation and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tests are the proof. The C test program runs 283 checks directly on the algorithms, also under a memory checker that found no errors. The Python tests check the bridge and the database, including comparing the knapsack answer with a brute-force search. The lab page also runs 19 edge cases live in front of examiners.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takes three commands: install the Python packages, compile the C library with make, and start Streamlit. The first run creates the database with sample data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app.py draws the screens, c_bridge.py translates, the C files do the algorithms, and SQLite keeps the data. Happy to take questions or show any page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786384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r>
              <a:rPr lang="en-US" sz="5400" b="1" dirty="0">
                <a:solidFill>
                  <a:schemeClr val="bg1"/>
                </a:solidFill>
              </a:rPr>
              <a:t>Title</a:t>
            </a:r>
            <a:endParaRPr lang="en-US" sz="5400" dirty="0"/>
          </a:p>
        </p:txBody>
      </p:sp>
      <p:sp>
        <p:nvSpPr>
          <p:cNvPr id="3" name="Text 0"/>
          <p:cNvSpPr/>
          <p:nvPr>
            <p:ph idx="101" type="body" hasCustomPrompt="1"/>
          </p:nvPr>
        </p:nvSpPr>
        <p:spPr>
          <a:xfrm>
            <a:off x="731520" y="3474720"/>
            <a:ext cx="7498080" cy="109728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r>
              <a:rPr lang="en-US" sz="2200" dirty="0">
                <a:solidFill>
                  <a:schemeClr val="bg1"/>
                </a:solidFill>
              </a:rPr>
              <a:t>Subtitle</a:t>
            </a: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Section</a:t>
            </a:r>
            <a:endParaRPr lang="en-US" sz="4400" dirty="0"/>
          </a:p>
        </p:txBody>
      </p:sp>
      <p:sp>
        <p:nvSpPr>
          <p:cNvPr id="3" name="Text 0"/>
          <p:cNvSpPr/>
          <p:nvPr>
            <p:ph idx="101" type="body" hasCustomPrompt="1"/>
          </p:nvPr>
        </p:nvSpPr>
        <p:spPr>
          <a:xfrm>
            <a:off x="731520" y="3520440"/>
            <a:ext cx="10698480" cy="73152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r>
              <a:rPr lang="en-US" sz="2200" dirty="0">
                <a:solidFill>
                  <a:schemeClr val="bg1"/>
                </a:solidFill>
              </a:rPr>
              <a:t>Subtitle</a:t>
            </a:r>
            <a:endParaRPr lang="en-US" sz="2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r>
              <a:rPr lang="en-US" sz="3600" b="1" dirty="0">
                <a:solidFill>
                  <a:schemeClr val="tx2"/>
                </a:solidFill>
              </a:rPr>
              <a:t>Title</a:t>
            </a:r>
            <a:endParaRPr lang="en-US" sz="36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StockWise  ·  Inventory Optimization System using DSA</a:t>
            </a:r>
            <a:endParaRPr 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4.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4.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4.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4.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4.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4.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7863840" cy="1188720"/>
          </a:xfrm>
          <a:prstGeom prst="rect">
            <a:avLst/>
          </a:prstGeom>
          <a:noFill/>
          <a:ln/>
        </p:spPr>
        <p:txBody>
          <a:bodyPr wrap="square" lIns="0" tIns="0" rIns="0" bIns="0" rtlCol="0" anchor="b"/>
          <a:lstStyle/>
          <a:p>
            <a:pPr algn="l" indent="0" marL="0">
              <a:buNone/>
            </a:pPr>
            <a:r>
              <a:rPr lang="en-US" sz="5400" b="1" dirty="0">
                <a:solidFill>
                  <a:schemeClr val="bg1"/>
                </a:solidFill>
              </a:rPr>
              <a:t>StockWise</a:t>
            </a:r>
            <a:endParaRPr lang="en-US" sz="5400" dirty="0"/>
          </a:p>
        </p:txBody>
      </p:sp>
      <p:sp>
        <p:nvSpPr>
          <p:cNvPr id="3" name="Text 0"/>
          <p:cNvSpPr/>
          <p:nvPr>
            <p:ph idx="101" type="body" hasCustomPrompt="1"/>
          </p:nvPr>
        </p:nvSpPr>
        <p:spPr>
          <a:xfrm>
            <a:off x="731520" y="3474720"/>
            <a:ext cx="7498080" cy="1097280"/>
          </a:xfrm>
          <a:prstGeom prst="rect">
            <a:avLst/>
          </a:prstGeom>
          <a:noFill/>
          <a:ln/>
        </p:spPr>
        <p:txBody>
          <a:bodyPr wrap="square" lIns="0" tIns="0" rIns="0" bIns="0" rtlCol="0" anchor="t"/>
          <a:lstStyle/>
          <a:p>
            <a:pPr algn="l" indent="0" marL="0">
              <a:buNone/>
            </a:pPr>
            <a:r>
              <a:rPr lang="en-US" sz="2200" dirty="0">
                <a:solidFill>
                  <a:schemeClr val="bg1"/>
                </a:solidFill>
              </a:rPr>
              <a:t>An inventory app with a Python interface and a C engine for every data structure and algorithm</a:t>
            </a:r>
            <a:endParaRPr lang="en-US" sz="2200" dirty="0"/>
          </a:p>
        </p:txBody>
      </p:sp>
      <p:pic>
        <p:nvPicPr>
          <p:cNvPr id="4" name="logo" descr="/tmp/claude-0/-home-user-StockWise-Dsa/ffa8d720-88b5-5029-baa4-50a8a76d3601/scratchpad/deck/img/mark.png">    </p:cNvPr>
          <p:cNvPicPr>
            <a:picLocks noChangeAspect="1"/>
          </p:cNvPicPr>
          <p:nvPr/>
        </p:nvPicPr>
        <p:blipFill>
          <a:blip r:embed="rId1"/>
          <a:stretch>
            <a:fillRect/>
          </a:stretch>
        </p:blipFill>
        <p:spPr>
          <a:xfrm>
            <a:off x="9052560" y="1920240"/>
            <a:ext cx="2377440" cy="23774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What is StockWise?</a:t>
            </a:r>
            <a:endParaRPr lang="en-US" sz="3600" dirty="0"/>
          </a:p>
        </p:txBody>
      </p:sp>
      <p:sp>
        <p:nvSpPr>
          <p:cNvPr id="3" name="Text 1"/>
          <p:cNvSpPr txBox="1"/>
          <p:nvPr/>
        </p:nvSpPr>
        <p:spPr>
          <a:xfrm>
            <a:off x="548640" y="1417320"/>
            <a:ext cx="5394960" cy="1005840"/>
          </a:xfrm>
          <a:prstGeom prst="rect">
            <a:avLst/>
          </a:prstGeom>
          <a:noFill/>
          <a:ln/>
        </p:spPr>
        <p:txBody>
          <a:bodyPr wrap="square" lIns="0" tIns="0" rIns="0" bIns="0" rtlCol="0" anchor="t"/>
          <a:lstStyle/>
          <a:p>
            <a:pPr indent="0" marL="0">
              <a:buNone/>
            </a:pPr>
            <a:r>
              <a:rPr lang="en-US" sz="2000" b="1" dirty="0">
                <a:solidFill>
                  <a:schemeClr val="tx2"/>
                </a:solidFill>
              </a:rPr>
              <a:t>A web app that helps a small shop track its stock and decide what to restock next.</a:t>
            </a:r>
            <a:endParaRPr lang="en-US" sz="2000" dirty="0"/>
          </a:p>
        </p:txBody>
      </p:sp>
      <p:sp>
        <p:nvSpPr>
          <p:cNvPr id="4" name="Built for a DSA course tile"/>
          <p:cNvSpPr/>
          <p:nvPr/>
        </p:nvSpPr>
        <p:spPr>
          <a:xfrm>
            <a:off x="548640" y="2743200"/>
            <a:ext cx="731520" cy="731520"/>
          </a:xfrm>
          <a:prstGeom prst="roundRect">
            <a:avLst>
              <a:gd name="adj" fmla="val 24000"/>
            </a:avLst>
          </a:prstGeom>
          <a:solidFill>
            <a:schemeClr val="accent4">
              <a:alpha val="14000"/>
            </a:schemeClr>
          </a:solidFill>
          <a:ln/>
        </p:spPr>
      </p:sp>
      <p:pic>
        <p:nvPicPr>
          <p:cNvPr id="5" name="Built for a DSA course icon" descr="preencoded.png">    </p:cNvPr>
          <p:cNvPicPr>
            <a:picLocks noChangeAspect="1"/>
          </p:cNvPicPr>
          <p:nvPr/>
        </p:nvPicPr>
        <p:blipFill>
          <a:blip r:embed="rId1"/>
          <a:stretch>
            <a:fillRect/>
          </a:stretch>
        </p:blipFill>
        <p:spPr>
          <a:xfrm>
            <a:off x="709574" y="2904134"/>
            <a:ext cx="409651" cy="409651"/>
          </a:xfrm>
          <a:prstGeom prst="rect">
            <a:avLst/>
          </a:prstGeom>
        </p:spPr>
      </p:pic>
      <p:sp>
        <p:nvSpPr>
          <p:cNvPr id="6" name="Text 3"/>
          <p:cNvSpPr txBox="1"/>
          <p:nvPr/>
        </p:nvSpPr>
        <p:spPr>
          <a:xfrm>
            <a:off x="1508760" y="2761488"/>
            <a:ext cx="4480560" cy="347472"/>
          </a:xfrm>
          <a:prstGeom prst="rect">
            <a:avLst/>
          </a:prstGeom>
          <a:noFill/>
          <a:ln/>
        </p:spPr>
        <p:txBody>
          <a:bodyPr wrap="square" lIns="0" tIns="0" rIns="0" bIns="0" rtlCol="0" anchor="t"/>
          <a:lstStyle/>
          <a:p>
            <a:pPr indent="0" marL="0">
              <a:buNone/>
            </a:pPr>
            <a:r>
              <a:rPr lang="en-US" sz="1800" b="1" dirty="0">
                <a:solidFill>
                  <a:schemeClr val="tx2"/>
                </a:solidFill>
              </a:rPr>
              <a:t>Built for a DSA course</a:t>
            </a:r>
            <a:endParaRPr lang="en-US" sz="1800" dirty="0"/>
          </a:p>
        </p:txBody>
      </p:sp>
      <p:sp>
        <p:nvSpPr>
          <p:cNvPr id="7" name="Text 4"/>
          <p:cNvSpPr txBox="1"/>
          <p:nvPr/>
        </p:nvSpPr>
        <p:spPr>
          <a:xfrm>
            <a:off x="1508760" y="3127248"/>
            <a:ext cx="4480560" cy="411480"/>
          </a:xfrm>
          <a:prstGeom prst="rect">
            <a:avLst/>
          </a:prstGeom>
          <a:noFill/>
          <a:ln/>
        </p:spPr>
        <p:txBody>
          <a:bodyPr wrap="square" lIns="0" tIns="0" rIns="0" bIns="0" rtlCol="0" anchor="t"/>
          <a:lstStyle/>
          <a:p>
            <a:pPr indent="0" marL="0">
              <a:buNone/>
            </a:pPr>
            <a:r>
              <a:rPr lang="en-US" sz="1400" dirty="0">
                <a:solidFill>
                  <a:schemeClr val="tx1"/>
                </a:solidFill>
              </a:rPr>
              <a:t>Every data structure and algorithm is written from scratch in C</a:t>
            </a:r>
            <a:endParaRPr lang="en-US" sz="1400" dirty="0"/>
          </a:p>
        </p:txBody>
      </p:sp>
      <p:sp>
        <p:nvSpPr>
          <p:cNvPr id="8" name="Easy to use tile"/>
          <p:cNvSpPr/>
          <p:nvPr/>
        </p:nvSpPr>
        <p:spPr>
          <a:xfrm>
            <a:off x="548640" y="3840480"/>
            <a:ext cx="731520" cy="731520"/>
          </a:xfrm>
          <a:prstGeom prst="roundRect">
            <a:avLst>
              <a:gd name="adj" fmla="val 24000"/>
            </a:avLst>
          </a:prstGeom>
          <a:solidFill>
            <a:schemeClr val="accent1">
              <a:alpha val="14000"/>
            </a:schemeClr>
          </a:solidFill>
          <a:ln/>
        </p:spPr>
      </p:sp>
      <p:pic>
        <p:nvPicPr>
          <p:cNvPr id="9" name="Easy to use icon" descr="preencoded.png">    </p:cNvPr>
          <p:cNvPicPr>
            <a:picLocks noChangeAspect="1"/>
          </p:cNvPicPr>
          <p:nvPr/>
        </p:nvPicPr>
        <p:blipFill>
          <a:blip r:embed="rId2"/>
          <a:stretch>
            <a:fillRect/>
          </a:stretch>
        </p:blipFill>
        <p:spPr>
          <a:xfrm>
            <a:off x="709574" y="4001414"/>
            <a:ext cx="409651" cy="409651"/>
          </a:xfrm>
          <a:prstGeom prst="rect">
            <a:avLst/>
          </a:prstGeom>
        </p:spPr>
      </p:pic>
      <p:sp>
        <p:nvSpPr>
          <p:cNvPr id="10" name="Text 6"/>
          <p:cNvSpPr txBox="1"/>
          <p:nvPr/>
        </p:nvSpPr>
        <p:spPr>
          <a:xfrm>
            <a:off x="1508760" y="3858768"/>
            <a:ext cx="4480560" cy="347472"/>
          </a:xfrm>
          <a:prstGeom prst="rect">
            <a:avLst/>
          </a:prstGeom>
          <a:noFill/>
          <a:ln/>
        </p:spPr>
        <p:txBody>
          <a:bodyPr wrap="square" lIns="0" tIns="0" rIns="0" bIns="0" rtlCol="0" anchor="t"/>
          <a:lstStyle/>
          <a:p>
            <a:pPr indent="0" marL="0">
              <a:buNone/>
            </a:pPr>
            <a:r>
              <a:rPr lang="en-US" sz="1800" b="1" dirty="0">
                <a:solidFill>
                  <a:schemeClr val="tx2"/>
                </a:solidFill>
              </a:rPr>
              <a:t>Easy to use</a:t>
            </a:r>
            <a:endParaRPr lang="en-US" sz="1800" dirty="0"/>
          </a:p>
        </p:txBody>
      </p:sp>
      <p:sp>
        <p:nvSpPr>
          <p:cNvPr id="11" name="Text 7"/>
          <p:cNvSpPr txBox="1"/>
          <p:nvPr/>
        </p:nvSpPr>
        <p:spPr>
          <a:xfrm>
            <a:off x="1508760" y="4224528"/>
            <a:ext cx="4480560" cy="411480"/>
          </a:xfrm>
          <a:prstGeom prst="rect">
            <a:avLst/>
          </a:prstGeom>
          <a:noFill/>
          <a:ln/>
        </p:spPr>
        <p:txBody>
          <a:bodyPr wrap="square" lIns="0" tIns="0" rIns="0" bIns="0" rtlCol="0" anchor="t"/>
          <a:lstStyle/>
          <a:p>
            <a:pPr indent="0" marL="0">
              <a:buNone/>
            </a:pPr>
            <a:r>
              <a:rPr lang="en-US" sz="1400" dirty="0">
                <a:solidFill>
                  <a:schemeClr val="tx1"/>
                </a:solidFill>
              </a:rPr>
              <a:t>A Python web interface (Streamlit) with 8 pages</a:t>
            </a:r>
            <a:endParaRPr lang="en-US" sz="1400" dirty="0"/>
          </a:p>
        </p:txBody>
      </p:sp>
      <p:sp>
        <p:nvSpPr>
          <p:cNvPr id="12" name="Data is kept safely tile"/>
          <p:cNvSpPr/>
          <p:nvPr/>
        </p:nvSpPr>
        <p:spPr>
          <a:xfrm>
            <a:off x="548640" y="4937760"/>
            <a:ext cx="731520" cy="731520"/>
          </a:xfrm>
          <a:prstGeom prst="roundRect">
            <a:avLst>
              <a:gd name="adj" fmla="val 24000"/>
            </a:avLst>
          </a:prstGeom>
          <a:solidFill>
            <a:schemeClr val="accent3">
              <a:alpha val="14000"/>
            </a:schemeClr>
          </a:solidFill>
          <a:ln/>
        </p:spPr>
      </p:sp>
      <p:pic>
        <p:nvPicPr>
          <p:cNvPr id="13" name="Data is kept safely icon" descr="preencoded.png">    </p:cNvPr>
          <p:cNvPicPr>
            <a:picLocks noChangeAspect="1"/>
          </p:cNvPicPr>
          <p:nvPr/>
        </p:nvPicPr>
        <p:blipFill>
          <a:blip r:embed="rId3"/>
          <a:stretch>
            <a:fillRect/>
          </a:stretch>
        </p:blipFill>
        <p:spPr>
          <a:xfrm>
            <a:off x="709574" y="5098694"/>
            <a:ext cx="409651" cy="409651"/>
          </a:xfrm>
          <a:prstGeom prst="rect">
            <a:avLst/>
          </a:prstGeom>
        </p:spPr>
      </p:pic>
      <p:sp>
        <p:nvSpPr>
          <p:cNvPr id="14" name="Text 9"/>
          <p:cNvSpPr txBox="1"/>
          <p:nvPr/>
        </p:nvSpPr>
        <p:spPr>
          <a:xfrm>
            <a:off x="1508760" y="4956048"/>
            <a:ext cx="4480560" cy="347472"/>
          </a:xfrm>
          <a:prstGeom prst="rect">
            <a:avLst/>
          </a:prstGeom>
          <a:noFill/>
          <a:ln/>
        </p:spPr>
        <p:txBody>
          <a:bodyPr wrap="square" lIns="0" tIns="0" rIns="0" bIns="0" rtlCol="0" anchor="t"/>
          <a:lstStyle/>
          <a:p>
            <a:pPr indent="0" marL="0">
              <a:buNone/>
            </a:pPr>
            <a:r>
              <a:rPr lang="en-US" sz="1800" b="1" dirty="0">
                <a:solidFill>
                  <a:schemeClr val="tx2"/>
                </a:solidFill>
              </a:rPr>
              <a:t>Data is kept safely</a:t>
            </a:r>
            <a:endParaRPr lang="en-US" sz="1800" dirty="0"/>
          </a:p>
        </p:txBody>
      </p:sp>
      <p:sp>
        <p:nvSpPr>
          <p:cNvPr id="15" name="Text 10"/>
          <p:cNvSpPr txBox="1"/>
          <p:nvPr/>
        </p:nvSpPr>
        <p:spPr>
          <a:xfrm>
            <a:off x="1508760" y="5321808"/>
            <a:ext cx="4480560" cy="411480"/>
          </a:xfrm>
          <a:prstGeom prst="rect">
            <a:avLst/>
          </a:prstGeom>
          <a:noFill/>
          <a:ln/>
        </p:spPr>
        <p:txBody>
          <a:bodyPr wrap="square" lIns="0" tIns="0" rIns="0" bIns="0" rtlCol="0" anchor="t"/>
          <a:lstStyle/>
          <a:p>
            <a:pPr indent="0" marL="0">
              <a:buNone/>
            </a:pPr>
            <a:r>
              <a:rPr lang="en-US" sz="1400" dirty="0">
                <a:solidFill>
                  <a:schemeClr val="tx1"/>
                </a:solidFill>
              </a:rPr>
              <a:t>Products and every stock movement are saved in SQLite</a:t>
            </a:r>
            <a:endParaRPr lang="en-US" sz="1400" dirty="0"/>
          </a:p>
        </p:txBody>
      </p:sp>
      <p:sp>
        <p:nvSpPr>
          <p:cNvPr id="16" name="dashboard screenshot frame"/>
          <p:cNvSpPr/>
          <p:nvPr/>
        </p:nvSpPr>
        <p:spPr>
          <a:xfrm>
            <a:off x="6300216" y="1408176"/>
            <a:ext cx="5321808" cy="3890511"/>
          </a:xfrm>
          <a:prstGeom prst="roundRect">
            <a:avLst>
              <a:gd name="adj" fmla="val 1880"/>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17" name="dashboard screenshot" descr="/tmp/claude-0/-home-user-StockWise-Dsa/ffa8d720-88b5-5029-baa4-50a8a76d3601/scratchpad/deck/img/dashboard.png">    </p:cNvPr>
          <p:cNvPicPr>
            <a:picLocks noChangeAspect="1"/>
          </p:cNvPicPr>
          <p:nvPr/>
        </p:nvPicPr>
        <p:blipFill>
          <a:blip r:embed="rId4"/>
          <a:stretch>
            <a:fillRect/>
          </a:stretch>
        </p:blipFill>
        <p:spPr>
          <a:xfrm>
            <a:off x="6355080" y="1463040"/>
            <a:ext cx="5212080" cy="3780783"/>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The problems it solves</a:t>
            </a:r>
            <a:endParaRPr lang="en-US" sz="3600" dirty="0"/>
          </a:p>
        </p:txBody>
      </p:sp>
      <p:sp>
        <p:nvSpPr>
          <p:cNvPr id="3" name="Text 1"/>
          <p:cNvSpPr txBox="1"/>
          <p:nvPr/>
        </p:nvSpPr>
        <p:spPr>
          <a:xfrm>
            <a:off x="548640" y="1325880"/>
            <a:ext cx="4754880" cy="320040"/>
          </a:xfrm>
          <a:prstGeom prst="rect">
            <a:avLst/>
          </a:prstGeom>
          <a:noFill/>
          <a:ln/>
        </p:spPr>
        <p:txBody>
          <a:bodyPr wrap="square" lIns="0" tIns="0" rIns="0" bIns="0" rtlCol="0" anchor="t"/>
          <a:lstStyle/>
          <a:p>
            <a:pPr indent="0" marL="0">
              <a:buNone/>
            </a:pPr>
            <a:r>
              <a:rPr lang="en-US" sz="1400" b="1" dirty="0">
                <a:solidFill>
                  <a:schemeClr val="accent2"/>
                </a:solidFill>
              </a:rPr>
              <a:t>Problem</a:t>
            </a:r>
            <a:endParaRPr lang="en-US" sz="1400" dirty="0"/>
          </a:p>
        </p:txBody>
      </p:sp>
      <p:sp>
        <p:nvSpPr>
          <p:cNvPr id="4" name="Text 2"/>
          <p:cNvSpPr txBox="1"/>
          <p:nvPr/>
        </p:nvSpPr>
        <p:spPr>
          <a:xfrm>
            <a:off x="5989320" y="1325880"/>
            <a:ext cx="5577840" cy="320040"/>
          </a:xfrm>
          <a:prstGeom prst="rect">
            <a:avLst/>
          </a:prstGeom>
          <a:noFill/>
          <a:ln/>
        </p:spPr>
        <p:txBody>
          <a:bodyPr wrap="square" lIns="0" tIns="0" rIns="0" bIns="0" rtlCol="0" anchor="t"/>
          <a:lstStyle/>
          <a:p>
            <a:pPr indent="0" marL="0">
              <a:buNone/>
            </a:pPr>
            <a:r>
              <a:rPr lang="en-US" sz="1400" b="1" dirty="0">
                <a:solidFill>
                  <a:schemeClr val="accent1"/>
                </a:solidFill>
              </a:rPr>
              <a:t>How StockWise solves it</a:t>
            </a:r>
            <a:endParaRPr lang="en-US" sz="1400" dirty="0"/>
          </a:p>
        </p:txBody>
      </p:sp>
      <p:sp>
        <p:nvSpPr>
          <p:cNvPr id="5" name="problem 1 card"/>
          <p:cNvSpPr/>
          <p:nvPr/>
        </p:nvSpPr>
        <p:spPr>
          <a:xfrm>
            <a:off x="548640" y="1737360"/>
            <a:ext cx="4892040" cy="914400"/>
          </a:xfrm>
          <a:prstGeom prst="roundRect">
            <a:avLst>
              <a:gd name="adj" fmla="val 12000"/>
            </a:avLst>
          </a:prstGeom>
          <a:solidFill>
            <a:schemeClr val="bg2"/>
          </a:solidFill>
          <a:ln/>
        </p:spPr>
      </p:sp>
      <p:sp>
        <p:nvSpPr>
          <p:cNvPr id="6" name="problem 1 tile"/>
          <p:cNvSpPr/>
          <p:nvPr/>
        </p:nvSpPr>
        <p:spPr>
          <a:xfrm>
            <a:off x="731520" y="1892808"/>
            <a:ext cx="603504" cy="603504"/>
          </a:xfrm>
          <a:prstGeom prst="roundRect">
            <a:avLst>
              <a:gd name="adj" fmla="val 24000"/>
            </a:avLst>
          </a:prstGeom>
          <a:solidFill>
            <a:schemeClr val="accent2">
              <a:alpha val="14000"/>
            </a:schemeClr>
          </a:solidFill>
          <a:ln/>
        </p:spPr>
      </p:sp>
      <p:pic>
        <p:nvPicPr>
          <p:cNvPr id="7" name="problem 1 icon" descr="preencoded.png">    </p:cNvPr>
          <p:cNvPicPr>
            <a:picLocks noChangeAspect="1"/>
          </p:cNvPicPr>
          <p:nvPr/>
        </p:nvPicPr>
        <p:blipFill>
          <a:blip r:embed="rId1"/>
          <a:stretch>
            <a:fillRect/>
          </a:stretch>
        </p:blipFill>
        <p:spPr>
          <a:xfrm>
            <a:off x="864291" y="2025579"/>
            <a:ext cx="337962" cy="337962"/>
          </a:xfrm>
          <a:prstGeom prst="rect">
            <a:avLst/>
          </a:prstGeom>
        </p:spPr>
      </p:pic>
      <p:sp>
        <p:nvSpPr>
          <p:cNvPr id="8" name="Text 5"/>
          <p:cNvSpPr txBox="1"/>
          <p:nvPr/>
        </p:nvSpPr>
        <p:spPr>
          <a:xfrm>
            <a:off x="1508760" y="1737360"/>
            <a:ext cx="3794760" cy="914400"/>
          </a:xfrm>
          <a:prstGeom prst="rect">
            <a:avLst/>
          </a:prstGeom>
          <a:noFill/>
          <a:ln/>
        </p:spPr>
        <p:txBody>
          <a:bodyPr wrap="square" lIns="0" tIns="0" rIns="0" bIns="0" rtlCol="0" anchor="ctr"/>
          <a:lstStyle/>
          <a:p>
            <a:pPr indent="0" marL="0">
              <a:buNone/>
            </a:pPr>
            <a:r>
              <a:rPr lang="en-US" sz="1500" dirty="0">
                <a:solidFill>
                  <a:schemeClr val="tx1"/>
                </a:solidFill>
              </a:rPr>
              <a:t>Products run out before anyone notices</a:t>
            </a:r>
            <a:endParaRPr lang="en-US" sz="1500" dirty="0"/>
          </a:p>
        </p:txBody>
      </p:sp>
      <p:sp>
        <p:nvSpPr>
          <p:cNvPr id="9" name="arrow 1"/>
          <p:cNvSpPr/>
          <p:nvPr/>
        </p:nvSpPr>
        <p:spPr>
          <a:xfrm>
            <a:off x="5559552" y="2066544"/>
            <a:ext cx="310896" cy="256032"/>
          </a:xfrm>
          <a:prstGeom prst="rightArrow">
            <a:avLst/>
          </a:prstGeom>
          <a:solidFill>
            <a:schemeClr val="tx2"/>
          </a:solidFill>
          <a:ln/>
        </p:spPr>
      </p:sp>
      <p:sp>
        <p:nvSpPr>
          <p:cNvPr id="10" name="solution 1 card"/>
          <p:cNvSpPr/>
          <p:nvPr/>
        </p:nvSpPr>
        <p:spPr>
          <a:xfrm>
            <a:off x="5989320" y="1737360"/>
            <a:ext cx="5623560" cy="914400"/>
          </a:xfrm>
          <a:prstGeom prst="roundRect">
            <a:avLst>
              <a:gd name="adj" fmla="val 12000"/>
            </a:avLst>
          </a:prstGeom>
          <a:solidFill>
            <a:schemeClr val="bg2"/>
          </a:solidFill>
          <a:ln/>
        </p:spPr>
      </p:sp>
      <p:sp>
        <p:nvSpPr>
          <p:cNvPr id="11" name="solution 1 tile"/>
          <p:cNvSpPr/>
          <p:nvPr/>
        </p:nvSpPr>
        <p:spPr>
          <a:xfrm>
            <a:off x="6172200" y="1892808"/>
            <a:ext cx="603504" cy="603504"/>
          </a:xfrm>
          <a:prstGeom prst="roundRect">
            <a:avLst>
              <a:gd name="adj" fmla="val 24000"/>
            </a:avLst>
          </a:prstGeom>
          <a:solidFill>
            <a:schemeClr val="accent1">
              <a:alpha val="14000"/>
            </a:schemeClr>
          </a:solidFill>
          <a:ln/>
        </p:spPr>
      </p:sp>
      <p:pic>
        <p:nvPicPr>
          <p:cNvPr id="12" name="solution 1 icon" descr="preencoded.png">    </p:cNvPr>
          <p:cNvPicPr>
            <a:picLocks noChangeAspect="1"/>
          </p:cNvPicPr>
          <p:nvPr/>
        </p:nvPicPr>
        <p:blipFill>
          <a:blip r:embed="rId2"/>
          <a:stretch>
            <a:fillRect/>
          </a:stretch>
        </p:blipFill>
        <p:spPr>
          <a:xfrm>
            <a:off x="6304971" y="2025579"/>
            <a:ext cx="337962" cy="337962"/>
          </a:xfrm>
          <a:prstGeom prst="rect">
            <a:avLst/>
          </a:prstGeom>
        </p:spPr>
      </p:pic>
      <p:sp>
        <p:nvSpPr>
          <p:cNvPr id="13" name="Text 9"/>
          <p:cNvSpPr txBox="1"/>
          <p:nvPr/>
        </p:nvSpPr>
        <p:spPr>
          <a:xfrm>
            <a:off x="6949440" y="1865376"/>
            <a:ext cx="4526280" cy="384048"/>
          </a:xfrm>
          <a:prstGeom prst="rect">
            <a:avLst/>
          </a:prstGeom>
          <a:noFill/>
          <a:ln/>
        </p:spPr>
        <p:txBody>
          <a:bodyPr wrap="square" lIns="0" tIns="0" rIns="0" bIns="0" rtlCol="0" anchor="ctr"/>
          <a:lstStyle/>
          <a:p>
            <a:pPr indent="0" marL="0">
              <a:buNone/>
            </a:pPr>
            <a:r>
              <a:rPr lang="en-US" sz="1500" dirty="0">
                <a:solidFill>
                  <a:schemeClr val="tx1"/>
                </a:solidFill>
              </a:rPr>
              <a:t>Restock ranking puts the most urgent product first</a:t>
            </a:r>
            <a:endParaRPr lang="en-US" sz="1500" dirty="0"/>
          </a:p>
        </p:txBody>
      </p:sp>
      <p:sp>
        <p:nvSpPr>
          <p:cNvPr id="14" name="solution 1 tech tag"/>
          <p:cNvSpPr/>
          <p:nvPr/>
        </p:nvSpPr>
        <p:spPr>
          <a:xfrm>
            <a:off x="6949440" y="2267712"/>
            <a:ext cx="844906" cy="292608"/>
          </a:xfrm>
          <a:prstGeom prst="roundRect">
            <a:avLst>
              <a:gd name="adj" fmla="val 50000"/>
            </a:avLst>
          </a:prstGeom>
          <a:solidFill>
            <a:schemeClr val="accent1">
              <a:alpha val="18000"/>
            </a:schemeClr>
          </a:solidFill>
          <a:ln/>
        </p:spPr>
      </p:sp>
      <p:sp>
        <p:nvSpPr>
          <p:cNvPr id="15" name="Text 11"/>
          <p:cNvSpPr txBox="1"/>
          <p:nvPr/>
        </p:nvSpPr>
        <p:spPr>
          <a:xfrm>
            <a:off x="6949440" y="2267712"/>
            <a:ext cx="844906" cy="292608"/>
          </a:xfrm>
          <a:prstGeom prst="rect">
            <a:avLst/>
          </a:prstGeom>
          <a:noFill/>
          <a:ln/>
        </p:spPr>
        <p:txBody>
          <a:bodyPr wrap="square" lIns="0" tIns="0" rIns="0" bIns="0" rtlCol="0" anchor="ctr"/>
          <a:lstStyle/>
          <a:p>
            <a:pPr algn="ctr" indent="0" marL="0">
              <a:buNone/>
            </a:pPr>
            <a:r>
              <a:rPr lang="en-US" sz="1100" b="1" dirty="0">
                <a:solidFill>
                  <a:schemeClr val="tx2"/>
                </a:solidFill>
              </a:rPr>
              <a:t>Max-Heap</a:t>
            </a:r>
            <a:endParaRPr lang="en-US" sz="1100" dirty="0"/>
          </a:p>
        </p:txBody>
      </p:sp>
      <p:sp>
        <p:nvSpPr>
          <p:cNvPr id="16" name="problem 2 card"/>
          <p:cNvSpPr/>
          <p:nvPr/>
        </p:nvSpPr>
        <p:spPr>
          <a:xfrm>
            <a:off x="548640" y="2816352"/>
            <a:ext cx="4892040" cy="914400"/>
          </a:xfrm>
          <a:prstGeom prst="roundRect">
            <a:avLst>
              <a:gd name="adj" fmla="val 12000"/>
            </a:avLst>
          </a:prstGeom>
          <a:solidFill>
            <a:schemeClr val="bg2"/>
          </a:solidFill>
          <a:ln/>
        </p:spPr>
      </p:sp>
      <p:sp>
        <p:nvSpPr>
          <p:cNvPr id="17" name="problem 2 tile"/>
          <p:cNvSpPr/>
          <p:nvPr/>
        </p:nvSpPr>
        <p:spPr>
          <a:xfrm>
            <a:off x="731520" y="2971800"/>
            <a:ext cx="603504" cy="603504"/>
          </a:xfrm>
          <a:prstGeom prst="roundRect">
            <a:avLst>
              <a:gd name="adj" fmla="val 24000"/>
            </a:avLst>
          </a:prstGeom>
          <a:solidFill>
            <a:schemeClr val="accent2">
              <a:alpha val="14000"/>
            </a:schemeClr>
          </a:solidFill>
          <a:ln/>
        </p:spPr>
      </p:sp>
      <p:pic>
        <p:nvPicPr>
          <p:cNvPr id="18" name="problem 2 icon" descr="preencoded.png">    </p:cNvPr>
          <p:cNvPicPr>
            <a:picLocks noChangeAspect="1"/>
          </p:cNvPicPr>
          <p:nvPr/>
        </p:nvPicPr>
        <p:blipFill>
          <a:blip r:embed="rId3"/>
          <a:stretch>
            <a:fillRect/>
          </a:stretch>
        </p:blipFill>
        <p:spPr>
          <a:xfrm>
            <a:off x="864291" y="3104571"/>
            <a:ext cx="337962" cy="337962"/>
          </a:xfrm>
          <a:prstGeom prst="rect">
            <a:avLst/>
          </a:prstGeom>
        </p:spPr>
      </p:pic>
      <p:sp>
        <p:nvSpPr>
          <p:cNvPr id="19" name="Text 14"/>
          <p:cNvSpPr txBox="1"/>
          <p:nvPr/>
        </p:nvSpPr>
        <p:spPr>
          <a:xfrm>
            <a:off x="1508760" y="2816352"/>
            <a:ext cx="3794760" cy="914400"/>
          </a:xfrm>
          <a:prstGeom prst="rect">
            <a:avLst/>
          </a:prstGeom>
          <a:noFill/>
          <a:ln/>
        </p:spPr>
        <p:txBody>
          <a:bodyPr wrap="square" lIns="0" tIns="0" rIns="0" bIns="0" rtlCol="0" anchor="ctr"/>
          <a:lstStyle/>
          <a:p>
            <a:pPr indent="0" marL="0">
              <a:buNone/>
            </a:pPr>
            <a:r>
              <a:rPr lang="en-US" sz="1500" dirty="0">
                <a:solidFill>
                  <a:schemeClr val="tx1"/>
                </a:solidFill>
              </a:rPr>
              <a:t>Finding one product in a long list is slow</a:t>
            </a:r>
            <a:endParaRPr lang="en-US" sz="1500" dirty="0"/>
          </a:p>
        </p:txBody>
      </p:sp>
      <p:sp>
        <p:nvSpPr>
          <p:cNvPr id="20" name="arrow 2"/>
          <p:cNvSpPr/>
          <p:nvPr/>
        </p:nvSpPr>
        <p:spPr>
          <a:xfrm>
            <a:off x="5559552" y="3145536"/>
            <a:ext cx="310896" cy="256032"/>
          </a:xfrm>
          <a:prstGeom prst="rightArrow">
            <a:avLst/>
          </a:prstGeom>
          <a:solidFill>
            <a:schemeClr val="tx2"/>
          </a:solidFill>
          <a:ln/>
        </p:spPr>
      </p:sp>
      <p:sp>
        <p:nvSpPr>
          <p:cNvPr id="21" name="solution 2 card"/>
          <p:cNvSpPr/>
          <p:nvPr/>
        </p:nvSpPr>
        <p:spPr>
          <a:xfrm>
            <a:off x="5989320" y="2816352"/>
            <a:ext cx="5623560" cy="914400"/>
          </a:xfrm>
          <a:prstGeom prst="roundRect">
            <a:avLst>
              <a:gd name="adj" fmla="val 12000"/>
            </a:avLst>
          </a:prstGeom>
          <a:solidFill>
            <a:schemeClr val="bg2"/>
          </a:solidFill>
          <a:ln/>
        </p:spPr>
      </p:sp>
      <p:sp>
        <p:nvSpPr>
          <p:cNvPr id="22" name="solution 2 tile"/>
          <p:cNvSpPr/>
          <p:nvPr/>
        </p:nvSpPr>
        <p:spPr>
          <a:xfrm>
            <a:off x="6172200" y="2971800"/>
            <a:ext cx="603504" cy="603504"/>
          </a:xfrm>
          <a:prstGeom prst="roundRect">
            <a:avLst>
              <a:gd name="adj" fmla="val 24000"/>
            </a:avLst>
          </a:prstGeom>
          <a:solidFill>
            <a:schemeClr val="accent1">
              <a:alpha val="14000"/>
            </a:schemeClr>
          </a:solidFill>
          <a:ln/>
        </p:spPr>
      </p:sp>
      <p:pic>
        <p:nvPicPr>
          <p:cNvPr id="23" name="solution 2 icon" descr="preencoded.png">    </p:cNvPr>
          <p:cNvPicPr>
            <a:picLocks noChangeAspect="1"/>
          </p:cNvPicPr>
          <p:nvPr/>
        </p:nvPicPr>
        <p:blipFill>
          <a:blip r:embed="rId4"/>
          <a:stretch>
            <a:fillRect/>
          </a:stretch>
        </p:blipFill>
        <p:spPr>
          <a:xfrm>
            <a:off x="6304971" y="3104571"/>
            <a:ext cx="337962" cy="337962"/>
          </a:xfrm>
          <a:prstGeom prst="rect">
            <a:avLst/>
          </a:prstGeom>
        </p:spPr>
      </p:pic>
      <p:sp>
        <p:nvSpPr>
          <p:cNvPr id="24" name="Text 18"/>
          <p:cNvSpPr txBox="1"/>
          <p:nvPr/>
        </p:nvSpPr>
        <p:spPr>
          <a:xfrm>
            <a:off x="6949440" y="2944368"/>
            <a:ext cx="4526280" cy="384048"/>
          </a:xfrm>
          <a:prstGeom prst="rect">
            <a:avLst/>
          </a:prstGeom>
          <a:noFill/>
          <a:ln/>
        </p:spPr>
        <p:txBody>
          <a:bodyPr wrap="square" lIns="0" tIns="0" rIns="0" bIns="0" rtlCol="0" anchor="ctr"/>
          <a:lstStyle/>
          <a:p>
            <a:pPr indent="0" marL="0">
              <a:buNone/>
            </a:pPr>
            <a:r>
              <a:rPr lang="en-US" sz="1500" dirty="0">
                <a:solidFill>
                  <a:schemeClr val="tx1"/>
                </a:solidFill>
              </a:rPr>
              <a:t>Instant search by ID and by the first letters of a name</a:t>
            </a:r>
            <a:endParaRPr lang="en-US" sz="1500" dirty="0"/>
          </a:p>
        </p:txBody>
      </p:sp>
      <p:sp>
        <p:nvSpPr>
          <p:cNvPr id="25" name="solution 2 tech tag"/>
          <p:cNvSpPr/>
          <p:nvPr/>
        </p:nvSpPr>
        <p:spPr>
          <a:xfrm>
            <a:off x="6949440" y="3346704"/>
            <a:ext cx="1415491" cy="292608"/>
          </a:xfrm>
          <a:prstGeom prst="roundRect">
            <a:avLst>
              <a:gd name="adj" fmla="val 50000"/>
            </a:avLst>
          </a:prstGeom>
          <a:solidFill>
            <a:schemeClr val="accent1">
              <a:alpha val="18000"/>
            </a:schemeClr>
          </a:solidFill>
          <a:ln/>
        </p:spPr>
      </p:sp>
      <p:sp>
        <p:nvSpPr>
          <p:cNvPr id="26" name="Text 20"/>
          <p:cNvSpPr txBox="1"/>
          <p:nvPr/>
        </p:nvSpPr>
        <p:spPr>
          <a:xfrm>
            <a:off x="6949440" y="3346704"/>
            <a:ext cx="1415491" cy="292608"/>
          </a:xfrm>
          <a:prstGeom prst="rect">
            <a:avLst/>
          </a:prstGeom>
          <a:noFill/>
          <a:ln/>
        </p:spPr>
        <p:txBody>
          <a:bodyPr wrap="square" lIns="0" tIns="0" rIns="0" bIns="0" rtlCol="0" anchor="ctr"/>
          <a:lstStyle/>
          <a:p>
            <a:pPr algn="ctr" indent="0" marL="0">
              <a:buNone/>
            </a:pPr>
            <a:r>
              <a:rPr lang="en-US" sz="1100" b="1" dirty="0">
                <a:solidFill>
                  <a:schemeClr val="tx2"/>
                </a:solidFill>
              </a:rPr>
              <a:t>Hash table, trie</a:t>
            </a:r>
            <a:endParaRPr lang="en-US" sz="1100" dirty="0"/>
          </a:p>
        </p:txBody>
      </p:sp>
      <p:sp>
        <p:nvSpPr>
          <p:cNvPr id="27" name="problem 3 card"/>
          <p:cNvSpPr/>
          <p:nvPr/>
        </p:nvSpPr>
        <p:spPr>
          <a:xfrm>
            <a:off x="548640" y="3895344"/>
            <a:ext cx="4892040" cy="914400"/>
          </a:xfrm>
          <a:prstGeom prst="roundRect">
            <a:avLst>
              <a:gd name="adj" fmla="val 12000"/>
            </a:avLst>
          </a:prstGeom>
          <a:solidFill>
            <a:schemeClr val="bg2"/>
          </a:solidFill>
          <a:ln/>
        </p:spPr>
      </p:sp>
      <p:sp>
        <p:nvSpPr>
          <p:cNvPr id="28" name="problem 3 tile"/>
          <p:cNvSpPr/>
          <p:nvPr/>
        </p:nvSpPr>
        <p:spPr>
          <a:xfrm>
            <a:off x="731520" y="4050792"/>
            <a:ext cx="603504" cy="603504"/>
          </a:xfrm>
          <a:prstGeom prst="roundRect">
            <a:avLst>
              <a:gd name="adj" fmla="val 24000"/>
            </a:avLst>
          </a:prstGeom>
          <a:solidFill>
            <a:schemeClr val="accent2">
              <a:alpha val="14000"/>
            </a:schemeClr>
          </a:solidFill>
          <a:ln/>
        </p:spPr>
      </p:sp>
      <p:pic>
        <p:nvPicPr>
          <p:cNvPr id="29" name="problem 3 icon" descr="preencoded.png">    </p:cNvPr>
          <p:cNvPicPr>
            <a:picLocks noChangeAspect="1"/>
          </p:cNvPicPr>
          <p:nvPr/>
        </p:nvPicPr>
        <p:blipFill>
          <a:blip r:embed="rId5"/>
          <a:stretch>
            <a:fillRect/>
          </a:stretch>
        </p:blipFill>
        <p:spPr>
          <a:xfrm>
            <a:off x="864291" y="4183563"/>
            <a:ext cx="337962" cy="337962"/>
          </a:xfrm>
          <a:prstGeom prst="rect">
            <a:avLst/>
          </a:prstGeom>
        </p:spPr>
      </p:pic>
      <p:sp>
        <p:nvSpPr>
          <p:cNvPr id="30" name="Text 23"/>
          <p:cNvSpPr txBox="1"/>
          <p:nvPr/>
        </p:nvSpPr>
        <p:spPr>
          <a:xfrm>
            <a:off x="1508760" y="3895344"/>
            <a:ext cx="3794760" cy="914400"/>
          </a:xfrm>
          <a:prstGeom prst="rect">
            <a:avLst/>
          </a:prstGeom>
          <a:noFill/>
          <a:ln/>
        </p:spPr>
        <p:txBody>
          <a:bodyPr wrap="square" lIns="0" tIns="0" rIns="0" bIns="0" rtlCol="0" anchor="ctr"/>
          <a:lstStyle/>
          <a:p>
            <a:pPr indent="0" marL="0">
              <a:buNone/>
            </a:pPr>
            <a:r>
              <a:rPr lang="en-US" sz="1500" dirty="0">
                <a:solidFill>
                  <a:schemeClr val="tx1"/>
                </a:solidFill>
              </a:rPr>
              <a:t>There is not enough money to reorder everything</a:t>
            </a:r>
            <a:endParaRPr lang="en-US" sz="1500" dirty="0"/>
          </a:p>
        </p:txBody>
      </p:sp>
      <p:sp>
        <p:nvSpPr>
          <p:cNvPr id="31" name="arrow 3"/>
          <p:cNvSpPr/>
          <p:nvPr/>
        </p:nvSpPr>
        <p:spPr>
          <a:xfrm>
            <a:off x="5559552" y="4224528"/>
            <a:ext cx="310896" cy="256032"/>
          </a:xfrm>
          <a:prstGeom prst="rightArrow">
            <a:avLst/>
          </a:prstGeom>
          <a:solidFill>
            <a:schemeClr val="tx2"/>
          </a:solidFill>
          <a:ln/>
        </p:spPr>
      </p:sp>
      <p:sp>
        <p:nvSpPr>
          <p:cNvPr id="32" name="solution 3 card"/>
          <p:cNvSpPr/>
          <p:nvPr/>
        </p:nvSpPr>
        <p:spPr>
          <a:xfrm>
            <a:off x="5989320" y="3895344"/>
            <a:ext cx="5623560" cy="914400"/>
          </a:xfrm>
          <a:prstGeom prst="roundRect">
            <a:avLst>
              <a:gd name="adj" fmla="val 12000"/>
            </a:avLst>
          </a:prstGeom>
          <a:solidFill>
            <a:schemeClr val="bg2"/>
          </a:solidFill>
          <a:ln/>
        </p:spPr>
      </p:sp>
      <p:sp>
        <p:nvSpPr>
          <p:cNvPr id="33" name="solution 3 tile"/>
          <p:cNvSpPr/>
          <p:nvPr/>
        </p:nvSpPr>
        <p:spPr>
          <a:xfrm>
            <a:off x="6172200" y="4050792"/>
            <a:ext cx="603504" cy="603504"/>
          </a:xfrm>
          <a:prstGeom prst="roundRect">
            <a:avLst>
              <a:gd name="adj" fmla="val 24000"/>
            </a:avLst>
          </a:prstGeom>
          <a:solidFill>
            <a:schemeClr val="accent1">
              <a:alpha val="14000"/>
            </a:schemeClr>
          </a:solidFill>
          <a:ln/>
        </p:spPr>
      </p:sp>
      <p:pic>
        <p:nvPicPr>
          <p:cNvPr id="34" name="solution 3 icon" descr="preencoded.png">    </p:cNvPr>
          <p:cNvPicPr>
            <a:picLocks noChangeAspect="1"/>
          </p:cNvPicPr>
          <p:nvPr/>
        </p:nvPicPr>
        <p:blipFill>
          <a:blip r:embed="rId6"/>
          <a:stretch>
            <a:fillRect/>
          </a:stretch>
        </p:blipFill>
        <p:spPr>
          <a:xfrm>
            <a:off x="6304971" y="4183563"/>
            <a:ext cx="337962" cy="337962"/>
          </a:xfrm>
          <a:prstGeom prst="rect">
            <a:avLst/>
          </a:prstGeom>
        </p:spPr>
      </p:pic>
      <p:sp>
        <p:nvSpPr>
          <p:cNvPr id="35" name="Text 27"/>
          <p:cNvSpPr txBox="1"/>
          <p:nvPr/>
        </p:nvSpPr>
        <p:spPr>
          <a:xfrm>
            <a:off x="6949440" y="4023360"/>
            <a:ext cx="4526280" cy="384048"/>
          </a:xfrm>
          <a:prstGeom prst="rect">
            <a:avLst/>
          </a:prstGeom>
          <a:noFill/>
          <a:ln/>
        </p:spPr>
        <p:txBody>
          <a:bodyPr wrap="square" lIns="0" tIns="0" rIns="0" bIns="0" rtlCol="0" anchor="ctr"/>
          <a:lstStyle/>
          <a:p>
            <a:pPr indent="0" marL="0">
              <a:buNone/>
            </a:pPr>
            <a:r>
              <a:rPr lang="en-US" sz="1500" dirty="0">
                <a:solidFill>
                  <a:schemeClr val="tx1"/>
                </a:solidFill>
              </a:rPr>
              <a:t>Budget planner picks the best set of products to restock</a:t>
            </a:r>
            <a:endParaRPr lang="en-US" sz="1500" dirty="0"/>
          </a:p>
        </p:txBody>
      </p:sp>
      <p:sp>
        <p:nvSpPr>
          <p:cNvPr id="36" name="solution 3 tech tag"/>
          <p:cNvSpPr/>
          <p:nvPr/>
        </p:nvSpPr>
        <p:spPr>
          <a:xfrm>
            <a:off x="6949440" y="4425696"/>
            <a:ext cx="1629461" cy="292608"/>
          </a:xfrm>
          <a:prstGeom prst="roundRect">
            <a:avLst>
              <a:gd name="adj" fmla="val 50000"/>
            </a:avLst>
          </a:prstGeom>
          <a:solidFill>
            <a:schemeClr val="accent1">
              <a:alpha val="18000"/>
            </a:schemeClr>
          </a:solidFill>
          <a:ln/>
        </p:spPr>
      </p:sp>
      <p:sp>
        <p:nvSpPr>
          <p:cNvPr id="37" name="Text 29"/>
          <p:cNvSpPr txBox="1"/>
          <p:nvPr/>
        </p:nvSpPr>
        <p:spPr>
          <a:xfrm>
            <a:off x="6949440" y="4425696"/>
            <a:ext cx="1629461" cy="292608"/>
          </a:xfrm>
          <a:prstGeom prst="rect">
            <a:avLst/>
          </a:prstGeom>
          <a:noFill/>
          <a:ln/>
        </p:spPr>
        <p:txBody>
          <a:bodyPr wrap="square" lIns="0" tIns="0" rIns="0" bIns="0" rtlCol="0" anchor="ctr"/>
          <a:lstStyle/>
          <a:p>
            <a:pPr algn="ctr" indent="0" marL="0">
              <a:buNone/>
            </a:pPr>
            <a:r>
              <a:rPr lang="en-US" sz="1100" b="1" dirty="0">
                <a:solidFill>
                  <a:schemeClr val="tx2"/>
                </a:solidFill>
              </a:rPr>
              <a:t>Dynamic programming</a:t>
            </a:r>
            <a:endParaRPr lang="en-US" sz="1100" dirty="0"/>
          </a:p>
        </p:txBody>
      </p:sp>
      <p:sp>
        <p:nvSpPr>
          <p:cNvPr id="38" name="problem 4 card"/>
          <p:cNvSpPr/>
          <p:nvPr/>
        </p:nvSpPr>
        <p:spPr>
          <a:xfrm>
            <a:off x="548640" y="4974336"/>
            <a:ext cx="4892040" cy="914400"/>
          </a:xfrm>
          <a:prstGeom prst="roundRect">
            <a:avLst>
              <a:gd name="adj" fmla="val 12000"/>
            </a:avLst>
          </a:prstGeom>
          <a:solidFill>
            <a:schemeClr val="bg2"/>
          </a:solidFill>
          <a:ln/>
        </p:spPr>
      </p:sp>
      <p:sp>
        <p:nvSpPr>
          <p:cNvPr id="39" name="problem 4 tile"/>
          <p:cNvSpPr/>
          <p:nvPr/>
        </p:nvSpPr>
        <p:spPr>
          <a:xfrm>
            <a:off x="731520" y="5129784"/>
            <a:ext cx="603504" cy="603504"/>
          </a:xfrm>
          <a:prstGeom prst="roundRect">
            <a:avLst>
              <a:gd name="adj" fmla="val 24000"/>
            </a:avLst>
          </a:prstGeom>
          <a:solidFill>
            <a:schemeClr val="accent2">
              <a:alpha val="14000"/>
            </a:schemeClr>
          </a:solidFill>
          <a:ln/>
        </p:spPr>
      </p:sp>
      <p:pic>
        <p:nvPicPr>
          <p:cNvPr id="40" name="problem 4 icon" descr="preencoded.png">    </p:cNvPr>
          <p:cNvPicPr>
            <a:picLocks noChangeAspect="1"/>
          </p:cNvPicPr>
          <p:nvPr/>
        </p:nvPicPr>
        <p:blipFill>
          <a:blip r:embed="rId7"/>
          <a:stretch>
            <a:fillRect/>
          </a:stretch>
        </p:blipFill>
        <p:spPr>
          <a:xfrm>
            <a:off x="864291" y="5262555"/>
            <a:ext cx="337962" cy="337962"/>
          </a:xfrm>
          <a:prstGeom prst="rect">
            <a:avLst/>
          </a:prstGeom>
        </p:spPr>
      </p:pic>
      <p:sp>
        <p:nvSpPr>
          <p:cNvPr id="41" name="Text 32"/>
          <p:cNvSpPr txBox="1"/>
          <p:nvPr/>
        </p:nvSpPr>
        <p:spPr>
          <a:xfrm>
            <a:off x="1508760" y="4974336"/>
            <a:ext cx="3794760" cy="914400"/>
          </a:xfrm>
          <a:prstGeom prst="rect">
            <a:avLst/>
          </a:prstGeom>
          <a:noFill/>
          <a:ln/>
        </p:spPr>
        <p:txBody>
          <a:bodyPr wrap="square" lIns="0" tIns="0" rIns="0" bIns="0" rtlCol="0" anchor="ctr"/>
          <a:lstStyle/>
          <a:p>
            <a:pPr indent="0" marL="0">
              <a:buNone/>
            </a:pPr>
            <a:r>
              <a:rPr lang="en-US" sz="1500" dirty="0">
                <a:solidFill>
                  <a:schemeClr val="tx1"/>
                </a:solidFill>
              </a:rPr>
              <a:t>Deliveries to branches take long routes</a:t>
            </a:r>
            <a:endParaRPr lang="en-US" sz="1500" dirty="0"/>
          </a:p>
        </p:txBody>
      </p:sp>
      <p:sp>
        <p:nvSpPr>
          <p:cNvPr id="42" name="arrow 4"/>
          <p:cNvSpPr/>
          <p:nvPr/>
        </p:nvSpPr>
        <p:spPr>
          <a:xfrm>
            <a:off x="5559552" y="5303520"/>
            <a:ext cx="310896" cy="256032"/>
          </a:xfrm>
          <a:prstGeom prst="rightArrow">
            <a:avLst/>
          </a:prstGeom>
          <a:solidFill>
            <a:schemeClr val="tx2"/>
          </a:solidFill>
          <a:ln/>
        </p:spPr>
      </p:sp>
      <p:sp>
        <p:nvSpPr>
          <p:cNvPr id="43" name="solution 4 card"/>
          <p:cNvSpPr/>
          <p:nvPr/>
        </p:nvSpPr>
        <p:spPr>
          <a:xfrm>
            <a:off x="5989320" y="4974336"/>
            <a:ext cx="5623560" cy="914400"/>
          </a:xfrm>
          <a:prstGeom prst="roundRect">
            <a:avLst>
              <a:gd name="adj" fmla="val 12000"/>
            </a:avLst>
          </a:prstGeom>
          <a:solidFill>
            <a:schemeClr val="bg2"/>
          </a:solidFill>
          <a:ln/>
        </p:spPr>
      </p:sp>
      <p:sp>
        <p:nvSpPr>
          <p:cNvPr id="44" name="solution 4 tile"/>
          <p:cNvSpPr/>
          <p:nvPr/>
        </p:nvSpPr>
        <p:spPr>
          <a:xfrm>
            <a:off x="6172200" y="5129784"/>
            <a:ext cx="603504" cy="603504"/>
          </a:xfrm>
          <a:prstGeom prst="roundRect">
            <a:avLst>
              <a:gd name="adj" fmla="val 24000"/>
            </a:avLst>
          </a:prstGeom>
          <a:solidFill>
            <a:schemeClr val="accent1">
              <a:alpha val="14000"/>
            </a:schemeClr>
          </a:solidFill>
          <a:ln/>
        </p:spPr>
      </p:sp>
      <p:pic>
        <p:nvPicPr>
          <p:cNvPr id="45" name="solution 4 icon" descr="preencoded.png">    </p:cNvPr>
          <p:cNvPicPr>
            <a:picLocks noChangeAspect="1"/>
          </p:cNvPicPr>
          <p:nvPr/>
        </p:nvPicPr>
        <p:blipFill>
          <a:blip r:embed="rId8"/>
          <a:stretch>
            <a:fillRect/>
          </a:stretch>
        </p:blipFill>
        <p:spPr>
          <a:xfrm>
            <a:off x="6304971" y="5262555"/>
            <a:ext cx="337962" cy="337962"/>
          </a:xfrm>
          <a:prstGeom prst="rect">
            <a:avLst/>
          </a:prstGeom>
        </p:spPr>
      </p:pic>
      <p:sp>
        <p:nvSpPr>
          <p:cNvPr id="46" name="Text 36"/>
          <p:cNvSpPr txBox="1"/>
          <p:nvPr/>
        </p:nvSpPr>
        <p:spPr>
          <a:xfrm>
            <a:off x="6949440" y="5102352"/>
            <a:ext cx="4526280" cy="384048"/>
          </a:xfrm>
          <a:prstGeom prst="rect">
            <a:avLst/>
          </a:prstGeom>
          <a:noFill/>
          <a:ln/>
        </p:spPr>
        <p:txBody>
          <a:bodyPr wrap="square" lIns="0" tIns="0" rIns="0" bIns="0" rtlCol="0" anchor="ctr"/>
          <a:lstStyle/>
          <a:p>
            <a:pPr indent="0" marL="0">
              <a:buNone/>
            </a:pPr>
            <a:r>
              <a:rPr lang="en-US" sz="1500" dirty="0">
                <a:solidFill>
                  <a:schemeClr val="tx1"/>
                </a:solidFill>
              </a:rPr>
              <a:t>Shortest route from the warehouse to any branch</a:t>
            </a:r>
            <a:endParaRPr lang="en-US" sz="1500" dirty="0"/>
          </a:p>
        </p:txBody>
      </p:sp>
      <p:sp>
        <p:nvSpPr>
          <p:cNvPr id="47" name="solution 4 tech tag"/>
          <p:cNvSpPr/>
          <p:nvPr/>
        </p:nvSpPr>
        <p:spPr>
          <a:xfrm>
            <a:off x="6949440" y="5504688"/>
            <a:ext cx="1344168" cy="292608"/>
          </a:xfrm>
          <a:prstGeom prst="roundRect">
            <a:avLst>
              <a:gd name="adj" fmla="val 50000"/>
            </a:avLst>
          </a:prstGeom>
          <a:solidFill>
            <a:schemeClr val="accent1">
              <a:alpha val="18000"/>
            </a:schemeClr>
          </a:solidFill>
          <a:ln/>
        </p:spPr>
      </p:sp>
      <p:sp>
        <p:nvSpPr>
          <p:cNvPr id="48" name="Text 38"/>
          <p:cNvSpPr txBox="1"/>
          <p:nvPr/>
        </p:nvSpPr>
        <p:spPr>
          <a:xfrm>
            <a:off x="6949440" y="5504688"/>
            <a:ext cx="1344168" cy="292608"/>
          </a:xfrm>
          <a:prstGeom prst="rect">
            <a:avLst/>
          </a:prstGeom>
          <a:noFill/>
          <a:ln/>
        </p:spPr>
        <p:txBody>
          <a:bodyPr wrap="square" lIns="0" tIns="0" rIns="0" bIns="0" rtlCol="0" anchor="ctr"/>
          <a:lstStyle/>
          <a:p>
            <a:pPr algn="ctr" indent="0" marL="0">
              <a:buNone/>
            </a:pPr>
            <a:r>
              <a:rPr lang="en-US" sz="1100" b="1" dirty="0">
                <a:solidFill>
                  <a:schemeClr val="tx2"/>
                </a:solidFill>
              </a:rPr>
              <a:t>Graph, Dijkstra</a:t>
            </a:r>
            <a:endParaRPr 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What you can do in the app: 8 pages</a:t>
            </a:r>
            <a:endParaRPr lang="en-US" sz="3600" dirty="0"/>
          </a:p>
        </p:txBody>
      </p:sp>
      <p:sp>
        <p:nvSpPr>
          <p:cNvPr id="3" name="Dashboard card"/>
          <p:cNvSpPr/>
          <p:nvPr/>
        </p:nvSpPr>
        <p:spPr>
          <a:xfrm>
            <a:off x="548640" y="1371600"/>
            <a:ext cx="2606040" cy="2240280"/>
          </a:xfrm>
          <a:prstGeom prst="roundRect">
            <a:avLst>
              <a:gd name="adj" fmla="val 4898"/>
            </a:avLst>
          </a:prstGeom>
          <a:solidFill>
            <a:schemeClr val="bg2"/>
          </a:solidFill>
          <a:ln/>
        </p:spPr>
      </p:sp>
      <p:sp>
        <p:nvSpPr>
          <p:cNvPr id="4" name="Dashboard tile"/>
          <p:cNvSpPr/>
          <p:nvPr/>
        </p:nvSpPr>
        <p:spPr>
          <a:xfrm>
            <a:off x="777240" y="1600200"/>
            <a:ext cx="640080" cy="640080"/>
          </a:xfrm>
          <a:prstGeom prst="roundRect">
            <a:avLst>
              <a:gd name="adj" fmla="val 24000"/>
            </a:avLst>
          </a:prstGeom>
          <a:solidFill>
            <a:schemeClr val="accent1">
              <a:alpha val="14000"/>
            </a:schemeClr>
          </a:solidFill>
          <a:ln/>
        </p:spPr>
      </p:sp>
      <p:pic>
        <p:nvPicPr>
          <p:cNvPr id="5" name="Dashboard icon" descr="preencoded.png">    </p:cNvPr>
          <p:cNvPicPr>
            <a:picLocks noChangeAspect="1"/>
          </p:cNvPicPr>
          <p:nvPr/>
        </p:nvPicPr>
        <p:blipFill>
          <a:blip r:embed="rId1"/>
          <a:stretch>
            <a:fillRect/>
          </a:stretch>
        </p:blipFill>
        <p:spPr>
          <a:xfrm>
            <a:off x="918058" y="1741018"/>
            <a:ext cx="358445" cy="358445"/>
          </a:xfrm>
          <a:prstGeom prst="rect">
            <a:avLst/>
          </a:prstGeom>
        </p:spPr>
      </p:pic>
      <p:sp>
        <p:nvSpPr>
          <p:cNvPr id="6" name="Text 3"/>
          <p:cNvSpPr txBox="1"/>
          <p:nvPr/>
        </p:nvSpPr>
        <p:spPr>
          <a:xfrm>
            <a:off x="77724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Dashboard</a:t>
            </a:r>
            <a:endParaRPr lang="en-US" sz="1800" dirty="0"/>
          </a:p>
        </p:txBody>
      </p:sp>
      <p:sp>
        <p:nvSpPr>
          <p:cNvPr id="7" name="Text 4"/>
          <p:cNvSpPr txBox="1"/>
          <p:nvPr/>
        </p:nvSpPr>
        <p:spPr>
          <a:xfrm>
            <a:off x="777240" y="2788920"/>
            <a:ext cx="2194560" cy="685800"/>
          </a:xfrm>
          <a:prstGeom prst="rect">
            <a:avLst/>
          </a:prstGeom>
          <a:noFill/>
          <a:ln/>
        </p:spPr>
        <p:txBody>
          <a:bodyPr wrap="square" lIns="0" tIns="0" rIns="0" bIns="0" rtlCol="0" anchor="t"/>
          <a:lstStyle/>
          <a:p>
            <a:pPr indent="0" marL="0">
              <a:buNone/>
            </a:pPr>
            <a:r>
              <a:rPr lang="en-US" sz="1400" dirty="0">
                <a:solidFill>
                  <a:schemeClr val="tx1"/>
                </a:solidFill>
              </a:rPr>
              <a:t>Totals, 30-day stock trend, low-stock alerts</a:t>
            </a:r>
            <a:endParaRPr lang="en-US" sz="1400" dirty="0"/>
          </a:p>
        </p:txBody>
      </p:sp>
      <p:sp>
        <p:nvSpPr>
          <p:cNvPr id="8" name="Products card"/>
          <p:cNvSpPr/>
          <p:nvPr/>
        </p:nvSpPr>
        <p:spPr>
          <a:xfrm>
            <a:off x="3364992" y="1371600"/>
            <a:ext cx="2606040" cy="2240280"/>
          </a:xfrm>
          <a:prstGeom prst="roundRect">
            <a:avLst>
              <a:gd name="adj" fmla="val 4898"/>
            </a:avLst>
          </a:prstGeom>
          <a:solidFill>
            <a:schemeClr val="bg2"/>
          </a:solidFill>
          <a:ln/>
        </p:spPr>
      </p:sp>
      <p:sp>
        <p:nvSpPr>
          <p:cNvPr id="9" name="Products tile"/>
          <p:cNvSpPr/>
          <p:nvPr/>
        </p:nvSpPr>
        <p:spPr>
          <a:xfrm>
            <a:off x="3593592" y="1600200"/>
            <a:ext cx="640080" cy="640080"/>
          </a:xfrm>
          <a:prstGeom prst="roundRect">
            <a:avLst>
              <a:gd name="adj" fmla="val 24000"/>
            </a:avLst>
          </a:prstGeom>
          <a:solidFill>
            <a:schemeClr val="accent3">
              <a:alpha val="14000"/>
            </a:schemeClr>
          </a:solidFill>
          <a:ln/>
        </p:spPr>
      </p:sp>
      <p:pic>
        <p:nvPicPr>
          <p:cNvPr id="10" name="Products icon" descr="preencoded.png">    </p:cNvPr>
          <p:cNvPicPr>
            <a:picLocks noChangeAspect="1"/>
          </p:cNvPicPr>
          <p:nvPr/>
        </p:nvPicPr>
        <p:blipFill>
          <a:blip r:embed="rId2"/>
          <a:stretch>
            <a:fillRect/>
          </a:stretch>
        </p:blipFill>
        <p:spPr>
          <a:xfrm>
            <a:off x="3734410" y="1741018"/>
            <a:ext cx="358445" cy="358445"/>
          </a:xfrm>
          <a:prstGeom prst="rect">
            <a:avLst/>
          </a:prstGeom>
        </p:spPr>
      </p:pic>
      <p:sp>
        <p:nvSpPr>
          <p:cNvPr id="11" name="Text 7"/>
          <p:cNvSpPr txBox="1"/>
          <p:nvPr/>
        </p:nvSpPr>
        <p:spPr>
          <a:xfrm>
            <a:off x="3593592"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Products</a:t>
            </a:r>
            <a:endParaRPr lang="en-US" sz="1800" dirty="0"/>
          </a:p>
        </p:txBody>
      </p:sp>
      <p:sp>
        <p:nvSpPr>
          <p:cNvPr id="12" name="Text 8"/>
          <p:cNvSpPr txBox="1"/>
          <p:nvPr/>
        </p:nvSpPr>
        <p:spPr>
          <a:xfrm>
            <a:off x="3593592" y="2788920"/>
            <a:ext cx="2194560" cy="685800"/>
          </a:xfrm>
          <a:prstGeom prst="rect">
            <a:avLst/>
          </a:prstGeom>
          <a:noFill/>
          <a:ln/>
        </p:spPr>
        <p:txBody>
          <a:bodyPr wrap="square" lIns="0" tIns="0" rIns="0" bIns="0" rtlCol="0" anchor="t"/>
          <a:lstStyle/>
          <a:p>
            <a:pPr indent="0" marL="0">
              <a:buNone/>
            </a:pPr>
            <a:r>
              <a:rPr lang="en-US" sz="1400" dirty="0">
                <a:solidFill>
                  <a:schemeClr val="tx1"/>
                </a:solidFill>
              </a:rPr>
              <a:t>Browse cards, search, filter by price, add or edit</a:t>
            </a:r>
            <a:endParaRPr lang="en-US" sz="1400" dirty="0"/>
          </a:p>
        </p:txBody>
      </p:sp>
      <p:sp>
        <p:nvSpPr>
          <p:cNvPr id="13" name="Transactions card"/>
          <p:cNvSpPr/>
          <p:nvPr/>
        </p:nvSpPr>
        <p:spPr>
          <a:xfrm>
            <a:off x="6181344" y="1371600"/>
            <a:ext cx="2606040" cy="2240280"/>
          </a:xfrm>
          <a:prstGeom prst="roundRect">
            <a:avLst>
              <a:gd name="adj" fmla="val 4898"/>
            </a:avLst>
          </a:prstGeom>
          <a:solidFill>
            <a:schemeClr val="bg2"/>
          </a:solidFill>
          <a:ln/>
        </p:spPr>
      </p:sp>
      <p:sp>
        <p:nvSpPr>
          <p:cNvPr id="14" name="Transactions tile"/>
          <p:cNvSpPr/>
          <p:nvPr/>
        </p:nvSpPr>
        <p:spPr>
          <a:xfrm>
            <a:off x="6409944" y="1600200"/>
            <a:ext cx="640080" cy="640080"/>
          </a:xfrm>
          <a:prstGeom prst="roundRect">
            <a:avLst>
              <a:gd name="adj" fmla="val 24000"/>
            </a:avLst>
          </a:prstGeom>
          <a:solidFill>
            <a:schemeClr val="accent2">
              <a:alpha val="14000"/>
            </a:schemeClr>
          </a:solidFill>
          <a:ln/>
        </p:spPr>
      </p:sp>
      <p:pic>
        <p:nvPicPr>
          <p:cNvPr id="15" name="Transactions icon" descr="preencoded.png">    </p:cNvPr>
          <p:cNvPicPr>
            <a:picLocks noChangeAspect="1"/>
          </p:cNvPicPr>
          <p:nvPr/>
        </p:nvPicPr>
        <p:blipFill>
          <a:blip r:embed="rId3"/>
          <a:stretch>
            <a:fillRect/>
          </a:stretch>
        </p:blipFill>
        <p:spPr>
          <a:xfrm>
            <a:off x="6550762" y="1741018"/>
            <a:ext cx="358445" cy="358445"/>
          </a:xfrm>
          <a:prstGeom prst="rect">
            <a:avLst/>
          </a:prstGeom>
        </p:spPr>
      </p:pic>
      <p:sp>
        <p:nvSpPr>
          <p:cNvPr id="16" name="Text 11"/>
          <p:cNvSpPr txBox="1"/>
          <p:nvPr/>
        </p:nvSpPr>
        <p:spPr>
          <a:xfrm>
            <a:off x="6409944"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Transactions</a:t>
            </a:r>
            <a:endParaRPr lang="en-US" sz="1800" dirty="0"/>
          </a:p>
        </p:txBody>
      </p:sp>
      <p:sp>
        <p:nvSpPr>
          <p:cNvPr id="17" name="Text 12"/>
          <p:cNvSpPr txBox="1"/>
          <p:nvPr/>
        </p:nvSpPr>
        <p:spPr>
          <a:xfrm>
            <a:off x="6409944" y="2788920"/>
            <a:ext cx="2194560" cy="685800"/>
          </a:xfrm>
          <a:prstGeom prst="rect">
            <a:avLst/>
          </a:prstGeom>
          <a:noFill/>
          <a:ln/>
        </p:spPr>
        <p:txBody>
          <a:bodyPr wrap="square" lIns="0" tIns="0" rIns="0" bIns="0" rtlCol="0" anchor="t"/>
          <a:lstStyle/>
          <a:p>
            <a:pPr indent="0" marL="0">
              <a:buNone/>
            </a:pPr>
            <a:r>
              <a:rPr lang="en-US" sz="1400" dirty="0">
                <a:solidFill>
                  <a:schemeClr val="tx1"/>
                </a:solidFill>
              </a:rPr>
              <a:t>Record stock in and out; see stock age</a:t>
            </a:r>
            <a:endParaRPr lang="en-US" sz="1400" dirty="0"/>
          </a:p>
        </p:txBody>
      </p:sp>
      <p:sp>
        <p:nvSpPr>
          <p:cNvPr id="18" name="Restocking card"/>
          <p:cNvSpPr/>
          <p:nvPr/>
        </p:nvSpPr>
        <p:spPr>
          <a:xfrm>
            <a:off x="8997696" y="1371600"/>
            <a:ext cx="2606040" cy="2240280"/>
          </a:xfrm>
          <a:prstGeom prst="roundRect">
            <a:avLst>
              <a:gd name="adj" fmla="val 4898"/>
            </a:avLst>
          </a:prstGeom>
          <a:solidFill>
            <a:schemeClr val="bg2"/>
          </a:solidFill>
          <a:ln/>
        </p:spPr>
      </p:sp>
      <p:sp>
        <p:nvSpPr>
          <p:cNvPr id="19" name="Restocking tile"/>
          <p:cNvSpPr/>
          <p:nvPr/>
        </p:nvSpPr>
        <p:spPr>
          <a:xfrm>
            <a:off x="9226296" y="1600200"/>
            <a:ext cx="640080" cy="640080"/>
          </a:xfrm>
          <a:prstGeom prst="roundRect">
            <a:avLst>
              <a:gd name="adj" fmla="val 24000"/>
            </a:avLst>
          </a:prstGeom>
          <a:solidFill>
            <a:schemeClr val="accent5">
              <a:alpha val="14000"/>
            </a:schemeClr>
          </a:solidFill>
          <a:ln/>
        </p:spPr>
      </p:sp>
      <p:pic>
        <p:nvPicPr>
          <p:cNvPr id="20" name="Restocking icon" descr="preencoded.png">    </p:cNvPr>
          <p:cNvPicPr>
            <a:picLocks noChangeAspect="1"/>
          </p:cNvPicPr>
          <p:nvPr/>
        </p:nvPicPr>
        <p:blipFill>
          <a:blip r:embed="rId4"/>
          <a:stretch>
            <a:fillRect/>
          </a:stretch>
        </p:blipFill>
        <p:spPr>
          <a:xfrm>
            <a:off x="9367114" y="1741018"/>
            <a:ext cx="358445" cy="358445"/>
          </a:xfrm>
          <a:prstGeom prst="rect">
            <a:avLst/>
          </a:prstGeom>
        </p:spPr>
      </p:pic>
      <p:sp>
        <p:nvSpPr>
          <p:cNvPr id="21" name="Text 15"/>
          <p:cNvSpPr txBox="1"/>
          <p:nvPr/>
        </p:nvSpPr>
        <p:spPr>
          <a:xfrm>
            <a:off x="9226296"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Restocking</a:t>
            </a:r>
            <a:endParaRPr lang="en-US" sz="1800" dirty="0"/>
          </a:p>
        </p:txBody>
      </p:sp>
      <p:sp>
        <p:nvSpPr>
          <p:cNvPr id="22" name="Text 16"/>
          <p:cNvSpPr txBox="1"/>
          <p:nvPr/>
        </p:nvSpPr>
        <p:spPr>
          <a:xfrm>
            <a:off x="9226296" y="2788920"/>
            <a:ext cx="2194560" cy="685800"/>
          </a:xfrm>
          <a:prstGeom prst="rect">
            <a:avLst/>
          </a:prstGeom>
          <a:noFill/>
          <a:ln/>
        </p:spPr>
        <p:txBody>
          <a:bodyPr wrap="square" lIns="0" tIns="0" rIns="0" bIns="0" rtlCol="0" anchor="t"/>
          <a:lstStyle/>
          <a:p>
            <a:pPr indent="0" marL="0">
              <a:buNone/>
            </a:pPr>
            <a:r>
              <a:rPr lang="en-US" sz="1400" dirty="0">
                <a:solidFill>
                  <a:schemeClr val="tx1"/>
                </a:solidFill>
              </a:rPr>
              <a:t>What to reorder first, and a budget plan</a:t>
            </a:r>
            <a:endParaRPr lang="en-US" sz="1400" dirty="0"/>
          </a:p>
        </p:txBody>
      </p:sp>
      <p:sp>
        <p:nvSpPr>
          <p:cNvPr id="23" name="Delivery routes card"/>
          <p:cNvSpPr/>
          <p:nvPr/>
        </p:nvSpPr>
        <p:spPr>
          <a:xfrm>
            <a:off x="548640" y="3794760"/>
            <a:ext cx="2606040" cy="2240280"/>
          </a:xfrm>
          <a:prstGeom prst="roundRect">
            <a:avLst>
              <a:gd name="adj" fmla="val 4898"/>
            </a:avLst>
          </a:prstGeom>
          <a:solidFill>
            <a:schemeClr val="bg2"/>
          </a:solidFill>
          <a:ln/>
        </p:spPr>
      </p:sp>
      <p:sp>
        <p:nvSpPr>
          <p:cNvPr id="24" name="Delivery routes tile"/>
          <p:cNvSpPr/>
          <p:nvPr/>
        </p:nvSpPr>
        <p:spPr>
          <a:xfrm>
            <a:off x="777240" y="4023360"/>
            <a:ext cx="640080" cy="640080"/>
          </a:xfrm>
          <a:prstGeom prst="roundRect">
            <a:avLst>
              <a:gd name="adj" fmla="val 24000"/>
            </a:avLst>
          </a:prstGeom>
          <a:solidFill>
            <a:schemeClr val="accent4">
              <a:alpha val="14000"/>
            </a:schemeClr>
          </a:solidFill>
          <a:ln/>
        </p:spPr>
      </p:sp>
      <p:pic>
        <p:nvPicPr>
          <p:cNvPr id="25" name="Delivery routes icon" descr="preencoded.png">    </p:cNvPr>
          <p:cNvPicPr>
            <a:picLocks noChangeAspect="1"/>
          </p:cNvPicPr>
          <p:nvPr/>
        </p:nvPicPr>
        <p:blipFill>
          <a:blip r:embed="rId5"/>
          <a:stretch>
            <a:fillRect/>
          </a:stretch>
        </p:blipFill>
        <p:spPr>
          <a:xfrm>
            <a:off x="918058" y="4164178"/>
            <a:ext cx="358445" cy="358445"/>
          </a:xfrm>
          <a:prstGeom prst="rect">
            <a:avLst/>
          </a:prstGeom>
        </p:spPr>
      </p:pic>
      <p:sp>
        <p:nvSpPr>
          <p:cNvPr id="26" name="Text 19"/>
          <p:cNvSpPr txBox="1"/>
          <p:nvPr/>
        </p:nvSpPr>
        <p:spPr>
          <a:xfrm>
            <a:off x="777240" y="4800600"/>
            <a:ext cx="2194560" cy="365760"/>
          </a:xfrm>
          <a:prstGeom prst="rect">
            <a:avLst/>
          </a:prstGeom>
          <a:noFill/>
          <a:ln/>
        </p:spPr>
        <p:txBody>
          <a:bodyPr wrap="square" lIns="0" tIns="0" rIns="0" bIns="0" rtlCol="0" anchor="t"/>
          <a:lstStyle/>
          <a:p>
            <a:pPr indent="0" marL="0">
              <a:buNone/>
            </a:pPr>
            <a:r>
              <a:rPr lang="en-US" sz="1800" b="1" dirty="0">
                <a:solidFill>
                  <a:schemeClr val="tx2"/>
                </a:solidFill>
              </a:rPr>
              <a:t>Delivery routes</a:t>
            </a:r>
            <a:endParaRPr lang="en-US" sz="1800" dirty="0"/>
          </a:p>
        </p:txBody>
      </p:sp>
      <p:sp>
        <p:nvSpPr>
          <p:cNvPr id="27" name="Text 20"/>
          <p:cNvSpPr txBox="1"/>
          <p:nvPr/>
        </p:nvSpPr>
        <p:spPr>
          <a:xfrm>
            <a:off x="777240" y="5212080"/>
            <a:ext cx="2194560" cy="685800"/>
          </a:xfrm>
          <a:prstGeom prst="rect">
            <a:avLst/>
          </a:prstGeom>
          <a:noFill/>
          <a:ln/>
        </p:spPr>
        <p:txBody>
          <a:bodyPr wrap="square" lIns="0" tIns="0" rIns="0" bIns="0" rtlCol="0" anchor="t"/>
          <a:lstStyle/>
          <a:p>
            <a:pPr indent="0" marL="0">
              <a:buNone/>
            </a:pPr>
            <a:r>
              <a:rPr lang="en-US" sz="1400" dirty="0">
                <a:solidFill>
                  <a:schemeClr val="tx1"/>
                </a:solidFill>
              </a:rPr>
              <a:t>Shortest route between warehouse and branches</a:t>
            </a:r>
            <a:endParaRPr lang="en-US" sz="1400" dirty="0"/>
          </a:p>
        </p:txBody>
      </p:sp>
      <p:sp>
        <p:nvSpPr>
          <p:cNvPr id="28" name="Search and sorting card"/>
          <p:cNvSpPr/>
          <p:nvPr/>
        </p:nvSpPr>
        <p:spPr>
          <a:xfrm>
            <a:off x="3364992" y="3794760"/>
            <a:ext cx="2606040" cy="2240280"/>
          </a:xfrm>
          <a:prstGeom prst="roundRect">
            <a:avLst>
              <a:gd name="adj" fmla="val 4898"/>
            </a:avLst>
          </a:prstGeom>
          <a:solidFill>
            <a:schemeClr val="bg2"/>
          </a:solidFill>
          <a:ln/>
        </p:spPr>
      </p:sp>
      <p:sp>
        <p:nvSpPr>
          <p:cNvPr id="29" name="Search and sorting tile"/>
          <p:cNvSpPr/>
          <p:nvPr/>
        </p:nvSpPr>
        <p:spPr>
          <a:xfrm>
            <a:off x="3593592" y="4023360"/>
            <a:ext cx="640080" cy="640080"/>
          </a:xfrm>
          <a:prstGeom prst="roundRect">
            <a:avLst>
              <a:gd name="adj" fmla="val 24000"/>
            </a:avLst>
          </a:prstGeom>
          <a:solidFill>
            <a:schemeClr val="accent1">
              <a:alpha val="14000"/>
            </a:schemeClr>
          </a:solidFill>
          <a:ln/>
        </p:spPr>
      </p:sp>
      <p:pic>
        <p:nvPicPr>
          <p:cNvPr id="30" name="Search and sorting icon" descr="preencoded.png">    </p:cNvPr>
          <p:cNvPicPr>
            <a:picLocks noChangeAspect="1"/>
          </p:cNvPicPr>
          <p:nvPr/>
        </p:nvPicPr>
        <p:blipFill>
          <a:blip r:embed="rId6"/>
          <a:stretch>
            <a:fillRect/>
          </a:stretch>
        </p:blipFill>
        <p:spPr>
          <a:xfrm>
            <a:off x="3734410" y="4164178"/>
            <a:ext cx="358445" cy="358445"/>
          </a:xfrm>
          <a:prstGeom prst="rect">
            <a:avLst/>
          </a:prstGeom>
        </p:spPr>
      </p:pic>
      <p:sp>
        <p:nvSpPr>
          <p:cNvPr id="31" name="Text 23"/>
          <p:cNvSpPr txBox="1"/>
          <p:nvPr/>
        </p:nvSpPr>
        <p:spPr>
          <a:xfrm>
            <a:off x="3593592" y="480060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Search and sorting</a:t>
            </a:r>
            <a:endParaRPr lang="en-US" sz="1800" dirty="0"/>
          </a:p>
        </p:txBody>
      </p:sp>
      <p:sp>
        <p:nvSpPr>
          <p:cNvPr id="32" name="Text 24"/>
          <p:cNvSpPr txBox="1"/>
          <p:nvPr/>
        </p:nvSpPr>
        <p:spPr>
          <a:xfrm>
            <a:off x="3593592" y="5212080"/>
            <a:ext cx="2194560" cy="685800"/>
          </a:xfrm>
          <a:prstGeom prst="rect">
            <a:avLst/>
          </a:prstGeom>
          <a:noFill/>
          <a:ln/>
        </p:spPr>
        <p:txBody>
          <a:bodyPr wrap="square" lIns="0" tIns="0" rIns="0" bIns="0" rtlCol="0" anchor="t"/>
          <a:lstStyle/>
          <a:p>
            <a:pPr indent="0" marL="0">
              <a:buNone/>
            </a:pPr>
            <a:r>
              <a:rPr lang="en-US" sz="1400" dirty="0">
                <a:solidFill>
                  <a:schemeClr val="tx1"/>
                </a:solidFill>
              </a:rPr>
              <a:t>Run each algorithm and count its steps</a:t>
            </a:r>
            <a:endParaRPr lang="en-US" sz="1400" dirty="0"/>
          </a:p>
        </p:txBody>
      </p:sp>
      <p:sp>
        <p:nvSpPr>
          <p:cNvPr id="33" name="DSA laboratory card"/>
          <p:cNvSpPr/>
          <p:nvPr/>
        </p:nvSpPr>
        <p:spPr>
          <a:xfrm>
            <a:off x="6181344" y="3794760"/>
            <a:ext cx="2606040" cy="2240280"/>
          </a:xfrm>
          <a:prstGeom prst="roundRect">
            <a:avLst>
              <a:gd name="adj" fmla="val 4898"/>
            </a:avLst>
          </a:prstGeom>
          <a:solidFill>
            <a:schemeClr val="bg2"/>
          </a:solidFill>
          <a:ln/>
        </p:spPr>
      </p:sp>
      <p:sp>
        <p:nvSpPr>
          <p:cNvPr id="34" name="DSA laboratory tile"/>
          <p:cNvSpPr/>
          <p:nvPr/>
        </p:nvSpPr>
        <p:spPr>
          <a:xfrm>
            <a:off x="6409944" y="4023360"/>
            <a:ext cx="640080" cy="640080"/>
          </a:xfrm>
          <a:prstGeom prst="roundRect">
            <a:avLst>
              <a:gd name="adj" fmla="val 24000"/>
            </a:avLst>
          </a:prstGeom>
          <a:solidFill>
            <a:schemeClr val="accent3">
              <a:alpha val="14000"/>
            </a:schemeClr>
          </a:solidFill>
          <a:ln/>
        </p:spPr>
      </p:sp>
      <p:pic>
        <p:nvPicPr>
          <p:cNvPr id="35" name="DSA laboratory icon" descr="preencoded.png">    </p:cNvPr>
          <p:cNvPicPr>
            <a:picLocks noChangeAspect="1"/>
          </p:cNvPicPr>
          <p:nvPr/>
        </p:nvPicPr>
        <p:blipFill>
          <a:blip r:embed="rId7"/>
          <a:stretch>
            <a:fillRect/>
          </a:stretch>
        </p:blipFill>
        <p:spPr>
          <a:xfrm>
            <a:off x="6550762" y="4164178"/>
            <a:ext cx="358445" cy="358445"/>
          </a:xfrm>
          <a:prstGeom prst="rect">
            <a:avLst/>
          </a:prstGeom>
        </p:spPr>
      </p:pic>
      <p:sp>
        <p:nvSpPr>
          <p:cNvPr id="36" name="Text 27"/>
          <p:cNvSpPr txBox="1"/>
          <p:nvPr/>
        </p:nvSpPr>
        <p:spPr>
          <a:xfrm>
            <a:off x="6409944" y="4800600"/>
            <a:ext cx="2194560" cy="365760"/>
          </a:xfrm>
          <a:prstGeom prst="rect">
            <a:avLst/>
          </a:prstGeom>
          <a:noFill/>
          <a:ln/>
        </p:spPr>
        <p:txBody>
          <a:bodyPr wrap="square" lIns="0" tIns="0" rIns="0" bIns="0" rtlCol="0" anchor="t"/>
          <a:lstStyle/>
          <a:p>
            <a:pPr indent="0" marL="0">
              <a:buNone/>
            </a:pPr>
            <a:r>
              <a:rPr lang="en-US" sz="1800" b="1" dirty="0">
                <a:solidFill>
                  <a:schemeClr val="tx2"/>
                </a:solidFill>
              </a:rPr>
              <a:t>DSA laboratory</a:t>
            </a:r>
            <a:endParaRPr lang="en-US" sz="1800" dirty="0"/>
          </a:p>
        </p:txBody>
      </p:sp>
      <p:sp>
        <p:nvSpPr>
          <p:cNvPr id="37" name="Text 28"/>
          <p:cNvSpPr txBox="1"/>
          <p:nvPr/>
        </p:nvSpPr>
        <p:spPr>
          <a:xfrm>
            <a:off x="6409944" y="5212080"/>
            <a:ext cx="2194560" cy="685800"/>
          </a:xfrm>
          <a:prstGeom prst="rect">
            <a:avLst/>
          </a:prstGeom>
          <a:noFill/>
          <a:ln/>
        </p:spPr>
        <p:txBody>
          <a:bodyPr wrap="square" lIns="0" tIns="0" rIns="0" bIns="0" rtlCol="0" anchor="t"/>
          <a:lstStyle/>
          <a:p>
            <a:pPr indent="0" marL="0">
              <a:buNone/>
            </a:pPr>
            <a:r>
              <a:rPr lang="en-US" sz="1400" dirty="0">
                <a:solidFill>
                  <a:schemeClr val="tx1"/>
                </a:solidFill>
              </a:rPr>
              <a:t>See the heap, AVL tree, trie and DP table</a:t>
            </a:r>
            <a:endParaRPr lang="en-US" sz="1400" dirty="0"/>
          </a:p>
        </p:txBody>
      </p:sp>
      <p:sp>
        <p:nvSpPr>
          <p:cNvPr id="38" name="About card"/>
          <p:cNvSpPr/>
          <p:nvPr/>
        </p:nvSpPr>
        <p:spPr>
          <a:xfrm>
            <a:off x="8997696" y="3794760"/>
            <a:ext cx="2606040" cy="2240280"/>
          </a:xfrm>
          <a:prstGeom prst="roundRect">
            <a:avLst>
              <a:gd name="adj" fmla="val 4898"/>
            </a:avLst>
          </a:prstGeom>
          <a:solidFill>
            <a:schemeClr val="bg2"/>
          </a:solidFill>
          <a:ln/>
        </p:spPr>
      </p:sp>
      <p:sp>
        <p:nvSpPr>
          <p:cNvPr id="39" name="About tile"/>
          <p:cNvSpPr/>
          <p:nvPr/>
        </p:nvSpPr>
        <p:spPr>
          <a:xfrm>
            <a:off x="9226296" y="4023360"/>
            <a:ext cx="640080" cy="640080"/>
          </a:xfrm>
          <a:prstGeom prst="roundRect">
            <a:avLst>
              <a:gd name="adj" fmla="val 24000"/>
            </a:avLst>
          </a:prstGeom>
          <a:solidFill>
            <a:schemeClr val="accent6">
              <a:alpha val="14000"/>
            </a:schemeClr>
          </a:solidFill>
          <a:ln/>
        </p:spPr>
      </p:sp>
      <p:pic>
        <p:nvPicPr>
          <p:cNvPr id="40" name="About icon" descr="preencoded.png">    </p:cNvPr>
          <p:cNvPicPr>
            <a:picLocks noChangeAspect="1"/>
          </p:cNvPicPr>
          <p:nvPr/>
        </p:nvPicPr>
        <p:blipFill>
          <a:blip r:embed="rId8"/>
          <a:stretch>
            <a:fillRect/>
          </a:stretch>
        </p:blipFill>
        <p:spPr>
          <a:xfrm>
            <a:off x="9367114" y="4164178"/>
            <a:ext cx="358445" cy="358445"/>
          </a:xfrm>
          <a:prstGeom prst="rect">
            <a:avLst/>
          </a:prstGeom>
        </p:spPr>
      </p:pic>
      <p:sp>
        <p:nvSpPr>
          <p:cNvPr id="41" name="Text 31"/>
          <p:cNvSpPr txBox="1"/>
          <p:nvPr/>
        </p:nvSpPr>
        <p:spPr>
          <a:xfrm>
            <a:off x="9226296" y="4800600"/>
            <a:ext cx="2194560" cy="365760"/>
          </a:xfrm>
          <a:prstGeom prst="rect">
            <a:avLst/>
          </a:prstGeom>
          <a:noFill/>
          <a:ln/>
        </p:spPr>
        <p:txBody>
          <a:bodyPr wrap="square" lIns="0" tIns="0" rIns="0" bIns="0" rtlCol="0" anchor="t"/>
          <a:lstStyle/>
          <a:p>
            <a:pPr indent="0" marL="0">
              <a:buNone/>
            </a:pPr>
            <a:r>
              <a:rPr lang="en-US" sz="1800" b="1" dirty="0">
                <a:solidFill>
                  <a:schemeClr val="tx2"/>
                </a:solidFill>
              </a:rPr>
              <a:t>About</a:t>
            </a:r>
            <a:endParaRPr lang="en-US" sz="1800" dirty="0"/>
          </a:p>
        </p:txBody>
      </p:sp>
      <p:sp>
        <p:nvSpPr>
          <p:cNvPr id="42" name="Text 32"/>
          <p:cNvSpPr txBox="1"/>
          <p:nvPr/>
        </p:nvSpPr>
        <p:spPr>
          <a:xfrm>
            <a:off x="9226296" y="5212080"/>
            <a:ext cx="2194560" cy="685800"/>
          </a:xfrm>
          <a:prstGeom prst="rect">
            <a:avLst/>
          </a:prstGeom>
          <a:noFill/>
          <a:ln/>
        </p:spPr>
        <p:txBody>
          <a:bodyPr wrap="square" lIns="0" tIns="0" rIns="0" bIns="0" rtlCol="0" anchor="t"/>
          <a:lstStyle/>
          <a:p>
            <a:pPr indent="0" marL="0">
              <a:buNone/>
            </a:pPr>
            <a:r>
              <a:rPr lang="en-US" sz="1400" dirty="0">
                <a:solidFill>
                  <a:schemeClr val="tx1"/>
                </a:solidFill>
              </a:rPr>
              <a:t>Architecture diagram and complexity table</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Why Python and C together?</a:t>
            </a:r>
            <a:endParaRPr lang="en-US" sz="3600" dirty="0"/>
          </a:p>
        </p:txBody>
      </p:sp>
      <p:sp>
        <p:nvSpPr>
          <p:cNvPr id="3" name="Python card"/>
          <p:cNvSpPr/>
          <p:nvPr/>
        </p:nvSpPr>
        <p:spPr>
          <a:xfrm>
            <a:off x="548640" y="1417320"/>
            <a:ext cx="5440680" cy="2834640"/>
          </a:xfrm>
          <a:prstGeom prst="roundRect">
            <a:avLst>
              <a:gd name="adj" fmla="val 3871"/>
            </a:avLst>
          </a:prstGeom>
          <a:solidFill>
            <a:schemeClr val="bg2"/>
          </a:solidFill>
          <a:ln/>
        </p:spPr>
      </p:sp>
      <p:sp>
        <p:nvSpPr>
          <p:cNvPr id="4" name="Python tile"/>
          <p:cNvSpPr/>
          <p:nvPr/>
        </p:nvSpPr>
        <p:spPr>
          <a:xfrm>
            <a:off x="868680" y="1691640"/>
            <a:ext cx="822960" cy="822960"/>
          </a:xfrm>
          <a:prstGeom prst="roundRect">
            <a:avLst>
              <a:gd name="adj" fmla="val 24000"/>
            </a:avLst>
          </a:prstGeom>
          <a:solidFill>
            <a:schemeClr val="accent1">
              <a:alpha val="14000"/>
            </a:schemeClr>
          </a:solidFill>
          <a:ln/>
        </p:spPr>
      </p:sp>
      <p:pic>
        <p:nvPicPr>
          <p:cNvPr id="5" name="Python icon" descr="preencoded.png">    </p:cNvPr>
          <p:cNvPicPr>
            <a:picLocks noChangeAspect="1"/>
          </p:cNvPicPr>
          <p:nvPr/>
        </p:nvPicPr>
        <p:blipFill>
          <a:blip r:embed="rId1"/>
          <a:stretch>
            <a:fillRect/>
          </a:stretch>
        </p:blipFill>
        <p:spPr>
          <a:xfrm>
            <a:off x="1049731" y="1872691"/>
            <a:ext cx="460858" cy="460858"/>
          </a:xfrm>
          <a:prstGeom prst="rect">
            <a:avLst/>
          </a:prstGeom>
        </p:spPr>
      </p:pic>
      <p:sp>
        <p:nvSpPr>
          <p:cNvPr id="6" name="Text 3"/>
          <p:cNvSpPr txBox="1"/>
          <p:nvPr/>
        </p:nvSpPr>
        <p:spPr>
          <a:xfrm>
            <a:off x="1920240" y="1737360"/>
            <a:ext cx="2377440" cy="457200"/>
          </a:xfrm>
          <a:prstGeom prst="rect">
            <a:avLst/>
          </a:prstGeom>
          <a:noFill/>
          <a:ln/>
        </p:spPr>
        <p:txBody>
          <a:bodyPr wrap="square" lIns="0" tIns="0" rIns="0" bIns="0" rtlCol="0" anchor="t"/>
          <a:lstStyle/>
          <a:p>
            <a:pPr indent="0" marL="0">
              <a:buNone/>
            </a:pPr>
            <a:r>
              <a:rPr lang="en-US" sz="2600" b="1" dirty="0">
                <a:solidFill>
                  <a:schemeClr val="tx2"/>
                </a:solidFill>
              </a:rPr>
              <a:t>Python</a:t>
            </a:r>
            <a:endParaRPr lang="en-US" sz="2600" dirty="0"/>
          </a:p>
        </p:txBody>
      </p:sp>
      <p:sp>
        <p:nvSpPr>
          <p:cNvPr id="7" name="Text 4"/>
          <p:cNvSpPr txBox="1"/>
          <p:nvPr/>
        </p:nvSpPr>
        <p:spPr>
          <a:xfrm>
            <a:off x="4114800" y="1810512"/>
            <a:ext cx="1600200" cy="365760"/>
          </a:xfrm>
          <a:prstGeom prst="rect">
            <a:avLst/>
          </a:prstGeom>
          <a:noFill/>
          <a:ln/>
        </p:spPr>
        <p:txBody>
          <a:bodyPr wrap="square" lIns="0" tIns="0" rIns="0" bIns="0" rtlCol="0" anchor="t"/>
          <a:lstStyle/>
          <a:p>
            <a:pPr algn="r" indent="0" marL="0">
              <a:buNone/>
            </a:pPr>
            <a:r>
              <a:rPr lang="en-US" sz="1400" b="1" dirty="0">
                <a:solidFill>
                  <a:schemeClr val="accent1"/>
                </a:solidFill>
              </a:rPr>
              <a:t>1,900 lines</a:t>
            </a:r>
            <a:endParaRPr lang="en-US" sz="1400" dirty="0"/>
          </a:p>
        </p:txBody>
      </p:sp>
      <p:sp>
        <p:nvSpPr>
          <p:cNvPr id="8" name="Text 5"/>
          <p:cNvSpPr txBox="1"/>
          <p:nvPr/>
        </p:nvSpPr>
        <p:spPr>
          <a:xfrm>
            <a:off x="868680" y="2743200"/>
            <a:ext cx="4846320" cy="731520"/>
          </a:xfrm>
          <a:prstGeom prst="rect">
            <a:avLst/>
          </a:prstGeom>
          <a:noFill/>
          <a:ln/>
        </p:spPr>
        <p:txBody>
          <a:bodyPr wrap="square" lIns="0" tIns="0" rIns="0" bIns="0" rtlCol="0" anchor="t"/>
          <a:lstStyle/>
          <a:p>
            <a:pPr indent="0" marL="0">
              <a:buNone/>
            </a:pPr>
            <a:r>
              <a:rPr lang="en-US" sz="1600" dirty="0">
                <a:solidFill>
                  <a:schemeClr val="tx1"/>
                </a:solidFill>
              </a:rPr>
              <a:t>Good at screens, charts, forms and saving data</a:t>
            </a:r>
            <a:endParaRPr lang="en-US" sz="1600" dirty="0"/>
          </a:p>
        </p:txBody>
      </p:sp>
      <p:sp>
        <p:nvSpPr>
          <p:cNvPr id="9" name="Text 6"/>
          <p:cNvSpPr txBox="1"/>
          <p:nvPr/>
        </p:nvSpPr>
        <p:spPr>
          <a:xfrm>
            <a:off x="868680" y="3611880"/>
            <a:ext cx="4846320" cy="36576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app.py · c_bridge.py · database.py</a:t>
            </a:r>
            <a:endParaRPr lang="en-US" sz="1300" dirty="0"/>
          </a:p>
        </p:txBody>
      </p:sp>
      <p:sp>
        <p:nvSpPr>
          <p:cNvPr id="10" name="C card"/>
          <p:cNvSpPr/>
          <p:nvPr/>
        </p:nvSpPr>
        <p:spPr>
          <a:xfrm>
            <a:off x="6172200" y="1417320"/>
            <a:ext cx="5440680" cy="2834640"/>
          </a:xfrm>
          <a:prstGeom prst="roundRect">
            <a:avLst>
              <a:gd name="adj" fmla="val 3871"/>
            </a:avLst>
          </a:prstGeom>
          <a:solidFill>
            <a:schemeClr val="bg2"/>
          </a:solidFill>
          <a:ln/>
        </p:spPr>
      </p:sp>
      <p:sp>
        <p:nvSpPr>
          <p:cNvPr id="11" name="C tile"/>
          <p:cNvSpPr/>
          <p:nvPr/>
        </p:nvSpPr>
        <p:spPr>
          <a:xfrm>
            <a:off x="6492240" y="1691640"/>
            <a:ext cx="822960" cy="822960"/>
          </a:xfrm>
          <a:prstGeom prst="roundRect">
            <a:avLst>
              <a:gd name="adj" fmla="val 24000"/>
            </a:avLst>
          </a:prstGeom>
          <a:solidFill>
            <a:schemeClr val="accent4">
              <a:alpha val="14000"/>
            </a:schemeClr>
          </a:solidFill>
          <a:ln/>
        </p:spPr>
      </p:sp>
      <p:pic>
        <p:nvPicPr>
          <p:cNvPr id="12" name="C icon" descr="preencoded.png">    </p:cNvPr>
          <p:cNvPicPr>
            <a:picLocks noChangeAspect="1"/>
          </p:cNvPicPr>
          <p:nvPr/>
        </p:nvPicPr>
        <p:blipFill>
          <a:blip r:embed="rId2"/>
          <a:stretch>
            <a:fillRect/>
          </a:stretch>
        </p:blipFill>
        <p:spPr>
          <a:xfrm>
            <a:off x="6673291" y="1872691"/>
            <a:ext cx="460858" cy="460858"/>
          </a:xfrm>
          <a:prstGeom prst="rect">
            <a:avLst/>
          </a:prstGeom>
        </p:spPr>
      </p:pic>
      <p:sp>
        <p:nvSpPr>
          <p:cNvPr id="13" name="Text 9"/>
          <p:cNvSpPr txBox="1"/>
          <p:nvPr/>
        </p:nvSpPr>
        <p:spPr>
          <a:xfrm>
            <a:off x="7543800" y="1737360"/>
            <a:ext cx="2377440" cy="457200"/>
          </a:xfrm>
          <a:prstGeom prst="rect">
            <a:avLst/>
          </a:prstGeom>
          <a:noFill/>
          <a:ln/>
        </p:spPr>
        <p:txBody>
          <a:bodyPr wrap="square" lIns="0" tIns="0" rIns="0" bIns="0" rtlCol="0" anchor="t"/>
          <a:lstStyle/>
          <a:p>
            <a:pPr indent="0" marL="0">
              <a:buNone/>
            </a:pPr>
            <a:r>
              <a:rPr lang="en-US" sz="2600" b="1" dirty="0">
                <a:solidFill>
                  <a:schemeClr val="tx2"/>
                </a:solidFill>
              </a:rPr>
              <a:t>C</a:t>
            </a:r>
            <a:endParaRPr lang="en-US" sz="2600" dirty="0"/>
          </a:p>
        </p:txBody>
      </p:sp>
      <p:sp>
        <p:nvSpPr>
          <p:cNvPr id="14" name="Text 10"/>
          <p:cNvSpPr txBox="1"/>
          <p:nvPr/>
        </p:nvSpPr>
        <p:spPr>
          <a:xfrm>
            <a:off x="9738360" y="1810512"/>
            <a:ext cx="1600200" cy="365760"/>
          </a:xfrm>
          <a:prstGeom prst="rect">
            <a:avLst/>
          </a:prstGeom>
          <a:noFill/>
          <a:ln/>
        </p:spPr>
        <p:txBody>
          <a:bodyPr wrap="square" lIns="0" tIns="0" rIns="0" bIns="0" rtlCol="0" anchor="t"/>
          <a:lstStyle/>
          <a:p>
            <a:pPr algn="r" indent="0" marL="0">
              <a:buNone/>
            </a:pPr>
            <a:r>
              <a:rPr lang="en-US" sz="1400" b="1" dirty="0">
                <a:solidFill>
                  <a:schemeClr val="accent4"/>
                </a:solidFill>
              </a:rPr>
              <a:t>1,800 lines</a:t>
            </a:r>
            <a:endParaRPr lang="en-US" sz="1400" dirty="0"/>
          </a:p>
        </p:txBody>
      </p:sp>
      <p:sp>
        <p:nvSpPr>
          <p:cNvPr id="15" name="Text 11"/>
          <p:cNvSpPr txBox="1"/>
          <p:nvPr/>
        </p:nvSpPr>
        <p:spPr>
          <a:xfrm>
            <a:off x="6492240" y="2743200"/>
            <a:ext cx="4846320" cy="731520"/>
          </a:xfrm>
          <a:prstGeom prst="rect">
            <a:avLst/>
          </a:prstGeom>
          <a:noFill/>
          <a:ln/>
        </p:spPr>
        <p:txBody>
          <a:bodyPr wrap="square" lIns="0" tIns="0" rIns="0" bIns="0" rtlCol="0" anchor="t"/>
          <a:lstStyle/>
          <a:p>
            <a:pPr indent="0" marL="0">
              <a:buNone/>
            </a:pPr>
            <a:r>
              <a:rPr lang="en-US" sz="1600" dirty="0">
                <a:solidFill>
                  <a:schemeClr val="tx1"/>
                </a:solidFill>
              </a:rPr>
              <a:t>Shows how data structures really work: arrays, pointers, memory. Also fast.</a:t>
            </a:r>
            <a:endParaRPr lang="en-US" sz="1600" dirty="0"/>
          </a:p>
        </p:txBody>
      </p:sp>
      <p:sp>
        <p:nvSpPr>
          <p:cNvPr id="16" name="Text 12"/>
          <p:cNvSpPr txBox="1"/>
          <p:nvPr/>
        </p:nvSpPr>
        <p:spPr>
          <a:xfrm>
            <a:off x="6492240" y="3611880"/>
            <a:ext cx="4846320" cy="36576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backend/*.c · inventory_types.h</a:t>
            </a:r>
            <a:endParaRPr lang="en-US" sz="1300" dirty="0"/>
          </a:p>
        </p:txBody>
      </p:sp>
      <p:sp>
        <p:nvSpPr>
          <p:cNvPr id="17" name="bridge card"/>
          <p:cNvSpPr/>
          <p:nvPr/>
        </p:nvSpPr>
        <p:spPr>
          <a:xfrm>
            <a:off x="548640" y="4480560"/>
            <a:ext cx="11064240" cy="1554480"/>
          </a:xfrm>
          <a:prstGeom prst="roundRect">
            <a:avLst>
              <a:gd name="adj" fmla="val 7059"/>
            </a:avLst>
          </a:prstGeom>
          <a:solidFill>
            <a:schemeClr val="bg2"/>
          </a:solidFill>
          <a:ln/>
        </p:spPr>
      </p:sp>
      <p:sp>
        <p:nvSpPr>
          <p:cNvPr id="18" name="bridge tile"/>
          <p:cNvSpPr/>
          <p:nvPr/>
        </p:nvSpPr>
        <p:spPr>
          <a:xfrm>
            <a:off x="868680" y="4754880"/>
            <a:ext cx="822960" cy="822960"/>
          </a:xfrm>
          <a:prstGeom prst="roundRect">
            <a:avLst>
              <a:gd name="adj" fmla="val 24000"/>
            </a:avLst>
          </a:prstGeom>
          <a:solidFill>
            <a:schemeClr val="accent2">
              <a:alpha val="14000"/>
            </a:schemeClr>
          </a:solidFill>
          <a:ln/>
        </p:spPr>
      </p:sp>
      <p:pic>
        <p:nvPicPr>
          <p:cNvPr id="19" name="bridge icon" descr="preencoded.png">    </p:cNvPr>
          <p:cNvPicPr>
            <a:picLocks noChangeAspect="1"/>
          </p:cNvPicPr>
          <p:nvPr/>
        </p:nvPicPr>
        <p:blipFill>
          <a:blip r:embed="rId3"/>
          <a:stretch>
            <a:fillRect/>
          </a:stretch>
        </p:blipFill>
        <p:spPr>
          <a:xfrm>
            <a:off x="1049731" y="4935931"/>
            <a:ext cx="460858" cy="460858"/>
          </a:xfrm>
          <a:prstGeom prst="rect">
            <a:avLst/>
          </a:prstGeom>
        </p:spPr>
      </p:pic>
      <p:sp>
        <p:nvSpPr>
          <p:cNvPr id="20" name="Text 15"/>
          <p:cNvSpPr txBox="1"/>
          <p:nvPr/>
        </p:nvSpPr>
        <p:spPr>
          <a:xfrm>
            <a:off x="1920240" y="4736592"/>
            <a:ext cx="9418320" cy="411480"/>
          </a:xfrm>
          <a:prstGeom prst="rect">
            <a:avLst/>
          </a:prstGeom>
          <a:noFill/>
          <a:ln/>
        </p:spPr>
        <p:txBody>
          <a:bodyPr wrap="square" lIns="0" tIns="0" rIns="0" bIns="0" rtlCol="0" anchor="t"/>
          <a:lstStyle/>
          <a:p>
            <a:pPr indent="0" marL="0">
              <a:buNone/>
            </a:pPr>
            <a:r>
              <a:rPr lang="en-US" sz="2000" b="1" dirty="0">
                <a:solidFill>
                  <a:schemeClr val="tx2"/>
                </a:solidFill>
              </a:rPr>
              <a:t>ctypes connects them</a:t>
            </a:r>
            <a:endParaRPr lang="en-US" sz="2000" dirty="0"/>
          </a:p>
        </p:txBody>
      </p:sp>
      <p:sp>
        <p:nvSpPr>
          <p:cNvPr id="21" name="Text 16"/>
          <p:cNvSpPr txBox="1"/>
          <p:nvPr/>
        </p:nvSpPr>
        <p:spPr>
          <a:xfrm>
            <a:off x="1920240" y="5193792"/>
            <a:ext cx="9418320" cy="731520"/>
          </a:xfrm>
          <a:prstGeom prst="rect">
            <a:avLst/>
          </a:prstGeom>
          <a:noFill/>
          <a:ln/>
        </p:spPr>
        <p:txBody>
          <a:bodyPr wrap="square" lIns="0" tIns="0" rIns="0" bIns="0" rtlCol="0" anchor="t"/>
          <a:lstStyle/>
          <a:p>
            <a:pPr indent="0" marL="0">
              <a:buNone/>
            </a:pPr>
            <a:r>
              <a:rPr lang="en-US" sz="1500" dirty="0">
                <a:solidFill>
                  <a:schemeClr val="tx1"/>
                </a:solidFill>
              </a:rPr>
              <a:t>Python's built-in ctypes module loads the compiled C library, so app.py can call a C function such as sw_hash_search_id() as easily as a Python one.</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Technology stack: what is used where</a:t>
            </a:r>
            <a:endParaRPr lang="en-US" sz="3600" dirty="0"/>
          </a:p>
        </p:txBody>
      </p:sp>
      <p:sp>
        <p:nvSpPr>
          <p:cNvPr id="3" name="Python 3.9+ card"/>
          <p:cNvSpPr/>
          <p:nvPr/>
        </p:nvSpPr>
        <p:spPr>
          <a:xfrm>
            <a:off x="548640" y="1371600"/>
            <a:ext cx="2606040" cy="2240280"/>
          </a:xfrm>
          <a:prstGeom prst="roundRect">
            <a:avLst>
              <a:gd name="adj" fmla="val 4898"/>
            </a:avLst>
          </a:prstGeom>
          <a:solidFill>
            <a:schemeClr val="bg2"/>
          </a:solidFill>
          <a:ln/>
        </p:spPr>
      </p:sp>
      <p:sp>
        <p:nvSpPr>
          <p:cNvPr id="4" name="Python 3.9+ tile"/>
          <p:cNvSpPr/>
          <p:nvPr/>
        </p:nvSpPr>
        <p:spPr>
          <a:xfrm>
            <a:off x="777240" y="1600200"/>
            <a:ext cx="566928" cy="566928"/>
          </a:xfrm>
          <a:prstGeom prst="roundRect">
            <a:avLst>
              <a:gd name="adj" fmla="val 24000"/>
            </a:avLst>
          </a:prstGeom>
          <a:solidFill>
            <a:schemeClr val="accent1">
              <a:alpha val="14000"/>
            </a:schemeClr>
          </a:solidFill>
          <a:ln/>
        </p:spPr>
      </p:sp>
      <p:pic>
        <p:nvPicPr>
          <p:cNvPr id="5" name="Python 3.9+ icon" descr="preencoded.png">    </p:cNvPr>
          <p:cNvPicPr>
            <a:picLocks noChangeAspect="1"/>
          </p:cNvPicPr>
          <p:nvPr/>
        </p:nvPicPr>
        <p:blipFill>
          <a:blip r:embed="rId1"/>
          <a:stretch>
            <a:fillRect/>
          </a:stretch>
        </p:blipFill>
        <p:spPr>
          <a:xfrm>
            <a:off x="901964" y="1724924"/>
            <a:ext cx="317480" cy="317480"/>
          </a:xfrm>
          <a:prstGeom prst="rect">
            <a:avLst/>
          </a:prstGeom>
        </p:spPr>
      </p:pic>
      <p:sp>
        <p:nvSpPr>
          <p:cNvPr id="6" name="Text 3"/>
          <p:cNvSpPr txBox="1"/>
          <p:nvPr/>
        </p:nvSpPr>
        <p:spPr>
          <a:xfrm>
            <a:off x="777240" y="2267712"/>
            <a:ext cx="2194560" cy="347472"/>
          </a:xfrm>
          <a:prstGeom prst="rect">
            <a:avLst/>
          </a:prstGeom>
          <a:noFill/>
          <a:ln/>
        </p:spPr>
        <p:txBody>
          <a:bodyPr wrap="square" lIns="0" tIns="0" rIns="0" bIns="0" rtlCol="0" anchor="t"/>
          <a:lstStyle/>
          <a:p>
            <a:pPr indent="0" marL="0">
              <a:buNone/>
            </a:pPr>
            <a:r>
              <a:rPr lang="en-US" sz="1700" b="1" dirty="0">
                <a:solidFill>
                  <a:schemeClr val="tx2"/>
                </a:solidFill>
              </a:rPr>
              <a:t>Python 3.9+</a:t>
            </a:r>
            <a:endParaRPr lang="en-US" sz="1700" dirty="0"/>
          </a:p>
        </p:txBody>
      </p:sp>
      <p:sp>
        <p:nvSpPr>
          <p:cNvPr id="7" name="Text 4"/>
          <p:cNvSpPr txBox="1"/>
          <p:nvPr/>
        </p:nvSpPr>
        <p:spPr>
          <a:xfrm>
            <a:off x="777240" y="2633472"/>
            <a:ext cx="2194560" cy="594360"/>
          </a:xfrm>
          <a:prstGeom prst="rect">
            <a:avLst/>
          </a:prstGeom>
          <a:noFill/>
          <a:ln/>
        </p:spPr>
        <p:txBody>
          <a:bodyPr wrap="square" lIns="0" tIns="0" rIns="0" bIns="0" rtlCol="0" anchor="t"/>
          <a:lstStyle/>
          <a:p>
            <a:pPr indent="0" marL="0">
              <a:buNone/>
            </a:pPr>
            <a:r>
              <a:rPr lang="en-US" sz="1400" dirty="0">
                <a:solidFill>
                  <a:schemeClr val="tx1"/>
                </a:solidFill>
              </a:rPr>
              <a:t>Main language for the app, bridge and tests</a:t>
            </a:r>
            <a:endParaRPr lang="en-US" sz="1400" dirty="0"/>
          </a:p>
        </p:txBody>
      </p:sp>
      <p:sp>
        <p:nvSpPr>
          <p:cNvPr id="8" name="Text 5"/>
          <p:cNvSpPr txBox="1"/>
          <p:nvPr/>
        </p:nvSpPr>
        <p:spPr>
          <a:xfrm>
            <a:off x="777240" y="3227832"/>
            <a:ext cx="2194560" cy="27432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app.py, tests/</a:t>
            </a:r>
            <a:endParaRPr lang="en-US" sz="1100" dirty="0"/>
          </a:p>
        </p:txBody>
      </p:sp>
      <p:sp>
        <p:nvSpPr>
          <p:cNvPr id="9" name="Streamlit card"/>
          <p:cNvSpPr/>
          <p:nvPr/>
        </p:nvSpPr>
        <p:spPr>
          <a:xfrm>
            <a:off x="3364992" y="1371600"/>
            <a:ext cx="2606040" cy="2240280"/>
          </a:xfrm>
          <a:prstGeom prst="roundRect">
            <a:avLst>
              <a:gd name="adj" fmla="val 4898"/>
            </a:avLst>
          </a:prstGeom>
          <a:solidFill>
            <a:schemeClr val="bg2"/>
          </a:solidFill>
          <a:ln/>
        </p:spPr>
      </p:sp>
      <p:sp>
        <p:nvSpPr>
          <p:cNvPr id="10" name="Streamlit tile"/>
          <p:cNvSpPr/>
          <p:nvPr/>
        </p:nvSpPr>
        <p:spPr>
          <a:xfrm>
            <a:off x="3593592" y="1600200"/>
            <a:ext cx="566928" cy="566928"/>
          </a:xfrm>
          <a:prstGeom prst="roundRect">
            <a:avLst>
              <a:gd name="adj" fmla="val 24000"/>
            </a:avLst>
          </a:prstGeom>
          <a:solidFill>
            <a:schemeClr val="accent2">
              <a:alpha val="14000"/>
            </a:schemeClr>
          </a:solidFill>
          <a:ln/>
        </p:spPr>
      </p:sp>
      <p:pic>
        <p:nvPicPr>
          <p:cNvPr id="11" name="Streamlit icon" descr="preencoded.png">    </p:cNvPr>
          <p:cNvPicPr>
            <a:picLocks noChangeAspect="1"/>
          </p:cNvPicPr>
          <p:nvPr/>
        </p:nvPicPr>
        <p:blipFill>
          <a:blip r:embed="rId2"/>
          <a:stretch>
            <a:fillRect/>
          </a:stretch>
        </p:blipFill>
        <p:spPr>
          <a:xfrm>
            <a:off x="3718316" y="1724924"/>
            <a:ext cx="317480" cy="317480"/>
          </a:xfrm>
          <a:prstGeom prst="rect">
            <a:avLst/>
          </a:prstGeom>
        </p:spPr>
      </p:pic>
      <p:sp>
        <p:nvSpPr>
          <p:cNvPr id="12" name="Text 8"/>
          <p:cNvSpPr txBox="1"/>
          <p:nvPr/>
        </p:nvSpPr>
        <p:spPr>
          <a:xfrm>
            <a:off x="3593592" y="2267712"/>
            <a:ext cx="2194560" cy="347472"/>
          </a:xfrm>
          <a:prstGeom prst="rect">
            <a:avLst/>
          </a:prstGeom>
          <a:noFill/>
          <a:ln/>
        </p:spPr>
        <p:txBody>
          <a:bodyPr wrap="square" lIns="0" tIns="0" rIns="0" bIns="0" rtlCol="0" anchor="t"/>
          <a:lstStyle/>
          <a:p>
            <a:pPr indent="0" marL="0">
              <a:buNone/>
            </a:pPr>
            <a:r>
              <a:rPr lang="en-US" sz="1700" b="1" dirty="0">
                <a:solidFill>
                  <a:schemeClr val="tx2"/>
                </a:solidFill>
              </a:rPr>
              <a:t>Streamlit</a:t>
            </a:r>
            <a:endParaRPr lang="en-US" sz="1700" dirty="0"/>
          </a:p>
        </p:txBody>
      </p:sp>
      <p:sp>
        <p:nvSpPr>
          <p:cNvPr id="13" name="Text 9"/>
          <p:cNvSpPr txBox="1"/>
          <p:nvPr/>
        </p:nvSpPr>
        <p:spPr>
          <a:xfrm>
            <a:off x="3593592" y="2633472"/>
            <a:ext cx="2194560" cy="594360"/>
          </a:xfrm>
          <a:prstGeom prst="rect">
            <a:avLst/>
          </a:prstGeom>
          <a:noFill/>
          <a:ln/>
        </p:spPr>
        <p:txBody>
          <a:bodyPr wrap="square" lIns="0" tIns="0" rIns="0" bIns="0" rtlCol="0" anchor="t"/>
          <a:lstStyle/>
          <a:p>
            <a:pPr indent="0" marL="0">
              <a:buNone/>
            </a:pPr>
            <a:r>
              <a:rPr lang="en-US" sz="1400" dirty="0">
                <a:solidFill>
                  <a:schemeClr val="tx1"/>
                </a:solidFill>
              </a:rPr>
              <a:t>Turns Python code into a web app with pages</a:t>
            </a:r>
            <a:endParaRPr lang="en-US" sz="1400" dirty="0"/>
          </a:p>
        </p:txBody>
      </p:sp>
      <p:sp>
        <p:nvSpPr>
          <p:cNvPr id="14" name="Text 10"/>
          <p:cNvSpPr txBox="1"/>
          <p:nvPr/>
        </p:nvSpPr>
        <p:spPr>
          <a:xfrm>
            <a:off x="3593592" y="3227832"/>
            <a:ext cx="2194560" cy="27432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app.py</a:t>
            </a:r>
            <a:endParaRPr lang="en-US" sz="1100" dirty="0"/>
          </a:p>
        </p:txBody>
      </p:sp>
      <p:sp>
        <p:nvSpPr>
          <p:cNvPr id="15" name="Plotly, pandas, Graphviz card"/>
          <p:cNvSpPr/>
          <p:nvPr/>
        </p:nvSpPr>
        <p:spPr>
          <a:xfrm>
            <a:off x="6181344" y="1371600"/>
            <a:ext cx="2606040" cy="2240280"/>
          </a:xfrm>
          <a:prstGeom prst="roundRect">
            <a:avLst>
              <a:gd name="adj" fmla="val 4898"/>
            </a:avLst>
          </a:prstGeom>
          <a:solidFill>
            <a:schemeClr val="bg2"/>
          </a:solidFill>
          <a:ln/>
        </p:spPr>
      </p:sp>
      <p:sp>
        <p:nvSpPr>
          <p:cNvPr id="16" name="Plotly, pandas, Graphviz tile"/>
          <p:cNvSpPr/>
          <p:nvPr/>
        </p:nvSpPr>
        <p:spPr>
          <a:xfrm>
            <a:off x="6409944" y="1600200"/>
            <a:ext cx="566928" cy="566928"/>
          </a:xfrm>
          <a:prstGeom prst="roundRect">
            <a:avLst>
              <a:gd name="adj" fmla="val 24000"/>
            </a:avLst>
          </a:prstGeom>
          <a:solidFill>
            <a:schemeClr val="accent3">
              <a:alpha val="14000"/>
            </a:schemeClr>
          </a:solidFill>
          <a:ln/>
        </p:spPr>
      </p:sp>
      <p:pic>
        <p:nvPicPr>
          <p:cNvPr id="17" name="Plotly, pandas, Graphviz icon" descr="preencoded.png">    </p:cNvPr>
          <p:cNvPicPr>
            <a:picLocks noChangeAspect="1"/>
          </p:cNvPicPr>
          <p:nvPr/>
        </p:nvPicPr>
        <p:blipFill>
          <a:blip r:embed="rId3"/>
          <a:stretch>
            <a:fillRect/>
          </a:stretch>
        </p:blipFill>
        <p:spPr>
          <a:xfrm>
            <a:off x="6534668" y="1724924"/>
            <a:ext cx="317480" cy="317480"/>
          </a:xfrm>
          <a:prstGeom prst="rect">
            <a:avLst/>
          </a:prstGeom>
        </p:spPr>
      </p:pic>
      <p:sp>
        <p:nvSpPr>
          <p:cNvPr id="18" name="Text 13"/>
          <p:cNvSpPr txBox="1"/>
          <p:nvPr/>
        </p:nvSpPr>
        <p:spPr>
          <a:xfrm>
            <a:off x="6409944" y="2267712"/>
            <a:ext cx="2194560" cy="347472"/>
          </a:xfrm>
          <a:prstGeom prst="rect">
            <a:avLst/>
          </a:prstGeom>
          <a:noFill/>
          <a:ln/>
        </p:spPr>
        <p:txBody>
          <a:bodyPr wrap="square" lIns="0" tIns="0" rIns="0" bIns="0" rtlCol="0" anchor="t"/>
          <a:lstStyle/>
          <a:p>
            <a:pPr indent="0" marL="0">
              <a:buNone/>
            </a:pPr>
            <a:r>
              <a:rPr lang="en-US" sz="1700" b="1" dirty="0">
                <a:solidFill>
                  <a:schemeClr val="tx2"/>
                </a:solidFill>
              </a:rPr>
              <a:t>Plotly, pandas, Graphviz</a:t>
            </a:r>
            <a:endParaRPr lang="en-US" sz="1700" dirty="0"/>
          </a:p>
        </p:txBody>
      </p:sp>
      <p:sp>
        <p:nvSpPr>
          <p:cNvPr id="19" name="Text 14"/>
          <p:cNvSpPr txBox="1"/>
          <p:nvPr/>
        </p:nvSpPr>
        <p:spPr>
          <a:xfrm>
            <a:off x="6409944" y="2633472"/>
            <a:ext cx="2194560" cy="594360"/>
          </a:xfrm>
          <a:prstGeom prst="rect">
            <a:avLst/>
          </a:prstGeom>
          <a:noFill/>
          <a:ln/>
        </p:spPr>
        <p:txBody>
          <a:bodyPr wrap="square" lIns="0" tIns="0" rIns="0" bIns="0" rtlCol="0" anchor="t"/>
          <a:lstStyle/>
          <a:p>
            <a:pPr indent="0" marL="0">
              <a:buNone/>
            </a:pPr>
            <a:r>
              <a:rPr lang="en-US" sz="1400" dirty="0">
                <a:solidFill>
                  <a:schemeClr val="tx1"/>
                </a:solidFill>
              </a:rPr>
              <a:t>Interactive charts, data tables, tree and map drawings</a:t>
            </a:r>
            <a:endParaRPr lang="en-US" sz="1400" dirty="0"/>
          </a:p>
        </p:txBody>
      </p:sp>
      <p:sp>
        <p:nvSpPr>
          <p:cNvPr id="20" name="Text 15"/>
          <p:cNvSpPr txBox="1"/>
          <p:nvPr/>
        </p:nvSpPr>
        <p:spPr>
          <a:xfrm>
            <a:off x="6409944" y="3227832"/>
            <a:ext cx="2194560" cy="27432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app.py</a:t>
            </a:r>
            <a:endParaRPr lang="en-US" sz="1100" dirty="0"/>
          </a:p>
        </p:txBody>
      </p:sp>
      <p:sp>
        <p:nvSpPr>
          <p:cNvPr id="21" name="C11 + GCC card"/>
          <p:cNvSpPr/>
          <p:nvPr/>
        </p:nvSpPr>
        <p:spPr>
          <a:xfrm>
            <a:off x="8997696" y="1371600"/>
            <a:ext cx="2606040" cy="2240280"/>
          </a:xfrm>
          <a:prstGeom prst="roundRect">
            <a:avLst>
              <a:gd name="adj" fmla="val 4898"/>
            </a:avLst>
          </a:prstGeom>
          <a:solidFill>
            <a:schemeClr val="bg2"/>
          </a:solidFill>
          <a:ln/>
        </p:spPr>
      </p:sp>
      <p:sp>
        <p:nvSpPr>
          <p:cNvPr id="22" name="C11 + GCC tile"/>
          <p:cNvSpPr/>
          <p:nvPr/>
        </p:nvSpPr>
        <p:spPr>
          <a:xfrm>
            <a:off x="9226296" y="1600200"/>
            <a:ext cx="566928" cy="566928"/>
          </a:xfrm>
          <a:prstGeom prst="roundRect">
            <a:avLst>
              <a:gd name="adj" fmla="val 24000"/>
            </a:avLst>
          </a:prstGeom>
          <a:solidFill>
            <a:schemeClr val="accent4">
              <a:alpha val="14000"/>
            </a:schemeClr>
          </a:solidFill>
          <a:ln/>
        </p:spPr>
      </p:sp>
      <p:pic>
        <p:nvPicPr>
          <p:cNvPr id="23" name="C11 + GCC icon" descr="preencoded.png">    </p:cNvPr>
          <p:cNvPicPr>
            <a:picLocks noChangeAspect="1"/>
          </p:cNvPicPr>
          <p:nvPr/>
        </p:nvPicPr>
        <p:blipFill>
          <a:blip r:embed="rId4"/>
          <a:stretch>
            <a:fillRect/>
          </a:stretch>
        </p:blipFill>
        <p:spPr>
          <a:xfrm>
            <a:off x="9351020" y="1724924"/>
            <a:ext cx="317480" cy="317480"/>
          </a:xfrm>
          <a:prstGeom prst="rect">
            <a:avLst/>
          </a:prstGeom>
        </p:spPr>
      </p:pic>
      <p:sp>
        <p:nvSpPr>
          <p:cNvPr id="24" name="Text 18"/>
          <p:cNvSpPr txBox="1"/>
          <p:nvPr/>
        </p:nvSpPr>
        <p:spPr>
          <a:xfrm>
            <a:off x="9226296" y="2267712"/>
            <a:ext cx="2194560" cy="347472"/>
          </a:xfrm>
          <a:prstGeom prst="rect">
            <a:avLst/>
          </a:prstGeom>
          <a:noFill/>
          <a:ln/>
        </p:spPr>
        <p:txBody>
          <a:bodyPr wrap="square" lIns="0" tIns="0" rIns="0" bIns="0" rtlCol="0" anchor="t"/>
          <a:lstStyle/>
          <a:p>
            <a:pPr indent="0" marL="0">
              <a:buNone/>
            </a:pPr>
            <a:r>
              <a:rPr lang="en-US" sz="1700" b="1" dirty="0">
                <a:solidFill>
                  <a:schemeClr val="tx2"/>
                </a:solidFill>
              </a:rPr>
              <a:t>C11 + GCC</a:t>
            </a:r>
            <a:endParaRPr lang="en-US" sz="1700" dirty="0"/>
          </a:p>
        </p:txBody>
      </p:sp>
      <p:sp>
        <p:nvSpPr>
          <p:cNvPr id="25" name="Text 19"/>
          <p:cNvSpPr txBox="1"/>
          <p:nvPr/>
        </p:nvSpPr>
        <p:spPr>
          <a:xfrm>
            <a:off x="9226296" y="2633472"/>
            <a:ext cx="2194560" cy="594360"/>
          </a:xfrm>
          <a:prstGeom prst="rect">
            <a:avLst/>
          </a:prstGeom>
          <a:noFill/>
          <a:ln/>
        </p:spPr>
        <p:txBody>
          <a:bodyPr wrap="square" lIns="0" tIns="0" rIns="0" bIns="0" rtlCol="0" anchor="t"/>
          <a:lstStyle/>
          <a:p>
            <a:pPr indent="0" marL="0">
              <a:buNone/>
            </a:pPr>
            <a:r>
              <a:rPr lang="en-US" sz="1400" dirty="0">
                <a:solidFill>
                  <a:schemeClr val="tx1"/>
                </a:solidFill>
              </a:rPr>
              <a:t>Every data structure and algorithm, compiled for speed</a:t>
            </a:r>
            <a:endParaRPr lang="en-US" sz="1400" dirty="0"/>
          </a:p>
        </p:txBody>
      </p:sp>
      <p:sp>
        <p:nvSpPr>
          <p:cNvPr id="26" name="Text 20"/>
          <p:cNvSpPr txBox="1"/>
          <p:nvPr/>
        </p:nvSpPr>
        <p:spPr>
          <a:xfrm>
            <a:off x="9226296" y="3227832"/>
            <a:ext cx="2194560" cy="27432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backend/*.c</a:t>
            </a:r>
            <a:endParaRPr lang="en-US" sz="1100" dirty="0"/>
          </a:p>
        </p:txBody>
      </p:sp>
      <p:sp>
        <p:nvSpPr>
          <p:cNvPr id="27" name="ctypes card"/>
          <p:cNvSpPr/>
          <p:nvPr/>
        </p:nvSpPr>
        <p:spPr>
          <a:xfrm>
            <a:off x="548640" y="3794760"/>
            <a:ext cx="2606040" cy="2240280"/>
          </a:xfrm>
          <a:prstGeom prst="roundRect">
            <a:avLst>
              <a:gd name="adj" fmla="val 4898"/>
            </a:avLst>
          </a:prstGeom>
          <a:solidFill>
            <a:schemeClr val="bg2"/>
          </a:solidFill>
          <a:ln/>
        </p:spPr>
      </p:sp>
      <p:sp>
        <p:nvSpPr>
          <p:cNvPr id="28" name="ctypes tile"/>
          <p:cNvSpPr/>
          <p:nvPr/>
        </p:nvSpPr>
        <p:spPr>
          <a:xfrm>
            <a:off x="777240" y="4023360"/>
            <a:ext cx="566928" cy="566928"/>
          </a:xfrm>
          <a:prstGeom prst="roundRect">
            <a:avLst>
              <a:gd name="adj" fmla="val 24000"/>
            </a:avLst>
          </a:prstGeom>
          <a:solidFill>
            <a:schemeClr val="accent2">
              <a:alpha val="14000"/>
            </a:schemeClr>
          </a:solidFill>
          <a:ln/>
        </p:spPr>
      </p:sp>
      <p:pic>
        <p:nvPicPr>
          <p:cNvPr id="29" name="ctypes icon" descr="preencoded.png">    </p:cNvPr>
          <p:cNvPicPr>
            <a:picLocks noChangeAspect="1"/>
          </p:cNvPicPr>
          <p:nvPr/>
        </p:nvPicPr>
        <p:blipFill>
          <a:blip r:embed="rId5"/>
          <a:stretch>
            <a:fillRect/>
          </a:stretch>
        </p:blipFill>
        <p:spPr>
          <a:xfrm>
            <a:off x="901964" y="4148084"/>
            <a:ext cx="317480" cy="317480"/>
          </a:xfrm>
          <a:prstGeom prst="rect">
            <a:avLst/>
          </a:prstGeom>
        </p:spPr>
      </p:pic>
      <p:sp>
        <p:nvSpPr>
          <p:cNvPr id="30" name="Text 23"/>
          <p:cNvSpPr txBox="1"/>
          <p:nvPr/>
        </p:nvSpPr>
        <p:spPr>
          <a:xfrm>
            <a:off x="777240" y="4690872"/>
            <a:ext cx="2194560" cy="347472"/>
          </a:xfrm>
          <a:prstGeom prst="rect">
            <a:avLst/>
          </a:prstGeom>
          <a:noFill/>
          <a:ln/>
        </p:spPr>
        <p:txBody>
          <a:bodyPr wrap="square" lIns="0" tIns="0" rIns="0" bIns="0" rtlCol="0" anchor="t"/>
          <a:lstStyle/>
          <a:p>
            <a:pPr indent="0" marL="0">
              <a:buNone/>
            </a:pPr>
            <a:r>
              <a:rPr lang="en-US" sz="1700" b="1" dirty="0">
                <a:solidFill>
                  <a:schemeClr val="tx2"/>
                </a:solidFill>
              </a:rPr>
              <a:t>ctypes</a:t>
            </a:r>
            <a:endParaRPr lang="en-US" sz="1700" dirty="0"/>
          </a:p>
        </p:txBody>
      </p:sp>
      <p:sp>
        <p:nvSpPr>
          <p:cNvPr id="31" name="Text 24"/>
          <p:cNvSpPr txBox="1"/>
          <p:nvPr/>
        </p:nvSpPr>
        <p:spPr>
          <a:xfrm>
            <a:off x="777240" y="5056632"/>
            <a:ext cx="2194560" cy="594360"/>
          </a:xfrm>
          <a:prstGeom prst="rect">
            <a:avLst/>
          </a:prstGeom>
          <a:noFill/>
          <a:ln/>
        </p:spPr>
        <p:txBody>
          <a:bodyPr wrap="square" lIns="0" tIns="0" rIns="0" bIns="0" rtlCol="0" anchor="t"/>
          <a:lstStyle/>
          <a:p>
            <a:pPr indent="0" marL="0">
              <a:buNone/>
            </a:pPr>
            <a:r>
              <a:rPr lang="en-US" sz="1400" dirty="0">
                <a:solidFill>
                  <a:schemeClr val="tx1"/>
                </a:solidFill>
              </a:rPr>
              <a:t>Python's built-in way to call functions in a C library</a:t>
            </a:r>
            <a:endParaRPr lang="en-US" sz="1400" dirty="0"/>
          </a:p>
        </p:txBody>
      </p:sp>
      <p:sp>
        <p:nvSpPr>
          <p:cNvPr id="32" name="Text 25"/>
          <p:cNvSpPr txBox="1"/>
          <p:nvPr/>
        </p:nvSpPr>
        <p:spPr>
          <a:xfrm>
            <a:off x="777240" y="5650992"/>
            <a:ext cx="2194560" cy="27432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c_bridge.py</a:t>
            </a:r>
            <a:endParaRPr lang="en-US" sz="1100" dirty="0"/>
          </a:p>
        </p:txBody>
      </p:sp>
      <p:sp>
        <p:nvSpPr>
          <p:cNvPr id="33" name="SQLite card"/>
          <p:cNvSpPr/>
          <p:nvPr/>
        </p:nvSpPr>
        <p:spPr>
          <a:xfrm>
            <a:off x="3364992" y="3794760"/>
            <a:ext cx="2606040" cy="2240280"/>
          </a:xfrm>
          <a:prstGeom prst="roundRect">
            <a:avLst>
              <a:gd name="adj" fmla="val 4898"/>
            </a:avLst>
          </a:prstGeom>
          <a:solidFill>
            <a:schemeClr val="bg2"/>
          </a:solidFill>
          <a:ln/>
        </p:spPr>
      </p:sp>
      <p:sp>
        <p:nvSpPr>
          <p:cNvPr id="34" name="SQLite tile"/>
          <p:cNvSpPr/>
          <p:nvPr/>
        </p:nvSpPr>
        <p:spPr>
          <a:xfrm>
            <a:off x="3593592" y="4023360"/>
            <a:ext cx="566928" cy="566928"/>
          </a:xfrm>
          <a:prstGeom prst="roundRect">
            <a:avLst>
              <a:gd name="adj" fmla="val 24000"/>
            </a:avLst>
          </a:prstGeom>
          <a:solidFill>
            <a:schemeClr val="accent3">
              <a:alpha val="14000"/>
            </a:schemeClr>
          </a:solidFill>
          <a:ln/>
        </p:spPr>
      </p:sp>
      <p:pic>
        <p:nvPicPr>
          <p:cNvPr id="35" name="SQLite icon" descr="preencoded.png">    </p:cNvPr>
          <p:cNvPicPr>
            <a:picLocks noChangeAspect="1"/>
          </p:cNvPicPr>
          <p:nvPr/>
        </p:nvPicPr>
        <p:blipFill>
          <a:blip r:embed="rId6"/>
          <a:stretch>
            <a:fillRect/>
          </a:stretch>
        </p:blipFill>
        <p:spPr>
          <a:xfrm>
            <a:off x="3718316" y="4148084"/>
            <a:ext cx="317480" cy="317480"/>
          </a:xfrm>
          <a:prstGeom prst="rect">
            <a:avLst/>
          </a:prstGeom>
        </p:spPr>
      </p:pic>
      <p:sp>
        <p:nvSpPr>
          <p:cNvPr id="36" name="Text 28"/>
          <p:cNvSpPr txBox="1"/>
          <p:nvPr/>
        </p:nvSpPr>
        <p:spPr>
          <a:xfrm>
            <a:off x="3593592" y="4690872"/>
            <a:ext cx="2194560" cy="347472"/>
          </a:xfrm>
          <a:prstGeom prst="rect">
            <a:avLst/>
          </a:prstGeom>
          <a:noFill/>
          <a:ln/>
        </p:spPr>
        <p:txBody>
          <a:bodyPr wrap="square" lIns="0" tIns="0" rIns="0" bIns="0" rtlCol="0" anchor="t"/>
          <a:lstStyle/>
          <a:p>
            <a:pPr indent="0" marL="0">
              <a:buNone/>
            </a:pPr>
            <a:r>
              <a:rPr lang="en-US" sz="1700" b="1" dirty="0">
                <a:solidFill>
                  <a:schemeClr val="tx2"/>
                </a:solidFill>
              </a:rPr>
              <a:t>SQLite</a:t>
            </a:r>
            <a:endParaRPr lang="en-US" sz="1700" dirty="0"/>
          </a:p>
        </p:txBody>
      </p:sp>
      <p:sp>
        <p:nvSpPr>
          <p:cNvPr id="37" name="Text 29"/>
          <p:cNvSpPr txBox="1"/>
          <p:nvPr/>
        </p:nvSpPr>
        <p:spPr>
          <a:xfrm>
            <a:off x="3593592" y="5056632"/>
            <a:ext cx="2194560" cy="594360"/>
          </a:xfrm>
          <a:prstGeom prst="rect">
            <a:avLst/>
          </a:prstGeom>
          <a:noFill/>
          <a:ln/>
        </p:spPr>
        <p:txBody>
          <a:bodyPr wrap="square" lIns="0" tIns="0" rIns="0" bIns="0" rtlCol="0" anchor="t"/>
          <a:lstStyle/>
          <a:p>
            <a:pPr indent="0" marL="0">
              <a:buNone/>
            </a:pPr>
            <a:r>
              <a:rPr lang="en-US" sz="1400" dirty="0">
                <a:solidFill>
                  <a:schemeClr val="tx1"/>
                </a:solidFill>
              </a:rPr>
              <a:t>A database stored in one file, built into Python</a:t>
            </a:r>
            <a:endParaRPr lang="en-US" sz="1400" dirty="0"/>
          </a:p>
        </p:txBody>
      </p:sp>
      <p:sp>
        <p:nvSpPr>
          <p:cNvPr id="38" name="Text 30"/>
          <p:cNvSpPr txBox="1"/>
          <p:nvPr/>
        </p:nvSpPr>
        <p:spPr>
          <a:xfrm>
            <a:off x="3593592" y="5650992"/>
            <a:ext cx="2194560" cy="27432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database.py, schema.sql</a:t>
            </a:r>
            <a:endParaRPr lang="en-US" sz="1100" dirty="0"/>
          </a:p>
        </p:txBody>
      </p:sp>
      <p:sp>
        <p:nvSpPr>
          <p:cNvPr id="39" name="Make card"/>
          <p:cNvSpPr/>
          <p:nvPr/>
        </p:nvSpPr>
        <p:spPr>
          <a:xfrm>
            <a:off x="6181344" y="3794760"/>
            <a:ext cx="2606040" cy="2240280"/>
          </a:xfrm>
          <a:prstGeom prst="roundRect">
            <a:avLst>
              <a:gd name="adj" fmla="val 4898"/>
            </a:avLst>
          </a:prstGeom>
          <a:solidFill>
            <a:schemeClr val="bg2"/>
          </a:solidFill>
          <a:ln/>
        </p:spPr>
      </p:sp>
      <p:sp>
        <p:nvSpPr>
          <p:cNvPr id="40" name="Make tile"/>
          <p:cNvSpPr/>
          <p:nvPr/>
        </p:nvSpPr>
        <p:spPr>
          <a:xfrm>
            <a:off x="6409944" y="4023360"/>
            <a:ext cx="566928" cy="566928"/>
          </a:xfrm>
          <a:prstGeom prst="roundRect">
            <a:avLst>
              <a:gd name="adj" fmla="val 24000"/>
            </a:avLst>
          </a:prstGeom>
          <a:solidFill>
            <a:schemeClr val="accent5">
              <a:alpha val="14000"/>
            </a:schemeClr>
          </a:solidFill>
          <a:ln/>
        </p:spPr>
      </p:sp>
      <p:pic>
        <p:nvPicPr>
          <p:cNvPr id="41" name="Make icon" descr="preencoded.png">    </p:cNvPr>
          <p:cNvPicPr>
            <a:picLocks noChangeAspect="1"/>
          </p:cNvPicPr>
          <p:nvPr/>
        </p:nvPicPr>
        <p:blipFill>
          <a:blip r:embed="rId7"/>
          <a:stretch>
            <a:fillRect/>
          </a:stretch>
        </p:blipFill>
        <p:spPr>
          <a:xfrm>
            <a:off x="6534668" y="4148084"/>
            <a:ext cx="317480" cy="317480"/>
          </a:xfrm>
          <a:prstGeom prst="rect">
            <a:avLst/>
          </a:prstGeom>
        </p:spPr>
      </p:pic>
      <p:sp>
        <p:nvSpPr>
          <p:cNvPr id="42" name="Text 33"/>
          <p:cNvSpPr txBox="1"/>
          <p:nvPr/>
        </p:nvSpPr>
        <p:spPr>
          <a:xfrm>
            <a:off x="6409944" y="4690872"/>
            <a:ext cx="2194560" cy="347472"/>
          </a:xfrm>
          <a:prstGeom prst="rect">
            <a:avLst/>
          </a:prstGeom>
          <a:noFill/>
          <a:ln/>
        </p:spPr>
        <p:txBody>
          <a:bodyPr wrap="square" lIns="0" tIns="0" rIns="0" bIns="0" rtlCol="0" anchor="t"/>
          <a:lstStyle/>
          <a:p>
            <a:pPr indent="0" marL="0">
              <a:buNone/>
            </a:pPr>
            <a:r>
              <a:rPr lang="en-US" sz="1700" b="1" dirty="0">
                <a:solidFill>
                  <a:schemeClr val="tx2"/>
                </a:solidFill>
              </a:rPr>
              <a:t>Make</a:t>
            </a:r>
            <a:endParaRPr lang="en-US" sz="1700" dirty="0"/>
          </a:p>
        </p:txBody>
      </p:sp>
      <p:sp>
        <p:nvSpPr>
          <p:cNvPr id="43" name="Text 34"/>
          <p:cNvSpPr txBox="1"/>
          <p:nvPr/>
        </p:nvSpPr>
        <p:spPr>
          <a:xfrm>
            <a:off x="6409944" y="5056632"/>
            <a:ext cx="2194560" cy="594360"/>
          </a:xfrm>
          <a:prstGeom prst="rect">
            <a:avLst/>
          </a:prstGeom>
          <a:noFill/>
          <a:ln/>
        </p:spPr>
        <p:txBody>
          <a:bodyPr wrap="square" lIns="0" tIns="0" rIns="0" bIns="0" rtlCol="0" anchor="t"/>
          <a:lstStyle/>
          <a:p>
            <a:pPr indent="0" marL="0">
              <a:buNone/>
            </a:pPr>
            <a:r>
              <a:rPr lang="en-US" sz="1400" dirty="0">
                <a:solidFill>
                  <a:schemeClr val="tx1"/>
                </a:solidFill>
              </a:rPr>
              <a:t>One command compiles the C library and runs C tests</a:t>
            </a:r>
            <a:endParaRPr lang="en-US" sz="1400" dirty="0"/>
          </a:p>
        </p:txBody>
      </p:sp>
      <p:sp>
        <p:nvSpPr>
          <p:cNvPr id="44" name="Text 35"/>
          <p:cNvSpPr txBox="1"/>
          <p:nvPr/>
        </p:nvSpPr>
        <p:spPr>
          <a:xfrm>
            <a:off x="6409944" y="5650992"/>
            <a:ext cx="2194560" cy="27432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backend/Makefile</a:t>
            </a:r>
            <a:endParaRPr lang="en-US" sz="1100" dirty="0"/>
          </a:p>
        </p:txBody>
      </p:sp>
      <p:sp>
        <p:nvSpPr>
          <p:cNvPr id="45" name="unittest card"/>
          <p:cNvSpPr/>
          <p:nvPr/>
        </p:nvSpPr>
        <p:spPr>
          <a:xfrm>
            <a:off x="8997696" y="3794760"/>
            <a:ext cx="2606040" cy="2240280"/>
          </a:xfrm>
          <a:prstGeom prst="roundRect">
            <a:avLst>
              <a:gd name="adj" fmla="val 4898"/>
            </a:avLst>
          </a:prstGeom>
          <a:solidFill>
            <a:schemeClr val="bg2"/>
          </a:solidFill>
          <a:ln/>
        </p:spPr>
      </p:sp>
      <p:sp>
        <p:nvSpPr>
          <p:cNvPr id="46" name="unittest tile"/>
          <p:cNvSpPr/>
          <p:nvPr/>
        </p:nvSpPr>
        <p:spPr>
          <a:xfrm>
            <a:off x="9226296" y="4023360"/>
            <a:ext cx="566928" cy="566928"/>
          </a:xfrm>
          <a:prstGeom prst="roundRect">
            <a:avLst>
              <a:gd name="adj" fmla="val 24000"/>
            </a:avLst>
          </a:prstGeom>
          <a:solidFill>
            <a:schemeClr val="accent1">
              <a:alpha val="14000"/>
            </a:schemeClr>
          </a:solidFill>
          <a:ln/>
        </p:spPr>
      </p:sp>
      <p:pic>
        <p:nvPicPr>
          <p:cNvPr id="47" name="unittest icon" descr="preencoded.png">    </p:cNvPr>
          <p:cNvPicPr>
            <a:picLocks noChangeAspect="1"/>
          </p:cNvPicPr>
          <p:nvPr/>
        </p:nvPicPr>
        <p:blipFill>
          <a:blip r:embed="rId8"/>
          <a:stretch>
            <a:fillRect/>
          </a:stretch>
        </p:blipFill>
        <p:spPr>
          <a:xfrm>
            <a:off x="9351020" y="4148084"/>
            <a:ext cx="317480" cy="317480"/>
          </a:xfrm>
          <a:prstGeom prst="rect">
            <a:avLst/>
          </a:prstGeom>
        </p:spPr>
      </p:pic>
      <p:sp>
        <p:nvSpPr>
          <p:cNvPr id="48" name="Text 38"/>
          <p:cNvSpPr txBox="1"/>
          <p:nvPr/>
        </p:nvSpPr>
        <p:spPr>
          <a:xfrm>
            <a:off x="9226296" y="4690872"/>
            <a:ext cx="2194560" cy="347472"/>
          </a:xfrm>
          <a:prstGeom prst="rect">
            <a:avLst/>
          </a:prstGeom>
          <a:noFill/>
          <a:ln/>
        </p:spPr>
        <p:txBody>
          <a:bodyPr wrap="square" lIns="0" tIns="0" rIns="0" bIns="0" rtlCol="0" anchor="t"/>
          <a:lstStyle/>
          <a:p>
            <a:pPr indent="0" marL="0">
              <a:buNone/>
            </a:pPr>
            <a:r>
              <a:rPr lang="en-US" sz="1700" b="1" dirty="0">
                <a:solidFill>
                  <a:schemeClr val="tx2"/>
                </a:solidFill>
              </a:rPr>
              <a:t>unittest</a:t>
            </a:r>
            <a:endParaRPr lang="en-US" sz="1700" dirty="0"/>
          </a:p>
        </p:txBody>
      </p:sp>
      <p:sp>
        <p:nvSpPr>
          <p:cNvPr id="49" name="Text 39"/>
          <p:cNvSpPr txBox="1"/>
          <p:nvPr/>
        </p:nvSpPr>
        <p:spPr>
          <a:xfrm>
            <a:off x="9226296" y="5056632"/>
            <a:ext cx="2194560" cy="594360"/>
          </a:xfrm>
          <a:prstGeom prst="rect">
            <a:avLst/>
          </a:prstGeom>
          <a:noFill/>
          <a:ln/>
        </p:spPr>
        <p:txBody>
          <a:bodyPr wrap="square" lIns="0" tIns="0" rIns="0" bIns="0" rtlCol="0" anchor="t"/>
          <a:lstStyle/>
          <a:p>
            <a:pPr indent="0" marL="0">
              <a:buNone/>
            </a:pPr>
            <a:r>
              <a:rPr lang="en-US" sz="1400" dirty="0">
                <a:solidFill>
                  <a:schemeClr val="tx1"/>
                </a:solidFill>
              </a:rPr>
              <a:t>Python's test framework plus a C test program</a:t>
            </a:r>
            <a:endParaRPr lang="en-US" sz="1400" dirty="0"/>
          </a:p>
        </p:txBody>
      </p:sp>
      <p:sp>
        <p:nvSpPr>
          <p:cNvPr id="50" name="Text 40"/>
          <p:cNvSpPr txBox="1"/>
          <p:nvPr/>
        </p:nvSpPr>
        <p:spPr>
          <a:xfrm>
            <a:off x="9226296" y="5650992"/>
            <a:ext cx="2194560" cy="27432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tests/, backend/tests/</a:t>
            </a:r>
            <a:endParaRPr 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The big picture: four layers</a:t>
            </a:r>
            <a:endParaRPr lang="en-US" sz="3600" dirty="0"/>
          </a:p>
        </p:txBody>
      </p:sp>
      <p:sp>
        <p:nvSpPr>
          <p:cNvPr id="3" name="layer 1 tile"/>
          <p:cNvSpPr/>
          <p:nvPr/>
        </p:nvSpPr>
        <p:spPr>
          <a:xfrm>
            <a:off x="548640" y="1463040"/>
            <a:ext cx="777240" cy="777240"/>
          </a:xfrm>
          <a:prstGeom prst="roundRect">
            <a:avLst>
              <a:gd name="adj" fmla="val 24000"/>
            </a:avLst>
          </a:prstGeom>
          <a:solidFill>
            <a:schemeClr val="accent1">
              <a:alpha val="14000"/>
            </a:schemeClr>
          </a:solidFill>
          <a:ln/>
        </p:spPr>
      </p:sp>
      <p:pic>
        <p:nvPicPr>
          <p:cNvPr id="4" name="layer 1 icon" descr="preencoded.png">    </p:cNvPr>
          <p:cNvPicPr>
            <a:picLocks noChangeAspect="1"/>
          </p:cNvPicPr>
          <p:nvPr/>
        </p:nvPicPr>
        <p:blipFill>
          <a:blip r:embed="rId1"/>
          <a:stretch>
            <a:fillRect/>
          </a:stretch>
        </p:blipFill>
        <p:spPr>
          <a:xfrm>
            <a:off x="719633" y="1634033"/>
            <a:ext cx="435254" cy="435254"/>
          </a:xfrm>
          <a:prstGeom prst="rect">
            <a:avLst/>
          </a:prstGeom>
        </p:spPr>
      </p:pic>
      <p:sp>
        <p:nvSpPr>
          <p:cNvPr id="5" name="Text 2"/>
          <p:cNvSpPr txBox="1"/>
          <p:nvPr/>
        </p:nvSpPr>
        <p:spPr>
          <a:xfrm>
            <a:off x="1508760" y="1481328"/>
            <a:ext cx="3291840" cy="365760"/>
          </a:xfrm>
          <a:prstGeom prst="rect">
            <a:avLst/>
          </a:prstGeom>
          <a:noFill/>
          <a:ln/>
        </p:spPr>
        <p:txBody>
          <a:bodyPr wrap="square" lIns="0" tIns="0" rIns="0" bIns="0" rtlCol="0" anchor="t"/>
          <a:lstStyle/>
          <a:p>
            <a:pPr indent="0" marL="0">
              <a:buNone/>
            </a:pPr>
            <a:r>
              <a:rPr lang="en-US" sz="1800" b="1" dirty="0">
                <a:solidFill>
                  <a:schemeClr val="tx2"/>
                </a:solidFill>
              </a:rPr>
              <a:t>1  Screens</a:t>
            </a:r>
            <a:endParaRPr lang="en-US" sz="1800" dirty="0"/>
          </a:p>
        </p:txBody>
      </p:sp>
      <p:sp>
        <p:nvSpPr>
          <p:cNvPr id="6" name="Text 3"/>
          <p:cNvSpPr txBox="1"/>
          <p:nvPr/>
        </p:nvSpPr>
        <p:spPr>
          <a:xfrm>
            <a:off x="1508760" y="1865376"/>
            <a:ext cx="3383280" cy="457200"/>
          </a:xfrm>
          <a:prstGeom prst="rect">
            <a:avLst/>
          </a:prstGeom>
          <a:noFill/>
          <a:ln/>
        </p:spPr>
        <p:txBody>
          <a:bodyPr wrap="square" lIns="0" tIns="0" rIns="0" bIns="0" rtlCol="0" anchor="t"/>
          <a:lstStyle/>
          <a:p>
            <a:pPr indent="0" marL="0">
              <a:buNone/>
            </a:pPr>
            <a:r>
              <a:rPr lang="en-US" sz="1400" dirty="0">
                <a:solidFill>
                  <a:schemeClr val="tx1"/>
                </a:solidFill>
              </a:rPr>
              <a:t>app.py shows the pages and charts</a:t>
            </a:r>
            <a:endParaRPr lang="en-US" sz="1400" dirty="0"/>
          </a:p>
        </p:txBody>
      </p:sp>
      <p:sp>
        <p:nvSpPr>
          <p:cNvPr id="7" name="layer 2 tile"/>
          <p:cNvSpPr/>
          <p:nvPr/>
        </p:nvSpPr>
        <p:spPr>
          <a:xfrm>
            <a:off x="548640" y="2606040"/>
            <a:ext cx="777240" cy="777240"/>
          </a:xfrm>
          <a:prstGeom prst="roundRect">
            <a:avLst>
              <a:gd name="adj" fmla="val 24000"/>
            </a:avLst>
          </a:prstGeom>
          <a:solidFill>
            <a:schemeClr val="accent2">
              <a:alpha val="14000"/>
            </a:schemeClr>
          </a:solidFill>
          <a:ln/>
        </p:spPr>
      </p:sp>
      <p:pic>
        <p:nvPicPr>
          <p:cNvPr id="8" name="layer 2 icon" descr="preencoded.png">    </p:cNvPr>
          <p:cNvPicPr>
            <a:picLocks noChangeAspect="1"/>
          </p:cNvPicPr>
          <p:nvPr/>
        </p:nvPicPr>
        <p:blipFill>
          <a:blip r:embed="rId2"/>
          <a:stretch>
            <a:fillRect/>
          </a:stretch>
        </p:blipFill>
        <p:spPr>
          <a:xfrm>
            <a:off x="719633" y="2777033"/>
            <a:ext cx="435254" cy="435254"/>
          </a:xfrm>
          <a:prstGeom prst="rect">
            <a:avLst/>
          </a:prstGeom>
        </p:spPr>
      </p:pic>
      <p:sp>
        <p:nvSpPr>
          <p:cNvPr id="9" name="Text 5"/>
          <p:cNvSpPr txBox="1"/>
          <p:nvPr/>
        </p:nvSpPr>
        <p:spPr>
          <a:xfrm>
            <a:off x="1508760" y="2624328"/>
            <a:ext cx="3291840" cy="365760"/>
          </a:xfrm>
          <a:prstGeom prst="rect">
            <a:avLst/>
          </a:prstGeom>
          <a:noFill/>
          <a:ln/>
        </p:spPr>
        <p:txBody>
          <a:bodyPr wrap="square" lIns="0" tIns="0" rIns="0" bIns="0" rtlCol="0" anchor="t"/>
          <a:lstStyle/>
          <a:p>
            <a:pPr indent="0" marL="0">
              <a:buNone/>
            </a:pPr>
            <a:r>
              <a:rPr lang="en-US" sz="1800" b="1" dirty="0">
                <a:solidFill>
                  <a:schemeClr val="tx2"/>
                </a:solidFill>
              </a:rPr>
              <a:t>2  Translator</a:t>
            </a:r>
            <a:endParaRPr lang="en-US" sz="1800" dirty="0"/>
          </a:p>
        </p:txBody>
      </p:sp>
      <p:sp>
        <p:nvSpPr>
          <p:cNvPr id="10" name="Text 6"/>
          <p:cNvSpPr txBox="1"/>
          <p:nvPr/>
        </p:nvSpPr>
        <p:spPr>
          <a:xfrm>
            <a:off x="1508760" y="3008376"/>
            <a:ext cx="3383280" cy="457200"/>
          </a:xfrm>
          <a:prstGeom prst="rect">
            <a:avLst/>
          </a:prstGeom>
          <a:noFill/>
          <a:ln/>
        </p:spPr>
        <p:txBody>
          <a:bodyPr wrap="square" lIns="0" tIns="0" rIns="0" bIns="0" rtlCol="0" anchor="t"/>
          <a:lstStyle/>
          <a:p>
            <a:pPr indent="0" marL="0">
              <a:buNone/>
            </a:pPr>
            <a:r>
              <a:rPr lang="en-US" sz="1400" dirty="0">
                <a:solidFill>
                  <a:schemeClr val="tx1"/>
                </a:solidFill>
              </a:rPr>
              <a:t>c_bridge.py links Python and C</a:t>
            </a:r>
            <a:endParaRPr lang="en-US" sz="1400" dirty="0"/>
          </a:p>
        </p:txBody>
      </p:sp>
      <p:sp>
        <p:nvSpPr>
          <p:cNvPr id="11" name="layer 3 tile"/>
          <p:cNvSpPr/>
          <p:nvPr/>
        </p:nvSpPr>
        <p:spPr>
          <a:xfrm>
            <a:off x="548640" y="3749040"/>
            <a:ext cx="777240" cy="777240"/>
          </a:xfrm>
          <a:prstGeom prst="roundRect">
            <a:avLst>
              <a:gd name="adj" fmla="val 24000"/>
            </a:avLst>
          </a:prstGeom>
          <a:solidFill>
            <a:schemeClr val="accent4">
              <a:alpha val="14000"/>
            </a:schemeClr>
          </a:solidFill>
          <a:ln/>
        </p:spPr>
      </p:sp>
      <p:pic>
        <p:nvPicPr>
          <p:cNvPr id="12" name="layer 3 icon" descr="preencoded.png">    </p:cNvPr>
          <p:cNvPicPr>
            <a:picLocks noChangeAspect="1"/>
          </p:cNvPicPr>
          <p:nvPr/>
        </p:nvPicPr>
        <p:blipFill>
          <a:blip r:embed="rId3"/>
          <a:stretch>
            <a:fillRect/>
          </a:stretch>
        </p:blipFill>
        <p:spPr>
          <a:xfrm>
            <a:off x="719633" y="3920033"/>
            <a:ext cx="435254" cy="435254"/>
          </a:xfrm>
          <a:prstGeom prst="rect">
            <a:avLst/>
          </a:prstGeom>
        </p:spPr>
      </p:pic>
      <p:sp>
        <p:nvSpPr>
          <p:cNvPr id="13" name="Text 8"/>
          <p:cNvSpPr txBox="1"/>
          <p:nvPr/>
        </p:nvSpPr>
        <p:spPr>
          <a:xfrm>
            <a:off x="1508760" y="3767328"/>
            <a:ext cx="3291840" cy="365760"/>
          </a:xfrm>
          <a:prstGeom prst="rect">
            <a:avLst/>
          </a:prstGeom>
          <a:noFill/>
          <a:ln/>
        </p:spPr>
        <p:txBody>
          <a:bodyPr wrap="square" lIns="0" tIns="0" rIns="0" bIns="0" rtlCol="0" anchor="t"/>
          <a:lstStyle/>
          <a:p>
            <a:pPr indent="0" marL="0">
              <a:buNone/>
            </a:pPr>
            <a:r>
              <a:rPr lang="en-US" sz="1800" b="1" dirty="0">
                <a:solidFill>
                  <a:schemeClr val="tx2"/>
                </a:solidFill>
              </a:rPr>
              <a:t>3  C engine</a:t>
            </a:r>
            <a:endParaRPr lang="en-US" sz="1800" dirty="0"/>
          </a:p>
        </p:txBody>
      </p:sp>
      <p:sp>
        <p:nvSpPr>
          <p:cNvPr id="14" name="Text 9"/>
          <p:cNvSpPr txBox="1"/>
          <p:nvPr/>
        </p:nvSpPr>
        <p:spPr>
          <a:xfrm>
            <a:off x="1508760" y="4151376"/>
            <a:ext cx="3383280" cy="457200"/>
          </a:xfrm>
          <a:prstGeom prst="rect">
            <a:avLst/>
          </a:prstGeom>
          <a:noFill/>
          <a:ln/>
        </p:spPr>
        <p:txBody>
          <a:bodyPr wrap="square" lIns="0" tIns="0" rIns="0" bIns="0" rtlCol="0" anchor="t"/>
          <a:lstStyle/>
          <a:p>
            <a:pPr indent="0" marL="0">
              <a:buNone/>
            </a:pPr>
            <a:r>
              <a:rPr lang="en-US" sz="1400" dirty="0">
                <a:solidFill>
                  <a:schemeClr val="tx1"/>
                </a:solidFill>
              </a:rPr>
              <a:t>backend/*.c runs every algorithm</a:t>
            </a:r>
            <a:endParaRPr lang="en-US" sz="1400" dirty="0"/>
          </a:p>
        </p:txBody>
      </p:sp>
      <p:sp>
        <p:nvSpPr>
          <p:cNvPr id="15" name="layer 4 tile"/>
          <p:cNvSpPr/>
          <p:nvPr/>
        </p:nvSpPr>
        <p:spPr>
          <a:xfrm>
            <a:off x="548640" y="4892040"/>
            <a:ext cx="777240" cy="777240"/>
          </a:xfrm>
          <a:prstGeom prst="roundRect">
            <a:avLst>
              <a:gd name="adj" fmla="val 24000"/>
            </a:avLst>
          </a:prstGeom>
          <a:solidFill>
            <a:schemeClr val="accent3">
              <a:alpha val="14000"/>
            </a:schemeClr>
          </a:solidFill>
          <a:ln/>
        </p:spPr>
      </p:sp>
      <p:pic>
        <p:nvPicPr>
          <p:cNvPr id="16" name="layer 4 icon" descr="preencoded.png">    </p:cNvPr>
          <p:cNvPicPr>
            <a:picLocks noChangeAspect="1"/>
          </p:cNvPicPr>
          <p:nvPr/>
        </p:nvPicPr>
        <p:blipFill>
          <a:blip r:embed="rId4"/>
          <a:stretch>
            <a:fillRect/>
          </a:stretch>
        </p:blipFill>
        <p:spPr>
          <a:xfrm>
            <a:off x="719633" y="5063033"/>
            <a:ext cx="435254" cy="435254"/>
          </a:xfrm>
          <a:prstGeom prst="rect">
            <a:avLst/>
          </a:prstGeom>
        </p:spPr>
      </p:pic>
      <p:sp>
        <p:nvSpPr>
          <p:cNvPr id="17" name="Text 11"/>
          <p:cNvSpPr txBox="1"/>
          <p:nvPr/>
        </p:nvSpPr>
        <p:spPr>
          <a:xfrm>
            <a:off x="1508760" y="4910328"/>
            <a:ext cx="3291840" cy="365760"/>
          </a:xfrm>
          <a:prstGeom prst="rect">
            <a:avLst/>
          </a:prstGeom>
          <a:noFill/>
          <a:ln/>
        </p:spPr>
        <p:txBody>
          <a:bodyPr wrap="square" lIns="0" tIns="0" rIns="0" bIns="0" rtlCol="0" anchor="t"/>
          <a:lstStyle/>
          <a:p>
            <a:pPr indent="0" marL="0">
              <a:buNone/>
            </a:pPr>
            <a:r>
              <a:rPr lang="en-US" sz="1800" b="1" dirty="0">
                <a:solidFill>
                  <a:schemeClr val="tx2"/>
                </a:solidFill>
              </a:rPr>
              <a:t>4  Database</a:t>
            </a:r>
            <a:endParaRPr lang="en-US" sz="1800" dirty="0"/>
          </a:p>
        </p:txBody>
      </p:sp>
      <p:sp>
        <p:nvSpPr>
          <p:cNvPr id="18" name="Text 12"/>
          <p:cNvSpPr txBox="1"/>
          <p:nvPr/>
        </p:nvSpPr>
        <p:spPr>
          <a:xfrm>
            <a:off x="1508760" y="5294376"/>
            <a:ext cx="3383280" cy="457200"/>
          </a:xfrm>
          <a:prstGeom prst="rect">
            <a:avLst/>
          </a:prstGeom>
          <a:noFill/>
          <a:ln/>
        </p:spPr>
        <p:txBody>
          <a:bodyPr wrap="square" lIns="0" tIns="0" rIns="0" bIns="0" rtlCol="0" anchor="t"/>
          <a:lstStyle/>
          <a:p>
            <a:pPr indent="0" marL="0">
              <a:buNone/>
            </a:pPr>
            <a:r>
              <a:rPr lang="en-US" sz="1400" dirty="0">
                <a:solidFill>
                  <a:schemeClr val="tx1"/>
                </a:solidFill>
              </a:rPr>
              <a:t>database.py saves everything in SQLite</a:t>
            </a:r>
            <a:endParaRPr lang="en-US" sz="1400" dirty="0"/>
          </a:p>
        </p:txBody>
      </p:sp>
      <p:pic>
        <p:nvPicPr>
          <p:cNvPr id="19" name="architecture diagram" descr="/tmp/claude-0/-home-user-StockWise-Dsa/ffa8d720-88b5-5029-baa4-50a8a76d3601/scratchpad/deck/img/architecture.png">    </p:cNvPr>
          <p:cNvPicPr>
            <a:picLocks noChangeAspect="1"/>
          </p:cNvPicPr>
          <p:nvPr/>
        </p:nvPicPr>
        <p:blipFill>
          <a:blip r:embed="rId5"/>
          <a:stretch>
            <a:fillRect/>
          </a:stretch>
        </p:blipFill>
        <p:spPr>
          <a:xfrm>
            <a:off x="5257800" y="1417320"/>
            <a:ext cx="6355080" cy="3813048"/>
          </a:xfrm>
          <a:prstGeom prst="rect">
            <a:avLst/>
          </a:prstGeom>
        </p:spPr>
      </p:pic>
      <p:sp>
        <p:nvSpPr>
          <p:cNvPr id="20" name="Text 13"/>
          <p:cNvSpPr txBox="1"/>
          <p:nvPr/>
        </p:nvSpPr>
        <p:spPr>
          <a:xfrm>
            <a:off x="5257800" y="5440680"/>
            <a:ext cx="6355080" cy="548640"/>
          </a:xfrm>
          <a:prstGeom prst="rect">
            <a:avLst/>
          </a:prstGeom>
          <a:noFill/>
          <a:ln/>
        </p:spPr>
        <p:txBody>
          <a:bodyPr wrap="square" lIns="0" tIns="0" rIns="0" bIns="0" rtlCol="0" anchor="t"/>
          <a:lstStyle/>
          <a:p>
            <a:pPr indent="0" marL="0">
              <a:buNone/>
            </a:pPr>
            <a:r>
              <a:rPr lang="en-US" sz="1400" i="1" dirty="0">
                <a:solidFill>
                  <a:schemeClr val="tx2"/>
                </a:solidFill>
              </a:rPr>
              <a:t>Every page load: read products from SQLite, copy them into C, run the algorithm, show the result.</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What's in the repository</a:t>
            </a:r>
            <a:endParaRPr lang="en-US" sz="3600" dirty="0"/>
          </a:p>
        </p:txBody>
      </p:sp>
      <p:sp>
        <p:nvSpPr>
          <p:cNvPr id="3" name="Text 1"/>
          <p:cNvSpPr txBox="1"/>
          <p:nvPr/>
        </p:nvSpPr>
        <p:spPr>
          <a:xfrm>
            <a:off x="548640" y="1325880"/>
            <a:ext cx="5257800" cy="347472"/>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StockWise-Dsa/</a:t>
            </a:r>
            <a:endParaRPr lang="en-US" sz="1600" dirty="0"/>
          </a:p>
        </p:txBody>
      </p:sp>
      <p:graphicFrame>
        <p:nvGraphicFramePr>
          <p:cNvPr id="9" name="root files"/>
          <p:cNvGraphicFramePr>
            <a:graphicFrameLocks noGrp="1"/>
          </p:cNvGraphicFramePr>
          <p:nvPr>
            <p:extLst>
              <p:ext uri="{D42A27DB-BD31-4B8C-83A1-F6EECF244321}">
                <p14:modId xmlns:p14="http://schemas.microsoft.com/office/powerpoint/2010/main" val="1579011935"/>
              </p:ext>
            </p:extLst>
          </p:nvPr>
        </p:nvGraphicFramePr>
        <p:xfrm>
          <a:off x="548640" y="1737360"/>
          <a:ext cx="5257800" cy="914400"/>
        </p:xfrm>
        <a:graphic>
          <a:graphicData uri="http://schemas.openxmlformats.org/drawingml/2006/table">
            <a:tbl>
              <a:tblPr/>
              <a:tblGrid>
                <a:gridCol w="2103120"/>
                <a:gridCol w="3154680"/>
              </a:tblGrid>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app.py</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The web app: all 8 pages</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c_bridge.py</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Calls the C library from Python</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database.py</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Reads and writes the database</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schema.sql</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Creates the two database tables</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requirements.txt</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Python packages to install</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README.md</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Setup and run instructions</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.streamlit/</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The app's color theme</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assets/</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Logo, pictures, diagram</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docs/</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Algorithms, viva notes, this deck</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tests/</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Python tests</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Text 2"/>
          <p:cNvSpPr txBox="1"/>
          <p:nvPr/>
        </p:nvSpPr>
        <p:spPr>
          <a:xfrm>
            <a:off x="6172200" y="1325880"/>
            <a:ext cx="5440680" cy="347472"/>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backend/</a:t>
            </a:r>
            <a:endParaRPr lang="en-US" sz="1600" dirty="0"/>
          </a:p>
        </p:txBody>
      </p:sp>
      <p:graphicFrame>
        <p:nvGraphicFramePr>
          <p:cNvPr id="17" name="backend files"/>
          <p:cNvGraphicFramePr>
            <a:graphicFrameLocks noGrp="1"/>
          </p:cNvGraphicFramePr>
          <p:nvPr>
            <p:extLst>
              <p:ext uri="{D42A27DB-BD31-4B8C-83A1-F6EECF244321}">
                <p14:modId xmlns:p14="http://schemas.microsoft.com/office/powerpoint/2010/main" val="1579011935"/>
              </p:ext>
            </p:extLst>
          </p:nvPr>
        </p:nvGraphicFramePr>
        <p:xfrm>
          <a:off x="6172200" y="1737360"/>
          <a:ext cx="5440680" cy="914400"/>
        </p:xfrm>
        <a:graphic>
          <a:graphicData uri="http://schemas.openxmlformats.org/drawingml/2006/table">
            <a:tbl>
              <a:tblPr/>
              <a:tblGrid>
                <a:gridCol w="2423160"/>
                <a:gridCol w="3017520"/>
              </a:tblGrid>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inventory_types.h</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Shared definitions</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inventory_engine.c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Entry point for Python</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search.c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Linear, binary search</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hash_table.c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Hash table</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sorting.c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Four sorting algorithms</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max_heap.c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Priority queue</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avl_tree.c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Balanced tree by price</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trie.c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Name prefix search</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knapsack.c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Budget planner (DP)</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Shortest route</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fifo_queue.c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Stock lots (queue)</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Makefile</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Build the library</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tests/test_engine.c</a:t>
                      </a:r>
                      <a:endParaRPr lang="en-US" sz="1300" dirty="0">
                        <a:latin typeface="Courier New" charset="0"/>
                        <a:ea typeface="Courier New" charset="0"/>
                        <a:cs typeface="Courier New" charset="0"/>
                      </a:endParaRPr>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 tests</a:t>
                      </a:r>
                      <a:endParaRPr lang="en-US" sz="1400" dirty="0"/>
                    </a:p>
                  </a:txBody>
                  <a:tcPr marL="109728" marR="91440"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05840"/>
          </a:xfrm>
          <a:prstGeom prst="rect">
            <a:avLst/>
          </a:prstGeom>
          <a:noFill/>
          <a:ln/>
        </p:spPr>
        <p:txBody>
          <a:bodyPr wrap="square" lIns="0" tIns="0" rIns="0" bIns="0" rtlCol="0" anchor="b"/>
          <a:lstStyle/>
          <a:p>
            <a:pPr algn="l" indent="0" marL="0">
              <a:buNone/>
            </a:pPr>
            <a:r>
              <a:rPr lang="en-US" sz="4400" b="1" dirty="0">
                <a:solidFill>
                  <a:schemeClr val="bg1"/>
                </a:solidFill>
              </a:rPr>
              <a:t>The Python side</a:t>
            </a:r>
            <a:endParaRPr lang="en-US" sz="4400" dirty="0"/>
          </a:p>
        </p:txBody>
      </p:sp>
      <p:sp>
        <p:nvSpPr>
          <p:cNvPr id="3" name="Text 0"/>
          <p:cNvSpPr/>
          <p:nvPr>
            <p:ph idx="101" type="body" hasCustomPrompt="1"/>
          </p:nvPr>
        </p:nvSpPr>
        <p:spPr>
          <a:xfrm>
            <a:off x="731520" y="3520440"/>
            <a:ext cx="10698480" cy="731520"/>
          </a:xfrm>
          <a:prstGeom prst="rect">
            <a:avLst/>
          </a:prstGeom>
          <a:noFill/>
          <a:ln/>
        </p:spPr>
        <p:txBody>
          <a:bodyPr wrap="square" lIns="0" tIns="0" rIns="0" bIns="0" rtlCol="0" anchor="t"/>
          <a:lstStyle/>
          <a:p>
            <a:pPr algn="l" indent="0" marL="0">
              <a:buNone/>
            </a:pPr>
            <a:r>
              <a:rPr lang="en-US" sz="2200" dirty="0">
                <a:solidFill>
                  <a:schemeClr val="bg1"/>
                </a:solidFill>
              </a:rPr>
              <a:t>What the user sees, and where the data is kept</a:t>
            </a:r>
            <a:endParaRPr lang="en-US" sz="2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The Python files at a glance</a:t>
            </a:r>
            <a:endParaRPr lang="en-US" sz="3600" dirty="0"/>
          </a:p>
        </p:txBody>
      </p:sp>
      <p:sp>
        <p:nvSpPr>
          <p:cNvPr id="3" name="app.py card"/>
          <p:cNvSpPr/>
          <p:nvPr/>
        </p:nvSpPr>
        <p:spPr>
          <a:xfrm>
            <a:off x="548640" y="1371600"/>
            <a:ext cx="3520440" cy="2331720"/>
          </a:xfrm>
          <a:prstGeom prst="roundRect">
            <a:avLst>
              <a:gd name="adj" fmla="val 4706"/>
            </a:avLst>
          </a:prstGeom>
          <a:solidFill>
            <a:schemeClr val="bg2"/>
          </a:solidFill>
          <a:ln/>
        </p:spPr>
      </p:sp>
      <p:sp>
        <p:nvSpPr>
          <p:cNvPr id="4" name="app.py tile"/>
          <p:cNvSpPr/>
          <p:nvPr/>
        </p:nvSpPr>
        <p:spPr>
          <a:xfrm>
            <a:off x="822960" y="1645920"/>
            <a:ext cx="640080" cy="640080"/>
          </a:xfrm>
          <a:prstGeom prst="roundRect">
            <a:avLst>
              <a:gd name="adj" fmla="val 24000"/>
            </a:avLst>
          </a:prstGeom>
          <a:solidFill>
            <a:schemeClr val="accent1">
              <a:alpha val="14000"/>
            </a:schemeClr>
          </a:solidFill>
          <a:ln/>
        </p:spPr>
      </p:sp>
      <p:pic>
        <p:nvPicPr>
          <p:cNvPr id="5" name="app.py icon"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6" name="Text 3"/>
          <p:cNvSpPr txBox="1"/>
          <p:nvPr/>
        </p:nvSpPr>
        <p:spPr>
          <a:xfrm>
            <a:off x="164592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app.py</a:t>
            </a:r>
            <a:endParaRPr lang="en-US" sz="1400" dirty="0"/>
          </a:p>
        </p:txBody>
      </p:sp>
      <p:sp>
        <p:nvSpPr>
          <p:cNvPr id="7" name="app.py tech tag"/>
          <p:cNvSpPr/>
          <p:nvPr/>
        </p:nvSpPr>
        <p:spPr>
          <a:xfrm>
            <a:off x="1645920" y="2011680"/>
            <a:ext cx="2200046" cy="292608"/>
          </a:xfrm>
          <a:prstGeom prst="roundRect">
            <a:avLst>
              <a:gd name="adj" fmla="val 50000"/>
            </a:avLst>
          </a:prstGeom>
          <a:solidFill>
            <a:schemeClr val="accent1">
              <a:alpha val="18000"/>
            </a:schemeClr>
          </a:solidFill>
          <a:ln/>
        </p:spPr>
      </p:sp>
      <p:sp>
        <p:nvSpPr>
          <p:cNvPr id="8" name="Text 5"/>
          <p:cNvSpPr txBox="1"/>
          <p:nvPr/>
        </p:nvSpPr>
        <p:spPr>
          <a:xfrm>
            <a:off x="1645920" y="2011680"/>
            <a:ext cx="2200046" cy="292608"/>
          </a:xfrm>
          <a:prstGeom prst="rect">
            <a:avLst/>
          </a:prstGeom>
          <a:noFill/>
          <a:ln/>
        </p:spPr>
        <p:txBody>
          <a:bodyPr wrap="square" lIns="0" tIns="0" rIns="0" bIns="0" rtlCol="0" anchor="ctr"/>
          <a:lstStyle/>
          <a:p>
            <a:pPr algn="ctr" indent="0" marL="0">
              <a:buNone/>
            </a:pPr>
            <a:r>
              <a:rPr lang="en-US" sz="1100" b="1" dirty="0">
                <a:solidFill>
                  <a:schemeClr val="tx2"/>
                </a:solidFill>
              </a:rPr>
              <a:t>Python · Streamlit · Plotly</a:t>
            </a:r>
            <a:endParaRPr lang="en-US" sz="1100" dirty="0"/>
          </a:p>
        </p:txBody>
      </p:sp>
      <p:sp>
        <p:nvSpPr>
          <p:cNvPr id="9" name="Text 6"/>
          <p:cNvSpPr txBox="1"/>
          <p:nvPr/>
        </p:nvSpPr>
        <p:spPr>
          <a:xfrm>
            <a:off x="82296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Draws all 8 pages, charts and forms. Asks the C engine for every search, sort and plan.</a:t>
            </a:r>
            <a:endParaRPr lang="en-US" sz="1400" dirty="0"/>
          </a:p>
        </p:txBody>
      </p:sp>
      <p:sp>
        <p:nvSpPr>
          <p:cNvPr id="10" name="c_bridge.py card"/>
          <p:cNvSpPr/>
          <p:nvPr/>
        </p:nvSpPr>
        <p:spPr>
          <a:xfrm>
            <a:off x="4297680" y="1371600"/>
            <a:ext cx="3520440" cy="2331720"/>
          </a:xfrm>
          <a:prstGeom prst="roundRect">
            <a:avLst>
              <a:gd name="adj" fmla="val 4706"/>
            </a:avLst>
          </a:prstGeom>
          <a:solidFill>
            <a:schemeClr val="bg2"/>
          </a:solidFill>
          <a:ln/>
        </p:spPr>
      </p:sp>
      <p:sp>
        <p:nvSpPr>
          <p:cNvPr id="11" name="c_bridge.py tile"/>
          <p:cNvSpPr/>
          <p:nvPr/>
        </p:nvSpPr>
        <p:spPr>
          <a:xfrm>
            <a:off x="4572000" y="1645920"/>
            <a:ext cx="640080" cy="640080"/>
          </a:xfrm>
          <a:prstGeom prst="roundRect">
            <a:avLst>
              <a:gd name="adj" fmla="val 24000"/>
            </a:avLst>
          </a:prstGeom>
          <a:solidFill>
            <a:schemeClr val="accent2">
              <a:alpha val="14000"/>
            </a:schemeClr>
          </a:solidFill>
          <a:ln/>
        </p:spPr>
      </p:sp>
      <p:pic>
        <p:nvPicPr>
          <p:cNvPr id="12" name="c_bridge.py icon" descr="preencoded.png">    </p:cNvPr>
          <p:cNvPicPr>
            <a:picLocks noChangeAspect="1"/>
          </p:cNvPicPr>
          <p:nvPr/>
        </p:nvPicPr>
        <p:blipFill>
          <a:blip r:embed="rId2"/>
          <a:stretch>
            <a:fillRect/>
          </a:stretch>
        </p:blipFill>
        <p:spPr>
          <a:xfrm>
            <a:off x="4712818" y="1786738"/>
            <a:ext cx="358445" cy="358445"/>
          </a:xfrm>
          <a:prstGeom prst="rect">
            <a:avLst/>
          </a:prstGeom>
        </p:spPr>
      </p:pic>
      <p:sp>
        <p:nvSpPr>
          <p:cNvPr id="13" name="Text 9"/>
          <p:cNvSpPr txBox="1"/>
          <p:nvPr/>
        </p:nvSpPr>
        <p:spPr>
          <a:xfrm>
            <a:off x="539496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c_bridge.py</a:t>
            </a:r>
            <a:endParaRPr lang="en-US" sz="1400" dirty="0"/>
          </a:p>
        </p:txBody>
      </p:sp>
      <p:sp>
        <p:nvSpPr>
          <p:cNvPr id="14" name="c_bridge.py tech tag"/>
          <p:cNvSpPr/>
          <p:nvPr/>
        </p:nvSpPr>
        <p:spPr>
          <a:xfrm>
            <a:off x="5394960" y="2011680"/>
            <a:ext cx="1344168" cy="292608"/>
          </a:xfrm>
          <a:prstGeom prst="roundRect">
            <a:avLst>
              <a:gd name="adj" fmla="val 50000"/>
            </a:avLst>
          </a:prstGeom>
          <a:solidFill>
            <a:schemeClr val="accent2">
              <a:alpha val="18000"/>
            </a:schemeClr>
          </a:solidFill>
          <a:ln/>
        </p:spPr>
      </p:sp>
      <p:sp>
        <p:nvSpPr>
          <p:cNvPr id="15" name="Text 11"/>
          <p:cNvSpPr txBox="1"/>
          <p:nvPr/>
        </p:nvSpPr>
        <p:spPr>
          <a:xfrm>
            <a:off x="5394960" y="2011680"/>
            <a:ext cx="1344168" cy="292608"/>
          </a:xfrm>
          <a:prstGeom prst="rect">
            <a:avLst/>
          </a:prstGeom>
          <a:noFill/>
          <a:ln/>
        </p:spPr>
        <p:txBody>
          <a:bodyPr wrap="square" lIns="0" tIns="0" rIns="0" bIns="0" rtlCol="0" anchor="ctr"/>
          <a:lstStyle/>
          <a:p>
            <a:pPr algn="ctr" indent="0" marL="0">
              <a:buNone/>
            </a:pPr>
            <a:r>
              <a:rPr lang="en-US" sz="1100" b="1" dirty="0">
                <a:solidFill>
                  <a:schemeClr val="tx2"/>
                </a:solidFill>
              </a:rPr>
              <a:t>Python · ctypes</a:t>
            </a:r>
            <a:endParaRPr lang="en-US" sz="1100" dirty="0"/>
          </a:p>
        </p:txBody>
      </p:sp>
      <p:sp>
        <p:nvSpPr>
          <p:cNvPr id="16" name="Text 12"/>
          <p:cNvSpPr txBox="1"/>
          <p:nvPr/>
        </p:nvSpPr>
        <p:spPr>
          <a:xfrm>
            <a:off x="457200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Loads the C library, mirrors its structs, checks inputs and converts C results to dicts.</a:t>
            </a:r>
            <a:endParaRPr lang="en-US" sz="1400" dirty="0"/>
          </a:p>
        </p:txBody>
      </p:sp>
      <p:sp>
        <p:nvSpPr>
          <p:cNvPr id="17" name="database.py card"/>
          <p:cNvSpPr/>
          <p:nvPr/>
        </p:nvSpPr>
        <p:spPr>
          <a:xfrm>
            <a:off x="8046720" y="1371600"/>
            <a:ext cx="3520440" cy="2331720"/>
          </a:xfrm>
          <a:prstGeom prst="roundRect">
            <a:avLst>
              <a:gd name="adj" fmla="val 4706"/>
            </a:avLst>
          </a:prstGeom>
          <a:solidFill>
            <a:schemeClr val="bg2"/>
          </a:solidFill>
          <a:ln/>
        </p:spPr>
      </p:sp>
      <p:sp>
        <p:nvSpPr>
          <p:cNvPr id="18" name="database.py tile"/>
          <p:cNvSpPr/>
          <p:nvPr/>
        </p:nvSpPr>
        <p:spPr>
          <a:xfrm>
            <a:off x="8321040" y="1645920"/>
            <a:ext cx="640080" cy="640080"/>
          </a:xfrm>
          <a:prstGeom prst="roundRect">
            <a:avLst>
              <a:gd name="adj" fmla="val 24000"/>
            </a:avLst>
          </a:prstGeom>
          <a:solidFill>
            <a:schemeClr val="accent3">
              <a:alpha val="14000"/>
            </a:schemeClr>
          </a:solidFill>
          <a:ln/>
        </p:spPr>
      </p:sp>
      <p:pic>
        <p:nvPicPr>
          <p:cNvPr id="19" name="database.py icon" descr="preencoded.png">    </p:cNvPr>
          <p:cNvPicPr>
            <a:picLocks noChangeAspect="1"/>
          </p:cNvPicPr>
          <p:nvPr/>
        </p:nvPicPr>
        <p:blipFill>
          <a:blip r:embed="rId3"/>
          <a:stretch>
            <a:fillRect/>
          </a:stretch>
        </p:blipFill>
        <p:spPr>
          <a:xfrm>
            <a:off x="8461858" y="1786738"/>
            <a:ext cx="358445" cy="358445"/>
          </a:xfrm>
          <a:prstGeom prst="rect">
            <a:avLst/>
          </a:prstGeom>
        </p:spPr>
      </p:pic>
      <p:sp>
        <p:nvSpPr>
          <p:cNvPr id="20" name="Text 15"/>
          <p:cNvSpPr txBox="1"/>
          <p:nvPr/>
        </p:nvSpPr>
        <p:spPr>
          <a:xfrm>
            <a:off x="914400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database.py</a:t>
            </a:r>
            <a:endParaRPr lang="en-US" sz="1400" dirty="0"/>
          </a:p>
        </p:txBody>
      </p:sp>
      <p:sp>
        <p:nvSpPr>
          <p:cNvPr id="21" name="database.py tech tag"/>
          <p:cNvSpPr/>
          <p:nvPr/>
        </p:nvSpPr>
        <p:spPr>
          <a:xfrm>
            <a:off x="9144000" y="2011680"/>
            <a:ext cx="1415491" cy="292608"/>
          </a:xfrm>
          <a:prstGeom prst="roundRect">
            <a:avLst>
              <a:gd name="adj" fmla="val 50000"/>
            </a:avLst>
          </a:prstGeom>
          <a:solidFill>
            <a:schemeClr val="accent3">
              <a:alpha val="18000"/>
            </a:schemeClr>
          </a:solidFill>
          <a:ln/>
        </p:spPr>
      </p:sp>
      <p:sp>
        <p:nvSpPr>
          <p:cNvPr id="22" name="Text 17"/>
          <p:cNvSpPr txBox="1"/>
          <p:nvPr/>
        </p:nvSpPr>
        <p:spPr>
          <a:xfrm>
            <a:off x="9144000" y="2011680"/>
            <a:ext cx="1415491" cy="292608"/>
          </a:xfrm>
          <a:prstGeom prst="rect">
            <a:avLst/>
          </a:prstGeom>
          <a:noFill/>
          <a:ln/>
        </p:spPr>
        <p:txBody>
          <a:bodyPr wrap="square" lIns="0" tIns="0" rIns="0" bIns="0" rtlCol="0" anchor="ctr"/>
          <a:lstStyle/>
          <a:p>
            <a:pPr algn="ctr" indent="0" marL="0">
              <a:buNone/>
            </a:pPr>
            <a:r>
              <a:rPr lang="en-US" sz="1100" b="1" dirty="0">
                <a:solidFill>
                  <a:schemeClr val="tx2"/>
                </a:solidFill>
              </a:rPr>
              <a:t>Python · sqlite3</a:t>
            </a:r>
            <a:endParaRPr lang="en-US" sz="1100" dirty="0"/>
          </a:p>
        </p:txBody>
      </p:sp>
      <p:sp>
        <p:nvSpPr>
          <p:cNvPr id="23" name="Text 18"/>
          <p:cNvSpPr txBox="1"/>
          <p:nvPr/>
        </p:nvSpPr>
        <p:spPr>
          <a:xfrm>
            <a:off x="832104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The only file that talks to SQLite: add, edit, delete, stock in and out, sample data.</a:t>
            </a:r>
            <a:endParaRPr lang="en-US" sz="1400" dirty="0"/>
          </a:p>
        </p:txBody>
      </p:sp>
      <p:sp>
        <p:nvSpPr>
          <p:cNvPr id="24" name="schema.sql card"/>
          <p:cNvSpPr/>
          <p:nvPr/>
        </p:nvSpPr>
        <p:spPr>
          <a:xfrm>
            <a:off x="548640" y="3840480"/>
            <a:ext cx="3520440" cy="2331720"/>
          </a:xfrm>
          <a:prstGeom prst="roundRect">
            <a:avLst>
              <a:gd name="adj" fmla="val 4706"/>
            </a:avLst>
          </a:prstGeom>
          <a:solidFill>
            <a:schemeClr val="bg2"/>
          </a:solidFill>
          <a:ln/>
        </p:spPr>
      </p:sp>
      <p:sp>
        <p:nvSpPr>
          <p:cNvPr id="25" name="schema.sql tile"/>
          <p:cNvSpPr/>
          <p:nvPr/>
        </p:nvSpPr>
        <p:spPr>
          <a:xfrm>
            <a:off x="822960" y="4114800"/>
            <a:ext cx="640080" cy="640080"/>
          </a:xfrm>
          <a:prstGeom prst="roundRect">
            <a:avLst>
              <a:gd name="adj" fmla="val 24000"/>
            </a:avLst>
          </a:prstGeom>
          <a:solidFill>
            <a:schemeClr val="accent3">
              <a:alpha val="14000"/>
            </a:schemeClr>
          </a:solidFill>
          <a:ln/>
        </p:spPr>
      </p:sp>
      <p:pic>
        <p:nvPicPr>
          <p:cNvPr id="26" name="schema.sql icon" descr="preencoded.png">    </p:cNvPr>
          <p:cNvPicPr>
            <a:picLocks noChangeAspect="1"/>
          </p:cNvPicPr>
          <p:nvPr/>
        </p:nvPicPr>
        <p:blipFill>
          <a:blip r:embed="rId4"/>
          <a:stretch>
            <a:fillRect/>
          </a:stretch>
        </p:blipFill>
        <p:spPr>
          <a:xfrm>
            <a:off x="963778" y="4255618"/>
            <a:ext cx="358445" cy="358445"/>
          </a:xfrm>
          <a:prstGeom prst="rect">
            <a:avLst/>
          </a:prstGeom>
        </p:spPr>
      </p:pic>
      <p:sp>
        <p:nvSpPr>
          <p:cNvPr id="27" name="Text 21"/>
          <p:cNvSpPr txBox="1"/>
          <p:nvPr/>
        </p:nvSpPr>
        <p:spPr>
          <a:xfrm>
            <a:off x="164592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schema.sql</a:t>
            </a:r>
            <a:endParaRPr lang="en-US" sz="1400" dirty="0"/>
          </a:p>
        </p:txBody>
      </p:sp>
      <p:sp>
        <p:nvSpPr>
          <p:cNvPr id="28" name="schema.sql tech tag"/>
          <p:cNvSpPr/>
          <p:nvPr/>
        </p:nvSpPr>
        <p:spPr>
          <a:xfrm>
            <a:off x="1645920" y="4480560"/>
            <a:ext cx="1130198" cy="292608"/>
          </a:xfrm>
          <a:prstGeom prst="roundRect">
            <a:avLst>
              <a:gd name="adj" fmla="val 50000"/>
            </a:avLst>
          </a:prstGeom>
          <a:solidFill>
            <a:schemeClr val="accent3">
              <a:alpha val="18000"/>
            </a:schemeClr>
          </a:solidFill>
          <a:ln/>
        </p:spPr>
      </p:sp>
      <p:sp>
        <p:nvSpPr>
          <p:cNvPr id="29" name="Text 23"/>
          <p:cNvSpPr txBox="1"/>
          <p:nvPr/>
        </p:nvSpPr>
        <p:spPr>
          <a:xfrm>
            <a:off x="1645920" y="4480560"/>
            <a:ext cx="1130198" cy="292608"/>
          </a:xfrm>
          <a:prstGeom prst="rect">
            <a:avLst/>
          </a:prstGeom>
          <a:noFill/>
          <a:ln/>
        </p:spPr>
        <p:txBody>
          <a:bodyPr wrap="square" lIns="0" tIns="0" rIns="0" bIns="0" rtlCol="0" anchor="ctr"/>
          <a:lstStyle/>
          <a:p>
            <a:pPr algn="ctr" indent="0" marL="0">
              <a:buNone/>
            </a:pPr>
            <a:r>
              <a:rPr lang="en-US" sz="1100" b="1" dirty="0">
                <a:solidFill>
                  <a:schemeClr val="tx2"/>
                </a:solidFill>
              </a:rPr>
              <a:t>SQL · SQLite</a:t>
            </a:r>
            <a:endParaRPr lang="en-US" sz="1100" dirty="0"/>
          </a:p>
        </p:txBody>
      </p:sp>
      <p:sp>
        <p:nvSpPr>
          <p:cNvPr id="30" name="Text 24"/>
          <p:cNvSpPr txBox="1"/>
          <p:nvPr/>
        </p:nvSpPr>
        <p:spPr>
          <a:xfrm>
            <a:off x="82296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Creates the two tables with built-in rules, such as price and stock never below zero.</a:t>
            </a:r>
            <a:endParaRPr lang="en-US" sz="1400" dirty="0"/>
          </a:p>
        </p:txBody>
      </p:sp>
      <p:sp>
        <p:nvSpPr>
          <p:cNvPr id="31" name="requirements.txt card"/>
          <p:cNvSpPr/>
          <p:nvPr/>
        </p:nvSpPr>
        <p:spPr>
          <a:xfrm>
            <a:off x="4297680" y="3840480"/>
            <a:ext cx="3520440" cy="2331720"/>
          </a:xfrm>
          <a:prstGeom prst="roundRect">
            <a:avLst>
              <a:gd name="adj" fmla="val 4706"/>
            </a:avLst>
          </a:prstGeom>
          <a:solidFill>
            <a:schemeClr val="bg2"/>
          </a:solidFill>
          <a:ln/>
        </p:spPr>
      </p:sp>
      <p:sp>
        <p:nvSpPr>
          <p:cNvPr id="32" name="requirements.txt tile"/>
          <p:cNvSpPr/>
          <p:nvPr/>
        </p:nvSpPr>
        <p:spPr>
          <a:xfrm>
            <a:off x="4572000" y="4114800"/>
            <a:ext cx="640080" cy="640080"/>
          </a:xfrm>
          <a:prstGeom prst="roundRect">
            <a:avLst>
              <a:gd name="adj" fmla="val 24000"/>
            </a:avLst>
          </a:prstGeom>
          <a:solidFill>
            <a:schemeClr val="accent4">
              <a:alpha val="14000"/>
            </a:schemeClr>
          </a:solidFill>
          <a:ln/>
        </p:spPr>
      </p:sp>
      <p:pic>
        <p:nvPicPr>
          <p:cNvPr id="33" name="requirements.txt icon" descr="preencoded.png">    </p:cNvPr>
          <p:cNvPicPr>
            <a:picLocks noChangeAspect="1"/>
          </p:cNvPicPr>
          <p:nvPr/>
        </p:nvPicPr>
        <p:blipFill>
          <a:blip r:embed="rId5"/>
          <a:stretch>
            <a:fillRect/>
          </a:stretch>
        </p:blipFill>
        <p:spPr>
          <a:xfrm>
            <a:off x="4712818" y="4255618"/>
            <a:ext cx="358445" cy="358445"/>
          </a:xfrm>
          <a:prstGeom prst="rect">
            <a:avLst/>
          </a:prstGeom>
        </p:spPr>
      </p:pic>
      <p:sp>
        <p:nvSpPr>
          <p:cNvPr id="34" name="Text 27"/>
          <p:cNvSpPr txBox="1"/>
          <p:nvPr/>
        </p:nvSpPr>
        <p:spPr>
          <a:xfrm>
            <a:off x="539496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requirements.txt</a:t>
            </a:r>
            <a:endParaRPr lang="en-US" sz="1400" dirty="0"/>
          </a:p>
        </p:txBody>
      </p:sp>
      <p:sp>
        <p:nvSpPr>
          <p:cNvPr id="35" name="requirements.txt tech tag"/>
          <p:cNvSpPr/>
          <p:nvPr/>
        </p:nvSpPr>
        <p:spPr>
          <a:xfrm>
            <a:off x="5394960" y="4480560"/>
            <a:ext cx="488290" cy="292608"/>
          </a:xfrm>
          <a:prstGeom prst="roundRect">
            <a:avLst>
              <a:gd name="adj" fmla="val 50000"/>
            </a:avLst>
          </a:prstGeom>
          <a:solidFill>
            <a:schemeClr val="accent4">
              <a:alpha val="18000"/>
            </a:schemeClr>
          </a:solidFill>
          <a:ln/>
        </p:spPr>
      </p:sp>
      <p:sp>
        <p:nvSpPr>
          <p:cNvPr id="36" name="Text 29"/>
          <p:cNvSpPr txBox="1"/>
          <p:nvPr/>
        </p:nvSpPr>
        <p:spPr>
          <a:xfrm>
            <a:off x="5394960" y="4480560"/>
            <a:ext cx="488290" cy="292608"/>
          </a:xfrm>
          <a:prstGeom prst="rect">
            <a:avLst/>
          </a:prstGeom>
          <a:noFill/>
          <a:ln/>
        </p:spPr>
        <p:txBody>
          <a:bodyPr wrap="square" lIns="0" tIns="0" rIns="0" bIns="0" rtlCol="0" anchor="ctr"/>
          <a:lstStyle/>
          <a:p>
            <a:pPr algn="ctr" indent="0" marL="0">
              <a:buNone/>
            </a:pPr>
            <a:r>
              <a:rPr lang="en-US" sz="1100" b="1" dirty="0">
                <a:solidFill>
                  <a:schemeClr val="tx2"/>
                </a:solidFill>
              </a:rPr>
              <a:t>pip</a:t>
            </a:r>
            <a:endParaRPr lang="en-US" sz="1100" dirty="0"/>
          </a:p>
        </p:txBody>
      </p:sp>
      <p:sp>
        <p:nvSpPr>
          <p:cNvPr id="37" name="Text 30"/>
          <p:cNvSpPr txBox="1"/>
          <p:nvPr/>
        </p:nvSpPr>
        <p:spPr>
          <a:xfrm>
            <a:off x="457200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The Python packages to install with one command: Streamlit, Plotly and pandas.</a:t>
            </a:r>
            <a:endParaRPr lang="en-US" sz="1400" dirty="0"/>
          </a:p>
        </p:txBody>
      </p:sp>
      <p:sp>
        <p:nvSpPr>
          <p:cNvPr id="38" name="config.toml card"/>
          <p:cNvSpPr/>
          <p:nvPr/>
        </p:nvSpPr>
        <p:spPr>
          <a:xfrm>
            <a:off x="8046720" y="3840480"/>
            <a:ext cx="3520440" cy="2331720"/>
          </a:xfrm>
          <a:prstGeom prst="roundRect">
            <a:avLst>
              <a:gd name="adj" fmla="val 4706"/>
            </a:avLst>
          </a:prstGeom>
          <a:solidFill>
            <a:schemeClr val="bg2"/>
          </a:solidFill>
          <a:ln/>
        </p:spPr>
      </p:sp>
      <p:sp>
        <p:nvSpPr>
          <p:cNvPr id="39" name="config.toml tile"/>
          <p:cNvSpPr/>
          <p:nvPr/>
        </p:nvSpPr>
        <p:spPr>
          <a:xfrm>
            <a:off x="8321040" y="4114800"/>
            <a:ext cx="640080" cy="640080"/>
          </a:xfrm>
          <a:prstGeom prst="roundRect">
            <a:avLst>
              <a:gd name="adj" fmla="val 24000"/>
            </a:avLst>
          </a:prstGeom>
          <a:solidFill>
            <a:schemeClr val="accent5">
              <a:alpha val="14000"/>
            </a:schemeClr>
          </a:solidFill>
          <a:ln/>
        </p:spPr>
      </p:sp>
      <p:pic>
        <p:nvPicPr>
          <p:cNvPr id="40" name="config.toml icon" descr="preencoded.png">    </p:cNvPr>
          <p:cNvPicPr>
            <a:picLocks noChangeAspect="1"/>
          </p:cNvPicPr>
          <p:nvPr/>
        </p:nvPicPr>
        <p:blipFill>
          <a:blip r:embed="rId6"/>
          <a:stretch>
            <a:fillRect/>
          </a:stretch>
        </p:blipFill>
        <p:spPr>
          <a:xfrm>
            <a:off x="8461858" y="4255618"/>
            <a:ext cx="358445" cy="358445"/>
          </a:xfrm>
          <a:prstGeom prst="rect">
            <a:avLst/>
          </a:prstGeom>
        </p:spPr>
      </p:pic>
      <p:sp>
        <p:nvSpPr>
          <p:cNvPr id="41" name="Text 33"/>
          <p:cNvSpPr txBox="1"/>
          <p:nvPr/>
        </p:nvSpPr>
        <p:spPr>
          <a:xfrm>
            <a:off x="914400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config.toml</a:t>
            </a:r>
            <a:endParaRPr lang="en-US" sz="1400" dirty="0"/>
          </a:p>
        </p:txBody>
      </p:sp>
      <p:sp>
        <p:nvSpPr>
          <p:cNvPr id="42" name="config.toml tech tag"/>
          <p:cNvSpPr/>
          <p:nvPr/>
        </p:nvSpPr>
        <p:spPr>
          <a:xfrm>
            <a:off x="9144000" y="4480560"/>
            <a:ext cx="1843430" cy="292608"/>
          </a:xfrm>
          <a:prstGeom prst="roundRect">
            <a:avLst>
              <a:gd name="adj" fmla="val 50000"/>
            </a:avLst>
          </a:prstGeom>
          <a:solidFill>
            <a:schemeClr val="accent5">
              <a:alpha val="18000"/>
            </a:schemeClr>
          </a:solidFill>
          <a:ln/>
        </p:spPr>
      </p:sp>
      <p:sp>
        <p:nvSpPr>
          <p:cNvPr id="43" name="Text 35"/>
          <p:cNvSpPr txBox="1"/>
          <p:nvPr/>
        </p:nvSpPr>
        <p:spPr>
          <a:xfrm>
            <a:off x="9144000" y="4480560"/>
            <a:ext cx="1843430" cy="292608"/>
          </a:xfrm>
          <a:prstGeom prst="rect">
            <a:avLst/>
          </a:prstGeom>
          <a:noFill/>
          <a:ln/>
        </p:spPr>
        <p:txBody>
          <a:bodyPr wrap="square" lIns="0" tIns="0" rIns="0" bIns="0" rtlCol="0" anchor="ctr"/>
          <a:lstStyle/>
          <a:p>
            <a:pPr algn="ctr" indent="0" marL="0">
              <a:buNone/>
            </a:pPr>
            <a:r>
              <a:rPr lang="en-US" sz="1100" b="1" dirty="0">
                <a:solidFill>
                  <a:schemeClr val="tx2"/>
                </a:solidFill>
              </a:rPr>
              <a:t>TOML · Streamlit theme</a:t>
            </a:r>
            <a:endParaRPr lang="en-US" sz="1100" dirty="0"/>
          </a:p>
        </p:txBody>
      </p:sp>
      <p:sp>
        <p:nvSpPr>
          <p:cNvPr id="44" name="Text 36"/>
          <p:cNvSpPr txBox="1"/>
          <p:nvPr/>
        </p:nvSpPr>
        <p:spPr>
          <a:xfrm>
            <a:off x="832104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Lives in .streamlit/. Sets the app's colors, Inter font, rounded corners and sidebar.</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app.py: everything the user sees</a:t>
            </a:r>
            <a:endParaRPr lang="en-US" sz="3600" dirty="0"/>
          </a:p>
        </p:txBody>
      </p:sp>
      <p:sp>
        <p:nvSpPr>
          <p:cNvPr id="3" name="dashboard screenshot frame"/>
          <p:cNvSpPr/>
          <p:nvPr/>
        </p:nvSpPr>
        <p:spPr>
          <a:xfrm>
            <a:off x="548640" y="1408176"/>
            <a:ext cx="6144768" cy="4487477"/>
          </a:xfrm>
          <a:prstGeom prst="roundRect">
            <a:avLst>
              <a:gd name="adj" fmla="val 1630"/>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4" name="dashboard screenshot" descr="/tmp/claude-0/-home-user-StockWise-Dsa/ffa8d720-88b5-5029-baa4-50a8a76d3601/scratchpad/deck/img/dashboard.png">    </p:cNvPr>
          <p:cNvPicPr>
            <a:picLocks noChangeAspect="1"/>
          </p:cNvPicPr>
          <p:nvPr/>
        </p:nvPicPr>
        <p:blipFill>
          <a:blip r:embed="rId1"/>
          <a:stretch>
            <a:fillRect/>
          </a:stretch>
        </p:blipFill>
        <p:spPr>
          <a:xfrm>
            <a:off x="603504" y="1463040"/>
            <a:ext cx="6035040" cy="4377749"/>
          </a:xfrm>
          <a:prstGeom prst="rect">
            <a:avLst/>
          </a:prstGeom>
        </p:spPr>
      </p:pic>
      <p:sp>
        <p:nvSpPr>
          <p:cNvPr id="5" name="Text 2"/>
          <p:cNvSpPr txBox="1"/>
          <p:nvPr/>
        </p:nvSpPr>
        <p:spPr>
          <a:xfrm>
            <a:off x="7086600" y="1463040"/>
            <a:ext cx="4526280" cy="4480560"/>
          </a:xfrm>
          <a:prstGeom prst="rect">
            <a:avLst/>
          </a:prstGeom>
          <a:noFill/>
          <a:ln/>
        </p:spPr>
        <p:txBody>
          <a:bodyPr wrap="square" lIns="0" tIns="0" rIns="0" bIns="0" rtlCol="0" anchor="t"/>
          <a:lstStyle/>
          <a:p>
            <a:pPr indent="0" marL="0">
              <a:spcAft>
                <a:spcPts val="1700"/>
              </a:spcAft>
              <a:buNone/>
            </a:pPr>
            <a:r>
              <a:rPr lang="en-US" sz="1500" b="1" dirty="0">
                <a:solidFill>
                  <a:schemeClr val="tx2"/>
                </a:solidFill>
              </a:rPr>
              <a:t>Dashboard</a:t>
            </a:r>
            <a:pPr indent="0" marL="0">
              <a:spcAft>
                <a:spcPts val="1700"/>
              </a:spcAft>
              <a:buNone/>
            </a:pPr>
            <a:r>
              <a:rPr lang="en-US" sz="1400" dirty="0">
                <a:solidFill>
                  <a:schemeClr val="tx1"/>
                </a:solidFill>
              </a:rPr>
              <a:t>  KPIs, stock trend, what needs attention</a:t>
            </a:r>
            <a:endParaRPr lang="en-US" sz="1400" dirty="0"/>
          </a:p>
          <a:p>
            <a:pPr indent="0" marL="0">
              <a:spcAft>
                <a:spcPts val="1700"/>
              </a:spcAft>
              <a:buNone/>
            </a:pPr>
            <a:r>
              <a:rPr lang="en-US" sz="1500" b="1" dirty="0">
                <a:solidFill>
                  <a:schemeClr val="tx2"/>
                </a:solidFill>
              </a:rPr>
              <a:t>Products</a:t>
            </a:r>
            <a:pPr indent="0" marL="0">
              <a:spcAft>
                <a:spcPts val="1700"/>
              </a:spcAft>
              <a:buNone/>
            </a:pPr>
            <a:r>
              <a:rPr lang="en-US" sz="1400" dirty="0">
                <a:solidFill>
                  <a:schemeClr val="tx1"/>
                </a:solidFill>
              </a:rPr>
              <a:t>  Card grid, search, price filter, add/edit/delete</a:t>
            </a:r>
            <a:endParaRPr lang="en-US" sz="1400" dirty="0"/>
          </a:p>
          <a:p>
            <a:pPr indent="0" marL="0">
              <a:spcAft>
                <a:spcPts val="1700"/>
              </a:spcAft>
              <a:buNone/>
            </a:pPr>
            <a:r>
              <a:rPr lang="en-US" sz="1500" b="1" dirty="0">
                <a:solidFill>
                  <a:schemeClr val="tx2"/>
                </a:solidFill>
              </a:rPr>
              <a:t>Transactions</a:t>
            </a:r>
            <a:pPr indent="0" marL="0">
              <a:spcAft>
                <a:spcPts val="1700"/>
              </a:spcAft>
              <a:buNone/>
            </a:pPr>
            <a:r>
              <a:rPr lang="en-US" sz="1400" dirty="0">
                <a:solidFill>
                  <a:schemeClr val="tx1"/>
                </a:solidFill>
              </a:rPr>
              <a:t>  Stock in/out, history, stock age</a:t>
            </a:r>
            <a:endParaRPr lang="en-US" sz="1400" dirty="0"/>
          </a:p>
          <a:p>
            <a:pPr indent="0" marL="0">
              <a:spcAft>
                <a:spcPts val="1700"/>
              </a:spcAft>
              <a:buNone/>
            </a:pPr>
            <a:r>
              <a:rPr lang="en-US" sz="1500" b="1" dirty="0">
                <a:solidFill>
                  <a:schemeClr val="tx2"/>
                </a:solidFill>
              </a:rPr>
              <a:t>Restocking</a:t>
            </a:r>
            <a:pPr indent="0" marL="0">
              <a:spcAft>
                <a:spcPts val="1700"/>
              </a:spcAft>
              <a:buNone/>
            </a:pPr>
            <a:r>
              <a:rPr lang="en-US" sz="1400" dirty="0">
                <a:solidFill>
                  <a:schemeClr val="tx1"/>
                </a:solidFill>
              </a:rPr>
              <a:t>  Priority ranking and budget planner</a:t>
            </a:r>
            <a:endParaRPr lang="en-US" sz="1400" dirty="0"/>
          </a:p>
          <a:p>
            <a:pPr indent="0" marL="0">
              <a:spcAft>
                <a:spcPts val="1700"/>
              </a:spcAft>
              <a:buNone/>
            </a:pPr>
            <a:r>
              <a:rPr lang="en-US" sz="1500" b="1" dirty="0">
                <a:solidFill>
                  <a:schemeClr val="tx2"/>
                </a:solidFill>
              </a:rPr>
              <a:t>Delivery routes</a:t>
            </a:r>
            <a:pPr indent="0" marL="0">
              <a:spcAft>
                <a:spcPts val="1700"/>
              </a:spcAft>
              <a:buNone/>
            </a:pPr>
            <a:r>
              <a:rPr lang="en-US" sz="1400" dirty="0">
                <a:solidFill>
                  <a:schemeClr val="tx1"/>
                </a:solidFill>
              </a:rPr>
              <a:t>  Shortest route on a map</a:t>
            </a:r>
            <a:endParaRPr lang="en-US" sz="1400" dirty="0"/>
          </a:p>
          <a:p>
            <a:pPr indent="0" marL="0">
              <a:spcAft>
                <a:spcPts val="1700"/>
              </a:spcAft>
              <a:buNone/>
            </a:pPr>
            <a:r>
              <a:rPr lang="en-US" sz="1500" b="1" dirty="0">
                <a:solidFill>
                  <a:schemeClr val="tx2"/>
                </a:solidFill>
              </a:rPr>
              <a:t>Search and sorting</a:t>
            </a:r>
            <a:pPr indent="0" marL="0">
              <a:spcAft>
                <a:spcPts val="1700"/>
              </a:spcAft>
              <a:buNone/>
            </a:pPr>
            <a:r>
              <a:rPr lang="en-US" sz="1400" dirty="0">
                <a:solidFill>
                  <a:schemeClr val="tx1"/>
                </a:solidFill>
              </a:rPr>
              <a:t>  Try each algorithm, see the work done</a:t>
            </a:r>
            <a:endParaRPr lang="en-US" sz="1400" dirty="0"/>
          </a:p>
          <a:p>
            <a:pPr indent="0" marL="0">
              <a:spcAft>
                <a:spcPts val="1700"/>
              </a:spcAft>
              <a:buNone/>
            </a:pPr>
            <a:r>
              <a:rPr lang="en-US" sz="1500" b="1" dirty="0">
                <a:solidFill>
                  <a:schemeClr val="tx2"/>
                </a:solidFill>
              </a:rPr>
              <a:t>DSA laboratory</a:t>
            </a:r>
            <a:pPr indent="0" marL="0">
              <a:spcAft>
                <a:spcPts val="1700"/>
              </a:spcAft>
              <a:buNone/>
            </a:pPr>
            <a:r>
              <a:rPr lang="en-US" sz="1400" dirty="0">
                <a:solidFill>
                  <a:schemeClr val="tx1"/>
                </a:solidFill>
              </a:rPr>
              <a:t>  Visual trees, heaps, DP table, edge cases</a:t>
            </a:r>
            <a:endParaRPr lang="en-US" sz="1400" dirty="0"/>
          </a:p>
          <a:p>
            <a:pPr indent="0" marL="0">
              <a:spcAft>
                <a:spcPts val="1700"/>
              </a:spcAft>
              <a:buNone/>
            </a:pPr>
            <a:r>
              <a:rPr lang="en-US" sz="1500" b="1" dirty="0">
                <a:solidFill>
                  <a:schemeClr val="tx2"/>
                </a:solidFill>
              </a:rPr>
              <a:t>About</a:t>
            </a:r>
            <a:pPr indent="0" marL="0">
              <a:spcAft>
                <a:spcPts val="1700"/>
              </a:spcAft>
              <a:buNone/>
            </a:pPr>
            <a:r>
              <a:rPr lang="en-US" sz="1400" dirty="0">
                <a:solidFill>
                  <a:schemeClr val="tx1"/>
                </a:solidFill>
              </a:rPr>
              <a:t>  Architecture and complexity table</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Inside app.py: how its 1,200 lines are organized</a:t>
            </a:r>
            <a:endParaRPr lang="en-US" sz="3600" dirty="0"/>
          </a:p>
        </p:txBody>
      </p:sp>
      <p:sp>
        <p:nvSpPr>
          <p:cNvPr id="3" name="1. Setup card"/>
          <p:cNvSpPr/>
          <p:nvPr/>
        </p:nvSpPr>
        <p:spPr>
          <a:xfrm>
            <a:off x="548640" y="1371600"/>
            <a:ext cx="5440680" cy="2240280"/>
          </a:xfrm>
          <a:prstGeom prst="roundRect">
            <a:avLst>
              <a:gd name="adj" fmla="val 4898"/>
            </a:avLst>
          </a:prstGeom>
          <a:solidFill>
            <a:schemeClr val="bg2"/>
          </a:solidFill>
          <a:ln/>
        </p:spPr>
      </p:sp>
      <p:sp>
        <p:nvSpPr>
          <p:cNvPr id="4" name="1. Setup tile"/>
          <p:cNvSpPr/>
          <p:nvPr/>
        </p:nvSpPr>
        <p:spPr>
          <a:xfrm>
            <a:off x="822960" y="1645920"/>
            <a:ext cx="640080" cy="640080"/>
          </a:xfrm>
          <a:prstGeom prst="roundRect">
            <a:avLst>
              <a:gd name="adj" fmla="val 24000"/>
            </a:avLst>
          </a:prstGeom>
          <a:solidFill>
            <a:schemeClr val="accent6">
              <a:alpha val="14000"/>
            </a:schemeClr>
          </a:solidFill>
          <a:ln/>
        </p:spPr>
      </p:sp>
      <p:pic>
        <p:nvPicPr>
          <p:cNvPr id="5" name="1. Setup icon"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6" name="Text 3"/>
          <p:cNvSpPr txBox="1"/>
          <p:nvPr/>
        </p:nvSpPr>
        <p:spPr>
          <a:xfrm>
            <a:off x="1645920" y="1627632"/>
            <a:ext cx="4023360" cy="365760"/>
          </a:xfrm>
          <a:prstGeom prst="rect">
            <a:avLst/>
          </a:prstGeom>
          <a:noFill/>
          <a:ln/>
        </p:spPr>
        <p:txBody>
          <a:bodyPr wrap="square" lIns="0" tIns="0" rIns="0" bIns="0" rtlCol="0" anchor="t"/>
          <a:lstStyle/>
          <a:p>
            <a:pPr indent="0" marL="0">
              <a:buNone/>
            </a:pPr>
            <a:r>
              <a:rPr lang="en-US" sz="2000" b="1" dirty="0">
                <a:solidFill>
                  <a:schemeClr val="tx2"/>
                </a:solidFill>
              </a:rPr>
              <a:t>1. Setup</a:t>
            </a:r>
            <a:endParaRPr lang="en-US" sz="2000" dirty="0"/>
          </a:p>
        </p:txBody>
      </p:sp>
      <p:sp>
        <p:nvSpPr>
          <p:cNvPr id="7" name="Text 4"/>
          <p:cNvSpPr txBox="1"/>
          <p:nvPr/>
        </p:nvSpPr>
        <p:spPr>
          <a:xfrm>
            <a:off x="1645920" y="1993392"/>
            <a:ext cx="4023360" cy="292608"/>
          </a:xfrm>
          <a:prstGeom prst="rect">
            <a:avLst/>
          </a:prstGeom>
          <a:noFill/>
          <a:ln/>
        </p:spPr>
        <p:txBody>
          <a:bodyPr wrap="square" lIns="0" tIns="0" rIns="0" bIns="0" rtlCol="0" anchor="t"/>
          <a:lstStyle/>
          <a:p>
            <a:pPr indent="0" marL="0">
              <a:buNone/>
            </a:pPr>
            <a:r>
              <a:rPr lang="en-US" sz="1300" dirty="0">
                <a:solidFill>
                  <a:schemeClr val="tx2"/>
                </a:solidFill>
              </a:rPr>
              <a:t>Top of the file</a:t>
            </a:r>
            <a:endParaRPr lang="en-US" sz="1300" dirty="0"/>
          </a:p>
        </p:txBody>
      </p:sp>
      <p:sp>
        <p:nvSpPr>
          <p:cNvPr id="8" name="Text 5"/>
          <p:cNvSpPr txBox="1"/>
          <p:nvPr/>
        </p:nvSpPr>
        <p:spPr>
          <a:xfrm>
            <a:off x="822960" y="2468880"/>
            <a:ext cx="4937760" cy="105156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COMPLEXITY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the complexity table shown in the app</a:t>
            </a:r>
            <a:endParaRPr lang="en-US" sz="1400" dirty="0"/>
          </a:p>
          <a:p>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PSEUDOCODE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the pseudocode shown in the lab</a:t>
            </a:r>
            <a:endParaRPr lang="en-US" sz="1400" dirty="0"/>
          </a:p>
        </p:txBody>
      </p:sp>
      <p:sp>
        <p:nvSpPr>
          <p:cNvPr id="9" name="2. Helpers card"/>
          <p:cNvSpPr/>
          <p:nvPr/>
        </p:nvSpPr>
        <p:spPr>
          <a:xfrm>
            <a:off x="6172200" y="1371600"/>
            <a:ext cx="5440680" cy="2240280"/>
          </a:xfrm>
          <a:prstGeom prst="roundRect">
            <a:avLst>
              <a:gd name="adj" fmla="val 4898"/>
            </a:avLst>
          </a:prstGeom>
          <a:solidFill>
            <a:schemeClr val="bg2"/>
          </a:solidFill>
          <a:ln/>
        </p:spPr>
      </p:sp>
      <p:sp>
        <p:nvSpPr>
          <p:cNvPr id="10" name="2. Helpers tile"/>
          <p:cNvSpPr/>
          <p:nvPr/>
        </p:nvSpPr>
        <p:spPr>
          <a:xfrm>
            <a:off x="6446520" y="1645920"/>
            <a:ext cx="640080" cy="640080"/>
          </a:xfrm>
          <a:prstGeom prst="roundRect">
            <a:avLst>
              <a:gd name="adj" fmla="val 24000"/>
            </a:avLst>
          </a:prstGeom>
          <a:solidFill>
            <a:schemeClr val="accent2">
              <a:alpha val="14000"/>
            </a:schemeClr>
          </a:solidFill>
          <a:ln/>
        </p:spPr>
      </p:sp>
      <p:pic>
        <p:nvPicPr>
          <p:cNvPr id="11" name="2. Helpers icon" descr="preencoded.png">    </p:cNvPr>
          <p:cNvPicPr>
            <a:picLocks noChangeAspect="1"/>
          </p:cNvPicPr>
          <p:nvPr/>
        </p:nvPicPr>
        <p:blipFill>
          <a:blip r:embed="rId2"/>
          <a:stretch>
            <a:fillRect/>
          </a:stretch>
        </p:blipFill>
        <p:spPr>
          <a:xfrm>
            <a:off x="6587338" y="1786738"/>
            <a:ext cx="358445" cy="358445"/>
          </a:xfrm>
          <a:prstGeom prst="rect">
            <a:avLst/>
          </a:prstGeom>
        </p:spPr>
      </p:pic>
      <p:sp>
        <p:nvSpPr>
          <p:cNvPr id="12" name="Text 8"/>
          <p:cNvSpPr txBox="1"/>
          <p:nvPr/>
        </p:nvSpPr>
        <p:spPr>
          <a:xfrm>
            <a:off x="7269480" y="1627632"/>
            <a:ext cx="4023360" cy="365760"/>
          </a:xfrm>
          <a:prstGeom prst="rect">
            <a:avLst/>
          </a:prstGeom>
          <a:noFill/>
          <a:ln/>
        </p:spPr>
        <p:txBody>
          <a:bodyPr wrap="square" lIns="0" tIns="0" rIns="0" bIns="0" rtlCol="0" anchor="t"/>
          <a:lstStyle/>
          <a:p>
            <a:pPr indent="0" marL="0">
              <a:buNone/>
            </a:pPr>
            <a:r>
              <a:rPr lang="en-US" sz="2000" b="1" dirty="0">
                <a:solidFill>
                  <a:schemeClr val="tx2"/>
                </a:solidFill>
              </a:rPr>
              <a:t>2. Helpers</a:t>
            </a:r>
            <a:endParaRPr lang="en-US" sz="2000" dirty="0"/>
          </a:p>
        </p:txBody>
      </p:sp>
      <p:sp>
        <p:nvSpPr>
          <p:cNvPr id="13" name="Text 9"/>
          <p:cNvSpPr txBox="1"/>
          <p:nvPr/>
        </p:nvSpPr>
        <p:spPr>
          <a:xfrm>
            <a:off x="7269480" y="1993392"/>
            <a:ext cx="4023360" cy="292608"/>
          </a:xfrm>
          <a:prstGeom prst="rect">
            <a:avLst/>
          </a:prstGeom>
          <a:noFill/>
          <a:ln/>
        </p:spPr>
        <p:txBody>
          <a:bodyPr wrap="square" lIns="0" tIns="0" rIns="0" bIns="0" rtlCol="0" anchor="t"/>
          <a:lstStyle/>
          <a:p>
            <a:pPr indent="0" marL="0">
              <a:buNone/>
            </a:pPr>
            <a:r>
              <a:rPr lang="en-US" sz="1300" dirty="0">
                <a:solidFill>
                  <a:schemeClr val="tx2"/>
                </a:solidFill>
              </a:rPr>
              <a:t>Small reusable pieces</a:t>
            </a:r>
            <a:endParaRPr lang="en-US" sz="1300" dirty="0"/>
          </a:p>
        </p:txBody>
      </p:sp>
      <p:sp>
        <p:nvSpPr>
          <p:cNvPr id="14" name="Text 10"/>
          <p:cNvSpPr txBox="1"/>
          <p:nvPr/>
        </p:nvSpPr>
        <p:spPr>
          <a:xfrm>
            <a:off x="6446520" y="2468880"/>
            <a:ext cx="4937760" cy="105156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chart()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gives every chart the same style</a:t>
            </a:r>
            <a:endParaRPr lang="en-US" sz="1400" dirty="0"/>
          </a:p>
          <a:p>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product_grid()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draws the product cards</a:t>
            </a:r>
            <a:endParaRPr lang="en-US" sz="1400" dirty="0"/>
          </a:p>
          <a:p>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search_box()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picks hash table, trie or linear search</a:t>
            </a:r>
            <a:endParaRPr lang="en-US" sz="1400" dirty="0"/>
          </a:p>
        </p:txBody>
      </p:sp>
      <p:sp>
        <p:nvSpPr>
          <p:cNvPr id="15" name="3. Pages card"/>
          <p:cNvSpPr/>
          <p:nvPr/>
        </p:nvSpPr>
        <p:spPr>
          <a:xfrm>
            <a:off x="548640" y="3794760"/>
            <a:ext cx="5440680" cy="2240280"/>
          </a:xfrm>
          <a:prstGeom prst="roundRect">
            <a:avLst>
              <a:gd name="adj" fmla="val 4898"/>
            </a:avLst>
          </a:prstGeom>
          <a:solidFill>
            <a:schemeClr val="bg2"/>
          </a:solidFill>
          <a:ln/>
        </p:spPr>
      </p:sp>
      <p:sp>
        <p:nvSpPr>
          <p:cNvPr id="16" name="3. Pages tile"/>
          <p:cNvSpPr/>
          <p:nvPr/>
        </p:nvSpPr>
        <p:spPr>
          <a:xfrm>
            <a:off x="822960" y="4069080"/>
            <a:ext cx="640080" cy="640080"/>
          </a:xfrm>
          <a:prstGeom prst="roundRect">
            <a:avLst>
              <a:gd name="adj" fmla="val 24000"/>
            </a:avLst>
          </a:prstGeom>
          <a:solidFill>
            <a:schemeClr val="accent1">
              <a:alpha val="14000"/>
            </a:schemeClr>
          </a:solidFill>
          <a:ln/>
        </p:spPr>
      </p:sp>
      <p:pic>
        <p:nvPicPr>
          <p:cNvPr id="17" name="3. Pages icon" descr="preencoded.png">    </p:cNvPr>
          <p:cNvPicPr>
            <a:picLocks noChangeAspect="1"/>
          </p:cNvPicPr>
          <p:nvPr/>
        </p:nvPicPr>
        <p:blipFill>
          <a:blip r:embed="rId3"/>
          <a:stretch>
            <a:fillRect/>
          </a:stretch>
        </p:blipFill>
        <p:spPr>
          <a:xfrm>
            <a:off x="963778" y="4209898"/>
            <a:ext cx="358445" cy="358445"/>
          </a:xfrm>
          <a:prstGeom prst="rect">
            <a:avLst/>
          </a:prstGeom>
        </p:spPr>
      </p:pic>
      <p:sp>
        <p:nvSpPr>
          <p:cNvPr id="18" name="Text 13"/>
          <p:cNvSpPr txBox="1"/>
          <p:nvPr/>
        </p:nvSpPr>
        <p:spPr>
          <a:xfrm>
            <a:off x="1645920" y="4050792"/>
            <a:ext cx="4023360" cy="365760"/>
          </a:xfrm>
          <a:prstGeom prst="rect">
            <a:avLst/>
          </a:prstGeom>
          <a:noFill/>
          <a:ln/>
        </p:spPr>
        <p:txBody>
          <a:bodyPr wrap="square" lIns="0" tIns="0" rIns="0" bIns="0" rtlCol="0" anchor="t"/>
          <a:lstStyle/>
          <a:p>
            <a:pPr indent="0" marL="0">
              <a:buNone/>
            </a:pPr>
            <a:r>
              <a:rPr lang="en-US" sz="2000" b="1" dirty="0">
                <a:solidFill>
                  <a:schemeClr val="tx2"/>
                </a:solidFill>
              </a:rPr>
              <a:t>3. Pages</a:t>
            </a:r>
            <a:endParaRPr lang="en-US" sz="2000" dirty="0"/>
          </a:p>
        </p:txBody>
      </p:sp>
      <p:sp>
        <p:nvSpPr>
          <p:cNvPr id="19" name="Text 14"/>
          <p:cNvSpPr txBox="1"/>
          <p:nvPr/>
        </p:nvSpPr>
        <p:spPr>
          <a:xfrm>
            <a:off x="1645920" y="4416552"/>
            <a:ext cx="4023360" cy="292608"/>
          </a:xfrm>
          <a:prstGeom prst="rect">
            <a:avLst/>
          </a:prstGeom>
          <a:noFill/>
          <a:ln/>
        </p:spPr>
        <p:txBody>
          <a:bodyPr wrap="square" lIns="0" tIns="0" rIns="0" bIns="0" rtlCol="0" anchor="t"/>
          <a:lstStyle/>
          <a:p>
            <a:pPr indent="0" marL="0">
              <a:buNone/>
            </a:pPr>
            <a:r>
              <a:rPr lang="en-US" sz="1300" dirty="0">
                <a:solidFill>
                  <a:schemeClr val="tx2"/>
                </a:solidFill>
              </a:rPr>
              <a:t>One function per page</a:t>
            </a:r>
            <a:endParaRPr lang="en-US" sz="1300" dirty="0"/>
          </a:p>
        </p:txBody>
      </p:sp>
      <p:sp>
        <p:nvSpPr>
          <p:cNvPr id="20" name="Text 15"/>
          <p:cNvSpPr txBox="1"/>
          <p:nvPr/>
        </p:nvSpPr>
        <p:spPr>
          <a:xfrm>
            <a:off x="822960" y="4892040"/>
            <a:ext cx="4937760" cy="105156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page_dashboard()   </a:t>
            </a:r>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page_products()</a:t>
            </a:r>
            <a:endParaRPr lang="en-US" sz="1400" dirty="0"/>
          </a:p>
          <a:p>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page_restock()   </a:t>
            </a:r>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page_routes()</a:t>
            </a:r>
            <a:endParaRPr lang="en-US" sz="1400" dirty="0"/>
          </a:p>
          <a:p>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page_lab()   </a:t>
            </a:r>
            <a:pPr indent="0" marL="0">
              <a:spcAft>
                <a:spcPts val="400"/>
              </a:spcAft>
              <a:buNone/>
            </a:pPr>
            <a:r>
              <a:rPr lang="en-US" sz="1300" b="1" dirty="0">
                <a:solidFill>
                  <a:schemeClr val="accent1"/>
                </a:solidFill>
                <a:latin typeface="Courier New" pitchFamily="34" charset="0"/>
                <a:ea typeface="Courier New" pitchFamily="34" charset="-122"/>
                <a:cs typeface="Courier New" pitchFamily="34" charset="-120"/>
              </a:rPr>
              <a:t>... and 3 more</a:t>
            </a:r>
            <a:endParaRPr lang="en-US" sz="1400" dirty="0"/>
          </a:p>
        </p:txBody>
      </p:sp>
      <p:sp>
        <p:nvSpPr>
          <p:cNvPr id="21" name="4. main() card"/>
          <p:cNvSpPr/>
          <p:nvPr/>
        </p:nvSpPr>
        <p:spPr>
          <a:xfrm>
            <a:off x="6172200" y="3794760"/>
            <a:ext cx="5440680" cy="2240280"/>
          </a:xfrm>
          <a:prstGeom prst="roundRect">
            <a:avLst>
              <a:gd name="adj" fmla="val 4898"/>
            </a:avLst>
          </a:prstGeom>
          <a:solidFill>
            <a:schemeClr val="bg2"/>
          </a:solidFill>
          <a:ln/>
        </p:spPr>
      </p:sp>
      <p:sp>
        <p:nvSpPr>
          <p:cNvPr id="22" name="4. main() tile"/>
          <p:cNvSpPr/>
          <p:nvPr/>
        </p:nvSpPr>
        <p:spPr>
          <a:xfrm>
            <a:off x="6446520" y="4069080"/>
            <a:ext cx="640080" cy="640080"/>
          </a:xfrm>
          <a:prstGeom prst="roundRect">
            <a:avLst>
              <a:gd name="adj" fmla="val 24000"/>
            </a:avLst>
          </a:prstGeom>
          <a:solidFill>
            <a:schemeClr val="accent3">
              <a:alpha val="14000"/>
            </a:schemeClr>
          </a:solidFill>
          <a:ln/>
        </p:spPr>
      </p:sp>
      <p:pic>
        <p:nvPicPr>
          <p:cNvPr id="23" name="4. main() icon" descr="preencoded.png">    </p:cNvPr>
          <p:cNvPicPr>
            <a:picLocks noChangeAspect="1"/>
          </p:cNvPicPr>
          <p:nvPr/>
        </p:nvPicPr>
        <p:blipFill>
          <a:blip r:embed="rId4"/>
          <a:stretch>
            <a:fillRect/>
          </a:stretch>
        </p:blipFill>
        <p:spPr>
          <a:xfrm>
            <a:off x="6587338" y="4209898"/>
            <a:ext cx="358445" cy="358445"/>
          </a:xfrm>
          <a:prstGeom prst="rect">
            <a:avLst/>
          </a:prstGeom>
        </p:spPr>
      </p:pic>
      <p:sp>
        <p:nvSpPr>
          <p:cNvPr id="24" name="Text 18"/>
          <p:cNvSpPr txBox="1"/>
          <p:nvPr/>
        </p:nvSpPr>
        <p:spPr>
          <a:xfrm>
            <a:off x="7269480" y="4050792"/>
            <a:ext cx="4023360" cy="365760"/>
          </a:xfrm>
          <a:prstGeom prst="rect">
            <a:avLst/>
          </a:prstGeom>
          <a:noFill/>
          <a:ln/>
        </p:spPr>
        <p:txBody>
          <a:bodyPr wrap="square" lIns="0" tIns="0" rIns="0" bIns="0" rtlCol="0" anchor="t"/>
          <a:lstStyle/>
          <a:p>
            <a:pPr indent="0" marL="0">
              <a:buNone/>
            </a:pPr>
            <a:r>
              <a:rPr lang="en-US" sz="2000" b="1" dirty="0">
                <a:solidFill>
                  <a:schemeClr val="tx2"/>
                </a:solidFill>
              </a:rPr>
              <a:t>4. main()</a:t>
            </a:r>
            <a:endParaRPr lang="en-US" sz="2000" dirty="0"/>
          </a:p>
        </p:txBody>
      </p:sp>
      <p:sp>
        <p:nvSpPr>
          <p:cNvPr id="25" name="Text 19"/>
          <p:cNvSpPr txBox="1"/>
          <p:nvPr/>
        </p:nvSpPr>
        <p:spPr>
          <a:xfrm>
            <a:off x="7269480" y="4416552"/>
            <a:ext cx="4023360" cy="292608"/>
          </a:xfrm>
          <a:prstGeom prst="rect">
            <a:avLst/>
          </a:prstGeom>
          <a:noFill/>
          <a:ln/>
        </p:spPr>
        <p:txBody>
          <a:bodyPr wrap="square" lIns="0" tIns="0" rIns="0" bIns="0" rtlCol="0" anchor="t"/>
          <a:lstStyle/>
          <a:p>
            <a:pPr indent="0" marL="0">
              <a:buNone/>
            </a:pPr>
            <a:r>
              <a:rPr lang="en-US" sz="1300" dirty="0">
                <a:solidFill>
                  <a:schemeClr val="tx2"/>
                </a:solidFill>
              </a:rPr>
              <a:t>Runs on every click</a:t>
            </a:r>
            <a:endParaRPr lang="en-US" sz="1300" dirty="0"/>
          </a:p>
        </p:txBody>
      </p:sp>
      <p:sp>
        <p:nvSpPr>
          <p:cNvPr id="26" name="Text 20"/>
          <p:cNvSpPr txBox="1"/>
          <p:nvPr/>
        </p:nvSpPr>
        <p:spPr>
          <a:xfrm>
            <a:off x="6446520" y="4892040"/>
            <a:ext cx="4937760" cy="105156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1.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reads all products from SQLite</a:t>
            </a:r>
            <a:endParaRPr lang="en-US" sz="1400" dirty="0"/>
          </a:p>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2.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builds the C Engine from them</a:t>
            </a:r>
            <a:endParaRPr lang="en-US" sz="1400" dirty="0"/>
          </a:p>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3.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draws the sidebar and the chosen page</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c_bridge.py: the translator between Python and C</a:t>
            </a:r>
            <a:endParaRPr lang="en-US" sz="3600" dirty="0"/>
          </a:p>
        </p:txBody>
      </p:sp>
      <p:sp>
        <p:nvSpPr>
          <p:cNvPr id="3" name="step 1 card"/>
          <p:cNvSpPr/>
          <p:nvPr/>
        </p:nvSpPr>
        <p:spPr>
          <a:xfrm>
            <a:off x="548640" y="1508760"/>
            <a:ext cx="2011680" cy="2331720"/>
          </a:xfrm>
          <a:prstGeom prst="roundRect">
            <a:avLst>
              <a:gd name="adj" fmla="val 5455"/>
            </a:avLst>
          </a:prstGeom>
          <a:solidFill>
            <a:schemeClr val="bg2"/>
          </a:solidFill>
          <a:ln/>
        </p:spPr>
      </p:sp>
      <p:sp>
        <p:nvSpPr>
          <p:cNvPr id="4" name="step 1 tile"/>
          <p:cNvSpPr/>
          <p:nvPr/>
        </p:nvSpPr>
        <p:spPr>
          <a:xfrm>
            <a:off x="1207008" y="1737360"/>
            <a:ext cx="694944" cy="694944"/>
          </a:xfrm>
          <a:prstGeom prst="roundRect">
            <a:avLst>
              <a:gd name="adj" fmla="val 24000"/>
            </a:avLst>
          </a:prstGeom>
          <a:solidFill>
            <a:schemeClr val="accent1">
              <a:alpha val="14000"/>
            </a:schemeClr>
          </a:solidFill>
          <a:ln/>
        </p:spPr>
      </p:sp>
      <p:pic>
        <p:nvPicPr>
          <p:cNvPr id="5" name="step 1 icon" descr="preencoded.png">    </p:cNvPr>
          <p:cNvPicPr>
            <a:picLocks noChangeAspect="1"/>
          </p:cNvPicPr>
          <p:nvPr/>
        </p:nvPicPr>
        <p:blipFill>
          <a:blip r:embed="rId1"/>
          <a:stretch>
            <a:fillRect/>
          </a:stretch>
        </p:blipFill>
        <p:spPr>
          <a:xfrm>
            <a:off x="1359896" y="1890248"/>
            <a:ext cx="389169" cy="389169"/>
          </a:xfrm>
          <a:prstGeom prst="rect">
            <a:avLst/>
          </a:prstGeom>
        </p:spPr>
      </p:pic>
      <p:sp>
        <p:nvSpPr>
          <p:cNvPr id="6" name="Text 3"/>
          <p:cNvSpPr txBox="1"/>
          <p:nvPr/>
        </p:nvSpPr>
        <p:spPr>
          <a:xfrm>
            <a:off x="685800" y="2560320"/>
            <a:ext cx="1737360" cy="384048"/>
          </a:xfrm>
          <a:prstGeom prst="rect">
            <a:avLst/>
          </a:prstGeom>
          <a:noFill/>
          <a:ln/>
        </p:spPr>
        <p:txBody>
          <a:bodyPr wrap="square" lIns="0" tIns="0" rIns="0" bIns="0" rtlCol="0" anchor="t"/>
          <a:lstStyle/>
          <a:p>
            <a:pPr algn="ctr" indent="0" marL="0">
              <a:buNone/>
            </a:pPr>
            <a:r>
              <a:rPr lang="en-US" sz="1800" b="1" dirty="0">
                <a:solidFill>
                  <a:schemeClr val="tx2"/>
                </a:solidFill>
              </a:rPr>
              <a:t>Python data</a:t>
            </a:r>
            <a:endParaRPr lang="en-US" sz="1800" dirty="0"/>
          </a:p>
        </p:txBody>
      </p:sp>
      <p:sp>
        <p:nvSpPr>
          <p:cNvPr id="7" name="Text 4"/>
          <p:cNvSpPr txBox="1"/>
          <p:nvPr/>
        </p:nvSpPr>
        <p:spPr>
          <a:xfrm>
            <a:off x="685800" y="2971800"/>
            <a:ext cx="1737360" cy="731520"/>
          </a:xfrm>
          <a:prstGeom prst="rect">
            <a:avLst/>
          </a:prstGeom>
          <a:noFill/>
          <a:ln/>
        </p:spPr>
        <p:txBody>
          <a:bodyPr wrap="square" lIns="0" tIns="0" rIns="0" bIns="0" rtlCol="0" anchor="t"/>
          <a:lstStyle/>
          <a:p>
            <a:pPr algn="ctr" indent="0" marL="0">
              <a:buNone/>
            </a:pPr>
            <a:r>
              <a:rPr lang="en-US" sz="1400" dirty="0">
                <a:solidFill>
                  <a:schemeClr val="tx1"/>
                </a:solidFill>
              </a:rPr>
              <a:t>a list of product dicts</a:t>
            </a:r>
            <a:endParaRPr lang="en-US" sz="1400" dirty="0"/>
          </a:p>
        </p:txBody>
      </p:sp>
      <p:sp>
        <p:nvSpPr>
          <p:cNvPr id="8" name="arrow 1"/>
          <p:cNvSpPr/>
          <p:nvPr/>
        </p:nvSpPr>
        <p:spPr>
          <a:xfrm>
            <a:off x="2596896" y="2542032"/>
            <a:ext cx="201168" cy="274320"/>
          </a:xfrm>
          <a:prstGeom prst="rightArrow">
            <a:avLst/>
          </a:prstGeom>
          <a:solidFill>
            <a:schemeClr val="tx2"/>
          </a:solidFill>
          <a:ln/>
        </p:spPr>
      </p:sp>
      <p:sp>
        <p:nvSpPr>
          <p:cNvPr id="9" name="step 2 card"/>
          <p:cNvSpPr/>
          <p:nvPr/>
        </p:nvSpPr>
        <p:spPr>
          <a:xfrm>
            <a:off x="2834640" y="1508760"/>
            <a:ext cx="2011680" cy="2331720"/>
          </a:xfrm>
          <a:prstGeom prst="roundRect">
            <a:avLst>
              <a:gd name="adj" fmla="val 5455"/>
            </a:avLst>
          </a:prstGeom>
          <a:solidFill>
            <a:schemeClr val="bg2"/>
          </a:solidFill>
          <a:ln/>
        </p:spPr>
      </p:sp>
      <p:sp>
        <p:nvSpPr>
          <p:cNvPr id="10" name="step 2 tile"/>
          <p:cNvSpPr/>
          <p:nvPr/>
        </p:nvSpPr>
        <p:spPr>
          <a:xfrm>
            <a:off x="3493008" y="1737360"/>
            <a:ext cx="694944" cy="694944"/>
          </a:xfrm>
          <a:prstGeom prst="roundRect">
            <a:avLst>
              <a:gd name="adj" fmla="val 24000"/>
            </a:avLst>
          </a:prstGeom>
          <a:solidFill>
            <a:schemeClr val="accent3">
              <a:alpha val="14000"/>
            </a:schemeClr>
          </a:solidFill>
          <a:ln/>
        </p:spPr>
      </p:sp>
      <p:pic>
        <p:nvPicPr>
          <p:cNvPr id="11" name="step 2 icon" descr="preencoded.png">    </p:cNvPr>
          <p:cNvPicPr>
            <a:picLocks noChangeAspect="1"/>
          </p:cNvPicPr>
          <p:nvPr/>
        </p:nvPicPr>
        <p:blipFill>
          <a:blip r:embed="rId2"/>
          <a:stretch>
            <a:fillRect/>
          </a:stretch>
        </p:blipFill>
        <p:spPr>
          <a:xfrm>
            <a:off x="3645896" y="1890248"/>
            <a:ext cx="389169" cy="389169"/>
          </a:xfrm>
          <a:prstGeom prst="rect">
            <a:avLst/>
          </a:prstGeom>
        </p:spPr>
      </p:pic>
      <p:sp>
        <p:nvSpPr>
          <p:cNvPr id="12" name="Text 8"/>
          <p:cNvSpPr txBox="1"/>
          <p:nvPr/>
        </p:nvSpPr>
        <p:spPr>
          <a:xfrm>
            <a:off x="2971800" y="2560320"/>
            <a:ext cx="1737360" cy="384048"/>
          </a:xfrm>
          <a:prstGeom prst="rect">
            <a:avLst/>
          </a:prstGeom>
          <a:noFill/>
          <a:ln/>
        </p:spPr>
        <p:txBody>
          <a:bodyPr wrap="square" lIns="0" tIns="0" rIns="0" bIns="0" rtlCol="0" anchor="t"/>
          <a:lstStyle/>
          <a:p>
            <a:pPr algn="ctr" indent="0" marL="0">
              <a:buNone/>
            </a:pPr>
            <a:r>
              <a:rPr lang="en-US" sz="1800" b="1" dirty="0">
                <a:solidFill>
                  <a:schemeClr val="tx2"/>
                </a:solidFill>
              </a:rPr>
              <a:t>Validate</a:t>
            </a:r>
            <a:endParaRPr lang="en-US" sz="1800" dirty="0"/>
          </a:p>
        </p:txBody>
      </p:sp>
      <p:sp>
        <p:nvSpPr>
          <p:cNvPr id="13" name="Text 9"/>
          <p:cNvSpPr txBox="1"/>
          <p:nvPr/>
        </p:nvSpPr>
        <p:spPr>
          <a:xfrm>
            <a:off x="2971800" y="2971800"/>
            <a:ext cx="1737360" cy="731520"/>
          </a:xfrm>
          <a:prstGeom prst="rect">
            <a:avLst/>
          </a:prstGeom>
          <a:noFill/>
          <a:ln/>
        </p:spPr>
        <p:txBody>
          <a:bodyPr wrap="square" lIns="0" tIns="0" rIns="0" bIns="0" rtlCol="0" anchor="t"/>
          <a:lstStyle/>
          <a:p>
            <a:pPr algn="ctr" indent="0" marL="0">
              <a:buNone/>
            </a:pPr>
            <a:r>
              <a:rPr lang="en-US" sz="1400" dirty="0">
                <a:solidFill>
                  <a:schemeClr val="tx1"/>
                </a:solidFill>
              </a:rPr>
              <a:t>no negative price, no duplicate ID</a:t>
            </a:r>
            <a:endParaRPr lang="en-US" sz="1400" dirty="0"/>
          </a:p>
        </p:txBody>
      </p:sp>
      <p:sp>
        <p:nvSpPr>
          <p:cNvPr id="14" name="arrow 2"/>
          <p:cNvSpPr/>
          <p:nvPr/>
        </p:nvSpPr>
        <p:spPr>
          <a:xfrm>
            <a:off x="4882896" y="2542032"/>
            <a:ext cx="201168" cy="274320"/>
          </a:xfrm>
          <a:prstGeom prst="rightArrow">
            <a:avLst/>
          </a:prstGeom>
          <a:solidFill>
            <a:schemeClr val="tx2"/>
          </a:solidFill>
          <a:ln/>
        </p:spPr>
      </p:sp>
      <p:sp>
        <p:nvSpPr>
          <p:cNvPr id="15" name="step 3 card"/>
          <p:cNvSpPr/>
          <p:nvPr/>
        </p:nvSpPr>
        <p:spPr>
          <a:xfrm>
            <a:off x="5120640" y="1508760"/>
            <a:ext cx="2011680" cy="2331720"/>
          </a:xfrm>
          <a:prstGeom prst="roundRect">
            <a:avLst>
              <a:gd name="adj" fmla="val 5455"/>
            </a:avLst>
          </a:prstGeom>
          <a:solidFill>
            <a:schemeClr val="bg2"/>
          </a:solidFill>
          <a:ln/>
        </p:spPr>
      </p:sp>
      <p:sp>
        <p:nvSpPr>
          <p:cNvPr id="16" name="step 3 tile"/>
          <p:cNvSpPr/>
          <p:nvPr/>
        </p:nvSpPr>
        <p:spPr>
          <a:xfrm>
            <a:off x="5779008" y="1737360"/>
            <a:ext cx="694944" cy="694944"/>
          </a:xfrm>
          <a:prstGeom prst="roundRect">
            <a:avLst>
              <a:gd name="adj" fmla="val 24000"/>
            </a:avLst>
          </a:prstGeom>
          <a:solidFill>
            <a:schemeClr val="accent2">
              <a:alpha val="14000"/>
            </a:schemeClr>
          </a:solidFill>
          <a:ln/>
        </p:spPr>
      </p:sp>
      <p:pic>
        <p:nvPicPr>
          <p:cNvPr id="17" name="step 3 icon" descr="preencoded.png">    </p:cNvPr>
          <p:cNvPicPr>
            <a:picLocks noChangeAspect="1"/>
          </p:cNvPicPr>
          <p:nvPr/>
        </p:nvPicPr>
        <p:blipFill>
          <a:blip r:embed="rId3"/>
          <a:stretch>
            <a:fillRect/>
          </a:stretch>
        </p:blipFill>
        <p:spPr>
          <a:xfrm>
            <a:off x="5931896" y="1890248"/>
            <a:ext cx="389169" cy="389169"/>
          </a:xfrm>
          <a:prstGeom prst="rect">
            <a:avLst/>
          </a:prstGeom>
        </p:spPr>
      </p:pic>
      <p:sp>
        <p:nvSpPr>
          <p:cNvPr id="18" name="Text 13"/>
          <p:cNvSpPr txBox="1"/>
          <p:nvPr/>
        </p:nvSpPr>
        <p:spPr>
          <a:xfrm>
            <a:off x="5257800" y="2560320"/>
            <a:ext cx="1737360" cy="384048"/>
          </a:xfrm>
          <a:prstGeom prst="rect">
            <a:avLst/>
          </a:prstGeom>
          <a:noFill/>
          <a:ln/>
        </p:spPr>
        <p:txBody>
          <a:bodyPr wrap="square" lIns="0" tIns="0" rIns="0" bIns="0" rtlCol="0" anchor="t"/>
          <a:lstStyle/>
          <a:p>
            <a:pPr algn="ctr" indent="0" marL="0">
              <a:buNone/>
            </a:pPr>
            <a:r>
              <a:rPr lang="en-US" sz="1800" b="1" dirty="0">
                <a:solidFill>
                  <a:schemeClr val="tx2"/>
                </a:solidFill>
              </a:rPr>
              <a:t>Pack</a:t>
            </a:r>
            <a:endParaRPr lang="en-US" sz="1800" dirty="0"/>
          </a:p>
        </p:txBody>
      </p:sp>
      <p:sp>
        <p:nvSpPr>
          <p:cNvPr id="19" name="Text 14"/>
          <p:cNvSpPr txBox="1"/>
          <p:nvPr/>
        </p:nvSpPr>
        <p:spPr>
          <a:xfrm>
            <a:off x="5257800" y="2971800"/>
            <a:ext cx="1737360" cy="731520"/>
          </a:xfrm>
          <a:prstGeom prst="rect">
            <a:avLst/>
          </a:prstGeom>
          <a:noFill/>
          <a:ln/>
        </p:spPr>
        <p:txBody>
          <a:bodyPr wrap="square" lIns="0" tIns="0" rIns="0" bIns="0" rtlCol="0" anchor="t"/>
          <a:lstStyle/>
          <a:p>
            <a:pPr algn="ctr" indent="0" marL="0">
              <a:buNone/>
            </a:pPr>
            <a:r>
              <a:rPr lang="en-US" sz="1400" dirty="0">
                <a:solidFill>
                  <a:schemeClr val="tx1"/>
                </a:solidFill>
              </a:rPr>
              <a:t>copy into C structs (ctypes)</a:t>
            </a:r>
            <a:endParaRPr lang="en-US" sz="1400" dirty="0"/>
          </a:p>
        </p:txBody>
      </p:sp>
      <p:sp>
        <p:nvSpPr>
          <p:cNvPr id="20" name="arrow 3"/>
          <p:cNvSpPr/>
          <p:nvPr/>
        </p:nvSpPr>
        <p:spPr>
          <a:xfrm>
            <a:off x="7168896" y="2542032"/>
            <a:ext cx="201168" cy="274320"/>
          </a:xfrm>
          <a:prstGeom prst="rightArrow">
            <a:avLst/>
          </a:prstGeom>
          <a:solidFill>
            <a:schemeClr val="tx2"/>
          </a:solidFill>
          <a:ln/>
        </p:spPr>
      </p:sp>
      <p:sp>
        <p:nvSpPr>
          <p:cNvPr id="21" name="step 4 card"/>
          <p:cNvSpPr/>
          <p:nvPr/>
        </p:nvSpPr>
        <p:spPr>
          <a:xfrm>
            <a:off x="7406640" y="1508760"/>
            <a:ext cx="2011680" cy="2331720"/>
          </a:xfrm>
          <a:prstGeom prst="roundRect">
            <a:avLst>
              <a:gd name="adj" fmla="val 5455"/>
            </a:avLst>
          </a:prstGeom>
          <a:solidFill>
            <a:schemeClr val="bg2"/>
          </a:solidFill>
          <a:ln/>
        </p:spPr>
      </p:sp>
      <p:sp>
        <p:nvSpPr>
          <p:cNvPr id="22" name="step 4 tile"/>
          <p:cNvSpPr/>
          <p:nvPr/>
        </p:nvSpPr>
        <p:spPr>
          <a:xfrm>
            <a:off x="8065008" y="1737360"/>
            <a:ext cx="694944" cy="694944"/>
          </a:xfrm>
          <a:prstGeom prst="roundRect">
            <a:avLst>
              <a:gd name="adj" fmla="val 24000"/>
            </a:avLst>
          </a:prstGeom>
          <a:solidFill>
            <a:schemeClr val="accent4">
              <a:alpha val="14000"/>
            </a:schemeClr>
          </a:solidFill>
          <a:ln/>
        </p:spPr>
      </p:sp>
      <p:pic>
        <p:nvPicPr>
          <p:cNvPr id="23" name="step 4 icon" descr="preencoded.png">    </p:cNvPr>
          <p:cNvPicPr>
            <a:picLocks noChangeAspect="1"/>
          </p:cNvPicPr>
          <p:nvPr/>
        </p:nvPicPr>
        <p:blipFill>
          <a:blip r:embed="rId4"/>
          <a:stretch>
            <a:fillRect/>
          </a:stretch>
        </p:blipFill>
        <p:spPr>
          <a:xfrm>
            <a:off x="8217896" y="1890248"/>
            <a:ext cx="389169" cy="389169"/>
          </a:xfrm>
          <a:prstGeom prst="rect">
            <a:avLst/>
          </a:prstGeom>
        </p:spPr>
      </p:pic>
      <p:sp>
        <p:nvSpPr>
          <p:cNvPr id="24" name="Text 18"/>
          <p:cNvSpPr txBox="1"/>
          <p:nvPr/>
        </p:nvSpPr>
        <p:spPr>
          <a:xfrm>
            <a:off x="7543800" y="2560320"/>
            <a:ext cx="1737360" cy="384048"/>
          </a:xfrm>
          <a:prstGeom prst="rect">
            <a:avLst/>
          </a:prstGeom>
          <a:noFill/>
          <a:ln/>
        </p:spPr>
        <p:txBody>
          <a:bodyPr wrap="square" lIns="0" tIns="0" rIns="0" bIns="0" rtlCol="0" anchor="t"/>
          <a:lstStyle/>
          <a:p>
            <a:pPr algn="ctr" indent="0" marL="0">
              <a:buNone/>
            </a:pPr>
            <a:r>
              <a:rPr lang="en-US" sz="1800" b="1" dirty="0">
                <a:solidFill>
                  <a:schemeClr val="tx2"/>
                </a:solidFill>
              </a:rPr>
              <a:t>Call C</a:t>
            </a:r>
            <a:endParaRPr lang="en-US" sz="1800" dirty="0"/>
          </a:p>
        </p:txBody>
      </p:sp>
      <p:sp>
        <p:nvSpPr>
          <p:cNvPr id="25" name="Text 19"/>
          <p:cNvSpPr txBox="1"/>
          <p:nvPr/>
        </p:nvSpPr>
        <p:spPr>
          <a:xfrm>
            <a:off x="7543800" y="2971800"/>
            <a:ext cx="1737360" cy="731520"/>
          </a:xfrm>
          <a:prstGeom prst="rect">
            <a:avLst/>
          </a:prstGeom>
          <a:noFill/>
          <a:ln/>
        </p:spPr>
        <p:txBody>
          <a:bodyPr wrap="square" lIns="0" tIns="0" rIns="0" bIns="0" rtlCol="0" anchor="t"/>
          <a:lstStyle/>
          <a:p>
            <a:pPr algn="ctr" indent="0" marL="0">
              <a:buNone/>
            </a:pPr>
            <a:r>
              <a:rPr lang="en-US" sz="1400" dirty="0">
                <a:solidFill>
                  <a:schemeClr val="tx1"/>
                </a:solidFill>
              </a:rPr>
              <a:t>e.g. sw_prefix_search()</a:t>
            </a:r>
            <a:endParaRPr lang="en-US" sz="1400" dirty="0"/>
          </a:p>
        </p:txBody>
      </p:sp>
      <p:sp>
        <p:nvSpPr>
          <p:cNvPr id="26" name="arrow 4"/>
          <p:cNvSpPr/>
          <p:nvPr/>
        </p:nvSpPr>
        <p:spPr>
          <a:xfrm>
            <a:off x="9454896" y="2542032"/>
            <a:ext cx="201168" cy="274320"/>
          </a:xfrm>
          <a:prstGeom prst="rightArrow">
            <a:avLst/>
          </a:prstGeom>
          <a:solidFill>
            <a:schemeClr val="tx2"/>
          </a:solidFill>
          <a:ln/>
        </p:spPr>
      </p:sp>
      <p:sp>
        <p:nvSpPr>
          <p:cNvPr id="27" name="step 5 card"/>
          <p:cNvSpPr/>
          <p:nvPr/>
        </p:nvSpPr>
        <p:spPr>
          <a:xfrm>
            <a:off x="9692640" y="1508760"/>
            <a:ext cx="2011680" cy="2331720"/>
          </a:xfrm>
          <a:prstGeom prst="roundRect">
            <a:avLst>
              <a:gd name="adj" fmla="val 5455"/>
            </a:avLst>
          </a:prstGeom>
          <a:solidFill>
            <a:schemeClr val="bg2"/>
          </a:solidFill>
          <a:ln/>
        </p:spPr>
      </p:sp>
      <p:sp>
        <p:nvSpPr>
          <p:cNvPr id="28" name="step 5 tile"/>
          <p:cNvSpPr/>
          <p:nvPr/>
        </p:nvSpPr>
        <p:spPr>
          <a:xfrm>
            <a:off x="10351008" y="1737360"/>
            <a:ext cx="694944" cy="694944"/>
          </a:xfrm>
          <a:prstGeom prst="roundRect">
            <a:avLst>
              <a:gd name="adj" fmla="val 24000"/>
            </a:avLst>
          </a:prstGeom>
          <a:solidFill>
            <a:schemeClr val="accent1">
              <a:alpha val="14000"/>
            </a:schemeClr>
          </a:solidFill>
          <a:ln/>
        </p:spPr>
      </p:sp>
      <p:pic>
        <p:nvPicPr>
          <p:cNvPr id="29" name="step 5 icon" descr="preencoded.png">    </p:cNvPr>
          <p:cNvPicPr>
            <a:picLocks noChangeAspect="1"/>
          </p:cNvPicPr>
          <p:nvPr/>
        </p:nvPicPr>
        <p:blipFill>
          <a:blip r:embed="rId5"/>
          <a:stretch>
            <a:fillRect/>
          </a:stretch>
        </p:blipFill>
        <p:spPr>
          <a:xfrm>
            <a:off x="10503896" y="1890248"/>
            <a:ext cx="389169" cy="389169"/>
          </a:xfrm>
          <a:prstGeom prst="rect">
            <a:avLst/>
          </a:prstGeom>
        </p:spPr>
      </p:pic>
      <p:sp>
        <p:nvSpPr>
          <p:cNvPr id="30" name="Text 23"/>
          <p:cNvSpPr txBox="1"/>
          <p:nvPr/>
        </p:nvSpPr>
        <p:spPr>
          <a:xfrm>
            <a:off x="9829800" y="2560320"/>
            <a:ext cx="1737360" cy="384048"/>
          </a:xfrm>
          <a:prstGeom prst="rect">
            <a:avLst/>
          </a:prstGeom>
          <a:noFill/>
          <a:ln/>
        </p:spPr>
        <p:txBody>
          <a:bodyPr wrap="square" lIns="0" tIns="0" rIns="0" bIns="0" rtlCol="0" anchor="t"/>
          <a:lstStyle/>
          <a:p>
            <a:pPr algn="ctr" indent="0" marL="0">
              <a:buNone/>
            </a:pPr>
            <a:r>
              <a:rPr lang="en-US" sz="1800" b="1" dirty="0">
                <a:solidFill>
                  <a:schemeClr val="tx2"/>
                </a:solidFill>
              </a:rPr>
              <a:t>Unpack</a:t>
            </a:r>
            <a:endParaRPr lang="en-US" sz="1800" dirty="0"/>
          </a:p>
        </p:txBody>
      </p:sp>
      <p:sp>
        <p:nvSpPr>
          <p:cNvPr id="31" name="Text 24"/>
          <p:cNvSpPr txBox="1"/>
          <p:nvPr/>
        </p:nvSpPr>
        <p:spPr>
          <a:xfrm>
            <a:off x="9829800" y="2971800"/>
            <a:ext cx="1737360" cy="731520"/>
          </a:xfrm>
          <a:prstGeom prst="rect">
            <a:avLst/>
          </a:prstGeom>
          <a:noFill/>
          <a:ln/>
        </p:spPr>
        <p:txBody>
          <a:bodyPr wrap="square" lIns="0" tIns="0" rIns="0" bIns="0" rtlCol="0" anchor="t"/>
          <a:lstStyle/>
          <a:p>
            <a:pPr algn="ctr" indent="0" marL="0">
              <a:buNone/>
            </a:pPr>
            <a:r>
              <a:rPr lang="en-US" sz="1400" dirty="0">
                <a:solidFill>
                  <a:schemeClr val="tx1"/>
                </a:solidFill>
              </a:rPr>
              <a:t>results back to dicts</a:t>
            </a:r>
            <a:endParaRPr lang="en-US" sz="1400" dirty="0"/>
          </a:p>
        </p:txBody>
      </p:sp>
      <p:sp>
        <p:nvSpPr>
          <p:cNvPr id="32" name="Text 25"/>
          <p:cNvSpPr txBox="1"/>
          <p:nvPr/>
        </p:nvSpPr>
        <p:spPr>
          <a:xfrm>
            <a:off x="548640" y="4251960"/>
            <a:ext cx="3520440" cy="59436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class Engine</a:t>
            </a:r>
            <a:endParaRPr lang="en-US" sz="1400" dirty="0"/>
          </a:p>
        </p:txBody>
      </p:sp>
      <p:sp>
        <p:nvSpPr>
          <p:cNvPr id="33" name="Text 26"/>
          <p:cNvSpPr txBox="1"/>
          <p:nvPr/>
        </p:nvSpPr>
        <p:spPr>
          <a:xfrm>
            <a:off x="548640" y="4892040"/>
            <a:ext cx="3474720" cy="731520"/>
          </a:xfrm>
          <a:prstGeom prst="rect">
            <a:avLst/>
          </a:prstGeom>
          <a:noFill/>
          <a:ln/>
        </p:spPr>
        <p:txBody>
          <a:bodyPr wrap="square" lIns="0" tIns="0" rIns="0" bIns="0" rtlCol="0" anchor="t"/>
          <a:lstStyle/>
          <a:p>
            <a:pPr indent="0" marL="0">
              <a:buNone/>
            </a:pPr>
            <a:r>
              <a:rPr lang="en-US" sz="1400" dirty="0">
                <a:solidFill>
                  <a:schemeClr val="tx1"/>
                </a:solidFill>
              </a:rPr>
              <a:t>One C engine: search, sort, restock_ranking, price_range, prefix_search</a:t>
            </a:r>
            <a:endParaRPr lang="en-US" sz="1400" dirty="0"/>
          </a:p>
        </p:txBody>
      </p:sp>
      <p:sp>
        <p:nvSpPr>
          <p:cNvPr id="34" name="Text 27"/>
          <p:cNvSpPr txBox="1"/>
          <p:nvPr/>
        </p:nvSpPr>
        <p:spPr>
          <a:xfrm>
            <a:off x="4297680" y="4251960"/>
            <a:ext cx="3520440" cy="59436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knapsack(), shortest_path(), fifo_lots()</a:t>
            </a:r>
            <a:endParaRPr lang="en-US" sz="1400" dirty="0"/>
          </a:p>
        </p:txBody>
      </p:sp>
      <p:sp>
        <p:nvSpPr>
          <p:cNvPr id="35" name="Text 28"/>
          <p:cNvSpPr txBox="1"/>
          <p:nvPr/>
        </p:nvSpPr>
        <p:spPr>
          <a:xfrm>
            <a:off x="4297680" y="4892040"/>
            <a:ext cx="3474720" cy="731520"/>
          </a:xfrm>
          <a:prstGeom prst="rect">
            <a:avLst/>
          </a:prstGeom>
          <a:noFill/>
          <a:ln/>
        </p:spPr>
        <p:txBody>
          <a:bodyPr wrap="square" lIns="0" tIns="0" rIns="0" bIns="0" rtlCol="0" anchor="t"/>
          <a:lstStyle/>
          <a:p>
            <a:pPr indent="0" marL="0">
              <a:buNone/>
            </a:pPr>
            <a:r>
              <a:rPr lang="en-US" sz="1400" dirty="0">
                <a:solidFill>
                  <a:schemeClr val="tx1"/>
                </a:solidFill>
              </a:rPr>
              <a:t>Planning helpers that pass lists to C</a:t>
            </a:r>
            <a:endParaRPr lang="en-US" sz="1400" dirty="0"/>
          </a:p>
        </p:txBody>
      </p:sp>
      <p:sp>
        <p:nvSpPr>
          <p:cNvPr id="36" name="Text 29"/>
          <p:cNvSpPr txBox="1"/>
          <p:nvPr/>
        </p:nvSpPr>
        <p:spPr>
          <a:xfrm>
            <a:off x="8046720" y="4251960"/>
            <a:ext cx="3520440" cy="59436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load_library(), validate_product()</a:t>
            </a:r>
            <a:endParaRPr lang="en-US" sz="1400" dirty="0"/>
          </a:p>
        </p:txBody>
      </p:sp>
      <p:sp>
        <p:nvSpPr>
          <p:cNvPr id="37" name="Text 30"/>
          <p:cNvSpPr txBox="1"/>
          <p:nvPr/>
        </p:nvSpPr>
        <p:spPr>
          <a:xfrm>
            <a:off x="8046720" y="4892040"/>
            <a:ext cx="3474720" cy="731520"/>
          </a:xfrm>
          <a:prstGeom prst="rect">
            <a:avLst/>
          </a:prstGeom>
          <a:noFill/>
          <a:ln/>
        </p:spPr>
        <p:txBody>
          <a:bodyPr wrap="square" lIns="0" tIns="0" rIns="0" bIns="0" rtlCol="0" anchor="t"/>
          <a:lstStyle/>
          <a:p>
            <a:pPr indent="0" marL="0">
              <a:buNone/>
            </a:pPr>
            <a:r>
              <a:rPr lang="en-US" sz="1400" dirty="0">
                <a:solidFill>
                  <a:schemeClr val="tx1"/>
                </a:solidFill>
              </a:rPr>
              <a:t>Find the .so or .dll; reject bad data first</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database.py and schema.sql: permanent storage</a:t>
            </a:r>
            <a:endParaRPr lang="en-US" sz="3600" dirty="0"/>
          </a:p>
        </p:txBody>
      </p:sp>
      <p:sp>
        <p:nvSpPr>
          <p:cNvPr id="3" name="products card"/>
          <p:cNvSpPr/>
          <p:nvPr/>
        </p:nvSpPr>
        <p:spPr>
          <a:xfrm>
            <a:off x="548640" y="1463040"/>
            <a:ext cx="5669280" cy="1645920"/>
          </a:xfrm>
          <a:prstGeom prst="roundRect">
            <a:avLst>
              <a:gd name="adj" fmla="val 6667"/>
            </a:avLst>
          </a:prstGeom>
          <a:solidFill>
            <a:schemeClr val="bg2"/>
          </a:solidFill>
          <a:ln/>
        </p:spPr>
      </p:sp>
      <p:sp>
        <p:nvSpPr>
          <p:cNvPr id="4" name="products tile"/>
          <p:cNvSpPr/>
          <p:nvPr/>
        </p:nvSpPr>
        <p:spPr>
          <a:xfrm>
            <a:off x="822960" y="1737360"/>
            <a:ext cx="685800" cy="685800"/>
          </a:xfrm>
          <a:prstGeom prst="roundRect">
            <a:avLst>
              <a:gd name="adj" fmla="val 24000"/>
            </a:avLst>
          </a:prstGeom>
          <a:solidFill>
            <a:schemeClr val="accent1">
              <a:alpha val="14000"/>
            </a:schemeClr>
          </a:solidFill>
          <a:ln/>
        </p:spPr>
      </p:sp>
      <p:pic>
        <p:nvPicPr>
          <p:cNvPr id="5" name="products icon" descr="preencoded.png">    </p:cNvPr>
          <p:cNvPicPr>
            <a:picLocks noChangeAspect="1"/>
          </p:cNvPicPr>
          <p:nvPr/>
        </p:nvPicPr>
        <p:blipFill>
          <a:blip r:embed="rId1"/>
          <a:stretch>
            <a:fillRect/>
          </a:stretch>
        </p:blipFill>
        <p:spPr>
          <a:xfrm>
            <a:off x="973836" y="1888236"/>
            <a:ext cx="384048" cy="384048"/>
          </a:xfrm>
          <a:prstGeom prst="rect">
            <a:avLst/>
          </a:prstGeom>
        </p:spPr>
      </p:pic>
      <p:sp>
        <p:nvSpPr>
          <p:cNvPr id="6" name="Text 3"/>
          <p:cNvSpPr txBox="1"/>
          <p:nvPr/>
        </p:nvSpPr>
        <p:spPr>
          <a:xfrm>
            <a:off x="1737360" y="1737360"/>
            <a:ext cx="4297680" cy="365760"/>
          </a:xfrm>
          <a:prstGeom prst="rect">
            <a:avLst/>
          </a:prstGeom>
          <a:noFill/>
          <a:ln/>
        </p:spPr>
        <p:txBody>
          <a:bodyPr wrap="square" lIns="0" tIns="0" rIns="0" bIns="0" rtlCol="0" anchor="t"/>
          <a:lstStyle/>
          <a:p>
            <a:pPr indent="0" marL="0">
              <a:buNone/>
            </a:pPr>
            <a:r>
              <a:rPr lang="en-US" sz="1700" b="1" dirty="0">
                <a:solidFill>
                  <a:schemeClr val="accent1"/>
                </a:solidFill>
                <a:latin typeface="Courier New" pitchFamily="34" charset="0"/>
                <a:ea typeface="Courier New" pitchFamily="34" charset="-122"/>
                <a:cs typeface="Courier New" pitchFamily="34" charset="-120"/>
              </a:rPr>
              <a:t>products</a:t>
            </a:r>
            <a:endParaRPr lang="en-US" sz="1700" dirty="0"/>
          </a:p>
        </p:txBody>
      </p:sp>
      <p:sp>
        <p:nvSpPr>
          <p:cNvPr id="7" name="Text 4"/>
          <p:cNvSpPr txBox="1"/>
          <p:nvPr/>
        </p:nvSpPr>
        <p:spPr>
          <a:xfrm>
            <a:off x="1737360" y="2176272"/>
            <a:ext cx="4297680" cy="822960"/>
          </a:xfrm>
          <a:prstGeom prst="rect">
            <a:avLst/>
          </a:prstGeom>
          <a:noFill/>
          <a:ln/>
        </p:spPr>
        <p:txBody>
          <a:bodyPr wrap="square" lIns="0" tIns="0" rIns="0" bIns="0" rtlCol="0" anchor="t"/>
          <a:lstStyle/>
          <a:p>
            <a:pPr indent="0" marL="0">
              <a:buNone/>
            </a:pPr>
            <a:r>
              <a:rPr lang="en-US" sz="1400" dirty="0">
                <a:solidFill>
                  <a:schemeClr val="tx1"/>
                </a:solidFill>
              </a:rPr>
              <a:t>id, name, category, price, quantity, minimum stock, demand, importance</a:t>
            </a:r>
            <a:endParaRPr lang="en-US" sz="1400" dirty="0"/>
          </a:p>
        </p:txBody>
      </p:sp>
      <p:sp>
        <p:nvSpPr>
          <p:cNvPr id="8" name="inventory_transactions card"/>
          <p:cNvSpPr/>
          <p:nvPr/>
        </p:nvSpPr>
        <p:spPr>
          <a:xfrm>
            <a:off x="548640" y="3337560"/>
            <a:ext cx="5669280" cy="1645920"/>
          </a:xfrm>
          <a:prstGeom prst="roundRect">
            <a:avLst>
              <a:gd name="adj" fmla="val 6667"/>
            </a:avLst>
          </a:prstGeom>
          <a:solidFill>
            <a:schemeClr val="bg2"/>
          </a:solidFill>
          <a:ln/>
        </p:spPr>
      </p:sp>
      <p:sp>
        <p:nvSpPr>
          <p:cNvPr id="9" name="inventory_transactions tile"/>
          <p:cNvSpPr/>
          <p:nvPr/>
        </p:nvSpPr>
        <p:spPr>
          <a:xfrm>
            <a:off x="822960" y="3611880"/>
            <a:ext cx="685800" cy="685800"/>
          </a:xfrm>
          <a:prstGeom prst="roundRect">
            <a:avLst>
              <a:gd name="adj" fmla="val 24000"/>
            </a:avLst>
          </a:prstGeom>
          <a:solidFill>
            <a:schemeClr val="accent3">
              <a:alpha val="14000"/>
            </a:schemeClr>
          </a:solidFill>
          <a:ln/>
        </p:spPr>
      </p:sp>
      <p:pic>
        <p:nvPicPr>
          <p:cNvPr id="10" name="inventory_transactions icon" descr="preencoded.png">    </p:cNvPr>
          <p:cNvPicPr>
            <a:picLocks noChangeAspect="1"/>
          </p:cNvPicPr>
          <p:nvPr/>
        </p:nvPicPr>
        <p:blipFill>
          <a:blip r:embed="rId2"/>
          <a:stretch>
            <a:fillRect/>
          </a:stretch>
        </p:blipFill>
        <p:spPr>
          <a:xfrm>
            <a:off x="973836" y="3762756"/>
            <a:ext cx="384048" cy="384048"/>
          </a:xfrm>
          <a:prstGeom prst="rect">
            <a:avLst/>
          </a:prstGeom>
        </p:spPr>
      </p:pic>
      <p:sp>
        <p:nvSpPr>
          <p:cNvPr id="11" name="Text 7"/>
          <p:cNvSpPr txBox="1"/>
          <p:nvPr/>
        </p:nvSpPr>
        <p:spPr>
          <a:xfrm>
            <a:off x="1737360" y="3611880"/>
            <a:ext cx="4297680" cy="365760"/>
          </a:xfrm>
          <a:prstGeom prst="rect">
            <a:avLst/>
          </a:prstGeom>
          <a:noFill/>
          <a:ln/>
        </p:spPr>
        <p:txBody>
          <a:bodyPr wrap="square" lIns="0" tIns="0" rIns="0" bIns="0" rtlCol="0" anchor="t"/>
          <a:lstStyle/>
          <a:p>
            <a:pPr indent="0" marL="0">
              <a:buNone/>
            </a:pPr>
            <a:r>
              <a:rPr lang="en-US" sz="1700" b="1" dirty="0">
                <a:solidFill>
                  <a:schemeClr val="accent1"/>
                </a:solidFill>
                <a:latin typeface="Courier New" pitchFamily="34" charset="0"/>
                <a:ea typeface="Courier New" pitchFamily="34" charset="-122"/>
                <a:cs typeface="Courier New" pitchFamily="34" charset="-120"/>
              </a:rPr>
              <a:t>inventory_transactions</a:t>
            </a:r>
            <a:endParaRPr lang="en-US" sz="1700" dirty="0"/>
          </a:p>
        </p:txBody>
      </p:sp>
      <p:sp>
        <p:nvSpPr>
          <p:cNvPr id="12" name="Text 8"/>
          <p:cNvSpPr txBox="1"/>
          <p:nvPr/>
        </p:nvSpPr>
        <p:spPr>
          <a:xfrm>
            <a:off x="1737360" y="4050792"/>
            <a:ext cx="4297680" cy="822960"/>
          </a:xfrm>
          <a:prstGeom prst="rect">
            <a:avLst/>
          </a:prstGeom>
          <a:noFill/>
          <a:ln/>
        </p:spPr>
        <p:txBody>
          <a:bodyPr wrap="square" lIns="0" tIns="0" rIns="0" bIns="0" rtlCol="0" anchor="t"/>
          <a:lstStyle/>
          <a:p>
            <a:pPr indent="0" marL="0">
              <a:buNone/>
            </a:pPr>
            <a:r>
              <a:rPr lang="en-US" sz="1400" dirty="0">
                <a:solidFill>
                  <a:schemeClr val="tx1"/>
                </a:solidFill>
              </a:rPr>
              <a:t>every stock in and stock out: product, type, quantity, balance after, time</a:t>
            </a:r>
            <a:endParaRPr lang="en-US" sz="1400" dirty="0"/>
          </a:p>
        </p:txBody>
      </p:sp>
      <p:sp>
        <p:nvSpPr>
          <p:cNvPr id="13" name="Text 9"/>
          <p:cNvSpPr txBox="1"/>
          <p:nvPr/>
        </p:nvSpPr>
        <p:spPr>
          <a:xfrm>
            <a:off x="548640" y="5303520"/>
            <a:ext cx="5669280" cy="548640"/>
          </a:xfrm>
          <a:prstGeom prst="rect">
            <a:avLst/>
          </a:prstGeom>
          <a:noFill/>
          <a:ln/>
        </p:spPr>
        <p:txBody>
          <a:bodyPr wrap="square" lIns="0" tIns="0" rIns="0" bIns="0" rtlCol="0" anchor="t"/>
          <a:lstStyle/>
          <a:p>
            <a:pPr indent="0" marL="0">
              <a:buNone/>
            </a:pPr>
            <a:r>
              <a:rPr lang="en-US" sz="1400" i="1" dirty="0">
                <a:solidFill>
                  <a:schemeClr val="tx2"/>
                </a:solidFill>
              </a:rPr>
              <a:t>schema.sql creates the two tables. database.py adds, edits and deletes rows.</a:t>
            </a:r>
            <a:endParaRPr lang="en-US" sz="1400" dirty="0"/>
          </a:p>
        </p:txBody>
      </p:sp>
      <p:sp>
        <p:nvSpPr>
          <p:cNvPr id="14" name="Text 10"/>
          <p:cNvSpPr txBox="1"/>
          <p:nvPr/>
        </p:nvSpPr>
        <p:spPr>
          <a:xfrm>
            <a:off x="6675120" y="1417320"/>
            <a:ext cx="4937760" cy="365760"/>
          </a:xfrm>
          <a:prstGeom prst="rect">
            <a:avLst/>
          </a:prstGeom>
          <a:noFill/>
          <a:ln/>
        </p:spPr>
        <p:txBody>
          <a:bodyPr wrap="square" lIns="0" tIns="0" rIns="0" bIns="0" rtlCol="0" anchor="t"/>
          <a:lstStyle/>
          <a:p>
            <a:pPr indent="0" marL="0">
              <a:buNone/>
            </a:pPr>
            <a:r>
              <a:rPr lang="en-US" sz="1800" b="1" dirty="0">
                <a:solidFill>
                  <a:schemeClr val="tx2"/>
                </a:solidFill>
              </a:rPr>
              <a:t>Functions inside database.py</a:t>
            </a:r>
            <a:endParaRPr lang="en-US" sz="1800" dirty="0"/>
          </a:p>
        </p:txBody>
      </p:sp>
      <p:sp>
        <p:nvSpPr>
          <p:cNvPr id="15" name="Text 11"/>
          <p:cNvSpPr txBox="1"/>
          <p:nvPr/>
        </p:nvSpPr>
        <p:spPr>
          <a:xfrm>
            <a:off x="6675120" y="1920240"/>
            <a:ext cx="4937760" cy="347472"/>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init_db()</a:t>
            </a:r>
            <a:endParaRPr lang="en-US" sz="1300" dirty="0"/>
          </a:p>
        </p:txBody>
      </p:sp>
      <p:sp>
        <p:nvSpPr>
          <p:cNvPr id="16" name="Text 12"/>
          <p:cNvSpPr txBox="1"/>
          <p:nvPr/>
        </p:nvSpPr>
        <p:spPr>
          <a:xfrm>
            <a:off x="6675120" y="2286000"/>
            <a:ext cx="4937760" cy="548640"/>
          </a:xfrm>
          <a:prstGeom prst="rect">
            <a:avLst/>
          </a:prstGeom>
          <a:noFill/>
          <a:ln/>
        </p:spPr>
        <p:txBody>
          <a:bodyPr wrap="square" lIns="0" tIns="0" rIns="0" bIns="0" rtlCol="0" anchor="t"/>
          <a:lstStyle/>
          <a:p>
            <a:pPr indent="0" marL="0">
              <a:buNone/>
            </a:pPr>
            <a:r>
              <a:rPr lang="en-US" sz="1400" dirty="0">
                <a:solidFill>
                  <a:schemeClr val="tx1"/>
                </a:solidFill>
              </a:rPr>
              <a:t>creates the tables; adds sample data on the first run</a:t>
            </a:r>
            <a:endParaRPr lang="en-US" sz="1400" dirty="0"/>
          </a:p>
        </p:txBody>
      </p:sp>
      <p:sp>
        <p:nvSpPr>
          <p:cNvPr id="17" name="Text 13"/>
          <p:cNvSpPr txBox="1"/>
          <p:nvPr/>
        </p:nvSpPr>
        <p:spPr>
          <a:xfrm>
            <a:off x="6675120" y="2944368"/>
            <a:ext cx="4937760" cy="347472"/>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add_product(), update_product(), delete_product()</a:t>
            </a:r>
            <a:endParaRPr lang="en-US" sz="1300" dirty="0"/>
          </a:p>
        </p:txBody>
      </p:sp>
      <p:sp>
        <p:nvSpPr>
          <p:cNvPr id="18" name="Text 14"/>
          <p:cNvSpPr txBox="1"/>
          <p:nvPr/>
        </p:nvSpPr>
        <p:spPr>
          <a:xfrm>
            <a:off x="6675120" y="3310128"/>
            <a:ext cx="4937760" cy="548640"/>
          </a:xfrm>
          <a:prstGeom prst="rect">
            <a:avLst/>
          </a:prstGeom>
          <a:noFill/>
          <a:ln/>
        </p:spPr>
        <p:txBody>
          <a:bodyPr wrap="square" lIns="0" tIns="0" rIns="0" bIns="0" rtlCol="0" anchor="t"/>
          <a:lstStyle/>
          <a:p>
            <a:pPr indent="0" marL="0">
              <a:buNone/>
            </a:pPr>
            <a:r>
              <a:rPr lang="en-US" sz="1400" dirty="0">
                <a:solidFill>
                  <a:schemeClr val="tx1"/>
                </a:solidFill>
              </a:rPr>
              <a:t>manage the catalog</a:t>
            </a:r>
            <a:endParaRPr lang="en-US" sz="1400" dirty="0"/>
          </a:p>
        </p:txBody>
      </p:sp>
      <p:sp>
        <p:nvSpPr>
          <p:cNvPr id="19" name="Text 15"/>
          <p:cNvSpPr txBox="1"/>
          <p:nvPr/>
        </p:nvSpPr>
        <p:spPr>
          <a:xfrm>
            <a:off x="6675120" y="3968496"/>
            <a:ext cx="4937760" cy="347472"/>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record_transaction()</a:t>
            </a:r>
            <a:endParaRPr lang="en-US" sz="1300" dirty="0"/>
          </a:p>
        </p:txBody>
      </p:sp>
      <p:sp>
        <p:nvSpPr>
          <p:cNvPr id="20" name="Text 16"/>
          <p:cNvSpPr txBox="1"/>
          <p:nvPr/>
        </p:nvSpPr>
        <p:spPr>
          <a:xfrm>
            <a:off x="6675120" y="4334256"/>
            <a:ext cx="4937760" cy="548640"/>
          </a:xfrm>
          <a:prstGeom prst="rect">
            <a:avLst/>
          </a:prstGeom>
          <a:noFill/>
          <a:ln/>
        </p:spPr>
        <p:txBody>
          <a:bodyPr wrap="square" lIns="0" tIns="0" rIns="0" bIns="0" rtlCol="0" anchor="t"/>
          <a:lstStyle/>
          <a:p>
            <a:pPr indent="0" marL="0">
              <a:buNone/>
            </a:pPr>
            <a:r>
              <a:rPr lang="en-US" sz="1400" dirty="0">
                <a:solidFill>
                  <a:schemeClr val="tx1"/>
                </a:solidFill>
              </a:rPr>
              <a:t>stock in or out; never below zero; saves history in the same step</a:t>
            </a:r>
            <a:endParaRPr lang="en-US" sz="1400" dirty="0"/>
          </a:p>
        </p:txBody>
      </p:sp>
      <p:sp>
        <p:nvSpPr>
          <p:cNvPr id="21" name="Text 17"/>
          <p:cNvSpPr txBox="1"/>
          <p:nvPr/>
        </p:nvSpPr>
        <p:spPr>
          <a:xfrm>
            <a:off x="6675120" y="4992624"/>
            <a:ext cx="4937760" cy="347472"/>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list_products(), list_transactions()</a:t>
            </a:r>
            <a:endParaRPr lang="en-US" sz="1300" dirty="0"/>
          </a:p>
        </p:txBody>
      </p:sp>
      <p:sp>
        <p:nvSpPr>
          <p:cNvPr id="22" name="Text 18"/>
          <p:cNvSpPr txBox="1"/>
          <p:nvPr/>
        </p:nvSpPr>
        <p:spPr>
          <a:xfrm>
            <a:off x="6675120" y="5358384"/>
            <a:ext cx="4937760" cy="548640"/>
          </a:xfrm>
          <a:prstGeom prst="rect">
            <a:avLst/>
          </a:prstGeom>
          <a:noFill/>
          <a:ln/>
        </p:spPr>
        <p:txBody>
          <a:bodyPr wrap="square" lIns="0" tIns="0" rIns="0" bIns="0" rtlCol="0" anchor="t"/>
          <a:lstStyle/>
          <a:p>
            <a:pPr indent="0" marL="0">
              <a:buNone/>
            </a:pPr>
            <a:r>
              <a:rPr lang="en-US" sz="1400" dirty="0">
                <a:solidFill>
                  <a:schemeClr val="tx1"/>
                </a:solidFill>
              </a:rPr>
              <a:t>read data for the pages and the C engine</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05840"/>
          </a:xfrm>
          <a:prstGeom prst="rect">
            <a:avLst/>
          </a:prstGeom>
          <a:noFill/>
          <a:ln/>
        </p:spPr>
        <p:txBody>
          <a:bodyPr wrap="square" lIns="0" tIns="0" rIns="0" bIns="0" rtlCol="0" anchor="b"/>
          <a:lstStyle/>
          <a:p>
            <a:pPr algn="l" indent="0" marL="0">
              <a:buNone/>
            </a:pPr>
            <a:r>
              <a:rPr lang="en-US" sz="4400" b="1" dirty="0">
                <a:solidFill>
                  <a:schemeClr val="bg1"/>
                </a:solidFill>
              </a:rPr>
              <a:t>The C engine</a:t>
            </a:r>
            <a:endParaRPr lang="en-US" sz="4400" dirty="0"/>
          </a:p>
        </p:txBody>
      </p:sp>
      <p:sp>
        <p:nvSpPr>
          <p:cNvPr id="3" name="Text 0"/>
          <p:cNvSpPr/>
          <p:nvPr>
            <p:ph idx="101" type="body" hasCustomPrompt="1"/>
          </p:nvPr>
        </p:nvSpPr>
        <p:spPr>
          <a:xfrm>
            <a:off x="731520" y="3520440"/>
            <a:ext cx="10698480" cy="731520"/>
          </a:xfrm>
          <a:prstGeom prst="rect">
            <a:avLst/>
          </a:prstGeom>
          <a:noFill/>
          <a:ln/>
        </p:spPr>
        <p:txBody>
          <a:bodyPr wrap="square" lIns="0" tIns="0" rIns="0" bIns="0" rtlCol="0" anchor="t"/>
          <a:lstStyle/>
          <a:p>
            <a:pPr algn="l" indent="0" marL="0">
              <a:buNone/>
            </a:pPr>
            <a:r>
              <a:rPr lang="en-US" sz="2200" dirty="0">
                <a:solidFill>
                  <a:schemeClr val="bg1"/>
                </a:solidFill>
              </a:rPr>
              <a:t>Where every data structure and algorithm runs</a:t>
            </a:r>
            <a:endParaRPr lang="en-US" sz="2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The C engine at a glance: core files</a:t>
            </a:r>
            <a:endParaRPr lang="en-US" sz="3600" dirty="0"/>
          </a:p>
        </p:txBody>
      </p:sp>
      <p:sp>
        <p:nvSpPr>
          <p:cNvPr id="3" name="inventory_types.h card"/>
          <p:cNvSpPr/>
          <p:nvPr/>
        </p:nvSpPr>
        <p:spPr>
          <a:xfrm>
            <a:off x="548640" y="1371600"/>
            <a:ext cx="3520440" cy="2331720"/>
          </a:xfrm>
          <a:prstGeom prst="roundRect">
            <a:avLst>
              <a:gd name="adj" fmla="val 4706"/>
            </a:avLst>
          </a:prstGeom>
          <a:solidFill>
            <a:schemeClr val="bg2"/>
          </a:solidFill>
          <a:ln/>
        </p:spPr>
      </p:sp>
      <p:sp>
        <p:nvSpPr>
          <p:cNvPr id="4" name="inventory_types.h tile"/>
          <p:cNvSpPr/>
          <p:nvPr/>
        </p:nvSpPr>
        <p:spPr>
          <a:xfrm>
            <a:off x="822960" y="1645920"/>
            <a:ext cx="640080" cy="640080"/>
          </a:xfrm>
          <a:prstGeom prst="roundRect">
            <a:avLst>
              <a:gd name="adj" fmla="val 24000"/>
            </a:avLst>
          </a:prstGeom>
          <a:solidFill>
            <a:schemeClr val="accent1">
              <a:alpha val="14000"/>
            </a:schemeClr>
          </a:solidFill>
          <a:ln/>
        </p:spPr>
      </p:sp>
      <p:pic>
        <p:nvPicPr>
          <p:cNvPr id="5" name="inventory_types.h icon"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6" name="Text 3"/>
          <p:cNvSpPr txBox="1"/>
          <p:nvPr/>
        </p:nvSpPr>
        <p:spPr>
          <a:xfrm>
            <a:off x="164592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inventory_types.h</a:t>
            </a:r>
            <a:endParaRPr lang="en-US" sz="1400" dirty="0"/>
          </a:p>
        </p:txBody>
      </p:sp>
      <p:sp>
        <p:nvSpPr>
          <p:cNvPr id="7" name="inventory_types.h tech tag"/>
          <p:cNvSpPr/>
          <p:nvPr/>
        </p:nvSpPr>
        <p:spPr>
          <a:xfrm>
            <a:off x="1645920" y="2011680"/>
            <a:ext cx="987552" cy="292608"/>
          </a:xfrm>
          <a:prstGeom prst="roundRect">
            <a:avLst>
              <a:gd name="adj" fmla="val 50000"/>
            </a:avLst>
          </a:prstGeom>
          <a:solidFill>
            <a:schemeClr val="accent1">
              <a:alpha val="18000"/>
            </a:schemeClr>
          </a:solidFill>
          <a:ln/>
        </p:spPr>
      </p:sp>
      <p:sp>
        <p:nvSpPr>
          <p:cNvPr id="8" name="Text 5"/>
          <p:cNvSpPr txBox="1"/>
          <p:nvPr/>
        </p:nvSpPr>
        <p:spPr>
          <a:xfrm>
            <a:off x="1645920" y="2011680"/>
            <a:ext cx="987552" cy="292608"/>
          </a:xfrm>
          <a:prstGeom prst="rect">
            <a:avLst/>
          </a:prstGeom>
          <a:noFill/>
          <a:ln/>
        </p:spPr>
        <p:txBody>
          <a:bodyPr wrap="square" lIns="0" tIns="0" rIns="0" bIns="0" rtlCol="0" anchor="ctr"/>
          <a:lstStyle/>
          <a:p>
            <a:pPr algn="ctr" indent="0" marL="0">
              <a:buNone/>
            </a:pPr>
            <a:r>
              <a:rPr lang="en-US" sz="1100" b="1" dirty="0">
                <a:solidFill>
                  <a:schemeClr val="tx2"/>
                </a:solidFill>
              </a:rPr>
              <a:t>C11 header</a:t>
            </a:r>
            <a:endParaRPr lang="en-US" sz="1100" dirty="0"/>
          </a:p>
        </p:txBody>
      </p:sp>
      <p:sp>
        <p:nvSpPr>
          <p:cNvPr id="9" name="Text 6"/>
          <p:cNvSpPr txBox="1"/>
          <p:nvPr/>
        </p:nvSpPr>
        <p:spPr>
          <a:xfrm>
            <a:off x="82296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The contract: product and result structs, error codes, and every function declaration.</a:t>
            </a:r>
            <a:endParaRPr lang="en-US" sz="1400" dirty="0"/>
          </a:p>
        </p:txBody>
      </p:sp>
      <p:sp>
        <p:nvSpPr>
          <p:cNvPr id="10" name="inventory_engine.c card"/>
          <p:cNvSpPr/>
          <p:nvPr/>
        </p:nvSpPr>
        <p:spPr>
          <a:xfrm>
            <a:off x="4297680" y="1371600"/>
            <a:ext cx="3520440" cy="2331720"/>
          </a:xfrm>
          <a:prstGeom prst="roundRect">
            <a:avLst>
              <a:gd name="adj" fmla="val 4706"/>
            </a:avLst>
          </a:prstGeom>
          <a:solidFill>
            <a:schemeClr val="bg2"/>
          </a:solidFill>
          <a:ln/>
        </p:spPr>
      </p:sp>
      <p:sp>
        <p:nvSpPr>
          <p:cNvPr id="11" name="inventory_engine.c tile"/>
          <p:cNvSpPr/>
          <p:nvPr/>
        </p:nvSpPr>
        <p:spPr>
          <a:xfrm>
            <a:off x="4572000" y="1645920"/>
            <a:ext cx="640080" cy="640080"/>
          </a:xfrm>
          <a:prstGeom prst="roundRect">
            <a:avLst>
              <a:gd name="adj" fmla="val 24000"/>
            </a:avLst>
          </a:prstGeom>
          <a:solidFill>
            <a:schemeClr val="accent4">
              <a:alpha val="14000"/>
            </a:schemeClr>
          </a:solidFill>
          <a:ln/>
        </p:spPr>
      </p:sp>
      <p:pic>
        <p:nvPicPr>
          <p:cNvPr id="12" name="inventory_engine.c icon" descr="preencoded.png">    </p:cNvPr>
          <p:cNvPicPr>
            <a:picLocks noChangeAspect="1"/>
          </p:cNvPicPr>
          <p:nvPr/>
        </p:nvPicPr>
        <p:blipFill>
          <a:blip r:embed="rId2"/>
          <a:stretch>
            <a:fillRect/>
          </a:stretch>
        </p:blipFill>
        <p:spPr>
          <a:xfrm>
            <a:off x="4712818" y="1786738"/>
            <a:ext cx="358445" cy="358445"/>
          </a:xfrm>
          <a:prstGeom prst="rect">
            <a:avLst/>
          </a:prstGeom>
        </p:spPr>
      </p:pic>
      <p:sp>
        <p:nvSpPr>
          <p:cNvPr id="13" name="Text 9"/>
          <p:cNvSpPr txBox="1"/>
          <p:nvPr/>
        </p:nvSpPr>
        <p:spPr>
          <a:xfrm>
            <a:off x="539496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inventory_engine.c</a:t>
            </a:r>
            <a:endParaRPr lang="en-US" sz="1400" dirty="0"/>
          </a:p>
        </p:txBody>
      </p:sp>
      <p:sp>
        <p:nvSpPr>
          <p:cNvPr id="14" name="inventory_engine.c tech tag"/>
          <p:cNvSpPr/>
          <p:nvPr/>
        </p:nvSpPr>
        <p:spPr>
          <a:xfrm>
            <a:off x="5394960" y="2011680"/>
            <a:ext cx="1415491" cy="292608"/>
          </a:xfrm>
          <a:prstGeom prst="roundRect">
            <a:avLst>
              <a:gd name="adj" fmla="val 50000"/>
            </a:avLst>
          </a:prstGeom>
          <a:solidFill>
            <a:schemeClr val="accent4">
              <a:alpha val="18000"/>
            </a:schemeClr>
          </a:solidFill>
          <a:ln/>
        </p:spPr>
      </p:sp>
      <p:sp>
        <p:nvSpPr>
          <p:cNvPr id="15" name="Text 11"/>
          <p:cNvSpPr txBox="1"/>
          <p:nvPr/>
        </p:nvSpPr>
        <p:spPr>
          <a:xfrm>
            <a:off x="5394960" y="2011680"/>
            <a:ext cx="1415491" cy="292608"/>
          </a:xfrm>
          <a:prstGeom prst="rect">
            <a:avLst/>
          </a:prstGeom>
          <a:noFill/>
          <a:ln/>
        </p:spPr>
        <p:txBody>
          <a:bodyPr wrap="square" lIns="0" tIns="0" rIns="0" bIns="0" rtlCol="0" anchor="ctr"/>
          <a:lstStyle/>
          <a:p>
            <a:pPr algn="ctr" indent="0" marL="0">
              <a:buNone/>
            </a:pPr>
            <a:r>
              <a:rPr lang="en-US" sz="1100" b="1" dirty="0">
                <a:solidFill>
                  <a:schemeClr val="tx2"/>
                </a:solidFill>
              </a:rPr>
              <a:t>C11 · public API</a:t>
            </a:r>
            <a:endParaRPr lang="en-US" sz="1100" dirty="0"/>
          </a:p>
        </p:txBody>
      </p:sp>
      <p:sp>
        <p:nvSpPr>
          <p:cNvPr id="16" name="Text 12"/>
          <p:cNvSpPr txBox="1"/>
          <p:nvPr/>
        </p:nvSpPr>
        <p:spPr>
          <a:xfrm>
            <a:off x="457200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Python's front door: copies products, builds the hash table, AVL tree and trie.</a:t>
            </a:r>
            <a:endParaRPr lang="en-US" sz="1400" dirty="0"/>
          </a:p>
        </p:txBody>
      </p:sp>
      <p:sp>
        <p:nvSpPr>
          <p:cNvPr id="17" name="search.c card"/>
          <p:cNvSpPr/>
          <p:nvPr/>
        </p:nvSpPr>
        <p:spPr>
          <a:xfrm>
            <a:off x="8046720" y="1371600"/>
            <a:ext cx="3520440" cy="2331720"/>
          </a:xfrm>
          <a:prstGeom prst="roundRect">
            <a:avLst>
              <a:gd name="adj" fmla="val 4706"/>
            </a:avLst>
          </a:prstGeom>
          <a:solidFill>
            <a:schemeClr val="bg2"/>
          </a:solidFill>
          <a:ln/>
        </p:spPr>
      </p:sp>
      <p:sp>
        <p:nvSpPr>
          <p:cNvPr id="18" name="search.c tile"/>
          <p:cNvSpPr/>
          <p:nvPr/>
        </p:nvSpPr>
        <p:spPr>
          <a:xfrm>
            <a:off x="8321040" y="1645920"/>
            <a:ext cx="640080" cy="640080"/>
          </a:xfrm>
          <a:prstGeom prst="roundRect">
            <a:avLst>
              <a:gd name="adj" fmla="val 24000"/>
            </a:avLst>
          </a:prstGeom>
          <a:solidFill>
            <a:schemeClr val="accent1">
              <a:alpha val="14000"/>
            </a:schemeClr>
          </a:solidFill>
          <a:ln/>
        </p:spPr>
      </p:sp>
      <p:pic>
        <p:nvPicPr>
          <p:cNvPr id="19" name="search.c icon" descr="preencoded.png">    </p:cNvPr>
          <p:cNvPicPr>
            <a:picLocks noChangeAspect="1"/>
          </p:cNvPicPr>
          <p:nvPr/>
        </p:nvPicPr>
        <p:blipFill>
          <a:blip r:embed="rId3"/>
          <a:stretch>
            <a:fillRect/>
          </a:stretch>
        </p:blipFill>
        <p:spPr>
          <a:xfrm>
            <a:off x="8461858" y="1786738"/>
            <a:ext cx="358445" cy="358445"/>
          </a:xfrm>
          <a:prstGeom prst="rect">
            <a:avLst/>
          </a:prstGeom>
        </p:spPr>
      </p:pic>
      <p:sp>
        <p:nvSpPr>
          <p:cNvPr id="20" name="Text 15"/>
          <p:cNvSpPr txBox="1"/>
          <p:nvPr/>
        </p:nvSpPr>
        <p:spPr>
          <a:xfrm>
            <a:off x="914400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search.c</a:t>
            </a:r>
            <a:endParaRPr lang="en-US" sz="1400" dirty="0"/>
          </a:p>
        </p:txBody>
      </p:sp>
      <p:sp>
        <p:nvSpPr>
          <p:cNvPr id="21" name="search.c tech tag"/>
          <p:cNvSpPr/>
          <p:nvPr/>
        </p:nvSpPr>
        <p:spPr>
          <a:xfrm>
            <a:off x="9144000" y="2011680"/>
            <a:ext cx="1130198" cy="292608"/>
          </a:xfrm>
          <a:prstGeom prst="roundRect">
            <a:avLst>
              <a:gd name="adj" fmla="val 50000"/>
            </a:avLst>
          </a:prstGeom>
          <a:solidFill>
            <a:schemeClr val="accent1">
              <a:alpha val="18000"/>
            </a:schemeClr>
          </a:solidFill>
          <a:ln/>
        </p:spPr>
      </p:sp>
      <p:sp>
        <p:nvSpPr>
          <p:cNvPr id="22" name="Text 17"/>
          <p:cNvSpPr txBox="1"/>
          <p:nvPr/>
        </p:nvSpPr>
        <p:spPr>
          <a:xfrm>
            <a:off x="9144000" y="2011680"/>
            <a:ext cx="1130198" cy="292608"/>
          </a:xfrm>
          <a:prstGeom prst="rect">
            <a:avLst/>
          </a:prstGeom>
          <a:noFill/>
          <a:ln/>
        </p:spPr>
        <p:txBody>
          <a:bodyPr wrap="square" lIns="0" tIns="0" rIns="0" bIns="0" rtlCol="0" anchor="ctr"/>
          <a:lstStyle/>
          <a:p>
            <a:pPr algn="ctr" indent="0" marL="0">
              <a:buNone/>
            </a:pPr>
            <a:r>
              <a:rPr lang="en-US" sz="1100" b="1" dirty="0">
                <a:solidFill>
                  <a:schemeClr val="tx2"/>
                </a:solidFill>
              </a:rPr>
              <a:t>C11 · arrays</a:t>
            </a:r>
            <a:endParaRPr lang="en-US" sz="1100" dirty="0"/>
          </a:p>
        </p:txBody>
      </p:sp>
      <p:sp>
        <p:nvSpPr>
          <p:cNvPr id="23" name="Text 18"/>
          <p:cNvSpPr txBox="1"/>
          <p:nvPr/>
        </p:nvSpPr>
        <p:spPr>
          <a:xfrm>
            <a:off x="832104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Linear search checks every product; binary search halves an ID-sorted list each step.</a:t>
            </a:r>
            <a:endParaRPr lang="en-US" sz="1400" dirty="0"/>
          </a:p>
        </p:txBody>
      </p:sp>
      <p:sp>
        <p:nvSpPr>
          <p:cNvPr id="24" name="hash_table.c card"/>
          <p:cNvSpPr/>
          <p:nvPr/>
        </p:nvSpPr>
        <p:spPr>
          <a:xfrm>
            <a:off x="548640" y="3840480"/>
            <a:ext cx="3520440" cy="2331720"/>
          </a:xfrm>
          <a:prstGeom prst="roundRect">
            <a:avLst>
              <a:gd name="adj" fmla="val 4706"/>
            </a:avLst>
          </a:prstGeom>
          <a:solidFill>
            <a:schemeClr val="bg2"/>
          </a:solidFill>
          <a:ln/>
        </p:spPr>
      </p:sp>
      <p:sp>
        <p:nvSpPr>
          <p:cNvPr id="25" name="hash_table.c tile"/>
          <p:cNvSpPr/>
          <p:nvPr/>
        </p:nvSpPr>
        <p:spPr>
          <a:xfrm>
            <a:off x="822960" y="4114800"/>
            <a:ext cx="640080" cy="640080"/>
          </a:xfrm>
          <a:prstGeom prst="roundRect">
            <a:avLst>
              <a:gd name="adj" fmla="val 24000"/>
            </a:avLst>
          </a:prstGeom>
          <a:solidFill>
            <a:schemeClr val="accent2">
              <a:alpha val="14000"/>
            </a:schemeClr>
          </a:solidFill>
          <a:ln/>
        </p:spPr>
      </p:sp>
      <p:pic>
        <p:nvPicPr>
          <p:cNvPr id="26" name="hash_table.c icon" descr="preencoded.png">    </p:cNvPr>
          <p:cNvPicPr>
            <a:picLocks noChangeAspect="1"/>
          </p:cNvPicPr>
          <p:nvPr/>
        </p:nvPicPr>
        <p:blipFill>
          <a:blip r:embed="rId4"/>
          <a:stretch>
            <a:fillRect/>
          </a:stretch>
        </p:blipFill>
        <p:spPr>
          <a:xfrm>
            <a:off x="963778" y="4255618"/>
            <a:ext cx="358445" cy="358445"/>
          </a:xfrm>
          <a:prstGeom prst="rect">
            <a:avLst/>
          </a:prstGeom>
        </p:spPr>
      </p:pic>
      <p:sp>
        <p:nvSpPr>
          <p:cNvPr id="27" name="Text 21"/>
          <p:cNvSpPr txBox="1"/>
          <p:nvPr/>
        </p:nvSpPr>
        <p:spPr>
          <a:xfrm>
            <a:off x="164592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hash_table.c</a:t>
            </a:r>
            <a:endParaRPr lang="en-US" sz="1400" dirty="0"/>
          </a:p>
        </p:txBody>
      </p:sp>
      <p:sp>
        <p:nvSpPr>
          <p:cNvPr id="28" name="hash_table.c tech tag"/>
          <p:cNvSpPr/>
          <p:nvPr/>
        </p:nvSpPr>
        <p:spPr>
          <a:xfrm>
            <a:off x="1645920" y="4480560"/>
            <a:ext cx="2128723" cy="292608"/>
          </a:xfrm>
          <a:prstGeom prst="roundRect">
            <a:avLst>
              <a:gd name="adj" fmla="val 50000"/>
            </a:avLst>
          </a:prstGeom>
          <a:solidFill>
            <a:schemeClr val="accent2">
              <a:alpha val="18000"/>
            </a:schemeClr>
          </a:solidFill>
          <a:ln/>
        </p:spPr>
      </p:sp>
      <p:sp>
        <p:nvSpPr>
          <p:cNvPr id="29" name="Text 23"/>
          <p:cNvSpPr txBox="1"/>
          <p:nvPr/>
        </p:nvSpPr>
        <p:spPr>
          <a:xfrm>
            <a:off x="1645920" y="4480560"/>
            <a:ext cx="2128723" cy="292608"/>
          </a:xfrm>
          <a:prstGeom prst="rect">
            <a:avLst/>
          </a:prstGeom>
          <a:noFill/>
          <a:ln/>
        </p:spPr>
        <p:txBody>
          <a:bodyPr wrap="square" lIns="0" tIns="0" rIns="0" bIns="0" rtlCol="0" anchor="ctr"/>
          <a:lstStyle/>
          <a:p>
            <a:pPr algn="ctr" indent="0" marL="0">
              <a:buNone/>
            </a:pPr>
            <a:r>
              <a:rPr lang="en-US" sz="1100" b="1" dirty="0">
                <a:solidFill>
                  <a:schemeClr val="tx2"/>
                </a:solidFill>
              </a:rPr>
              <a:t>C11 · malloc, linked lists</a:t>
            </a:r>
            <a:endParaRPr lang="en-US" sz="1100" dirty="0"/>
          </a:p>
        </p:txBody>
      </p:sp>
      <p:sp>
        <p:nvSpPr>
          <p:cNvPr id="30" name="Text 24"/>
          <p:cNvSpPr txBox="1"/>
          <p:nvPr/>
        </p:nvSpPr>
        <p:spPr>
          <a:xfrm>
            <a:off x="82296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Finds a product by ID in about one step: id mod buckets picks a short chain to scan.</a:t>
            </a:r>
            <a:endParaRPr lang="en-US" sz="1400" dirty="0"/>
          </a:p>
        </p:txBody>
      </p:sp>
      <p:sp>
        <p:nvSpPr>
          <p:cNvPr id="31" name="sorting.c card"/>
          <p:cNvSpPr/>
          <p:nvPr/>
        </p:nvSpPr>
        <p:spPr>
          <a:xfrm>
            <a:off x="4297680" y="3840480"/>
            <a:ext cx="3520440" cy="2331720"/>
          </a:xfrm>
          <a:prstGeom prst="roundRect">
            <a:avLst>
              <a:gd name="adj" fmla="val 4706"/>
            </a:avLst>
          </a:prstGeom>
          <a:solidFill>
            <a:schemeClr val="bg2"/>
          </a:solidFill>
          <a:ln/>
        </p:spPr>
      </p:sp>
      <p:sp>
        <p:nvSpPr>
          <p:cNvPr id="32" name="sorting.c tile"/>
          <p:cNvSpPr/>
          <p:nvPr/>
        </p:nvSpPr>
        <p:spPr>
          <a:xfrm>
            <a:off x="4572000" y="4114800"/>
            <a:ext cx="640080" cy="640080"/>
          </a:xfrm>
          <a:prstGeom prst="roundRect">
            <a:avLst>
              <a:gd name="adj" fmla="val 24000"/>
            </a:avLst>
          </a:prstGeom>
          <a:solidFill>
            <a:schemeClr val="accent3">
              <a:alpha val="14000"/>
            </a:schemeClr>
          </a:solidFill>
          <a:ln/>
        </p:spPr>
      </p:sp>
      <p:pic>
        <p:nvPicPr>
          <p:cNvPr id="33" name="sorting.c icon" descr="preencoded.png">    </p:cNvPr>
          <p:cNvPicPr>
            <a:picLocks noChangeAspect="1"/>
          </p:cNvPicPr>
          <p:nvPr/>
        </p:nvPicPr>
        <p:blipFill>
          <a:blip r:embed="rId5"/>
          <a:stretch>
            <a:fillRect/>
          </a:stretch>
        </p:blipFill>
        <p:spPr>
          <a:xfrm>
            <a:off x="4712818" y="4255618"/>
            <a:ext cx="358445" cy="358445"/>
          </a:xfrm>
          <a:prstGeom prst="rect">
            <a:avLst/>
          </a:prstGeom>
        </p:spPr>
      </p:pic>
      <p:sp>
        <p:nvSpPr>
          <p:cNvPr id="34" name="Text 27"/>
          <p:cNvSpPr txBox="1"/>
          <p:nvPr/>
        </p:nvSpPr>
        <p:spPr>
          <a:xfrm>
            <a:off x="539496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sorting.c</a:t>
            </a:r>
            <a:endParaRPr lang="en-US" sz="1400" dirty="0"/>
          </a:p>
        </p:txBody>
      </p:sp>
      <p:sp>
        <p:nvSpPr>
          <p:cNvPr id="35" name="sorting.c tech tag"/>
          <p:cNvSpPr/>
          <p:nvPr/>
        </p:nvSpPr>
        <p:spPr>
          <a:xfrm>
            <a:off x="5394960" y="4480560"/>
            <a:ext cx="1344168" cy="292608"/>
          </a:xfrm>
          <a:prstGeom prst="roundRect">
            <a:avLst>
              <a:gd name="adj" fmla="val 50000"/>
            </a:avLst>
          </a:prstGeom>
          <a:solidFill>
            <a:schemeClr val="accent3">
              <a:alpha val="18000"/>
            </a:schemeClr>
          </a:solidFill>
          <a:ln/>
        </p:spPr>
      </p:sp>
      <p:sp>
        <p:nvSpPr>
          <p:cNvPr id="36" name="Text 29"/>
          <p:cNvSpPr txBox="1"/>
          <p:nvPr/>
        </p:nvSpPr>
        <p:spPr>
          <a:xfrm>
            <a:off x="5394960" y="4480560"/>
            <a:ext cx="1344168" cy="292608"/>
          </a:xfrm>
          <a:prstGeom prst="rect">
            <a:avLst/>
          </a:prstGeom>
          <a:noFill/>
          <a:ln/>
        </p:spPr>
        <p:txBody>
          <a:bodyPr wrap="square" lIns="0" tIns="0" rIns="0" bIns="0" rtlCol="0" anchor="ctr"/>
          <a:lstStyle/>
          <a:p>
            <a:pPr algn="ctr" indent="0" marL="0">
              <a:buNone/>
            </a:pPr>
            <a:r>
              <a:rPr lang="en-US" sz="1100" b="1" dirty="0">
                <a:solidFill>
                  <a:schemeClr val="tx2"/>
                </a:solidFill>
              </a:rPr>
              <a:t>C11 · recursion</a:t>
            </a:r>
            <a:endParaRPr lang="en-US" sz="1100" dirty="0"/>
          </a:p>
        </p:txBody>
      </p:sp>
      <p:sp>
        <p:nvSpPr>
          <p:cNvPr id="37" name="Text 30"/>
          <p:cNvSpPr txBox="1"/>
          <p:nvPr/>
        </p:nvSpPr>
        <p:spPr>
          <a:xfrm>
            <a:off x="457200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Merge, Insertion, Quick and Heap Sort, counting every comparison and move.</a:t>
            </a:r>
            <a:endParaRPr lang="en-US" sz="1400" dirty="0"/>
          </a:p>
        </p:txBody>
      </p:sp>
      <p:sp>
        <p:nvSpPr>
          <p:cNvPr id="38" name="max_heap.c card"/>
          <p:cNvSpPr/>
          <p:nvPr/>
        </p:nvSpPr>
        <p:spPr>
          <a:xfrm>
            <a:off x="8046720" y="3840480"/>
            <a:ext cx="3520440" cy="2331720"/>
          </a:xfrm>
          <a:prstGeom prst="roundRect">
            <a:avLst>
              <a:gd name="adj" fmla="val 4706"/>
            </a:avLst>
          </a:prstGeom>
          <a:solidFill>
            <a:schemeClr val="bg2"/>
          </a:solidFill>
          <a:ln/>
        </p:spPr>
      </p:sp>
      <p:sp>
        <p:nvSpPr>
          <p:cNvPr id="39" name="max_heap.c tile"/>
          <p:cNvSpPr/>
          <p:nvPr/>
        </p:nvSpPr>
        <p:spPr>
          <a:xfrm>
            <a:off x="8321040" y="4114800"/>
            <a:ext cx="640080" cy="640080"/>
          </a:xfrm>
          <a:prstGeom prst="roundRect">
            <a:avLst>
              <a:gd name="adj" fmla="val 24000"/>
            </a:avLst>
          </a:prstGeom>
          <a:solidFill>
            <a:schemeClr val="accent5">
              <a:alpha val="14000"/>
            </a:schemeClr>
          </a:solidFill>
          <a:ln/>
        </p:spPr>
      </p:sp>
      <p:pic>
        <p:nvPicPr>
          <p:cNvPr id="40" name="max_heap.c icon" descr="preencoded.png">    </p:cNvPr>
          <p:cNvPicPr>
            <a:picLocks noChangeAspect="1"/>
          </p:cNvPicPr>
          <p:nvPr/>
        </p:nvPicPr>
        <p:blipFill>
          <a:blip r:embed="rId6"/>
          <a:stretch>
            <a:fillRect/>
          </a:stretch>
        </p:blipFill>
        <p:spPr>
          <a:xfrm>
            <a:off x="8461858" y="4255618"/>
            <a:ext cx="358445" cy="358445"/>
          </a:xfrm>
          <a:prstGeom prst="rect">
            <a:avLst/>
          </a:prstGeom>
        </p:spPr>
      </p:pic>
      <p:sp>
        <p:nvSpPr>
          <p:cNvPr id="41" name="Text 33"/>
          <p:cNvSpPr txBox="1"/>
          <p:nvPr/>
        </p:nvSpPr>
        <p:spPr>
          <a:xfrm>
            <a:off x="914400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max_heap.c</a:t>
            </a:r>
            <a:endParaRPr lang="en-US" sz="1400" dirty="0"/>
          </a:p>
        </p:txBody>
      </p:sp>
      <p:sp>
        <p:nvSpPr>
          <p:cNvPr id="42" name="max_heap.c tech tag"/>
          <p:cNvSpPr/>
          <p:nvPr/>
        </p:nvSpPr>
        <p:spPr>
          <a:xfrm>
            <a:off x="9144000" y="4480560"/>
            <a:ext cx="1415491" cy="292608"/>
          </a:xfrm>
          <a:prstGeom prst="roundRect">
            <a:avLst>
              <a:gd name="adj" fmla="val 50000"/>
            </a:avLst>
          </a:prstGeom>
          <a:solidFill>
            <a:schemeClr val="accent5">
              <a:alpha val="18000"/>
            </a:schemeClr>
          </a:solidFill>
          <a:ln/>
        </p:spPr>
      </p:sp>
      <p:sp>
        <p:nvSpPr>
          <p:cNvPr id="43" name="Text 35"/>
          <p:cNvSpPr txBox="1"/>
          <p:nvPr/>
        </p:nvSpPr>
        <p:spPr>
          <a:xfrm>
            <a:off x="9144000" y="4480560"/>
            <a:ext cx="1415491" cy="292608"/>
          </a:xfrm>
          <a:prstGeom prst="rect">
            <a:avLst/>
          </a:prstGeom>
          <a:noFill/>
          <a:ln/>
        </p:spPr>
        <p:txBody>
          <a:bodyPr wrap="square" lIns="0" tIns="0" rIns="0" bIns="0" rtlCol="0" anchor="ctr"/>
          <a:lstStyle/>
          <a:p>
            <a:pPr algn="ctr" indent="0" marL="0">
              <a:buNone/>
            </a:pPr>
            <a:r>
              <a:rPr lang="en-US" sz="1100" b="1" dirty="0">
                <a:solidFill>
                  <a:schemeClr val="tx2"/>
                </a:solidFill>
              </a:rPr>
              <a:t>C11 · array heap</a:t>
            </a:r>
            <a:endParaRPr lang="en-US" sz="1100" dirty="0"/>
          </a:p>
        </p:txBody>
      </p:sp>
      <p:sp>
        <p:nvSpPr>
          <p:cNvPr id="44" name="Text 36"/>
          <p:cNvSpPr txBox="1"/>
          <p:nvPr/>
        </p:nvSpPr>
        <p:spPr>
          <a:xfrm>
            <a:off x="832104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Priority queue: the most urgent restock is always on top. Reused by Dijkstra and greedy.</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The C engine at a glance: planning files</a:t>
            </a:r>
            <a:endParaRPr lang="en-US" sz="3600" dirty="0"/>
          </a:p>
        </p:txBody>
      </p:sp>
      <p:sp>
        <p:nvSpPr>
          <p:cNvPr id="3" name="avl_tree.c card"/>
          <p:cNvSpPr/>
          <p:nvPr/>
        </p:nvSpPr>
        <p:spPr>
          <a:xfrm>
            <a:off x="548640" y="1371600"/>
            <a:ext cx="3520440" cy="2331720"/>
          </a:xfrm>
          <a:prstGeom prst="roundRect">
            <a:avLst>
              <a:gd name="adj" fmla="val 4706"/>
            </a:avLst>
          </a:prstGeom>
          <a:solidFill>
            <a:schemeClr val="bg2"/>
          </a:solidFill>
          <a:ln/>
        </p:spPr>
      </p:sp>
      <p:sp>
        <p:nvSpPr>
          <p:cNvPr id="4" name="avl_tree.c tile"/>
          <p:cNvSpPr/>
          <p:nvPr/>
        </p:nvSpPr>
        <p:spPr>
          <a:xfrm>
            <a:off x="822960" y="1645920"/>
            <a:ext cx="640080" cy="640080"/>
          </a:xfrm>
          <a:prstGeom prst="roundRect">
            <a:avLst>
              <a:gd name="adj" fmla="val 24000"/>
            </a:avLst>
          </a:prstGeom>
          <a:solidFill>
            <a:schemeClr val="accent3">
              <a:alpha val="14000"/>
            </a:schemeClr>
          </a:solidFill>
          <a:ln/>
        </p:spPr>
      </p:sp>
      <p:pic>
        <p:nvPicPr>
          <p:cNvPr id="5" name="avl_tree.c icon"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6" name="Text 3"/>
          <p:cNvSpPr txBox="1"/>
          <p:nvPr/>
        </p:nvSpPr>
        <p:spPr>
          <a:xfrm>
            <a:off x="164592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avl_tree.c</a:t>
            </a:r>
            <a:endParaRPr lang="en-US" sz="1400" dirty="0"/>
          </a:p>
        </p:txBody>
      </p:sp>
      <p:sp>
        <p:nvSpPr>
          <p:cNvPr id="7" name="avl_tree.c tech tag"/>
          <p:cNvSpPr/>
          <p:nvPr/>
        </p:nvSpPr>
        <p:spPr>
          <a:xfrm>
            <a:off x="1645920" y="2011680"/>
            <a:ext cx="1986077" cy="292608"/>
          </a:xfrm>
          <a:prstGeom prst="roundRect">
            <a:avLst>
              <a:gd name="adj" fmla="val 50000"/>
            </a:avLst>
          </a:prstGeom>
          <a:solidFill>
            <a:schemeClr val="accent3">
              <a:alpha val="18000"/>
            </a:schemeClr>
          </a:solidFill>
          <a:ln/>
        </p:spPr>
      </p:sp>
      <p:sp>
        <p:nvSpPr>
          <p:cNvPr id="8" name="Text 5"/>
          <p:cNvSpPr txBox="1"/>
          <p:nvPr/>
        </p:nvSpPr>
        <p:spPr>
          <a:xfrm>
            <a:off x="1645920" y="2011680"/>
            <a:ext cx="1986077" cy="292608"/>
          </a:xfrm>
          <a:prstGeom prst="rect">
            <a:avLst/>
          </a:prstGeom>
          <a:noFill/>
          <a:ln/>
        </p:spPr>
        <p:txBody>
          <a:bodyPr wrap="square" lIns="0" tIns="0" rIns="0" bIns="0" rtlCol="0" anchor="ctr"/>
          <a:lstStyle/>
          <a:p>
            <a:pPr algn="ctr" indent="0" marL="0">
              <a:buNone/>
            </a:pPr>
            <a:r>
              <a:rPr lang="en-US" sz="1100" b="1" dirty="0">
                <a:solidFill>
                  <a:schemeClr val="tx2"/>
                </a:solidFill>
              </a:rPr>
              <a:t>C11 · self-balancing BST</a:t>
            </a:r>
            <a:endParaRPr lang="en-US" sz="1100" dirty="0"/>
          </a:p>
        </p:txBody>
      </p:sp>
      <p:sp>
        <p:nvSpPr>
          <p:cNvPr id="9" name="Text 6"/>
          <p:cNvSpPr txBox="1"/>
          <p:nvPr/>
        </p:nvSpPr>
        <p:spPr>
          <a:xfrm>
            <a:off x="82296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A tree sorted by price that rotates to stay short, so price-range filters are fast.</a:t>
            </a:r>
            <a:endParaRPr lang="en-US" sz="1400" dirty="0"/>
          </a:p>
        </p:txBody>
      </p:sp>
      <p:sp>
        <p:nvSpPr>
          <p:cNvPr id="10" name="trie.c card"/>
          <p:cNvSpPr/>
          <p:nvPr/>
        </p:nvSpPr>
        <p:spPr>
          <a:xfrm>
            <a:off x="4297680" y="1371600"/>
            <a:ext cx="3520440" cy="2331720"/>
          </a:xfrm>
          <a:prstGeom prst="roundRect">
            <a:avLst>
              <a:gd name="adj" fmla="val 4706"/>
            </a:avLst>
          </a:prstGeom>
          <a:solidFill>
            <a:schemeClr val="bg2"/>
          </a:solidFill>
          <a:ln/>
        </p:spPr>
      </p:sp>
      <p:sp>
        <p:nvSpPr>
          <p:cNvPr id="11" name="trie.c tile"/>
          <p:cNvSpPr/>
          <p:nvPr/>
        </p:nvSpPr>
        <p:spPr>
          <a:xfrm>
            <a:off x="4572000" y="1645920"/>
            <a:ext cx="640080" cy="640080"/>
          </a:xfrm>
          <a:prstGeom prst="roundRect">
            <a:avLst>
              <a:gd name="adj" fmla="val 24000"/>
            </a:avLst>
          </a:prstGeom>
          <a:solidFill>
            <a:schemeClr val="accent4">
              <a:alpha val="14000"/>
            </a:schemeClr>
          </a:solidFill>
          <a:ln/>
        </p:spPr>
      </p:sp>
      <p:pic>
        <p:nvPicPr>
          <p:cNvPr id="12" name="trie.c icon" descr="preencoded.png">    </p:cNvPr>
          <p:cNvPicPr>
            <a:picLocks noChangeAspect="1"/>
          </p:cNvPicPr>
          <p:nvPr/>
        </p:nvPicPr>
        <p:blipFill>
          <a:blip r:embed="rId2"/>
          <a:stretch>
            <a:fillRect/>
          </a:stretch>
        </p:blipFill>
        <p:spPr>
          <a:xfrm>
            <a:off x="4712818" y="1786738"/>
            <a:ext cx="358445" cy="358445"/>
          </a:xfrm>
          <a:prstGeom prst="rect">
            <a:avLst/>
          </a:prstGeom>
        </p:spPr>
      </p:pic>
      <p:sp>
        <p:nvSpPr>
          <p:cNvPr id="13" name="Text 9"/>
          <p:cNvSpPr txBox="1"/>
          <p:nvPr/>
        </p:nvSpPr>
        <p:spPr>
          <a:xfrm>
            <a:off x="539496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trie.c</a:t>
            </a:r>
            <a:endParaRPr lang="en-US" sz="1400" dirty="0"/>
          </a:p>
        </p:txBody>
      </p:sp>
      <p:sp>
        <p:nvSpPr>
          <p:cNvPr id="14" name="trie.c tech tag"/>
          <p:cNvSpPr/>
          <p:nvPr/>
        </p:nvSpPr>
        <p:spPr>
          <a:xfrm>
            <a:off x="5394960" y="2011680"/>
            <a:ext cx="1486814" cy="292608"/>
          </a:xfrm>
          <a:prstGeom prst="roundRect">
            <a:avLst>
              <a:gd name="adj" fmla="val 50000"/>
            </a:avLst>
          </a:prstGeom>
          <a:solidFill>
            <a:schemeClr val="accent4">
              <a:alpha val="18000"/>
            </a:schemeClr>
          </a:solidFill>
          <a:ln/>
        </p:spPr>
      </p:sp>
      <p:sp>
        <p:nvSpPr>
          <p:cNvPr id="15" name="Text 11"/>
          <p:cNvSpPr txBox="1"/>
          <p:nvPr/>
        </p:nvSpPr>
        <p:spPr>
          <a:xfrm>
            <a:off x="5394960" y="2011680"/>
            <a:ext cx="1486814" cy="292608"/>
          </a:xfrm>
          <a:prstGeom prst="rect">
            <a:avLst/>
          </a:prstGeom>
          <a:noFill/>
          <a:ln/>
        </p:spPr>
        <p:txBody>
          <a:bodyPr wrap="square" lIns="0" tIns="0" rIns="0" bIns="0" rtlCol="0" anchor="ctr"/>
          <a:lstStyle/>
          <a:p>
            <a:pPr algn="ctr" indent="0" marL="0">
              <a:buNone/>
            </a:pPr>
            <a:r>
              <a:rPr lang="en-US" sz="1100" b="1" dirty="0">
                <a:solidFill>
                  <a:schemeClr val="tx2"/>
                </a:solidFill>
              </a:rPr>
              <a:t>C11 · prefix tree</a:t>
            </a:r>
            <a:endParaRPr lang="en-US" sz="1100" dirty="0"/>
          </a:p>
        </p:txBody>
      </p:sp>
      <p:sp>
        <p:nvSpPr>
          <p:cNvPr id="16" name="Text 12"/>
          <p:cNvSpPr txBox="1"/>
          <p:nvPr/>
        </p:nvSpPr>
        <p:spPr>
          <a:xfrm>
            <a:off x="457200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Stores every word of every name letter by letter, so typing "cab" lists all cables.</a:t>
            </a:r>
            <a:endParaRPr lang="en-US" sz="1400" dirty="0"/>
          </a:p>
        </p:txBody>
      </p:sp>
      <p:sp>
        <p:nvSpPr>
          <p:cNvPr id="17" name="knapsack.c card"/>
          <p:cNvSpPr/>
          <p:nvPr/>
        </p:nvSpPr>
        <p:spPr>
          <a:xfrm>
            <a:off x="8046720" y="1371600"/>
            <a:ext cx="3520440" cy="2331720"/>
          </a:xfrm>
          <a:prstGeom prst="roundRect">
            <a:avLst>
              <a:gd name="adj" fmla="val 4706"/>
            </a:avLst>
          </a:prstGeom>
          <a:solidFill>
            <a:schemeClr val="bg2"/>
          </a:solidFill>
          <a:ln/>
        </p:spPr>
      </p:sp>
      <p:sp>
        <p:nvSpPr>
          <p:cNvPr id="18" name="knapsack.c tile"/>
          <p:cNvSpPr/>
          <p:nvPr/>
        </p:nvSpPr>
        <p:spPr>
          <a:xfrm>
            <a:off x="8321040" y="1645920"/>
            <a:ext cx="640080" cy="640080"/>
          </a:xfrm>
          <a:prstGeom prst="roundRect">
            <a:avLst>
              <a:gd name="adj" fmla="val 24000"/>
            </a:avLst>
          </a:prstGeom>
          <a:solidFill>
            <a:schemeClr val="accent2">
              <a:alpha val="14000"/>
            </a:schemeClr>
          </a:solidFill>
          <a:ln/>
        </p:spPr>
      </p:sp>
      <p:pic>
        <p:nvPicPr>
          <p:cNvPr id="19" name="knapsack.c icon" descr="preencoded.png">    </p:cNvPr>
          <p:cNvPicPr>
            <a:picLocks noChangeAspect="1"/>
          </p:cNvPicPr>
          <p:nvPr/>
        </p:nvPicPr>
        <p:blipFill>
          <a:blip r:embed="rId3"/>
          <a:stretch>
            <a:fillRect/>
          </a:stretch>
        </p:blipFill>
        <p:spPr>
          <a:xfrm>
            <a:off x="8461858" y="1786738"/>
            <a:ext cx="358445" cy="358445"/>
          </a:xfrm>
          <a:prstGeom prst="rect">
            <a:avLst/>
          </a:prstGeom>
        </p:spPr>
      </p:pic>
      <p:sp>
        <p:nvSpPr>
          <p:cNvPr id="20" name="Text 15"/>
          <p:cNvSpPr txBox="1"/>
          <p:nvPr/>
        </p:nvSpPr>
        <p:spPr>
          <a:xfrm>
            <a:off x="914400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knapsack.c</a:t>
            </a:r>
            <a:endParaRPr lang="en-US" sz="1400" dirty="0"/>
          </a:p>
        </p:txBody>
      </p:sp>
      <p:sp>
        <p:nvSpPr>
          <p:cNvPr id="21" name="knapsack.c tech tag"/>
          <p:cNvSpPr/>
          <p:nvPr/>
        </p:nvSpPr>
        <p:spPr>
          <a:xfrm>
            <a:off x="9144000" y="2011680"/>
            <a:ext cx="2057400" cy="292608"/>
          </a:xfrm>
          <a:prstGeom prst="roundRect">
            <a:avLst>
              <a:gd name="adj" fmla="val 50000"/>
            </a:avLst>
          </a:prstGeom>
          <a:solidFill>
            <a:schemeClr val="accent2">
              <a:alpha val="18000"/>
            </a:schemeClr>
          </a:solidFill>
          <a:ln/>
        </p:spPr>
      </p:sp>
      <p:sp>
        <p:nvSpPr>
          <p:cNvPr id="22" name="Text 17"/>
          <p:cNvSpPr txBox="1"/>
          <p:nvPr/>
        </p:nvSpPr>
        <p:spPr>
          <a:xfrm>
            <a:off x="9144000" y="2011680"/>
            <a:ext cx="2057400" cy="292608"/>
          </a:xfrm>
          <a:prstGeom prst="rect">
            <a:avLst/>
          </a:prstGeom>
          <a:noFill/>
          <a:ln/>
        </p:spPr>
        <p:txBody>
          <a:bodyPr wrap="square" lIns="0" tIns="0" rIns="0" bIns="0" rtlCol="0" anchor="ctr"/>
          <a:lstStyle/>
          <a:p>
            <a:pPr algn="ctr" indent="0" marL="0">
              <a:buNone/>
            </a:pPr>
            <a:r>
              <a:rPr lang="en-US" sz="1100" b="1" dirty="0">
                <a:solidFill>
                  <a:schemeClr val="tx2"/>
                </a:solidFill>
              </a:rPr>
              <a:t>C11 · dynamic programming</a:t>
            </a:r>
            <a:endParaRPr lang="en-US" sz="1100" dirty="0"/>
          </a:p>
        </p:txBody>
      </p:sp>
      <p:sp>
        <p:nvSpPr>
          <p:cNvPr id="23" name="Text 18"/>
          <p:cNvSpPr txBox="1"/>
          <p:nvPr/>
        </p:nvSpPr>
        <p:spPr>
          <a:xfrm>
            <a:off x="832104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Picks the restocks with the most priority that fit a budget, compared with greedy.</a:t>
            </a:r>
            <a:endParaRPr lang="en-US" sz="1400" dirty="0"/>
          </a:p>
        </p:txBody>
      </p:sp>
      <p:sp>
        <p:nvSpPr>
          <p:cNvPr id="24" name="graph.c card"/>
          <p:cNvSpPr/>
          <p:nvPr/>
        </p:nvSpPr>
        <p:spPr>
          <a:xfrm>
            <a:off x="548640" y="3840480"/>
            <a:ext cx="3520440" cy="2331720"/>
          </a:xfrm>
          <a:prstGeom prst="roundRect">
            <a:avLst>
              <a:gd name="adj" fmla="val 4706"/>
            </a:avLst>
          </a:prstGeom>
          <a:solidFill>
            <a:schemeClr val="bg2"/>
          </a:solidFill>
          <a:ln/>
        </p:spPr>
      </p:sp>
      <p:sp>
        <p:nvSpPr>
          <p:cNvPr id="25" name="graph.c tile"/>
          <p:cNvSpPr/>
          <p:nvPr/>
        </p:nvSpPr>
        <p:spPr>
          <a:xfrm>
            <a:off x="822960" y="4114800"/>
            <a:ext cx="640080" cy="640080"/>
          </a:xfrm>
          <a:prstGeom prst="roundRect">
            <a:avLst>
              <a:gd name="adj" fmla="val 24000"/>
            </a:avLst>
          </a:prstGeom>
          <a:solidFill>
            <a:schemeClr val="accent1">
              <a:alpha val="14000"/>
            </a:schemeClr>
          </a:solidFill>
          <a:ln/>
        </p:spPr>
      </p:sp>
      <p:pic>
        <p:nvPicPr>
          <p:cNvPr id="26" name="graph.c icon" descr="preencoded.png">    </p:cNvPr>
          <p:cNvPicPr>
            <a:picLocks noChangeAspect="1"/>
          </p:cNvPicPr>
          <p:nvPr/>
        </p:nvPicPr>
        <p:blipFill>
          <a:blip r:embed="rId4"/>
          <a:stretch>
            <a:fillRect/>
          </a:stretch>
        </p:blipFill>
        <p:spPr>
          <a:xfrm>
            <a:off x="963778" y="4255618"/>
            <a:ext cx="358445" cy="358445"/>
          </a:xfrm>
          <a:prstGeom prst="rect">
            <a:avLst/>
          </a:prstGeom>
        </p:spPr>
      </p:pic>
      <p:sp>
        <p:nvSpPr>
          <p:cNvPr id="27" name="Text 21"/>
          <p:cNvSpPr txBox="1"/>
          <p:nvPr/>
        </p:nvSpPr>
        <p:spPr>
          <a:xfrm>
            <a:off x="164592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graph.c</a:t>
            </a:r>
            <a:endParaRPr lang="en-US" sz="1400" dirty="0"/>
          </a:p>
        </p:txBody>
      </p:sp>
      <p:sp>
        <p:nvSpPr>
          <p:cNvPr id="28" name="graph.c tech tag"/>
          <p:cNvSpPr/>
          <p:nvPr/>
        </p:nvSpPr>
        <p:spPr>
          <a:xfrm>
            <a:off x="1645920" y="4480560"/>
            <a:ext cx="1772107" cy="292608"/>
          </a:xfrm>
          <a:prstGeom prst="roundRect">
            <a:avLst>
              <a:gd name="adj" fmla="val 50000"/>
            </a:avLst>
          </a:prstGeom>
          <a:solidFill>
            <a:schemeClr val="accent1">
              <a:alpha val="18000"/>
            </a:schemeClr>
          </a:solidFill>
          <a:ln/>
        </p:spPr>
      </p:sp>
      <p:sp>
        <p:nvSpPr>
          <p:cNvPr id="29" name="Text 23"/>
          <p:cNvSpPr txBox="1"/>
          <p:nvPr/>
        </p:nvSpPr>
        <p:spPr>
          <a:xfrm>
            <a:off x="1645920" y="4480560"/>
            <a:ext cx="1772107" cy="292608"/>
          </a:xfrm>
          <a:prstGeom prst="rect">
            <a:avLst/>
          </a:prstGeom>
          <a:noFill/>
          <a:ln/>
        </p:spPr>
        <p:txBody>
          <a:bodyPr wrap="square" lIns="0" tIns="0" rIns="0" bIns="0" rtlCol="0" anchor="ctr"/>
          <a:lstStyle/>
          <a:p>
            <a:pPr algn="ctr" indent="0" marL="0">
              <a:buNone/>
            </a:pPr>
            <a:r>
              <a:rPr lang="en-US" sz="1100" b="1" dirty="0">
                <a:solidFill>
                  <a:schemeClr val="tx2"/>
                </a:solidFill>
              </a:rPr>
              <a:t>C11 · graph, Dijkstra</a:t>
            </a:r>
            <a:endParaRPr lang="en-US" sz="1100" dirty="0"/>
          </a:p>
        </p:txBody>
      </p:sp>
      <p:sp>
        <p:nvSpPr>
          <p:cNvPr id="30" name="Text 24"/>
          <p:cNvSpPr txBox="1"/>
          <p:nvPr/>
        </p:nvSpPr>
        <p:spPr>
          <a:xfrm>
            <a:off x="82296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Stores roads as an adjacency list and finds the shortest delivery route.</a:t>
            </a:r>
            <a:endParaRPr lang="en-US" sz="1400" dirty="0"/>
          </a:p>
        </p:txBody>
      </p:sp>
      <p:sp>
        <p:nvSpPr>
          <p:cNvPr id="31" name="fifo_queue.c card"/>
          <p:cNvSpPr/>
          <p:nvPr/>
        </p:nvSpPr>
        <p:spPr>
          <a:xfrm>
            <a:off x="4297680" y="3840480"/>
            <a:ext cx="3520440" cy="2331720"/>
          </a:xfrm>
          <a:prstGeom prst="roundRect">
            <a:avLst>
              <a:gd name="adj" fmla="val 4706"/>
            </a:avLst>
          </a:prstGeom>
          <a:solidFill>
            <a:schemeClr val="bg2"/>
          </a:solidFill>
          <a:ln/>
        </p:spPr>
      </p:sp>
      <p:sp>
        <p:nvSpPr>
          <p:cNvPr id="32" name="fifo_queue.c tile"/>
          <p:cNvSpPr/>
          <p:nvPr/>
        </p:nvSpPr>
        <p:spPr>
          <a:xfrm>
            <a:off x="4572000" y="4114800"/>
            <a:ext cx="640080" cy="640080"/>
          </a:xfrm>
          <a:prstGeom prst="roundRect">
            <a:avLst>
              <a:gd name="adj" fmla="val 24000"/>
            </a:avLst>
          </a:prstGeom>
          <a:solidFill>
            <a:schemeClr val="accent5">
              <a:alpha val="14000"/>
            </a:schemeClr>
          </a:solidFill>
          <a:ln/>
        </p:spPr>
      </p:sp>
      <p:pic>
        <p:nvPicPr>
          <p:cNvPr id="33" name="fifo_queue.c icon" descr="preencoded.png">    </p:cNvPr>
          <p:cNvPicPr>
            <a:picLocks noChangeAspect="1"/>
          </p:cNvPicPr>
          <p:nvPr/>
        </p:nvPicPr>
        <p:blipFill>
          <a:blip r:embed="rId5"/>
          <a:stretch>
            <a:fillRect/>
          </a:stretch>
        </p:blipFill>
        <p:spPr>
          <a:xfrm>
            <a:off x="4712818" y="4255618"/>
            <a:ext cx="358445" cy="358445"/>
          </a:xfrm>
          <a:prstGeom prst="rect">
            <a:avLst/>
          </a:prstGeom>
        </p:spPr>
      </p:pic>
      <p:sp>
        <p:nvSpPr>
          <p:cNvPr id="34" name="Text 27"/>
          <p:cNvSpPr txBox="1"/>
          <p:nvPr/>
        </p:nvSpPr>
        <p:spPr>
          <a:xfrm>
            <a:off x="539496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fifo_queue.c</a:t>
            </a:r>
            <a:endParaRPr lang="en-US" sz="1400" dirty="0"/>
          </a:p>
        </p:txBody>
      </p:sp>
      <p:sp>
        <p:nvSpPr>
          <p:cNvPr id="35" name="fifo_queue.c tech tag"/>
          <p:cNvSpPr/>
          <p:nvPr/>
        </p:nvSpPr>
        <p:spPr>
          <a:xfrm>
            <a:off x="5394960" y="4480560"/>
            <a:ext cx="1486814" cy="292608"/>
          </a:xfrm>
          <a:prstGeom prst="roundRect">
            <a:avLst>
              <a:gd name="adj" fmla="val 50000"/>
            </a:avLst>
          </a:prstGeom>
          <a:solidFill>
            <a:schemeClr val="accent5">
              <a:alpha val="18000"/>
            </a:schemeClr>
          </a:solidFill>
          <a:ln/>
        </p:spPr>
      </p:sp>
      <p:sp>
        <p:nvSpPr>
          <p:cNvPr id="36" name="Text 29"/>
          <p:cNvSpPr txBox="1"/>
          <p:nvPr/>
        </p:nvSpPr>
        <p:spPr>
          <a:xfrm>
            <a:off x="5394960" y="4480560"/>
            <a:ext cx="1486814" cy="292608"/>
          </a:xfrm>
          <a:prstGeom prst="rect">
            <a:avLst/>
          </a:prstGeom>
          <a:noFill/>
          <a:ln/>
        </p:spPr>
        <p:txBody>
          <a:bodyPr wrap="square" lIns="0" tIns="0" rIns="0" bIns="0" rtlCol="0" anchor="ctr"/>
          <a:lstStyle/>
          <a:p>
            <a:pPr algn="ctr" indent="0" marL="0">
              <a:buNone/>
            </a:pPr>
            <a:r>
              <a:rPr lang="en-US" sz="1100" b="1" dirty="0">
                <a:solidFill>
                  <a:schemeClr val="tx2"/>
                </a:solidFill>
              </a:rPr>
              <a:t>C11 · ring buffer</a:t>
            </a:r>
            <a:endParaRPr lang="en-US" sz="1100" dirty="0"/>
          </a:p>
        </p:txBody>
      </p:sp>
      <p:sp>
        <p:nvSpPr>
          <p:cNvPr id="37" name="Text 30"/>
          <p:cNvSpPr txBox="1"/>
          <p:nvPr/>
        </p:nvSpPr>
        <p:spPr>
          <a:xfrm>
            <a:off x="457200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A circular queue of stock lots: the oldest units leave first, which gives stock age.</a:t>
            </a:r>
            <a:endParaRPr lang="en-US" sz="1400" dirty="0"/>
          </a:p>
        </p:txBody>
      </p:sp>
      <p:sp>
        <p:nvSpPr>
          <p:cNvPr id="38" name="Makefile card"/>
          <p:cNvSpPr/>
          <p:nvPr/>
        </p:nvSpPr>
        <p:spPr>
          <a:xfrm>
            <a:off x="8046720" y="3840480"/>
            <a:ext cx="3520440" cy="2331720"/>
          </a:xfrm>
          <a:prstGeom prst="roundRect">
            <a:avLst>
              <a:gd name="adj" fmla="val 4706"/>
            </a:avLst>
          </a:prstGeom>
          <a:solidFill>
            <a:schemeClr val="bg2"/>
          </a:solidFill>
          <a:ln/>
        </p:spPr>
      </p:sp>
      <p:sp>
        <p:nvSpPr>
          <p:cNvPr id="39" name="Makefile tile"/>
          <p:cNvSpPr/>
          <p:nvPr/>
        </p:nvSpPr>
        <p:spPr>
          <a:xfrm>
            <a:off x="8321040" y="4114800"/>
            <a:ext cx="640080" cy="640080"/>
          </a:xfrm>
          <a:prstGeom prst="roundRect">
            <a:avLst>
              <a:gd name="adj" fmla="val 24000"/>
            </a:avLst>
          </a:prstGeom>
          <a:solidFill>
            <a:schemeClr val="accent6">
              <a:alpha val="14000"/>
            </a:schemeClr>
          </a:solidFill>
          <a:ln/>
        </p:spPr>
      </p:sp>
      <p:pic>
        <p:nvPicPr>
          <p:cNvPr id="40" name="Makefile icon" descr="preencoded.png">    </p:cNvPr>
          <p:cNvPicPr>
            <a:picLocks noChangeAspect="1"/>
          </p:cNvPicPr>
          <p:nvPr/>
        </p:nvPicPr>
        <p:blipFill>
          <a:blip r:embed="rId6"/>
          <a:stretch>
            <a:fillRect/>
          </a:stretch>
        </p:blipFill>
        <p:spPr>
          <a:xfrm>
            <a:off x="8461858" y="4255618"/>
            <a:ext cx="358445" cy="358445"/>
          </a:xfrm>
          <a:prstGeom prst="rect">
            <a:avLst/>
          </a:prstGeom>
        </p:spPr>
      </p:pic>
      <p:sp>
        <p:nvSpPr>
          <p:cNvPr id="41" name="Text 33"/>
          <p:cNvSpPr txBox="1"/>
          <p:nvPr/>
        </p:nvSpPr>
        <p:spPr>
          <a:xfrm>
            <a:off x="914400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Makefile</a:t>
            </a:r>
            <a:endParaRPr lang="en-US" sz="1400" dirty="0"/>
          </a:p>
        </p:txBody>
      </p:sp>
      <p:sp>
        <p:nvSpPr>
          <p:cNvPr id="42" name="Makefile tech tag"/>
          <p:cNvSpPr/>
          <p:nvPr/>
        </p:nvSpPr>
        <p:spPr>
          <a:xfrm>
            <a:off x="9144000" y="4480560"/>
            <a:ext cx="1272845" cy="292608"/>
          </a:xfrm>
          <a:prstGeom prst="roundRect">
            <a:avLst>
              <a:gd name="adj" fmla="val 50000"/>
            </a:avLst>
          </a:prstGeom>
          <a:solidFill>
            <a:schemeClr val="accent6">
              <a:alpha val="18000"/>
            </a:schemeClr>
          </a:solidFill>
          <a:ln/>
        </p:spPr>
      </p:sp>
      <p:sp>
        <p:nvSpPr>
          <p:cNvPr id="43" name="Text 35"/>
          <p:cNvSpPr txBox="1"/>
          <p:nvPr/>
        </p:nvSpPr>
        <p:spPr>
          <a:xfrm>
            <a:off x="9144000" y="4480560"/>
            <a:ext cx="1272845" cy="292608"/>
          </a:xfrm>
          <a:prstGeom prst="rect">
            <a:avLst/>
          </a:prstGeom>
          <a:noFill/>
          <a:ln/>
        </p:spPr>
        <p:txBody>
          <a:bodyPr wrap="square" lIns="0" tIns="0" rIns="0" bIns="0" rtlCol="0" anchor="ctr"/>
          <a:lstStyle/>
          <a:p>
            <a:pPr algn="ctr" indent="0" marL="0">
              <a:buNone/>
            </a:pPr>
            <a:r>
              <a:rPr lang="en-US" sz="1100" b="1" dirty="0">
                <a:solidFill>
                  <a:schemeClr val="tx2"/>
                </a:solidFill>
              </a:rPr>
              <a:t>GNU Make · GCC</a:t>
            </a:r>
            <a:endParaRPr lang="en-US" sz="1100" dirty="0"/>
          </a:p>
        </p:txBody>
      </p:sp>
      <p:sp>
        <p:nvSpPr>
          <p:cNvPr id="44" name="Text 36"/>
          <p:cNvSpPr txBox="1"/>
          <p:nvPr/>
        </p:nvSpPr>
        <p:spPr>
          <a:xfrm>
            <a:off x="832104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make builds libstockwise.so (stockwise.dll on Windows); make test runs the C tests.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Inside inventory_engine.c: building the engine</a:t>
            </a:r>
            <a:endParaRPr lang="en-US" sz="3600" dirty="0"/>
          </a:p>
        </p:txBody>
      </p:sp>
      <p:sp>
        <p:nvSpPr>
          <p:cNvPr id="3" name="Text 1"/>
          <p:cNvSpPr txBox="1"/>
          <p:nvPr/>
        </p:nvSpPr>
        <p:spPr>
          <a:xfrm>
            <a:off x="548640" y="1325880"/>
            <a:ext cx="10972800" cy="365760"/>
          </a:xfrm>
          <a:prstGeom prst="rect">
            <a:avLst/>
          </a:prstGeom>
          <a:noFill/>
          <a:ln/>
        </p:spPr>
        <p:txBody>
          <a:bodyPr wrap="square" lIns="0" tIns="0" rIns="0" bIns="0" rtlCol="0" anchor="t"/>
          <a:lstStyle/>
          <a:p>
            <a:pPr indent="0" marL="0">
              <a:buNone/>
            </a:pPr>
            <a:r>
              <a:rPr lang="en-US" sz="1600" dirty="0">
                <a:solidFill>
                  <a:schemeClr val="tx2"/>
                </a:solidFill>
              </a:rPr>
              <a:t>When Python calls sw_engine_create(), the engine does five things:</a:t>
            </a:r>
            <a:endParaRPr lang="en-US" sz="1600" dirty="0"/>
          </a:p>
        </p:txBody>
      </p:sp>
      <p:sp>
        <p:nvSpPr>
          <p:cNvPr id="4" name="Check card"/>
          <p:cNvSpPr/>
          <p:nvPr/>
        </p:nvSpPr>
        <p:spPr>
          <a:xfrm>
            <a:off x="548640" y="1828800"/>
            <a:ext cx="2011680" cy="2148840"/>
          </a:xfrm>
          <a:prstGeom prst="roundRect">
            <a:avLst>
              <a:gd name="adj" fmla="val 5455"/>
            </a:avLst>
          </a:prstGeom>
          <a:solidFill>
            <a:schemeClr val="bg2"/>
          </a:solidFill>
          <a:ln/>
        </p:spPr>
      </p:sp>
      <p:sp>
        <p:nvSpPr>
          <p:cNvPr id="5" name="Check tile"/>
          <p:cNvSpPr/>
          <p:nvPr/>
        </p:nvSpPr>
        <p:spPr>
          <a:xfrm>
            <a:off x="1207008" y="2011680"/>
            <a:ext cx="694944" cy="694944"/>
          </a:xfrm>
          <a:prstGeom prst="roundRect">
            <a:avLst>
              <a:gd name="adj" fmla="val 24000"/>
            </a:avLst>
          </a:prstGeom>
          <a:solidFill>
            <a:schemeClr val="accent3">
              <a:alpha val="14000"/>
            </a:schemeClr>
          </a:solidFill>
          <a:ln/>
        </p:spPr>
      </p:sp>
      <p:pic>
        <p:nvPicPr>
          <p:cNvPr id="6" name="Check icon" descr="preencoded.png">    </p:cNvPr>
          <p:cNvPicPr>
            <a:picLocks noChangeAspect="1"/>
          </p:cNvPicPr>
          <p:nvPr/>
        </p:nvPicPr>
        <p:blipFill>
          <a:blip r:embed="rId1"/>
          <a:stretch>
            <a:fillRect/>
          </a:stretch>
        </p:blipFill>
        <p:spPr>
          <a:xfrm>
            <a:off x="1359896" y="2164568"/>
            <a:ext cx="389169" cy="389169"/>
          </a:xfrm>
          <a:prstGeom prst="rect">
            <a:avLst/>
          </a:prstGeom>
        </p:spPr>
      </p:pic>
      <p:sp>
        <p:nvSpPr>
          <p:cNvPr id="7" name="Text 4"/>
          <p:cNvSpPr txBox="1"/>
          <p:nvPr/>
        </p:nvSpPr>
        <p:spPr>
          <a:xfrm>
            <a:off x="658368" y="2816352"/>
            <a:ext cx="1792224" cy="365760"/>
          </a:xfrm>
          <a:prstGeom prst="rect">
            <a:avLst/>
          </a:prstGeom>
          <a:noFill/>
          <a:ln/>
        </p:spPr>
        <p:txBody>
          <a:bodyPr wrap="square" lIns="0" tIns="0" rIns="0" bIns="0" rtlCol="0" anchor="t"/>
          <a:lstStyle/>
          <a:p>
            <a:pPr algn="ctr" indent="0" marL="0">
              <a:buNone/>
            </a:pPr>
            <a:r>
              <a:rPr lang="en-US" sz="1600" b="1" dirty="0">
                <a:solidFill>
                  <a:schemeClr val="tx2"/>
                </a:solidFill>
              </a:rPr>
              <a:t>1. Check</a:t>
            </a:r>
            <a:endParaRPr lang="en-US" sz="1600" dirty="0"/>
          </a:p>
        </p:txBody>
      </p:sp>
      <p:sp>
        <p:nvSpPr>
          <p:cNvPr id="8" name="Text 5"/>
          <p:cNvSpPr txBox="1"/>
          <p:nvPr/>
        </p:nvSpPr>
        <p:spPr>
          <a:xfrm>
            <a:off x="658368" y="3200400"/>
            <a:ext cx="1792224" cy="731520"/>
          </a:xfrm>
          <a:prstGeom prst="rect">
            <a:avLst/>
          </a:prstGeom>
          <a:noFill/>
          <a:ln/>
        </p:spPr>
        <p:txBody>
          <a:bodyPr wrap="square" lIns="0" tIns="0" rIns="0" bIns="0" rtlCol="0" anchor="t"/>
          <a:lstStyle/>
          <a:p>
            <a:pPr algn="ctr" indent="0" marL="0">
              <a:buNone/>
            </a:pPr>
            <a:r>
              <a:rPr lang="en-US" sz="1300" dirty="0">
                <a:solidFill>
                  <a:schemeClr val="tx1"/>
                </a:solidFill>
              </a:rPr>
              <a:t>every product: no negative price, valid name</a:t>
            </a:r>
            <a:endParaRPr lang="en-US" sz="1300" dirty="0"/>
          </a:p>
        </p:txBody>
      </p:sp>
      <p:sp>
        <p:nvSpPr>
          <p:cNvPr id="9" name="build arrow 1"/>
          <p:cNvSpPr/>
          <p:nvPr/>
        </p:nvSpPr>
        <p:spPr>
          <a:xfrm>
            <a:off x="2596896" y="2743200"/>
            <a:ext cx="201168" cy="274320"/>
          </a:xfrm>
          <a:prstGeom prst="rightArrow">
            <a:avLst/>
          </a:prstGeom>
          <a:solidFill>
            <a:schemeClr val="tx2"/>
          </a:solidFill>
          <a:ln/>
        </p:spPr>
      </p:sp>
      <p:sp>
        <p:nvSpPr>
          <p:cNvPr id="10" name="Copy card"/>
          <p:cNvSpPr/>
          <p:nvPr/>
        </p:nvSpPr>
        <p:spPr>
          <a:xfrm>
            <a:off x="2834640" y="1828800"/>
            <a:ext cx="2011680" cy="2148840"/>
          </a:xfrm>
          <a:prstGeom prst="roundRect">
            <a:avLst>
              <a:gd name="adj" fmla="val 5455"/>
            </a:avLst>
          </a:prstGeom>
          <a:solidFill>
            <a:schemeClr val="bg2"/>
          </a:solidFill>
          <a:ln/>
        </p:spPr>
      </p:sp>
      <p:sp>
        <p:nvSpPr>
          <p:cNvPr id="11" name="Copy tile"/>
          <p:cNvSpPr/>
          <p:nvPr/>
        </p:nvSpPr>
        <p:spPr>
          <a:xfrm>
            <a:off x="3493008" y="2011680"/>
            <a:ext cx="694944" cy="694944"/>
          </a:xfrm>
          <a:prstGeom prst="roundRect">
            <a:avLst>
              <a:gd name="adj" fmla="val 24000"/>
            </a:avLst>
          </a:prstGeom>
          <a:solidFill>
            <a:schemeClr val="accent1">
              <a:alpha val="14000"/>
            </a:schemeClr>
          </a:solidFill>
          <a:ln/>
        </p:spPr>
      </p:sp>
      <p:pic>
        <p:nvPicPr>
          <p:cNvPr id="12" name="Copy icon" descr="preencoded.png">    </p:cNvPr>
          <p:cNvPicPr>
            <a:picLocks noChangeAspect="1"/>
          </p:cNvPicPr>
          <p:nvPr/>
        </p:nvPicPr>
        <p:blipFill>
          <a:blip r:embed="rId2"/>
          <a:stretch>
            <a:fillRect/>
          </a:stretch>
        </p:blipFill>
        <p:spPr>
          <a:xfrm>
            <a:off x="3645896" y="2164568"/>
            <a:ext cx="389169" cy="389169"/>
          </a:xfrm>
          <a:prstGeom prst="rect">
            <a:avLst/>
          </a:prstGeom>
        </p:spPr>
      </p:pic>
      <p:sp>
        <p:nvSpPr>
          <p:cNvPr id="13" name="Text 9"/>
          <p:cNvSpPr txBox="1"/>
          <p:nvPr/>
        </p:nvSpPr>
        <p:spPr>
          <a:xfrm>
            <a:off x="2944368" y="2816352"/>
            <a:ext cx="1792224" cy="365760"/>
          </a:xfrm>
          <a:prstGeom prst="rect">
            <a:avLst/>
          </a:prstGeom>
          <a:noFill/>
          <a:ln/>
        </p:spPr>
        <p:txBody>
          <a:bodyPr wrap="square" lIns="0" tIns="0" rIns="0" bIns="0" rtlCol="0" anchor="t"/>
          <a:lstStyle/>
          <a:p>
            <a:pPr algn="ctr" indent="0" marL="0">
              <a:buNone/>
            </a:pPr>
            <a:r>
              <a:rPr lang="en-US" sz="1600" b="1" dirty="0">
                <a:solidFill>
                  <a:schemeClr val="tx2"/>
                </a:solidFill>
              </a:rPr>
              <a:t>2. Copy</a:t>
            </a:r>
            <a:endParaRPr lang="en-US" sz="1600" dirty="0"/>
          </a:p>
        </p:txBody>
      </p:sp>
      <p:sp>
        <p:nvSpPr>
          <p:cNvPr id="14" name="Text 10"/>
          <p:cNvSpPr txBox="1"/>
          <p:nvPr/>
        </p:nvSpPr>
        <p:spPr>
          <a:xfrm>
            <a:off x="2944368" y="3200400"/>
            <a:ext cx="1792224" cy="731520"/>
          </a:xfrm>
          <a:prstGeom prst="rect">
            <a:avLst/>
          </a:prstGeom>
          <a:noFill/>
          <a:ln/>
        </p:spPr>
        <p:txBody>
          <a:bodyPr wrap="square" lIns="0" tIns="0" rIns="0" bIns="0" rtlCol="0" anchor="t"/>
          <a:lstStyle/>
          <a:p>
            <a:pPr algn="ctr" indent="0" marL="0">
              <a:buNone/>
            </a:pPr>
            <a:r>
              <a:rPr lang="en-US" sz="1300" dirty="0">
                <a:solidFill>
                  <a:schemeClr val="tx1"/>
                </a:solidFill>
              </a:rPr>
              <a:t>the products into C memory it owns</a:t>
            </a:r>
            <a:endParaRPr lang="en-US" sz="1300" dirty="0"/>
          </a:p>
        </p:txBody>
      </p:sp>
      <p:sp>
        <p:nvSpPr>
          <p:cNvPr id="15" name="build arrow 2"/>
          <p:cNvSpPr/>
          <p:nvPr/>
        </p:nvSpPr>
        <p:spPr>
          <a:xfrm>
            <a:off x="4882896" y="2743200"/>
            <a:ext cx="201168" cy="274320"/>
          </a:xfrm>
          <a:prstGeom prst="rightArrow">
            <a:avLst/>
          </a:prstGeom>
          <a:solidFill>
            <a:schemeClr val="tx2"/>
          </a:solidFill>
          <a:ln/>
        </p:spPr>
      </p:sp>
      <p:sp>
        <p:nvSpPr>
          <p:cNvPr id="16" name="Hash table card"/>
          <p:cNvSpPr/>
          <p:nvPr/>
        </p:nvSpPr>
        <p:spPr>
          <a:xfrm>
            <a:off x="5120640" y="1828800"/>
            <a:ext cx="2011680" cy="2148840"/>
          </a:xfrm>
          <a:prstGeom prst="roundRect">
            <a:avLst>
              <a:gd name="adj" fmla="val 5455"/>
            </a:avLst>
          </a:prstGeom>
          <a:solidFill>
            <a:schemeClr val="bg2"/>
          </a:solidFill>
          <a:ln/>
        </p:spPr>
      </p:sp>
      <p:sp>
        <p:nvSpPr>
          <p:cNvPr id="17" name="Hash table tile"/>
          <p:cNvSpPr/>
          <p:nvPr/>
        </p:nvSpPr>
        <p:spPr>
          <a:xfrm>
            <a:off x="5779008" y="2011680"/>
            <a:ext cx="694944" cy="694944"/>
          </a:xfrm>
          <a:prstGeom prst="roundRect">
            <a:avLst>
              <a:gd name="adj" fmla="val 24000"/>
            </a:avLst>
          </a:prstGeom>
          <a:solidFill>
            <a:schemeClr val="accent2">
              <a:alpha val="14000"/>
            </a:schemeClr>
          </a:solidFill>
          <a:ln/>
        </p:spPr>
      </p:sp>
      <p:pic>
        <p:nvPicPr>
          <p:cNvPr id="18" name="Hash table icon" descr="preencoded.png">    </p:cNvPr>
          <p:cNvPicPr>
            <a:picLocks noChangeAspect="1"/>
          </p:cNvPicPr>
          <p:nvPr/>
        </p:nvPicPr>
        <p:blipFill>
          <a:blip r:embed="rId3"/>
          <a:stretch>
            <a:fillRect/>
          </a:stretch>
        </p:blipFill>
        <p:spPr>
          <a:xfrm>
            <a:off x="5931896" y="2164568"/>
            <a:ext cx="389169" cy="389169"/>
          </a:xfrm>
          <a:prstGeom prst="rect">
            <a:avLst/>
          </a:prstGeom>
        </p:spPr>
      </p:pic>
      <p:sp>
        <p:nvSpPr>
          <p:cNvPr id="19" name="Text 14"/>
          <p:cNvSpPr txBox="1"/>
          <p:nvPr/>
        </p:nvSpPr>
        <p:spPr>
          <a:xfrm>
            <a:off x="5230368" y="2816352"/>
            <a:ext cx="1792224" cy="365760"/>
          </a:xfrm>
          <a:prstGeom prst="rect">
            <a:avLst/>
          </a:prstGeom>
          <a:noFill/>
          <a:ln/>
        </p:spPr>
        <p:txBody>
          <a:bodyPr wrap="square" lIns="0" tIns="0" rIns="0" bIns="0" rtlCol="0" anchor="t"/>
          <a:lstStyle/>
          <a:p>
            <a:pPr algn="ctr" indent="0" marL="0">
              <a:buNone/>
            </a:pPr>
            <a:r>
              <a:rPr lang="en-US" sz="1600" b="1" dirty="0">
                <a:solidFill>
                  <a:schemeClr val="tx2"/>
                </a:solidFill>
              </a:rPr>
              <a:t>3. Hash table</a:t>
            </a:r>
            <a:endParaRPr lang="en-US" sz="1600" dirty="0"/>
          </a:p>
        </p:txBody>
      </p:sp>
      <p:sp>
        <p:nvSpPr>
          <p:cNvPr id="20" name="Text 15"/>
          <p:cNvSpPr txBox="1"/>
          <p:nvPr/>
        </p:nvSpPr>
        <p:spPr>
          <a:xfrm>
            <a:off x="5230368" y="3200400"/>
            <a:ext cx="1792224" cy="731520"/>
          </a:xfrm>
          <a:prstGeom prst="rect">
            <a:avLst/>
          </a:prstGeom>
          <a:noFill/>
          <a:ln/>
        </p:spPr>
        <p:txBody>
          <a:bodyPr wrap="square" lIns="0" tIns="0" rIns="0" bIns="0" rtlCol="0" anchor="t"/>
          <a:lstStyle/>
          <a:p>
            <a:pPr algn="ctr" indent="0" marL="0">
              <a:buNone/>
            </a:pPr>
            <a:r>
              <a:rPr lang="en-US" sz="1300" dirty="0">
                <a:solidFill>
                  <a:schemeClr val="tx1"/>
                </a:solidFill>
              </a:rPr>
              <a:t>by ID; a duplicate ID is rejected here</a:t>
            </a:r>
            <a:endParaRPr lang="en-US" sz="1300" dirty="0"/>
          </a:p>
        </p:txBody>
      </p:sp>
      <p:sp>
        <p:nvSpPr>
          <p:cNvPr id="21" name="build arrow 3"/>
          <p:cNvSpPr/>
          <p:nvPr/>
        </p:nvSpPr>
        <p:spPr>
          <a:xfrm>
            <a:off x="7168896" y="2743200"/>
            <a:ext cx="201168" cy="274320"/>
          </a:xfrm>
          <a:prstGeom prst="rightArrow">
            <a:avLst/>
          </a:prstGeom>
          <a:solidFill>
            <a:schemeClr val="tx2"/>
          </a:solidFill>
          <a:ln/>
        </p:spPr>
      </p:sp>
      <p:sp>
        <p:nvSpPr>
          <p:cNvPr id="22" name="AVL tree + trie card"/>
          <p:cNvSpPr/>
          <p:nvPr/>
        </p:nvSpPr>
        <p:spPr>
          <a:xfrm>
            <a:off x="7406640" y="1828800"/>
            <a:ext cx="2011680" cy="2148840"/>
          </a:xfrm>
          <a:prstGeom prst="roundRect">
            <a:avLst>
              <a:gd name="adj" fmla="val 5455"/>
            </a:avLst>
          </a:prstGeom>
          <a:solidFill>
            <a:schemeClr val="bg2"/>
          </a:solidFill>
          <a:ln/>
        </p:spPr>
      </p:sp>
      <p:sp>
        <p:nvSpPr>
          <p:cNvPr id="23" name="AVL tree + trie tile"/>
          <p:cNvSpPr/>
          <p:nvPr/>
        </p:nvSpPr>
        <p:spPr>
          <a:xfrm>
            <a:off x="8065008" y="2011680"/>
            <a:ext cx="694944" cy="694944"/>
          </a:xfrm>
          <a:prstGeom prst="roundRect">
            <a:avLst>
              <a:gd name="adj" fmla="val 24000"/>
            </a:avLst>
          </a:prstGeom>
          <a:solidFill>
            <a:schemeClr val="accent4">
              <a:alpha val="14000"/>
            </a:schemeClr>
          </a:solidFill>
          <a:ln/>
        </p:spPr>
      </p:sp>
      <p:pic>
        <p:nvPicPr>
          <p:cNvPr id="24" name="AVL tree + trie icon" descr="preencoded.png">    </p:cNvPr>
          <p:cNvPicPr>
            <a:picLocks noChangeAspect="1"/>
          </p:cNvPicPr>
          <p:nvPr/>
        </p:nvPicPr>
        <p:blipFill>
          <a:blip r:embed="rId4"/>
          <a:stretch>
            <a:fillRect/>
          </a:stretch>
        </p:blipFill>
        <p:spPr>
          <a:xfrm>
            <a:off x="8217896" y="2164568"/>
            <a:ext cx="389169" cy="389169"/>
          </a:xfrm>
          <a:prstGeom prst="rect">
            <a:avLst/>
          </a:prstGeom>
        </p:spPr>
      </p:pic>
      <p:sp>
        <p:nvSpPr>
          <p:cNvPr id="25" name="Text 19"/>
          <p:cNvSpPr txBox="1"/>
          <p:nvPr/>
        </p:nvSpPr>
        <p:spPr>
          <a:xfrm>
            <a:off x="7516368" y="2816352"/>
            <a:ext cx="1792224" cy="365760"/>
          </a:xfrm>
          <a:prstGeom prst="rect">
            <a:avLst/>
          </a:prstGeom>
          <a:noFill/>
          <a:ln/>
        </p:spPr>
        <p:txBody>
          <a:bodyPr wrap="square" lIns="0" tIns="0" rIns="0" bIns="0" rtlCol="0" anchor="t"/>
          <a:lstStyle/>
          <a:p>
            <a:pPr algn="ctr" indent="0" marL="0">
              <a:buNone/>
            </a:pPr>
            <a:r>
              <a:rPr lang="en-US" sz="1600" b="1" dirty="0">
                <a:solidFill>
                  <a:schemeClr val="tx2"/>
                </a:solidFill>
              </a:rPr>
              <a:t>4. AVL tree + trie</a:t>
            </a:r>
            <a:endParaRPr lang="en-US" sz="1600" dirty="0"/>
          </a:p>
        </p:txBody>
      </p:sp>
      <p:sp>
        <p:nvSpPr>
          <p:cNvPr id="26" name="Text 20"/>
          <p:cNvSpPr txBox="1"/>
          <p:nvPr/>
        </p:nvSpPr>
        <p:spPr>
          <a:xfrm>
            <a:off x="7516368" y="3200400"/>
            <a:ext cx="1792224" cy="731520"/>
          </a:xfrm>
          <a:prstGeom prst="rect">
            <a:avLst/>
          </a:prstGeom>
          <a:noFill/>
          <a:ln/>
        </p:spPr>
        <p:txBody>
          <a:bodyPr wrap="square" lIns="0" tIns="0" rIns="0" bIns="0" rtlCol="0" anchor="t"/>
          <a:lstStyle/>
          <a:p>
            <a:pPr algn="ctr" indent="0" marL="0">
              <a:buNone/>
            </a:pPr>
            <a:r>
              <a:rPr lang="en-US" sz="1300" dirty="0">
                <a:solidFill>
                  <a:schemeClr val="tx1"/>
                </a:solidFill>
              </a:rPr>
              <a:t>by price, and by name prefixes</a:t>
            </a:r>
            <a:endParaRPr lang="en-US" sz="1300" dirty="0"/>
          </a:p>
        </p:txBody>
      </p:sp>
      <p:sp>
        <p:nvSpPr>
          <p:cNvPr id="27" name="build arrow 4"/>
          <p:cNvSpPr/>
          <p:nvPr/>
        </p:nvSpPr>
        <p:spPr>
          <a:xfrm>
            <a:off x="9454896" y="2743200"/>
            <a:ext cx="201168" cy="274320"/>
          </a:xfrm>
          <a:prstGeom prst="rightArrow">
            <a:avLst/>
          </a:prstGeom>
          <a:solidFill>
            <a:schemeClr val="tx2"/>
          </a:solidFill>
          <a:ln/>
        </p:spPr>
      </p:sp>
      <p:sp>
        <p:nvSpPr>
          <p:cNvPr id="28" name="Sorted index card"/>
          <p:cNvSpPr/>
          <p:nvPr/>
        </p:nvSpPr>
        <p:spPr>
          <a:xfrm>
            <a:off x="9692640" y="1828800"/>
            <a:ext cx="2011680" cy="2148840"/>
          </a:xfrm>
          <a:prstGeom prst="roundRect">
            <a:avLst>
              <a:gd name="adj" fmla="val 5455"/>
            </a:avLst>
          </a:prstGeom>
          <a:solidFill>
            <a:schemeClr val="bg2"/>
          </a:solidFill>
          <a:ln/>
        </p:spPr>
      </p:sp>
      <p:sp>
        <p:nvSpPr>
          <p:cNvPr id="29" name="Sorted index tile"/>
          <p:cNvSpPr/>
          <p:nvPr/>
        </p:nvSpPr>
        <p:spPr>
          <a:xfrm>
            <a:off x="10351008" y="2011680"/>
            <a:ext cx="694944" cy="694944"/>
          </a:xfrm>
          <a:prstGeom prst="roundRect">
            <a:avLst>
              <a:gd name="adj" fmla="val 24000"/>
            </a:avLst>
          </a:prstGeom>
          <a:solidFill>
            <a:schemeClr val="accent5">
              <a:alpha val="14000"/>
            </a:schemeClr>
          </a:solidFill>
          <a:ln/>
        </p:spPr>
      </p:sp>
      <p:pic>
        <p:nvPicPr>
          <p:cNvPr id="30" name="Sorted index icon" descr="preencoded.png">    </p:cNvPr>
          <p:cNvPicPr>
            <a:picLocks noChangeAspect="1"/>
          </p:cNvPicPr>
          <p:nvPr/>
        </p:nvPicPr>
        <p:blipFill>
          <a:blip r:embed="rId5"/>
          <a:stretch>
            <a:fillRect/>
          </a:stretch>
        </p:blipFill>
        <p:spPr>
          <a:xfrm>
            <a:off x="10503896" y="2164568"/>
            <a:ext cx="389169" cy="389169"/>
          </a:xfrm>
          <a:prstGeom prst="rect">
            <a:avLst/>
          </a:prstGeom>
        </p:spPr>
      </p:pic>
      <p:sp>
        <p:nvSpPr>
          <p:cNvPr id="31" name="Text 24"/>
          <p:cNvSpPr txBox="1"/>
          <p:nvPr/>
        </p:nvSpPr>
        <p:spPr>
          <a:xfrm>
            <a:off x="9802368" y="2816352"/>
            <a:ext cx="1792224" cy="365760"/>
          </a:xfrm>
          <a:prstGeom prst="rect">
            <a:avLst/>
          </a:prstGeom>
          <a:noFill/>
          <a:ln/>
        </p:spPr>
        <p:txBody>
          <a:bodyPr wrap="square" lIns="0" tIns="0" rIns="0" bIns="0" rtlCol="0" anchor="t"/>
          <a:lstStyle/>
          <a:p>
            <a:pPr algn="ctr" indent="0" marL="0">
              <a:buNone/>
            </a:pPr>
            <a:r>
              <a:rPr lang="en-US" sz="1600" b="1" dirty="0">
                <a:solidFill>
                  <a:schemeClr val="tx2"/>
                </a:solidFill>
              </a:rPr>
              <a:t>5. Sorted index</a:t>
            </a:r>
            <a:endParaRPr lang="en-US" sz="1600" dirty="0"/>
          </a:p>
        </p:txBody>
      </p:sp>
      <p:sp>
        <p:nvSpPr>
          <p:cNvPr id="32" name="Text 25"/>
          <p:cNvSpPr txBox="1"/>
          <p:nvPr/>
        </p:nvSpPr>
        <p:spPr>
          <a:xfrm>
            <a:off x="9802368" y="3200400"/>
            <a:ext cx="1792224" cy="731520"/>
          </a:xfrm>
          <a:prstGeom prst="rect">
            <a:avLst/>
          </a:prstGeom>
          <a:noFill/>
          <a:ln/>
        </p:spPr>
        <p:txBody>
          <a:bodyPr wrap="square" lIns="0" tIns="0" rIns="0" bIns="0" rtlCol="0" anchor="t"/>
          <a:lstStyle/>
          <a:p>
            <a:pPr algn="ctr" indent="0" marL="0">
              <a:buNone/>
            </a:pPr>
            <a:r>
              <a:rPr lang="en-US" sz="1300" dirty="0">
                <a:solidFill>
                  <a:schemeClr val="tx1"/>
                </a:solidFill>
              </a:rPr>
              <a:t>IDs sorted by Merge Sort, for binary search</a:t>
            </a:r>
            <a:endParaRPr lang="en-US" sz="1300" dirty="0"/>
          </a:p>
        </p:txBody>
      </p:sp>
      <p:sp>
        <p:nvSpPr>
          <p:cNvPr id="33" name="Text 26"/>
          <p:cNvSpPr txBox="1"/>
          <p:nvPr/>
        </p:nvSpPr>
        <p:spPr>
          <a:xfrm>
            <a:off x="548640" y="4206240"/>
            <a:ext cx="5486400" cy="365760"/>
          </a:xfrm>
          <a:prstGeom prst="rect">
            <a:avLst/>
          </a:prstGeom>
          <a:noFill/>
          <a:ln/>
        </p:spPr>
        <p:txBody>
          <a:bodyPr wrap="square" lIns="0" tIns="0" rIns="0" bIns="0" rtlCol="0" anchor="t"/>
          <a:lstStyle/>
          <a:p>
            <a:pPr indent="0" marL="0">
              <a:buNone/>
            </a:pPr>
            <a:r>
              <a:rPr lang="en-US" sz="1600" b="1" dirty="0">
                <a:solidFill>
                  <a:schemeClr val="tx2"/>
                </a:solidFill>
              </a:rPr>
              <a:t>Then Python can call:</a:t>
            </a:r>
            <a:endParaRPr lang="en-US" sz="1600" dirty="0"/>
          </a:p>
        </p:txBody>
      </p:sp>
      <p:sp>
        <p:nvSpPr>
          <p:cNvPr id="34" name="Search card"/>
          <p:cNvSpPr/>
          <p:nvPr/>
        </p:nvSpPr>
        <p:spPr>
          <a:xfrm>
            <a:off x="548640" y="4617720"/>
            <a:ext cx="2606040" cy="1463040"/>
          </a:xfrm>
          <a:prstGeom prst="roundRect">
            <a:avLst>
              <a:gd name="adj" fmla="val 7500"/>
            </a:avLst>
          </a:prstGeom>
          <a:solidFill>
            <a:schemeClr val="bg2"/>
          </a:solidFill>
          <a:ln/>
        </p:spPr>
      </p:sp>
      <p:sp>
        <p:nvSpPr>
          <p:cNvPr id="35" name="Text 28"/>
          <p:cNvSpPr txBox="1"/>
          <p:nvPr/>
        </p:nvSpPr>
        <p:spPr>
          <a:xfrm>
            <a:off x="731520" y="4709160"/>
            <a:ext cx="2286000" cy="320040"/>
          </a:xfrm>
          <a:prstGeom prst="rect">
            <a:avLst/>
          </a:prstGeom>
          <a:noFill/>
          <a:ln/>
        </p:spPr>
        <p:txBody>
          <a:bodyPr wrap="square" lIns="0" tIns="0" rIns="0" bIns="0" rtlCol="0" anchor="t"/>
          <a:lstStyle/>
          <a:p>
            <a:pPr indent="0" marL="0">
              <a:buNone/>
            </a:pPr>
            <a:r>
              <a:rPr lang="en-US" sz="1500" b="1" dirty="0">
                <a:solidFill>
                  <a:schemeClr val="tx2"/>
                </a:solidFill>
              </a:rPr>
              <a:t>Search</a:t>
            </a:r>
            <a:endParaRPr lang="en-US" sz="1500" dirty="0"/>
          </a:p>
        </p:txBody>
      </p:sp>
      <p:sp>
        <p:nvSpPr>
          <p:cNvPr id="36" name="Text 29"/>
          <p:cNvSpPr txBox="1"/>
          <p:nvPr/>
        </p:nvSpPr>
        <p:spPr>
          <a:xfrm>
            <a:off x="731520" y="5029200"/>
            <a:ext cx="2331720" cy="96012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sw_hash_search_id()</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sw_binary_search_id()</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sw_prefix_search()</a:t>
            </a:r>
            <a:endParaRPr lang="en-US" sz="1200" dirty="0"/>
          </a:p>
        </p:txBody>
      </p:sp>
      <p:sp>
        <p:nvSpPr>
          <p:cNvPr id="37" name="Sort and rank card"/>
          <p:cNvSpPr/>
          <p:nvPr/>
        </p:nvSpPr>
        <p:spPr>
          <a:xfrm>
            <a:off x="3364992" y="4617720"/>
            <a:ext cx="2606040" cy="1463040"/>
          </a:xfrm>
          <a:prstGeom prst="roundRect">
            <a:avLst>
              <a:gd name="adj" fmla="val 7500"/>
            </a:avLst>
          </a:prstGeom>
          <a:solidFill>
            <a:schemeClr val="bg2"/>
          </a:solidFill>
          <a:ln/>
        </p:spPr>
      </p:sp>
      <p:sp>
        <p:nvSpPr>
          <p:cNvPr id="38" name="Text 31"/>
          <p:cNvSpPr txBox="1"/>
          <p:nvPr/>
        </p:nvSpPr>
        <p:spPr>
          <a:xfrm>
            <a:off x="3547872" y="4709160"/>
            <a:ext cx="2286000" cy="320040"/>
          </a:xfrm>
          <a:prstGeom prst="rect">
            <a:avLst/>
          </a:prstGeom>
          <a:noFill/>
          <a:ln/>
        </p:spPr>
        <p:txBody>
          <a:bodyPr wrap="square" lIns="0" tIns="0" rIns="0" bIns="0" rtlCol="0" anchor="t"/>
          <a:lstStyle/>
          <a:p>
            <a:pPr indent="0" marL="0">
              <a:buNone/>
            </a:pPr>
            <a:r>
              <a:rPr lang="en-US" sz="1500" b="1" dirty="0">
                <a:solidFill>
                  <a:schemeClr val="tx2"/>
                </a:solidFill>
              </a:rPr>
              <a:t>Sort and rank</a:t>
            </a:r>
            <a:endParaRPr lang="en-US" sz="1500" dirty="0"/>
          </a:p>
        </p:txBody>
      </p:sp>
      <p:sp>
        <p:nvSpPr>
          <p:cNvPr id="39" name="Text 32"/>
          <p:cNvSpPr txBox="1"/>
          <p:nvPr/>
        </p:nvSpPr>
        <p:spPr>
          <a:xfrm>
            <a:off x="3547872" y="5029200"/>
            <a:ext cx="2331720" cy="96012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sw_sort_products()</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sw_restock_ranking()</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sw_price_range()</a:t>
            </a:r>
            <a:endParaRPr lang="en-US" sz="1200" dirty="0"/>
          </a:p>
        </p:txBody>
      </p:sp>
      <p:sp>
        <p:nvSpPr>
          <p:cNvPr id="40" name="Plan (own files) card"/>
          <p:cNvSpPr/>
          <p:nvPr/>
        </p:nvSpPr>
        <p:spPr>
          <a:xfrm>
            <a:off x="6181344" y="4617720"/>
            <a:ext cx="2606040" cy="1463040"/>
          </a:xfrm>
          <a:prstGeom prst="roundRect">
            <a:avLst>
              <a:gd name="adj" fmla="val 7500"/>
            </a:avLst>
          </a:prstGeom>
          <a:solidFill>
            <a:schemeClr val="bg2"/>
          </a:solidFill>
          <a:ln/>
        </p:spPr>
      </p:sp>
      <p:sp>
        <p:nvSpPr>
          <p:cNvPr id="41" name="Text 34"/>
          <p:cNvSpPr txBox="1"/>
          <p:nvPr/>
        </p:nvSpPr>
        <p:spPr>
          <a:xfrm>
            <a:off x="6364224" y="4709160"/>
            <a:ext cx="2286000" cy="320040"/>
          </a:xfrm>
          <a:prstGeom prst="rect">
            <a:avLst/>
          </a:prstGeom>
          <a:noFill/>
          <a:ln/>
        </p:spPr>
        <p:txBody>
          <a:bodyPr wrap="square" lIns="0" tIns="0" rIns="0" bIns="0" rtlCol="0" anchor="t"/>
          <a:lstStyle/>
          <a:p>
            <a:pPr indent="0" marL="0">
              <a:buNone/>
            </a:pPr>
            <a:r>
              <a:rPr lang="en-US" sz="1500" b="1" dirty="0">
                <a:solidFill>
                  <a:schemeClr val="tx2"/>
                </a:solidFill>
              </a:rPr>
              <a:t>Plan (own files)</a:t>
            </a:r>
            <a:endParaRPr lang="en-US" sz="1500" dirty="0"/>
          </a:p>
        </p:txBody>
      </p:sp>
      <p:sp>
        <p:nvSpPr>
          <p:cNvPr id="42" name="Text 35"/>
          <p:cNvSpPr txBox="1"/>
          <p:nvPr/>
        </p:nvSpPr>
        <p:spPr>
          <a:xfrm>
            <a:off x="6364224" y="5029200"/>
            <a:ext cx="2331720" cy="96012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sw_knapsack()</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sw_shortest_path()</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sw_fifo_lots()</a:t>
            </a:r>
            <a:endParaRPr lang="en-US" sz="1200" dirty="0"/>
          </a:p>
        </p:txBody>
      </p:sp>
      <p:sp>
        <p:nvSpPr>
          <p:cNvPr id="43" name="Clean up card"/>
          <p:cNvSpPr/>
          <p:nvPr/>
        </p:nvSpPr>
        <p:spPr>
          <a:xfrm>
            <a:off x="8997696" y="4617720"/>
            <a:ext cx="2606040" cy="1463040"/>
          </a:xfrm>
          <a:prstGeom prst="roundRect">
            <a:avLst>
              <a:gd name="adj" fmla="val 7500"/>
            </a:avLst>
          </a:prstGeom>
          <a:solidFill>
            <a:schemeClr val="bg2"/>
          </a:solidFill>
          <a:ln/>
        </p:spPr>
      </p:sp>
      <p:sp>
        <p:nvSpPr>
          <p:cNvPr id="44" name="Text 37"/>
          <p:cNvSpPr txBox="1"/>
          <p:nvPr/>
        </p:nvSpPr>
        <p:spPr>
          <a:xfrm>
            <a:off x="9180576" y="4709160"/>
            <a:ext cx="2286000" cy="320040"/>
          </a:xfrm>
          <a:prstGeom prst="rect">
            <a:avLst/>
          </a:prstGeom>
          <a:noFill/>
          <a:ln/>
        </p:spPr>
        <p:txBody>
          <a:bodyPr wrap="square" lIns="0" tIns="0" rIns="0" bIns="0" rtlCol="0" anchor="t"/>
          <a:lstStyle/>
          <a:p>
            <a:pPr indent="0" marL="0">
              <a:buNone/>
            </a:pPr>
            <a:r>
              <a:rPr lang="en-US" sz="1500" b="1" dirty="0">
                <a:solidFill>
                  <a:schemeClr val="tx2"/>
                </a:solidFill>
              </a:rPr>
              <a:t>Clean up</a:t>
            </a:r>
            <a:endParaRPr lang="en-US" sz="1500" dirty="0"/>
          </a:p>
        </p:txBody>
      </p:sp>
      <p:sp>
        <p:nvSpPr>
          <p:cNvPr id="45" name="Text 38"/>
          <p:cNvSpPr txBox="1"/>
          <p:nvPr/>
        </p:nvSpPr>
        <p:spPr>
          <a:xfrm>
            <a:off x="9180576" y="5029200"/>
            <a:ext cx="2331720" cy="96012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sw_engine_destroy()</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frees every byte</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of C memory</a:t>
            </a:r>
            <a:endParaRPr 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Ten C files, one concept each</a:t>
            </a:r>
            <a:endParaRPr lang="en-US" sz="3600" dirty="0"/>
          </a:p>
        </p:txBody>
      </p:sp>
      <p:graphicFrame>
        <p:nvGraphicFramePr>
          <p:cNvPr id="20" name="C fi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4343400"/>
                <a:gridCol w="3977640"/>
              </a:tblGrid>
              <a:tr h="402336">
                <a:tc>
                  <a:txBody>
                    <a:bodyPr/>
                    <a:lstStyle/>
                    <a:p>
                      <a:pPr indent="0" marL="0">
                        <a:buNone/>
                      </a:pPr>
                      <a:r>
                        <a:rPr lang="en-US" sz="1400" b="1" dirty="0">
                          <a:solidFill>
                            <a:schemeClr val="bg1"/>
                          </a:solidFill>
                        </a:rPr>
                        <a:t>File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Data structure / algorithm</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Used for</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search.c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Linear and binary search</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Find a product by ID</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hash_table.c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Hash table (separate chaining)</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Instant lookup by ID</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sorting.c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Merge, Insertion, Quick, Heap Sort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Sort products by any column</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max_heap.c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Max-Heap priority queue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Rank what to restock first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avl_tree.c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AVL tree (self-balancing BST)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Filter by price range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trie.c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Trie (prefix tree)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Autocomplete product names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knapsack.c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0/1 knapsack, dynamic programming</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Best restock plan within a budget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Graph + Dijkstra's shortest path</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Shortest delivery route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fifo_queue.c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Circular queue (FIFO)</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Track stock lots and their age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inventory_engine.c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Public API (sw_* functions)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door Python calls through</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One search, from keypress to result</a:t>
            </a:r>
            <a:endParaRPr lang="en-US" sz="3600" dirty="0"/>
          </a:p>
        </p:txBody>
      </p:sp>
      <p:sp>
        <p:nvSpPr>
          <p:cNvPr id="3" name="step 1 badge"/>
          <p:cNvSpPr/>
          <p:nvPr/>
        </p:nvSpPr>
        <p:spPr>
          <a:xfrm>
            <a:off x="548640" y="1417320"/>
            <a:ext cx="566928" cy="566928"/>
          </a:xfrm>
          <a:prstGeom prst="ellipse">
            <a:avLst/>
          </a:prstGeom>
          <a:solidFill>
            <a:schemeClr val="accent1"/>
          </a:solidFill>
          <a:ln/>
        </p:spPr>
      </p:sp>
      <p:sp>
        <p:nvSpPr>
          <p:cNvPr id="4" name="Text 2"/>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325880" y="1399032"/>
            <a:ext cx="420624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app.py</a:t>
            </a:r>
            <a:endParaRPr lang="en-US" sz="1400" dirty="0"/>
          </a:p>
        </p:txBody>
      </p:sp>
      <p:sp>
        <p:nvSpPr>
          <p:cNvPr id="6" name="Text 4"/>
          <p:cNvSpPr txBox="1"/>
          <p:nvPr/>
        </p:nvSpPr>
        <p:spPr>
          <a:xfrm>
            <a:off x="1325880" y="1719072"/>
            <a:ext cx="4297680" cy="457200"/>
          </a:xfrm>
          <a:prstGeom prst="rect">
            <a:avLst/>
          </a:prstGeom>
          <a:noFill/>
          <a:ln/>
        </p:spPr>
        <p:txBody>
          <a:bodyPr wrap="square" lIns="0" tIns="0" rIns="0" bIns="0" rtlCol="0" anchor="t"/>
          <a:lstStyle/>
          <a:p>
            <a:pPr indent="0" marL="0">
              <a:buNone/>
            </a:pPr>
            <a:r>
              <a:rPr lang="en-US" sz="1400" dirty="0">
                <a:solidFill>
                  <a:schemeClr val="tx1"/>
                </a:solidFill>
              </a:rPr>
              <a:t>The user types "cab" in the search box</a:t>
            </a:r>
            <a:endParaRPr lang="en-US" sz="1400" dirty="0"/>
          </a:p>
        </p:txBody>
      </p:sp>
      <p:sp>
        <p:nvSpPr>
          <p:cNvPr id="7" name="step 2 badge"/>
          <p:cNvSpPr/>
          <p:nvPr/>
        </p:nvSpPr>
        <p:spPr>
          <a:xfrm>
            <a:off x="548640" y="2350008"/>
            <a:ext cx="566928" cy="566928"/>
          </a:xfrm>
          <a:prstGeom prst="ellipse">
            <a:avLst/>
          </a:prstGeom>
          <a:solidFill>
            <a:schemeClr val="accent1"/>
          </a:solidFill>
          <a:ln/>
        </p:spPr>
      </p:sp>
      <p:sp>
        <p:nvSpPr>
          <p:cNvPr id="8" name="Text 6"/>
          <p:cNvSpPr txBox="1"/>
          <p:nvPr/>
        </p:nvSpPr>
        <p:spPr>
          <a:xfrm>
            <a:off x="548640" y="2350008"/>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325880" y="2331720"/>
            <a:ext cx="420624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c_bridge.py</a:t>
            </a:r>
            <a:endParaRPr lang="en-US" sz="1400" dirty="0"/>
          </a:p>
        </p:txBody>
      </p:sp>
      <p:sp>
        <p:nvSpPr>
          <p:cNvPr id="10" name="Text 8"/>
          <p:cNvSpPr txBox="1"/>
          <p:nvPr/>
        </p:nvSpPr>
        <p:spPr>
          <a:xfrm>
            <a:off x="1325880" y="2651760"/>
            <a:ext cx="4297680" cy="457200"/>
          </a:xfrm>
          <a:prstGeom prst="rect">
            <a:avLst/>
          </a:prstGeom>
          <a:noFill/>
          <a:ln/>
        </p:spPr>
        <p:txBody>
          <a:bodyPr wrap="square" lIns="0" tIns="0" rIns="0" bIns="0" rtlCol="0" anchor="t"/>
          <a:lstStyle/>
          <a:p>
            <a:pPr indent="0" marL="0">
              <a:buNone/>
            </a:pPr>
            <a:r>
              <a:rPr lang="en-US" sz="1400" dirty="0">
                <a:solidFill>
                  <a:schemeClr val="tx1"/>
                </a:solidFill>
              </a:rPr>
              <a:t>prefix_search("cab") checks the text and calls C</a:t>
            </a:r>
            <a:endParaRPr lang="en-US" sz="1400" dirty="0"/>
          </a:p>
        </p:txBody>
      </p:sp>
      <p:sp>
        <p:nvSpPr>
          <p:cNvPr id="11" name="step 3 badge"/>
          <p:cNvSpPr/>
          <p:nvPr/>
        </p:nvSpPr>
        <p:spPr>
          <a:xfrm>
            <a:off x="548640" y="3282696"/>
            <a:ext cx="566928" cy="566928"/>
          </a:xfrm>
          <a:prstGeom prst="ellipse">
            <a:avLst/>
          </a:prstGeom>
          <a:solidFill>
            <a:schemeClr val="accent1"/>
          </a:solidFill>
          <a:ln/>
        </p:spPr>
      </p:sp>
      <p:sp>
        <p:nvSpPr>
          <p:cNvPr id="12" name="Text 10"/>
          <p:cNvSpPr txBox="1"/>
          <p:nvPr/>
        </p:nvSpPr>
        <p:spPr>
          <a:xfrm>
            <a:off x="548640" y="328269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325880" y="3264408"/>
            <a:ext cx="420624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inventory_engine.c</a:t>
            </a:r>
            <a:endParaRPr lang="en-US" sz="1400" dirty="0"/>
          </a:p>
        </p:txBody>
      </p:sp>
      <p:sp>
        <p:nvSpPr>
          <p:cNvPr id="14" name="Text 12"/>
          <p:cNvSpPr txBox="1"/>
          <p:nvPr/>
        </p:nvSpPr>
        <p:spPr>
          <a:xfrm>
            <a:off x="1325880" y="3584448"/>
            <a:ext cx="4297680" cy="457200"/>
          </a:xfrm>
          <a:prstGeom prst="rect">
            <a:avLst/>
          </a:prstGeom>
          <a:noFill/>
          <a:ln/>
        </p:spPr>
        <p:txBody>
          <a:bodyPr wrap="square" lIns="0" tIns="0" rIns="0" bIns="0" rtlCol="0" anchor="t"/>
          <a:lstStyle/>
          <a:p>
            <a:pPr indent="0" marL="0">
              <a:buNone/>
            </a:pPr>
            <a:r>
              <a:rPr lang="en-US" sz="1400" dirty="0">
                <a:solidFill>
                  <a:schemeClr val="tx1"/>
                </a:solidFill>
              </a:rPr>
              <a:t>sw_prefix_search() passes it to the trie</a:t>
            </a:r>
            <a:endParaRPr lang="en-US" sz="1400" dirty="0"/>
          </a:p>
        </p:txBody>
      </p:sp>
      <p:sp>
        <p:nvSpPr>
          <p:cNvPr id="15" name="step 4 badge"/>
          <p:cNvSpPr/>
          <p:nvPr/>
        </p:nvSpPr>
        <p:spPr>
          <a:xfrm>
            <a:off x="548640" y="4215384"/>
            <a:ext cx="566928" cy="566928"/>
          </a:xfrm>
          <a:prstGeom prst="ellipse">
            <a:avLst/>
          </a:prstGeom>
          <a:solidFill>
            <a:schemeClr val="accent1"/>
          </a:solidFill>
          <a:ln/>
        </p:spPr>
      </p:sp>
      <p:sp>
        <p:nvSpPr>
          <p:cNvPr id="16" name="Text 14"/>
          <p:cNvSpPr txBox="1"/>
          <p:nvPr/>
        </p:nvSpPr>
        <p:spPr>
          <a:xfrm>
            <a:off x="548640" y="4215384"/>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1325880" y="4197096"/>
            <a:ext cx="420624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trie.c</a:t>
            </a:r>
            <a:endParaRPr lang="en-US" sz="1400" dirty="0"/>
          </a:p>
        </p:txBody>
      </p:sp>
      <p:sp>
        <p:nvSpPr>
          <p:cNvPr id="18" name="Text 16"/>
          <p:cNvSpPr txBox="1"/>
          <p:nvPr/>
        </p:nvSpPr>
        <p:spPr>
          <a:xfrm>
            <a:off x="1325880" y="4517136"/>
            <a:ext cx="4297680" cy="457200"/>
          </a:xfrm>
          <a:prstGeom prst="rect">
            <a:avLst/>
          </a:prstGeom>
          <a:noFill/>
          <a:ln/>
        </p:spPr>
        <p:txBody>
          <a:bodyPr wrap="square" lIns="0" tIns="0" rIns="0" bIns="0" rtlCol="0" anchor="t"/>
          <a:lstStyle/>
          <a:p>
            <a:pPr indent="0" marL="0">
              <a:buNone/>
            </a:pPr>
            <a:r>
              <a:rPr lang="en-US" sz="1400" dirty="0">
                <a:solidFill>
                  <a:schemeClr val="tx1"/>
                </a:solidFill>
              </a:rPr>
              <a:t>Walks c &gt; a &gt; b, then collects every name below</a:t>
            </a:r>
            <a:endParaRPr lang="en-US" sz="1400" dirty="0"/>
          </a:p>
        </p:txBody>
      </p:sp>
      <p:sp>
        <p:nvSpPr>
          <p:cNvPr id="19" name="step 5 badge"/>
          <p:cNvSpPr/>
          <p:nvPr/>
        </p:nvSpPr>
        <p:spPr>
          <a:xfrm>
            <a:off x="548640" y="5148072"/>
            <a:ext cx="566928" cy="566928"/>
          </a:xfrm>
          <a:prstGeom prst="ellipse">
            <a:avLst/>
          </a:prstGeom>
          <a:solidFill>
            <a:schemeClr val="accent1"/>
          </a:solidFill>
          <a:ln/>
        </p:spPr>
      </p:sp>
      <p:sp>
        <p:nvSpPr>
          <p:cNvPr id="20" name="Text 18"/>
          <p:cNvSpPr txBox="1"/>
          <p:nvPr/>
        </p:nvSpPr>
        <p:spPr>
          <a:xfrm>
            <a:off x="548640" y="5148072"/>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9"/>
          <p:cNvSpPr txBox="1"/>
          <p:nvPr/>
        </p:nvSpPr>
        <p:spPr>
          <a:xfrm>
            <a:off x="1325880" y="5129784"/>
            <a:ext cx="420624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app.py</a:t>
            </a:r>
            <a:endParaRPr lang="en-US" sz="1400" dirty="0"/>
          </a:p>
        </p:txBody>
      </p:sp>
      <p:sp>
        <p:nvSpPr>
          <p:cNvPr id="22" name="Text 20"/>
          <p:cNvSpPr txBox="1"/>
          <p:nvPr/>
        </p:nvSpPr>
        <p:spPr>
          <a:xfrm>
            <a:off x="1325880" y="5449824"/>
            <a:ext cx="4297680" cy="457200"/>
          </a:xfrm>
          <a:prstGeom prst="rect">
            <a:avLst/>
          </a:prstGeom>
          <a:noFill/>
          <a:ln/>
        </p:spPr>
        <p:txBody>
          <a:bodyPr wrap="square" lIns="0" tIns="0" rIns="0" bIns="0" rtlCol="0" anchor="t"/>
          <a:lstStyle/>
          <a:p>
            <a:pPr indent="0" marL="0">
              <a:buNone/>
            </a:pPr>
            <a:r>
              <a:rPr lang="en-US" sz="1400" dirty="0">
                <a:solidFill>
                  <a:schemeClr val="tx1"/>
                </a:solidFill>
              </a:rPr>
              <a:t>Shows the matching cards and "nodes visited"</a:t>
            </a:r>
            <a:endParaRPr lang="en-US" sz="1400" dirty="0"/>
          </a:p>
        </p:txBody>
      </p:sp>
      <p:sp>
        <p:nvSpPr>
          <p:cNvPr id="23" name="products screenshot frame"/>
          <p:cNvSpPr/>
          <p:nvPr/>
        </p:nvSpPr>
        <p:spPr>
          <a:xfrm>
            <a:off x="5934456" y="1408176"/>
            <a:ext cx="5687568" cy="4348501"/>
          </a:xfrm>
          <a:prstGeom prst="roundRect">
            <a:avLst>
              <a:gd name="adj" fmla="val 1682"/>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24" name="products screenshot" descr="/tmp/claude-0/-home-user-StockWise-Dsa/ffa8d720-88b5-5029-baa4-50a8a76d3601/scratchpad/deck/img/products.png">    </p:cNvPr>
          <p:cNvPicPr>
            <a:picLocks noChangeAspect="1"/>
          </p:cNvPicPr>
          <p:nvPr/>
        </p:nvPicPr>
        <p:blipFill>
          <a:blip r:embed="rId1"/>
          <a:stretch>
            <a:fillRect/>
          </a:stretch>
        </p:blipFill>
        <p:spPr>
          <a:xfrm>
            <a:off x="5989320" y="1463040"/>
            <a:ext cx="5577840" cy="4238773"/>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Recording a sale, step by step</a:t>
            </a:r>
            <a:endParaRPr lang="en-US" sz="3600" dirty="0"/>
          </a:p>
        </p:txBody>
      </p:sp>
      <p:sp>
        <p:nvSpPr>
          <p:cNvPr id="3" name="sale step 1 badge"/>
          <p:cNvSpPr/>
          <p:nvPr/>
        </p:nvSpPr>
        <p:spPr>
          <a:xfrm>
            <a:off x="548640" y="1417320"/>
            <a:ext cx="566928" cy="566928"/>
          </a:xfrm>
          <a:prstGeom prst="ellipse">
            <a:avLst/>
          </a:prstGeom>
          <a:solidFill>
            <a:schemeClr val="accent3"/>
          </a:solidFill>
          <a:ln/>
        </p:spPr>
      </p:sp>
      <p:sp>
        <p:nvSpPr>
          <p:cNvPr id="4" name="Text 2"/>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325880" y="1399032"/>
            <a:ext cx="438912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app.py</a:t>
            </a:r>
            <a:endParaRPr lang="en-US" sz="1400" dirty="0"/>
          </a:p>
        </p:txBody>
      </p:sp>
      <p:sp>
        <p:nvSpPr>
          <p:cNvPr id="6" name="Text 4"/>
          <p:cNvSpPr txBox="1"/>
          <p:nvPr/>
        </p:nvSpPr>
        <p:spPr>
          <a:xfrm>
            <a:off x="1325880" y="1719072"/>
            <a:ext cx="4434840" cy="548640"/>
          </a:xfrm>
          <a:prstGeom prst="rect">
            <a:avLst/>
          </a:prstGeom>
          <a:noFill/>
          <a:ln/>
        </p:spPr>
        <p:txBody>
          <a:bodyPr wrap="square" lIns="0" tIns="0" rIns="0" bIns="0" rtlCol="0" anchor="t"/>
          <a:lstStyle/>
          <a:p>
            <a:pPr indent="0" marL="0">
              <a:buNone/>
            </a:pPr>
            <a:r>
              <a:rPr lang="en-US" sz="1400" dirty="0">
                <a:solidFill>
                  <a:schemeClr val="tx1"/>
                </a:solidFill>
              </a:rPr>
              <a:t>The user picks a product, "Reduce stock", quantity 5</a:t>
            </a:r>
            <a:endParaRPr lang="en-US" sz="1400" dirty="0"/>
          </a:p>
        </p:txBody>
      </p:sp>
      <p:sp>
        <p:nvSpPr>
          <p:cNvPr id="7" name="sale step 2 badge"/>
          <p:cNvSpPr/>
          <p:nvPr/>
        </p:nvSpPr>
        <p:spPr>
          <a:xfrm>
            <a:off x="548640" y="2350008"/>
            <a:ext cx="566928" cy="566928"/>
          </a:xfrm>
          <a:prstGeom prst="ellipse">
            <a:avLst/>
          </a:prstGeom>
          <a:solidFill>
            <a:schemeClr val="accent3"/>
          </a:solidFill>
          <a:ln/>
        </p:spPr>
      </p:sp>
      <p:sp>
        <p:nvSpPr>
          <p:cNvPr id="8" name="Text 6"/>
          <p:cNvSpPr txBox="1"/>
          <p:nvPr/>
        </p:nvSpPr>
        <p:spPr>
          <a:xfrm>
            <a:off x="548640" y="2350008"/>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325880" y="2331720"/>
            <a:ext cx="438912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database.py</a:t>
            </a:r>
            <a:endParaRPr lang="en-US" sz="1400" dirty="0"/>
          </a:p>
        </p:txBody>
      </p:sp>
      <p:sp>
        <p:nvSpPr>
          <p:cNvPr id="10" name="Text 8"/>
          <p:cNvSpPr txBox="1"/>
          <p:nvPr/>
        </p:nvSpPr>
        <p:spPr>
          <a:xfrm>
            <a:off x="1325880" y="2651760"/>
            <a:ext cx="4434840" cy="548640"/>
          </a:xfrm>
          <a:prstGeom prst="rect">
            <a:avLst/>
          </a:prstGeom>
          <a:noFill/>
          <a:ln/>
        </p:spPr>
        <p:txBody>
          <a:bodyPr wrap="square" lIns="0" tIns="0" rIns="0" bIns="0" rtlCol="0" anchor="t"/>
          <a:lstStyle/>
          <a:p>
            <a:pPr indent="0" marL="0">
              <a:buNone/>
            </a:pPr>
            <a:r>
              <a:rPr lang="en-US" sz="1400" dirty="0">
                <a:solidFill>
                  <a:schemeClr val="tx1"/>
                </a:solidFill>
              </a:rPr>
              <a:t>record_transaction() lowers the stock only if it stays 0 or more</a:t>
            </a:r>
            <a:endParaRPr lang="en-US" sz="1400" dirty="0"/>
          </a:p>
        </p:txBody>
      </p:sp>
      <p:sp>
        <p:nvSpPr>
          <p:cNvPr id="11" name="sale step 3 badge"/>
          <p:cNvSpPr/>
          <p:nvPr/>
        </p:nvSpPr>
        <p:spPr>
          <a:xfrm>
            <a:off x="548640" y="3282696"/>
            <a:ext cx="566928" cy="566928"/>
          </a:xfrm>
          <a:prstGeom prst="ellipse">
            <a:avLst/>
          </a:prstGeom>
          <a:solidFill>
            <a:schemeClr val="accent3"/>
          </a:solidFill>
          <a:ln/>
        </p:spPr>
      </p:sp>
      <p:sp>
        <p:nvSpPr>
          <p:cNvPr id="12" name="Text 10"/>
          <p:cNvSpPr txBox="1"/>
          <p:nvPr/>
        </p:nvSpPr>
        <p:spPr>
          <a:xfrm>
            <a:off x="548640" y="328269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325880" y="3264408"/>
            <a:ext cx="438912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database.py</a:t>
            </a:r>
            <a:endParaRPr lang="en-US" sz="1400" dirty="0"/>
          </a:p>
        </p:txBody>
      </p:sp>
      <p:sp>
        <p:nvSpPr>
          <p:cNvPr id="14" name="Text 12"/>
          <p:cNvSpPr txBox="1"/>
          <p:nvPr/>
        </p:nvSpPr>
        <p:spPr>
          <a:xfrm>
            <a:off x="1325880" y="3584448"/>
            <a:ext cx="4434840" cy="548640"/>
          </a:xfrm>
          <a:prstGeom prst="rect">
            <a:avLst/>
          </a:prstGeom>
          <a:noFill/>
          <a:ln/>
        </p:spPr>
        <p:txBody>
          <a:bodyPr wrap="square" lIns="0" tIns="0" rIns="0" bIns="0" rtlCol="0" anchor="t"/>
          <a:lstStyle/>
          <a:p>
            <a:pPr indent="0" marL="0">
              <a:buNone/>
            </a:pPr>
            <a:r>
              <a:rPr lang="en-US" sz="1400" dirty="0">
                <a:solidFill>
                  <a:schemeClr val="tx1"/>
                </a:solidFill>
              </a:rPr>
              <a:t>In the same transaction it saves a history row, or says "insufficient stock"</a:t>
            </a:r>
            <a:endParaRPr lang="en-US" sz="1400" dirty="0"/>
          </a:p>
        </p:txBody>
      </p:sp>
      <p:sp>
        <p:nvSpPr>
          <p:cNvPr id="15" name="sale step 4 badge"/>
          <p:cNvSpPr/>
          <p:nvPr/>
        </p:nvSpPr>
        <p:spPr>
          <a:xfrm>
            <a:off x="548640" y="4215384"/>
            <a:ext cx="566928" cy="566928"/>
          </a:xfrm>
          <a:prstGeom prst="ellipse">
            <a:avLst/>
          </a:prstGeom>
          <a:solidFill>
            <a:schemeClr val="accent3"/>
          </a:solidFill>
          <a:ln/>
        </p:spPr>
      </p:sp>
      <p:sp>
        <p:nvSpPr>
          <p:cNvPr id="16" name="Text 14"/>
          <p:cNvSpPr txBox="1"/>
          <p:nvPr/>
        </p:nvSpPr>
        <p:spPr>
          <a:xfrm>
            <a:off x="548640" y="4215384"/>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1325880" y="4197096"/>
            <a:ext cx="438912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app.py</a:t>
            </a:r>
            <a:endParaRPr lang="en-US" sz="1400" dirty="0"/>
          </a:p>
        </p:txBody>
      </p:sp>
      <p:sp>
        <p:nvSpPr>
          <p:cNvPr id="18" name="Text 16"/>
          <p:cNvSpPr txBox="1"/>
          <p:nvPr/>
        </p:nvSpPr>
        <p:spPr>
          <a:xfrm>
            <a:off x="1325880" y="4517136"/>
            <a:ext cx="4434840" cy="548640"/>
          </a:xfrm>
          <a:prstGeom prst="rect">
            <a:avLst/>
          </a:prstGeom>
          <a:noFill/>
          <a:ln/>
        </p:spPr>
        <p:txBody>
          <a:bodyPr wrap="square" lIns="0" tIns="0" rIns="0" bIns="0" rtlCol="0" anchor="t"/>
          <a:lstStyle/>
          <a:p>
            <a:pPr indent="0" marL="0">
              <a:buNone/>
            </a:pPr>
            <a:r>
              <a:rPr lang="en-US" sz="1400" dirty="0">
                <a:solidFill>
                  <a:schemeClr val="tx1"/>
                </a:solidFill>
              </a:rPr>
              <a:t>The page reloads and main() rebuilds the C Engine from SQLite</a:t>
            </a:r>
            <a:endParaRPr lang="en-US" sz="1400" dirty="0"/>
          </a:p>
        </p:txBody>
      </p:sp>
      <p:sp>
        <p:nvSpPr>
          <p:cNvPr id="19" name="sale step 5 badge"/>
          <p:cNvSpPr/>
          <p:nvPr/>
        </p:nvSpPr>
        <p:spPr>
          <a:xfrm>
            <a:off x="548640" y="5148072"/>
            <a:ext cx="566928" cy="566928"/>
          </a:xfrm>
          <a:prstGeom prst="ellipse">
            <a:avLst/>
          </a:prstGeom>
          <a:solidFill>
            <a:schemeClr val="accent3"/>
          </a:solidFill>
          <a:ln/>
        </p:spPr>
      </p:sp>
      <p:sp>
        <p:nvSpPr>
          <p:cNvPr id="20" name="Text 18"/>
          <p:cNvSpPr txBox="1"/>
          <p:nvPr/>
        </p:nvSpPr>
        <p:spPr>
          <a:xfrm>
            <a:off x="548640" y="5148072"/>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9"/>
          <p:cNvSpPr txBox="1"/>
          <p:nvPr/>
        </p:nvSpPr>
        <p:spPr>
          <a:xfrm>
            <a:off x="1325880" y="5129784"/>
            <a:ext cx="438912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C engine</a:t>
            </a:r>
            <a:endParaRPr lang="en-US" sz="1400" dirty="0"/>
          </a:p>
        </p:txBody>
      </p:sp>
      <p:sp>
        <p:nvSpPr>
          <p:cNvPr id="22" name="Text 20"/>
          <p:cNvSpPr txBox="1"/>
          <p:nvPr/>
        </p:nvSpPr>
        <p:spPr>
          <a:xfrm>
            <a:off x="1325880" y="5449824"/>
            <a:ext cx="4434840" cy="548640"/>
          </a:xfrm>
          <a:prstGeom prst="rect">
            <a:avLst/>
          </a:prstGeom>
          <a:noFill/>
          <a:ln/>
        </p:spPr>
        <p:txBody>
          <a:bodyPr wrap="square" lIns="0" tIns="0" rIns="0" bIns="0" rtlCol="0" anchor="t"/>
          <a:lstStyle/>
          <a:p>
            <a:pPr indent="0" marL="0">
              <a:buNone/>
            </a:pPr>
            <a:r>
              <a:rPr lang="en-US" sz="1400" dirty="0">
                <a:solidFill>
                  <a:schemeClr val="tx1"/>
                </a:solidFill>
              </a:rPr>
              <a:t>Restock ranking and FIFO stock lots now include the sale</a:t>
            </a:r>
            <a:endParaRPr lang="en-US" sz="1400" dirty="0"/>
          </a:p>
        </p:txBody>
      </p:sp>
      <p:sp>
        <p:nvSpPr>
          <p:cNvPr id="23" name="transactions screenshot frame"/>
          <p:cNvSpPr/>
          <p:nvPr/>
        </p:nvSpPr>
        <p:spPr>
          <a:xfrm>
            <a:off x="6117336" y="1408176"/>
            <a:ext cx="5504688" cy="4905248"/>
          </a:xfrm>
          <a:prstGeom prst="roundRect">
            <a:avLst>
              <a:gd name="adj" fmla="val 1491"/>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24" name="transactions screenshot" descr="/tmp/claude-0/-home-user-StockWise-Dsa/ffa8d720-88b5-5029-baa4-50a8a76d3601/scratchpad/deck/img/transactions.png">    </p:cNvPr>
          <p:cNvPicPr>
            <a:picLocks noChangeAspect="1"/>
          </p:cNvPicPr>
          <p:nvPr/>
        </p:nvPicPr>
        <p:blipFill>
          <a:blip r:embed="rId1"/>
          <a:stretch>
            <a:fillRect/>
          </a:stretch>
        </p:blipFill>
        <p:spPr>
          <a:xfrm>
            <a:off x="6172200" y="1463040"/>
            <a:ext cx="5394960" cy="479552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Building a restock plan, step by step</a:t>
            </a:r>
            <a:endParaRPr lang="en-US" sz="3600" dirty="0"/>
          </a:p>
        </p:txBody>
      </p:sp>
      <p:sp>
        <p:nvSpPr>
          <p:cNvPr id="3" name="plan step 1 badge"/>
          <p:cNvSpPr/>
          <p:nvPr/>
        </p:nvSpPr>
        <p:spPr>
          <a:xfrm>
            <a:off x="548640" y="1417320"/>
            <a:ext cx="566928" cy="566928"/>
          </a:xfrm>
          <a:prstGeom prst="ellipse">
            <a:avLst/>
          </a:prstGeom>
          <a:solidFill>
            <a:schemeClr val="accent5"/>
          </a:solidFill>
          <a:ln/>
        </p:spPr>
      </p:sp>
      <p:sp>
        <p:nvSpPr>
          <p:cNvPr id="4" name="Text 2"/>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325880" y="1399032"/>
            <a:ext cx="438912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max_heap.c</a:t>
            </a:r>
            <a:endParaRPr lang="en-US" sz="1400" dirty="0"/>
          </a:p>
        </p:txBody>
      </p:sp>
      <p:sp>
        <p:nvSpPr>
          <p:cNvPr id="6" name="Text 4"/>
          <p:cNvSpPr txBox="1"/>
          <p:nvPr/>
        </p:nvSpPr>
        <p:spPr>
          <a:xfrm>
            <a:off x="1325880" y="1719072"/>
            <a:ext cx="4434840" cy="548640"/>
          </a:xfrm>
          <a:prstGeom prst="rect">
            <a:avLst/>
          </a:prstGeom>
          <a:noFill/>
          <a:ln/>
        </p:spPr>
        <p:txBody>
          <a:bodyPr wrap="square" lIns="0" tIns="0" rIns="0" bIns="0" rtlCol="0" anchor="t"/>
          <a:lstStyle/>
          <a:p>
            <a:pPr indent="0" marL="0">
              <a:buNone/>
            </a:pPr>
            <a:r>
              <a:rPr lang="en-US" sz="1400" dirty="0">
                <a:solidFill>
                  <a:schemeClr val="tx1"/>
                </a:solidFill>
              </a:rPr>
              <a:t>Scores every low product and keeps the most urgent on top</a:t>
            </a:r>
            <a:endParaRPr lang="en-US" sz="1400" dirty="0"/>
          </a:p>
        </p:txBody>
      </p:sp>
      <p:sp>
        <p:nvSpPr>
          <p:cNvPr id="7" name="plan step 2 badge"/>
          <p:cNvSpPr/>
          <p:nvPr/>
        </p:nvSpPr>
        <p:spPr>
          <a:xfrm>
            <a:off x="548640" y="2350008"/>
            <a:ext cx="566928" cy="566928"/>
          </a:xfrm>
          <a:prstGeom prst="ellipse">
            <a:avLst/>
          </a:prstGeom>
          <a:solidFill>
            <a:schemeClr val="accent5"/>
          </a:solidFill>
          <a:ln/>
        </p:spPr>
      </p:sp>
      <p:sp>
        <p:nvSpPr>
          <p:cNvPr id="8" name="Text 6"/>
          <p:cNvSpPr txBox="1"/>
          <p:nvPr/>
        </p:nvSpPr>
        <p:spPr>
          <a:xfrm>
            <a:off x="548640" y="2350008"/>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325880" y="2331720"/>
            <a:ext cx="438912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app.py</a:t>
            </a:r>
            <a:endParaRPr lang="en-US" sz="1400" dirty="0"/>
          </a:p>
        </p:txBody>
      </p:sp>
      <p:sp>
        <p:nvSpPr>
          <p:cNvPr id="10" name="Text 8"/>
          <p:cNvSpPr txBox="1"/>
          <p:nvPr/>
        </p:nvSpPr>
        <p:spPr>
          <a:xfrm>
            <a:off x="1325880" y="2651760"/>
            <a:ext cx="4434840" cy="548640"/>
          </a:xfrm>
          <a:prstGeom prst="rect">
            <a:avLst/>
          </a:prstGeom>
          <a:noFill/>
          <a:ln/>
        </p:spPr>
        <p:txBody>
          <a:bodyPr wrap="square" lIns="0" tIns="0" rIns="0" bIns="0" rtlCol="0" anchor="t"/>
          <a:lstStyle/>
          <a:p>
            <a:pPr indent="0" marL="0">
              <a:buNone/>
            </a:pPr>
            <a:r>
              <a:rPr lang="en-US" sz="1400" dirty="0">
                <a:solidFill>
                  <a:schemeClr val="tx1"/>
                </a:solidFill>
              </a:rPr>
              <a:t>Works out each restock's cost: suggested quantity × price</a:t>
            </a:r>
            <a:endParaRPr lang="en-US" sz="1400" dirty="0"/>
          </a:p>
        </p:txBody>
      </p:sp>
      <p:sp>
        <p:nvSpPr>
          <p:cNvPr id="11" name="plan step 3 badge"/>
          <p:cNvSpPr/>
          <p:nvPr/>
        </p:nvSpPr>
        <p:spPr>
          <a:xfrm>
            <a:off x="548640" y="3282696"/>
            <a:ext cx="566928" cy="566928"/>
          </a:xfrm>
          <a:prstGeom prst="ellipse">
            <a:avLst/>
          </a:prstGeom>
          <a:solidFill>
            <a:schemeClr val="accent5"/>
          </a:solidFill>
          <a:ln/>
        </p:spPr>
      </p:sp>
      <p:sp>
        <p:nvSpPr>
          <p:cNvPr id="12" name="Text 10"/>
          <p:cNvSpPr txBox="1"/>
          <p:nvPr/>
        </p:nvSpPr>
        <p:spPr>
          <a:xfrm>
            <a:off x="548640" y="328269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325880" y="3264408"/>
            <a:ext cx="438912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knapsack.c</a:t>
            </a:r>
            <a:endParaRPr lang="en-US" sz="1400" dirty="0"/>
          </a:p>
        </p:txBody>
      </p:sp>
      <p:sp>
        <p:nvSpPr>
          <p:cNvPr id="14" name="Text 12"/>
          <p:cNvSpPr txBox="1"/>
          <p:nvPr/>
        </p:nvSpPr>
        <p:spPr>
          <a:xfrm>
            <a:off x="1325880" y="3584448"/>
            <a:ext cx="4434840" cy="548640"/>
          </a:xfrm>
          <a:prstGeom prst="rect">
            <a:avLst/>
          </a:prstGeom>
          <a:noFill/>
          <a:ln/>
        </p:spPr>
        <p:txBody>
          <a:bodyPr wrap="square" lIns="0" tIns="0" rIns="0" bIns="0" rtlCol="0" anchor="t"/>
          <a:lstStyle/>
          <a:p>
            <a:pPr indent="0" marL="0">
              <a:buNone/>
            </a:pPr>
            <a:r>
              <a:rPr lang="en-US" sz="1400" dirty="0">
                <a:solidFill>
                  <a:schemeClr val="tx1"/>
                </a:solidFill>
              </a:rPr>
              <a:t>Dynamic programming picks the best set within the budget</a:t>
            </a:r>
            <a:endParaRPr lang="en-US" sz="1400" dirty="0"/>
          </a:p>
        </p:txBody>
      </p:sp>
      <p:sp>
        <p:nvSpPr>
          <p:cNvPr id="15" name="plan step 4 badge"/>
          <p:cNvSpPr/>
          <p:nvPr/>
        </p:nvSpPr>
        <p:spPr>
          <a:xfrm>
            <a:off x="548640" y="4215384"/>
            <a:ext cx="566928" cy="566928"/>
          </a:xfrm>
          <a:prstGeom prst="ellipse">
            <a:avLst/>
          </a:prstGeom>
          <a:solidFill>
            <a:schemeClr val="accent5"/>
          </a:solidFill>
          <a:ln/>
        </p:spPr>
      </p:sp>
      <p:sp>
        <p:nvSpPr>
          <p:cNvPr id="16" name="Text 14"/>
          <p:cNvSpPr txBox="1"/>
          <p:nvPr/>
        </p:nvSpPr>
        <p:spPr>
          <a:xfrm>
            <a:off x="548640" y="4215384"/>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1325880" y="4197096"/>
            <a:ext cx="438912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knapsack.c</a:t>
            </a:r>
            <a:endParaRPr lang="en-US" sz="1400" dirty="0"/>
          </a:p>
        </p:txBody>
      </p:sp>
      <p:sp>
        <p:nvSpPr>
          <p:cNvPr id="18" name="Text 16"/>
          <p:cNvSpPr txBox="1"/>
          <p:nvPr/>
        </p:nvSpPr>
        <p:spPr>
          <a:xfrm>
            <a:off x="1325880" y="4517136"/>
            <a:ext cx="4434840" cy="548640"/>
          </a:xfrm>
          <a:prstGeom prst="rect">
            <a:avLst/>
          </a:prstGeom>
          <a:noFill/>
          <a:ln/>
        </p:spPr>
        <p:txBody>
          <a:bodyPr wrap="square" lIns="0" tIns="0" rIns="0" bIns="0" rtlCol="0" anchor="t"/>
          <a:lstStyle/>
          <a:p>
            <a:pPr indent="0" marL="0">
              <a:buNone/>
            </a:pPr>
            <a:r>
              <a:rPr lang="en-US" sz="1400" dirty="0">
                <a:solidFill>
                  <a:schemeClr val="tx1"/>
                </a:solidFill>
              </a:rPr>
              <a:t>Greedy picks by priority per dollar, for comparison</a:t>
            </a:r>
            <a:endParaRPr lang="en-US" sz="1400" dirty="0"/>
          </a:p>
        </p:txBody>
      </p:sp>
      <p:sp>
        <p:nvSpPr>
          <p:cNvPr id="19" name="plan step 5 badge"/>
          <p:cNvSpPr/>
          <p:nvPr/>
        </p:nvSpPr>
        <p:spPr>
          <a:xfrm>
            <a:off x="548640" y="5148072"/>
            <a:ext cx="566928" cy="566928"/>
          </a:xfrm>
          <a:prstGeom prst="ellipse">
            <a:avLst/>
          </a:prstGeom>
          <a:solidFill>
            <a:schemeClr val="accent5"/>
          </a:solidFill>
          <a:ln/>
        </p:spPr>
      </p:sp>
      <p:sp>
        <p:nvSpPr>
          <p:cNvPr id="20" name="Text 18"/>
          <p:cNvSpPr txBox="1"/>
          <p:nvPr/>
        </p:nvSpPr>
        <p:spPr>
          <a:xfrm>
            <a:off x="548640" y="5148072"/>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9"/>
          <p:cNvSpPr txBox="1"/>
          <p:nvPr/>
        </p:nvSpPr>
        <p:spPr>
          <a:xfrm>
            <a:off x="1325880" y="5129784"/>
            <a:ext cx="438912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database.py</a:t>
            </a:r>
            <a:endParaRPr lang="en-US" sz="1400" dirty="0"/>
          </a:p>
        </p:txBody>
      </p:sp>
      <p:sp>
        <p:nvSpPr>
          <p:cNvPr id="22" name="Text 20"/>
          <p:cNvSpPr txBox="1"/>
          <p:nvPr/>
        </p:nvSpPr>
        <p:spPr>
          <a:xfrm>
            <a:off x="1325880" y="5449824"/>
            <a:ext cx="4434840" cy="548640"/>
          </a:xfrm>
          <a:prstGeom prst="rect">
            <a:avLst/>
          </a:prstGeom>
          <a:noFill/>
          <a:ln/>
        </p:spPr>
        <p:txBody>
          <a:bodyPr wrap="square" lIns="0" tIns="0" rIns="0" bIns="0" rtlCol="0" anchor="t"/>
          <a:lstStyle/>
          <a:p>
            <a:pPr indent="0" marL="0">
              <a:buNone/>
            </a:pPr>
            <a:r>
              <a:rPr lang="en-US" sz="1400" dirty="0">
                <a:solidFill>
                  <a:schemeClr val="tx1"/>
                </a:solidFill>
              </a:rPr>
              <a:t>"Order the DP plan" records a delivery for each product</a:t>
            </a:r>
            <a:endParaRPr lang="en-US" sz="1400" dirty="0"/>
          </a:p>
        </p:txBody>
      </p:sp>
      <p:sp>
        <p:nvSpPr>
          <p:cNvPr id="23" name="restocking screenshot frame"/>
          <p:cNvSpPr/>
          <p:nvPr/>
        </p:nvSpPr>
        <p:spPr>
          <a:xfrm>
            <a:off x="6117336" y="1408176"/>
            <a:ext cx="5504688" cy="4905248"/>
          </a:xfrm>
          <a:prstGeom prst="roundRect">
            <a:avLst>
              <a:gd name="adj" fmla="val 1491"/>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24" name="restocking screenshot" descr="/tmp/claude-0/-home-user-StockWise-Dsa/ffa8d720-88b5-5029-baa4-50a8a76d3601/scratchpad/deck/img/restock_sq.png">    </p:cNvPr>
          <p:cNvPicPr>
            <a:picLocks noChangeAspect="1"/>
          </p:cNvPicPr>
          <p:nvPr/>
        </p:nvPicPr>
        <p:blipFill>
          <a:blip r:embed="rId1"/>
          <a:stretch>
            <a:fillRect/>
          </a:stretch>
        </p:blipFill>
        <p:spPr>
          <a:xfrm>
            <a:off x="6172200" y="1463040"/>
            <a:ext cx="5394960" cy="479552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What the DSA concepts look like in the app</a:t>
            </a:r>
            <a:endParaRPr lang="en-US" sz="3600" dirty="0"/>
          </a:p>
        </p:txBody>
      </p:sp>
      <p:sp>
        <p:nvSpPr>
          <p:cNvPr id="3" name="Trie + AVL tree frame"/>
          <p:cNvSpPr/>
          <p:nvPr/>
        </p:nvSpPr>
        <p:spPr>
          <a:xfrm>
            <a:off x="548640" y="1408176"/>
            <a:ext cx="3538728" cy="3310128"/>
          </a:xfrm>
          <a:prstGeom prst="roundRect">
            <a:avLst>
              <a:gd name="adj" fmla="val 2210"/>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4" name="Trie + AVL tree" descr="/tmp/claude-0/-home-user-StockWise-Dsa/ffa8d720-88b5-5029-baa4-50a8a76d3601/scratchpad/deck/img/sq_products.png">    </p:cNvPr>
          <p:cNvPicPr>
            <a:picLocks noChangeAspect="1"/>
          </p:cNvPicPr>
          <p:nvPr/>
        </p:nvPicPr>
        <p:blipFill>
          <a:blip r:embed="rId1"/>
          <a:stretch>
            <a:fillRect/>
          </a:stretch>
        </p:blipFill>
        <p:spPr>
          <a:xfrm>
            <a:off x="603504" y="1463040"/>
            <a:ext cx="3429000" cy="3200400"/>
          </a:xfrm>
          <a:prstGeom prst="rect">
            <a:avLst/>
          </a:prstGeom>
        </p:spPr>
      </p:pic>
      <p:sp>
        <p:nvSpPr>
          <p:cNvPr id="5" name="Text 2"/>
          <p:cNvSpPr txBox="1"/>
          <p:nvPr/>
        </p:nvSpPr>
        <p:spPr>
          <a:xfrm>
            <a:off x="548640" y="4892040"/>
            <a:ext cx="3520440" cy="384048"/>
          </a:xfrm>
          <a:prstGeom prst="rect">
            <a:avLst/>
          </a:prstGeom>
          <a:noFill/>
          <a:ln/>
        </p:spPr>
        <p:txBody>
          <a:bodyPr wrap="square" lIns="0" tIns="0" rIns="0" bIns="0" rtlCol="0" anchor="t"/>
          <a:lstStyle/>
          <a:p>
            <a:pPr indent="0" marL="0">
              <a:buNone/>
            </a:pPr>
            <a:r>
              <a:rPr lang="en-US" sz="1800" b="1" dirty="0">
                <a:solidFill>
                  <a:schemeClr val="tx2"/>
                </a:solidFill>
              </a:rPr>
              <a:t>Trie + AVL tree</a:t>
            </a:r>
            <a:endParaRPr lang="en-US" sz="1800" dirty="0"/>
          </a:p>
        </p:txBody>
      </p:sp>
      <p:sp>
        <p:nvSpPr>
          <p:cNvPr id="6" name="Text 3"/>
          <p:cNvSpPr txBox="1"/>
          <p:nvPr/>
        </p:nvSpPr>
        <p:spPr>
          <a:xfrm>
            <a:off x="548640" y="5303520"/>
            <a:ext cx="3520440" cy="685800"/>
          </a:xfrm>
          <a:prstGeom prst="rect">
            <a:avLst/>
          </a:prstGeom>
          <a:noFill/>
          <a:ln/>
        </p:spPr>
        <p:txBody>
          <a:bodyPr wrap="square" lIns="0" tIns="0" rIns="0" bIns="0" rtlCol="0" anchor="t"/>
          <a:lstStyle/>
          <a:p>
            <a:pPr indent="0" marL="0">
              <a:buNone/>
            </a:pPr>
            <a:r>
              <a:rPr lang="en-US" sz="1400" dirty="0">
                <a:solidFill>
                  <a:schemeClr val="tx1"/>
                </a:solidFill>
              </a:rPr>
              <a:t>Autocomplete and price filter</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trie.c, avl_tree.c</a:t>
            </a:r>
            <a:endParaRPr lang="en-US" sz="1400" dirty="0"/>
          </a:p>
        </p:txBody>
      </p:sp>
      <p:sp>
        <p:nvSpPr>
          <p:cNvPr id="7" name="Graph + Dijkstra frame"/>
          <p:cNvSpPr/>
          <p:nvPr/>
        </p:nvSpPr>
        <p:spPr>
          <a:xfrm>
            <a:off x="4297680" y="1408176"/>
            <a:ext cx="3538728" cy="3310128"/>
          </a:xfrm>
          <a:prstGeom prst="roundRect">
            <a:avLst>
              <a:gd name="adj" fmla="val 2210"/>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8" name="Graph + Dijkstra" descr="/tmp/claude-0/-home-user-StockWise-Dsa/ffa8d720-88b5-5029-baa4-50a8a76d3601/scratchpad/deck/img/sq_routes.png">    </p:cNvPr>
          <p:cNvPicPr>
            <a:picLocks noChangeAspect="1"/>
          </p:cNvPicPr>
          <p:nvPr/>
        </p:nvPicPr>
        <p:blipFill>
          <a:blip r:embed="rId2"/>
          <a:stretch>
            <a:fillRect/>
          </a:stretch>
        </p:blipFill>
        <p:spPr>
          <a:xfrm>
            <a:off x="4352544" y="1463040"/>
            <a:ext cx="3429000" cy="3200400"/>
          </a:xfrm>
          <a:prstGeom prst="rect">
            <a:avLst/>
          </a:prstGeom>
        </p:spPr>
      </p:pic>
      <p:sp>
        <p:nvSpPr>
          <p:cNvPr id="9" name="Text 5"/>
          <p:cNvSpPr txBox="1"/>
          <p:nvPr/>
        </p:nvSpPr>
        <p:spPr>
          <a:xfrm>
            <a:off x="4297680" y="4892040"/>
            <a:ext cx="3520440" cy="384048"/>
          </a:xfrm>
          <a:prstGeom prst="rect">
            <a:avLst/>
          </a:prstGeom>
          <a:noFill/>
          <a:ln/>
        </p:spPr>
        <p:txBody>
          <a:bodyPr wrap="square" lIns="0" tIns="0" rIns="0" bIns="0" rtlCol="0" anchor="t"/>
          <a:lstStyle/>
          <a:p>
            <a:pPr indent="0" marL="0">
              <a:buNone/>
            </a:pPr>
            <a:r>
              <a:rPr lang="en-US" sz="1800" b="1" dirty="0">
                <a:solidFill>
                  <a:schemeClr val="tx2"/>
                </a:solidFill>
              </a:rPr>
              <a:t>Graph + Dijkstra</a:t>
            </a:r>
            <a:endParaRPr lang="en-US" sz="1800" dirty="0"/>
          </a:p>
        </p:txBody>
      </p:sp>
      <p:sp>
        <p:nvSpPr>
          <p:cNvPr id="10" name="Text 6"/>
          <p:cNvSpPr txBox="1"/>
          <p:nvPr/>
        </p:nvSpPr>
        <p:spPr>
          <a:xfrm>
            <a:off x="4297680" y="5303520"/>
            <a:ext cx="3520440" cy="685800"/>
          </a:xfrm>
          <a:prstGeom prst="rect">
            <a:avLst/>
          </a:prstGeom>
          <a:noFill/>
          <a:ln/>
        </p:spPr>
        <p:txBody>
          <a:bodyPr wrap="square" lIns="0" tIns="0" rIns="0" bIns="0" rtlCol="0" anchor="t"/>
          <a:lstStyle/>
          <a:p>
            <a:pPr indent="0" marL="0">
              <a:buNone/>
            </a:pPr>
            <a:r>
              <a:rPr lang="en-US" sz="1400" dirty="0">
                <a:solidFill>
                  <a:schemeClr val="tx1"/>
                </a:solidFill>
              </a:rPr>
              <a:t>Shortest delivery route</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graph.c</a:t>
            </a:r>
            <a:endParaRPr lang="en-US" sz="1400" dirty="0"/>
          </a:p>
        </p:txBody>
      </p:sp>
      <p:sp>
        <p:nvSpPr>
          <p:cNvPr id="11" name="Dynamic programming frame"/>
          <p:cNvSpPr/>
          <p:nvPr/>
        </p:nvSpPr>
        <p:spPr>
          <a:xfrm>
            <a:off x="8046720" y="1408176"/>
            <a:ext cx="3538728" cy="2814828"/>
          </a:xfrm>
          <a:prstGeom prst="roundRect">
            <a:avLst>
              <a:gd name="adj" fmla="val 2599"/>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12" name="Dynamic programming" descr="/tmp/claude-0/-home-user-StockWise-Dsa/ffa8d720-88b5-5029-baa4-50a8a76d3601/scratchpad/deck/img/sq_knapsack.png">    </p:cNvPr>
          <p:cNvPicPr>
            <a:picLocks noChangeAspect="1"/>
          </p:cNvPicPr>
          <p:nvPr/>
        </p:nvPicPr>
        <p:blipFill>
          <a:blip r:embed="rId3"/>
          <a:stretch>
            <a:fillRect/>
          </a:stretch>
        </p:blipFill>
        <p:spPr>
          <a:xfrm>
            <a:off x="8101584" y="1463040"/>
            <a:ext cx="3429000" cy="2705100"/>
          </a:xfrm>
          <a:prstGeom prst="rect">
            <a:avLst/>
          </a:prstGeom>
        </p:spPr>
      </p:pic>
      <p:sp>
        <p:nvSpPr>
          <p:cNvPr id="13" name="Text 8"/>
          <p:cNvSpPr txBox="1"/>
          <p:nvPr/>
        </p:nvSpPr>
        <p:spPr>
          <a:xfrm>
            <a:off x="8046720" y="4892040"/>
            <a:ext cx="3520440" cy="384048"/>
          </a:xfrm>
          <a:prstGeom prst="rect">
            <a:avLst/>
          </a:prstGeom>
          <a:noFill/>
          <a:ln/>
        </p:spPr>
        <p:txBody>
          <a:bodyPr wrap="square" lIns="0" tIns="0" rIns="0" bIns="0" rtlCol="0" anchor="t"/>
          <a:lstStyle/>
          <a:p>
            <a:pPr indent="0" marL="0">
              <a:buNone/>
            </a:pPr>
            <a:r>
              <a:rPr lang="en-US" sz="1800" b="1" dirty="0">
                <a:solidFill>
                  <a:schemeClr val="tx2"/>
                </a:solidFill>
              </a:rPr>
              <a:t>Dynamic programming</a:t>
            </a:r>
            <a:endParaRPr lang="en-US" sz="1800" dirty="0"/>
          </a:p>
        </p:txBody>
      </p:sp>
      <p:sp>
        <p:nvSpPr>
          <p:cNvPr id="14" name="Text 9"/>
          <p:cNvSpPr txBox="1"/>
          <p:nvPr/>
        </p:nvSpPr>
        <p:spPr>
          <a:xfrm>
            <a:off x="8046720" y="5303520"/>
            <a:ext cx="3520440" cy="685800"/>
          </a:xfrm>
          <a:prstGeom prst="rect">
            <a:avLst/>
          </a:prstGeom>
          <a:noFill/>
          <a:ln/>
        </p:spPr>
        <p:txBody>
          <a:bodyPr wrap="square" lIns="0" tIns="0" rIns="0" bIns="0" rtlCol="0" anchor="t"/>
          <a:lstStyle/>
          <a:p>
            <a:pPr indent="0" marL="0">
              <a:buNone/>
            </a:pPr>
            <a:r>
              <a:rPr lang="en-US" sz="1400" dirty="0">
                <a:solidFill>
                  <a:schemeClr val="tx1"/>
                </a:solidFill>
              </a:rPr>
              <a:t>Budget plan beats greedy</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knapsack.c</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Tests, docs and design files at a glance</a:t>
            </a:r>
            <a:endParaRPr lang="en-US" sz="3600" dirty="0"/>
          </a:p>
        </p:txBody>
      </p:sp>
      <p:sp>
        <p:nvSpPr>
          <p:cNvPr id="3" name="test_engine.c card"/>
          <p:cNvSpPr/>
          <p:nvPr/>
        </p:nvSpPr>
        <p:spPr>
          <a:xfrm>
            <a:off x="548640" y="1371600"/>
            <a:ext cx="3520440" cy="2331720"/>
          </a:xfrm>
          <a:prstGeom prst="roundRect">
            <a:avLst>
              <a:gd name="adj" fmla="val 4706"/>
            </a:avLst>
          </a:prstGeom>
          <a:solidFill>
            <a:schemeClr val="bg2"/>
          </a:solidFill>
          <a:ln/>
        </p:spPr>
      </p:sp>
      <p:sp>
        <p:nvSpPr>
          <p:cNvPr id="4" name="test_engine.c tile"/>
          <p:cNvSpPr/>
          <p:nvPr/>
        </p:nvSpPr>
        <p:spPr>
          <a:xfrm>
            <a:off x="822960" y="1645920"/>
            <a:ext cx="640080" cy="640080"/>
          </a:xfrm>
          <a:prstGeom prst="roundRect">
            <a:avLst>
              <a:gd name="adj" fmla="val 24000"/>
            </a:avLst>
          </a:prstGeom>
          <a:solidFill>
            <a:schemeClr val="accent4">
              <a:alpha val="14000"/>
            </a:schemeClr>
          </a:solidFill>
          <a:ln/>
        </p:spPr>
      </p:sp>
      <p:pic>
        <p:nvPicPr>
          <p:cNvPr id="5" name="test_engine.c icon"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6" name="Text 3"/>
          <p:cNvSpPr txBox="1"/>
          <p:nvPr/>
        </p:nvSpPr>
        <p:spPr>
          <a:xfrm>
            <a:off x="164592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test_engine.c</a:t>
            </a:r>
            <a:endParaRPr lang="en-US" sz="1400" dirty="0"/>
          </a:p>
        </p:txBody>
      </p:sp>
      <p:sp>
        <p:nvSpPr>
          <p:cNvPr id="7" name="test_engine.c tech tag"/>
          <p:cNvSpPr/>
          <p:nvPr/>
        </p:nvSpPr>
        <p:spPr>
          <a:xfrm>
            <a:off x="1645920" y="2011680"/>
            <a:ext cx="1415491" cy="292608"/>
          </a:xfrm>
          <a:prstGeom prst="roundRect">
            <a:avLst>
              <a:gd name="adj" fmla="val 50000"/>
            </a:avLst>
          </a:prstGeom>
          <a:solidFill>
            <a:schemeClr val="accent4">
              <a:alpha val="18000"/>
            </a:schemeClr>
          </a:solidFill>
          <a:ln/>
        </p:spPr>
      </p:sp>
      <p:sp>
        <p:nvSpPr>
          <p:cNvPr id="8" name="Text 5"/>
          <p:cNvSpPr txBox="1"/>
          <p:nvPr/>
        </p:nvSpPr>
        <p:spPr>
          <a:xfrm>
            <a:off x="1645920" y="2011680"/>
            <a:ext cx="1415491" cy="292608"/>
          </a:xfrm>
          <a:prstGeom prst="rect">
            <a:avLst/>
          </a:prstGeom>
          <a:noFill/>
          <a:ln/>
        </p:spPr>
        <p:txBody>
          <a:bodyPr wrap="square" lIns="0" tIns="0" rIns="0" bIns="0" rtlCol="0" anchor="ctr"/>
          <a:lstStyle/>
          <a:p>
            <a:pPr algn="ctr" indent="0" marL="0">
              <a:buNone/>
            </a:pPr>
            <a:r>
              <a:rPr lang="en-US" sz="1100" b="1" dirty="0">
                <a:solidFill>
                  <a:schemeClr val="tx2"/>
                </a:solidFill>
              </a:rPr>
              <a:t>C11 test program</a:t>
            </a:r>
            <a:endParaRPr lang="en-US" sz="1100" dirty="0"/>
          </a:p>
        </p:txBody>
      </p:sp>
      <p:sp>
        <p:nvSpPr>
          <p:cNvPr id="9" name="Text 6"/>
          <p:cNvSpPr txBox="1"/>
          <p:nvPr/>
        </p:nvSpPr>
        <p:spPr>
          <a:xfrm>
            <a:off x="82296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In backend/tests/: 283 checks that call the C functions directly, edge cases included.</a:t>
            </a:r>
            <a:endParaRPr lang="en-US" sz="1400" dirty="0"/>
          </a:p>
        </p:txBody>
      </p:sp>
      <p:sp>
        <p:nvSpPr>
          <p:cNvPr id="10" name="test_c_bridge.py card"/>
          <p:cNvSpPr/>
          <p:nvPr/>
        </p:nvSpPr>
        <p:spPr>
          <a:xfrm>
            <a:off x="4297680" y="1371600"/>
            <a:ext cx="3520440" cy="2331720"/>
          </a:xfrm>
          <a:prstGeom prst="roundRect">
            <a:avLst>
              <a:gd name="adj" fmla="val 4706"/>
            </a:avLst>
          </a:prstGeom>
          <a:solidFill>
            <a:schemeClr val="bg2"/>
          </a:solidFill>
          <a:ln/>
        </p:spPr>
      </p:sp>
      <p:sp>
        <p:nvSpPr>
          <p:cNvPr id="11" name="test_c_bridge.py tile"/>
          <p:cNvSpPr/>
          <p:nvPr/>
        </p:nvSpPr>
        <p:spPr>
          <a:xfrm>
            <a:off x="4572000" y="1645920"/>
            <a:ext cx="640080" cy="640080"/>
          </a:xfrm>
          <a:prstGeom prst="roundRect">
            <a:avLst>
              <a:gd name="adj" fmla="val 24000"/>
            </a:avLst>
          </a:prstGeom>
          <a:solidFill>
            <a:schemeClr val="accent1">
              <a:alpha val="14000"/>
            </a:schemeClr>
          </a:solidFill>
          <a:ln/>
        </p:spPr>
      </p:sp>
      <p:pic>
        <p:nvPicPr>
          <p:cNvPr id="12" name="test_c_bridge.py icon" descr="preencoded.png">    </p:cNvPr>
          <p:cNvPicPr>
            <a:picLocks noChangeAspect="1"/>
          </p:cNvPicPr>
          <p:nvPr/>
        </p:nvPicPr>
        <p:blipFill>
          <a:blip r:embed="rId2"/>
          <a:stretch>
            <a:fillRect/>
          </a:stretch>
        </p:blipFill>
        <p:spPr>
          <a:xfrm>
            <a:off x="4712818" y="1786738"/>
            <a:ext cx="358445" cy="358445"/>
          </a:xfrm>
          <a:prstGeom prst="rect">
            <a:avLst/>
          </a:prstGeom>
        </p:spPr>
      </p:pic>
      <p:sp>
        <p:nvSpPr>
          <p:cNvPr id="13" name="Text 9"/>
          <p:cNvSpPr txBox="1"/>
          <p:nvPr/>
        </p:nvSpPr>
        <p:spPr>
          <a:xfrm>
            <a:off x="539496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test_c_bridge.py</a:t>
            </a:r>
            <a:endParaRPr lang="en-US" sz="1400" dirty="0"/>
          </a:p>
        </p:txBody>
      </p:sp>
      <p:sp>
        <p:nvSpPr>
          <p:cNvPr id="14" name="test_c_bridge.py tech tag"/>
          <p:cNvSpPr/>
          <p:nvPr/>
        </p:nvSpPr>
        <p:spPr>
          <a:xfrm>
            <a:off x="5394960" y="2011680"/>
            <a:ext cx="1486814" cy="292608"/>
          </a:xfrm>
          <a:prstGeom prst="roundRect">
            <a:avLst>
              <a:gd name="adj" fmla="val 50000"/>
            </a:avLst>
          </a:prstGeom>
          <a:solidFill>
            <a:schemeClr val="accent1">
              <a:alpha val="18000"/>
            </a:schemeClr>
          </a:solidFill>
          <a:ln/>
        </p:spPr>
      </p:sp>
      <p:sp>
        <p:nvSpPr>
          <p:cNvPr id="15" name="Text 11"/>
          <p:cNvSpPr txBox="1"/>
          <p:nvPr/>
        </p:nvSpPr>
        <p:spPr>
          <a:xfrm>
            <a:off x="5394960" y="2011680"/>
            <a:ext cx="1486814" cy="292608"/>
          </a:xfrm>
          <a:prstGeom prst="rect">
            <a:avLst/>
          </a:prstGeom>
          <a:noFill/>
          <a:ln/>
        </p:spPr>
        <p:txBody>
          <a:bodyPr wrap="square" lIns="0" tIns="0" rIns="0" bIns="0" rtlCol="0" anchor="ctr"/>
          <a:lstStyle/>
          <a:p>
            <a:pPr algn="ctr" indent="0" marL="0">
              <a:buNone/>
            </a:pPr>
            <a:r>
              <a:rPr lang="en-US" sz="1100" b="1" dirty="0">
                <a:solidFill>
                  <a:schemeClr val="tx2"/>
                </a:solidFill>
              </a:rPr>
              <a:t>Python · unittest</a:t>
            </a:r>
            <a:endParaRPr lang="en-US" sz="1100" dirty="0"/>
          </a:p>
        </p:txBody>
      </p:sp>
      <p:sp>
        <p:nvSpPr>
          <p:cNvPr id="16" name="Text 12"/>
          <p:cNvSpPr txBox="1"/>
          <p:nvPr/>
        </p:nvSpPr>
        <p:spPr>
          <a:xfrm>
            <a:off x="457200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Tests the Python-to-C calls: C sorts must match sorted(), knapsack matches brute force.</a:t>
            </a:r>
            <a:endParaRPr lang="en-US" sz="1400" dirty="0"/>
          </a:p>
        </p:txBody>
      </p:sp>
      <p:sp>
        <p:nvSpPr>
          <p:cNvPr id="17" name="test_database.py card"/>
          <p:cNvSpPr/>
          <p:nvPr/>
        </p:nvSpPr>
        <p:spPr>
          <a:xfrm>
            <a:off x="8046720" y="1371600"/>
            <a:ext cx="3520440" cy="2331720"/>
          </a:xfrm>
          <a:prstGeom prst="roundRect">
            <a:avLst>
              <a:gd name="adj" fmla="val 4706"/>
            </a:avLst>
          </a:prstGeom>
          <a:solidFill>
            <a:schemeClr val="bg2"/>
          </a:solidFill>
          <a:ln/>
        </p:spPr>
      </p:sp>
      <p:sp>
        <p:nvSpPr>
          <p:cNvPr id="18" name="test_database.py tile"/>
          <p:cNvSpPr/>
          <p:nvPr/>
        </p:nvSpPr>
        <p:spPr>
          <a:xfrm>
            <a:off x="8321040" y="1645920"/>
            <a:ext cx="640080" cy="640080"/>
          </a:xfrm>
          <a:prstGeom prst="roundRect">
            <a:avLst>
              <a:gd name="adj" fmla="val 24000"/>
            </a:avLst>
          </a:prstGeom>
          <a:solidFill>
            <a:schemeClr val="accent3">
              <a:alpha val="14000"/>
            </a:schemeClr>
          </a:solidFill>
          <a:ln/>
        </p:spPr>
      </p:sp>
      <p:pic>
        <p:nvPicPr>
          <p:cNvPr id="19" name="test_database.py icon" descr="preencoded.png">    </p:cNvPr>
          <p:cNvPicPr>
            <a:picLocks noChangeAspect="1"/>
          </p:cNvPicPr>
          <p:nvPr/>
        </p:nvPicPr>
        <p:blipFill>
          <a:blip r:embed="rId3"/>
          <a:stretch>
            <a:fillRect/>
          </a:stretch>
        </p:blipFill>
        <p:spPr>
          <a:xfrm>
            <a:off x="8461858" y="1786738"/>
            <a:ext cx="358445" cy="358445"/>
          </a:xfrm>
          <a:prstGeom prst="rect">
            <a:avLst/>
          </a:prstGeom>
        </p:spPr>
      </p:pic>
      <p:sp>
        <p:nvSpPr>
          <p:cNvPr id="20" name="Text 15"/>
          <p:cNvSpPr txBox="1"/>
          <p:nvPr/>
        </p:nvSpPr>
        <p:spPr>
          <a:xfrm>
            <a:off x="9144000" y="164592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test_database.py</a:t>
            </a:r>
            <a:endParaRPr lang="en-US" sz="1400" dirty="0"/>
          </a:p>
        </p:txBody>
      </p:sp>
      <p:sp>
        <p:nvSpPr>
          <p:cNvPr id="21" name="test_database.py tech tag"/>
          <p:cNvSpPr/>
          <p:nvPr/>
        </p:nvSpPr>
        <p:spPr>
          <a:xfrm>
            <a:off x="9144000" y="2011680"/>
            <a:ext cx="2128723" cy="292608"/>
          </a:xfrm>
          <a:prstGeom prst="roundRect">
            <a:avLst>
              <a:gd name="adj" fmla="val 50000"/>
            </a:avLst>
          </a:prstGeom>
          <a:solidFill>
            <a:schemeClr val="accent3">
              <a:alpha val="18000"/>
            </a:schemeClr>
          </a:solidFill>
          <a:ln/>
        </p:spPr>
      </p:sp>
      <p:sp>
        <p:nvSpPr>
          <p:cNvPr id="22" name="Text 17"/>
          <p:cNvSpPr txBox="1"/>
          <p:nvPr/>
        </p:nvSpPr>
        <p:spPr>
          <a:xfrm>
            <a:off x="9144000" y="2011680"/>
            <a:ext cx="2128723" cy="292608"/>
          </a:xfrm>
          <a:prstGeom prst="rect">
            <a:avLst/>
          </a:prstGeom>
          <a:noFill/>
          <a:ln/>
        </p:spPr>
        <p:txBody>
          <a:bodyPr wrap="square" lIns="0" tIns="0" rIns="0" bIns="0" rtlCol="0" anchor="ctr"/>
          <a:lstStyle/>
          <a:p>
            <a:pPr algn="ctr" indent="0" marL="0">
              <a:buNone/>
            </a:pPr>
            <a:r>
              <a:rPr lang="en-US" sz="1100" b="1" dirty="0">
                <a:solidFill>
                  <a:schemeClr val="tx2"/>
                </a:solidFill>
              </a:rPr>
              <a:t>Python · unittest · SQLite</a:t>
            </a:r>
            <a:endParaRPr lang="en-US" sz="1100" dirty="0"/>
          </a:p>
        </p:txBody>
      </p:sp>
      <p:sp>
        <p:nvSpPr>
          <p:cNvPr id="23" name="Text 18"/>
          <p:cNvSpPr txBox="1"/>
          <p:nvPr/>
        </p:nvSpPr>
        <p:spPr>
          <a:xfrm>
            <a:off x="8321040" y="2468880"/>
            <a:ext cx="3017520" cy="1143000"/>
          </a:xfrm>
          <a:prstGeom prst="rect">
            <a:avLst/>
          </a:prstGeom>
          <a:noFill/>
          <a:ln/>
        </p:spPr>
        <p:txBody>
          <a:bodyPr wrap="square" lIns="0" tIns="0" rIns="0" bIns="0" rtlCol="0" anchor="t"/>
          <a:lstStyle/>
          <a:p>
            <a:pPr indent="0" marL="0">
              <a:buNone/>
            </a:pPr>
            <a:r>
              <a:rPr lang="en-US" sz="1400" dirty="0">
                <a:solidFill>
                  <a:schemeClr val="tx1"/>
                </a:solidFill>
              </a:rPr>
              <a:t>Tests saving, insufficient stock, deleting, and that the C queue matches stock levels.</a:t>
            </a:r>
            <a:endParaRPr lang="en-US" sz="1400" dirty="0"/>
          </a:p>
        </p:txBody>
      </p:sp>
      <p:sp>
        <p:nvSpPr>
          <p:cNvPr id="24" name="assets/ card"/>
          <p:cNvSpPr/>
          <p:nvPr/>
        </p:nvSpPr>
        <p:spPr>
          <a:xfrm>
            <a:off x="548640" y="3840480"/>
            <a:ext cx="3520440" cy="2331720"/>
          </a:xfrm>
          <a:prstGeom prst="roundRect">
            <a:avLst>
              <a:gd name="adj" fmla="val 4706"/>
            </a:avLst>
          </a:prstGeom>
          <a:solidFill>
            <a:schemeClr val="bg2"/>
          </a:solidFill>
          <a:ln/>
        </p:spPr>
      </p:sp>
      <p:sp>
        <p:nvSpPr>
          <p:cNvPr id="25" name="assets/ tile"/>
          <p:cNvSpPr/>
          <p:nvPr/>
        </p:nvSpPr>
        <p:spPr>
          <a:xfrm>
            <a:off x="822960" y="4114800"/>
            <a:ext cx="640080" cy="640080"/>
          </a:xfrm>
          <a:prstGeom prst="roundRect">
            <a:avLst>
              <a:gd name="adj" fmla="val 24000"/>
            </a:avLst>
          </a:prstGeom>
          <a:solidFill>
            <a:schemeClr val="accent2">
              <a:alpha val="14000"/>
            </a:schemeClr>
          </a:solidFill>
          <a:ln/>
        </p:spPr>
      </p:sp>
      <p:pic>
        <p:nvPicPr>
          <p:cNvPr id="26" name="assets/ icon" descr="preencoded.png">    </p:cNvPr>
          <p:cNvPicPr>
            <a:picLocks noChangeAspect="1"/>
          </p:cNvPicPr>
          <p:nvPr/>
        </p:nvPicPr>
        <p:blipFill>
          <a:blip r:embed="rId4"/>
          <a:stretch>
            <a:fillRect/>
          </a:stretch>
        </p:blipFill>
        <p:spPr>
          <a:xfrm>
            <a:off x="963778" y="4255618"/>
            <a:ext cx="358445" cy="358445"/>
          </a:xfrm>
          <a:prstGeom prst="rect">
            <a:avLst/>
          </a:prstGeom>
        </p:spPr>
      </p:pic>
      <p:sp>
        <p:nvSpPr>
          <p:cNvPr id="27" name="Text 21"/>
          <p:cNvSpPr txBox="1"/>
          <p:nvPr/>
        </p:nvSpPr>
        <p:spPr>
          <a:xfrm>
            <a:off x="164592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assets/</a:t>
            </a:r>
            <a:endParaRPr lang="en-US" sz="1400" dirty="0"/>
          </a:p>
        </p:txBody>
      </p:sp>
      <p:sp>
        <p:nvSpPr>
          <p:cNvPr id="28" name="assets/ tech tag"/>
          <p:cNvSpPr/>
          <p:nvPr/>
        </p:nvSpPr>
        <p:spPr>
          <a:xfrm>
            <a:off x="1645920" y="4480560"/>
            <a:ext cx="987552" cy="292608"/>
          </a:xfrm>
          <a:prstGeom prst="roundRect">
            <a:avLst>
              <a:gd name="adj" fmla="val 50000"/>
            </a:avLst>
          </a:prstGeom>
          <a:solidFill>
            <a:schemeClr val="accent2">
              <a:alpha val="18000"/>
            </a:schemeClr>
          </a:solidFill>
          <a:ln/>
        </p:spPr>
      </p:sp>
      <p:sp>
        <p:nvSpPr>
          <p:cNvPr id="29" name="Text 23"/>
          <p:cNvSpPr txBox="1"/>
          <p:nvPr/>
        </p:nvSpPr>
        <p:spPr>
          <a:xfrm>
            <a:off x="1645920" y="4480560"/>
            <a:ext cx="987552" cy="292608"/>
          </a:xfrm>
          <a:prstGeom prst="rect">
            <a:avLst/>
          </a:prstGeom>
          <a:noFill/>
          <a:ln/>
        </p:spPr>
        <p:txBody>
          <a:bodyPr wrap="square" lIns="0" tIns="0" rIns="0" bIns="0" rtlCol="0" anchor="ctr"/>
          <a:lstStyle/>
          <a:p>
            <a:pPr algn="ctr" indent="0" marL="0">
              <a:buNone/>
            </a:pPr>
            <a:r>
              <a:rPr lang="en-US" sz="1100" b="1" dirty="0">
                <a:solidFill>
                  <a:schemeClr val="tx2"/>
                </a:solidFill>
              </a:rPr>
              <a:t>SVG images</a:t>
            </a:r>
            <a:endParaRPr lang="en-US" sz="1100" dirty="0"/>
          </a:p>
        </p:txBody>
      </p:sp>
      <p:sp>
        <p:nvSpPr>
          <p:cNvPr id="30" name="Text 24"/>
          <p:cNvSpPr txBox="1"/>
          <p:nvPr/>
        </p:nvSpPr>
        <p:spPr>
          <a:xfrm>
            <a:off x="82296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Logo, dashboard banner, empty-state picture, category tiles, architecture diagram.</a:t>
            </a:r>
            <a:endParaRPr lang="en-US" sz="1400" dirty="0"/>
          </a:p>
        </p:txBody>
      </p:sp>
      <p:sp>
        <p:nvSpPr>
          <p:cNvPr id="31" name="README.md card"/>
          <p:cNvSpPr/>
          <p:nvPr/>
        </p:nvSpPr>
        <p:spPr>
          <a:xfrm>
            <a:off x="4297680" y="3840480"/>
            <a:ext cx="3520440" cy="2331720"/>
          </a:xfrm>
          <a:prstGeom prst="roundRect">
            <a:avLst>
              <a:gd name="adj" fmla="val 4706"/>
            </a:avLst>
          </a:prstGeom>
          <a:solidFill>
            <a:schemeClr val="bg2"/>
          </a:solidFill>
          <a:ln/>
        </p:spPr>
      </p:sp>
      <p:sp>
        <p:nvSpPr>
          <p:cNvPr id="32" name="README.md tile"/>
          <p:cNvSpPr/>
          <p:nvPr/>
        </p:nvSpPr>
        <p:spPr>
          <a:xfrm>
            <a:off x="4572000" y="4114800"/>
            <a:ext cx="640080" cy="640080"/>
          </a:xfrm>
          <a:prstGeom prst="roundRect">
            <a:avLst>
              <a:gd name="adj" fmla="val 24000"/>
            </a:avLst>
          </a:prstGeom>
          <a:solidFill>
            <a:schemeClr val="accent6">
              <a:alpha val="14000"/>
            </a:schemeClr>
          </a:solidFill>
          <a:ln/>
        </p:spPr>
      </p:sp>
      <p:pic>
        <p:nvPicPr>
          <p:cNvPr id="33" name="README.md icon" descr="preencoded.png">    </p:cNvPr>
          <p:cNvPicPr>
            <a:picLocks noChangeAspect="1"/>
          </p:cNvPicPr>
          <p:nvPr/>
        </p:nvPicPr>
        <p:blipFill>
          <a:blip r:embed="rId5"/>
          <a:stretch>
            <a:fillRect/>
          </a:stretch>
        </p:blipFill>
        <p:spPr>
          <a:xfrm>
            <a:off x="4712818" y="4255618"/>
            <a:ext cx="358445" cy="358445"/>
          </a:xfrm>
          <a:prstGeom prst="rect">
            <a:avLst/>
          </a:prstGeom>
        </p:spPr>
      </p:pic>
      <p:sp>
        <p:nvSpPr>
          <p:cNvPr id="34" name="Text 27"/>
          <p:cNvSpPr txBox="1"/>
          <p:nvPr/>
        </p:nvSpPr>
        <p:spPr>
          <a:xfrm>
            <a:off x="539496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README.md</a:t>
            </a:r>
            <a:endParaRPr lang="en-US" sz="1400" dirty="0"/>
          </a:p>
        </p:txBody>
      </p:sp>
      <p:sp>
        <p:nvSpPr>
          <p:cNvPr id="35" name="README.md tech tag"/>
          <p:cNvSpPr/>
          <p:nvPr/>
        </p:nvSpPr>
        <p:spPr>
          <a:xfrm>
            <a:off x="5394960" y="4480560"/>
            <a:ext cx="844906" cy="292608"/>
          </a:xfrm>
          <a:prstGeom prst="roundRect">
            <a:avLst>
              <a:gd name="adj" fmla="val 50000"/>
            </a:avLst>
          </a:prstGeom>
          <a:solidFill>
            <a:schemeClr val="accent6">
              <a:alpha val="18000"/>
            </a:schemeClr>
          </a:solidFill>
          <a:ln/>
        </p:spPr>
      </p:sp>
      <p:sp>
        <p:nvSpPr>
          <p:cNvPr id="36" name="Text 29"/>
          <p:cNvSpPr txBox="1"/>
          <p:nvPr/>
        </p:nvSpPr>
        <p:spPr>
          <a:xfrm>
            <a:off x="5394960" y="4480560"/>
            <a:ext cx="844906" cy="292608"/>
          </a:xfrm>
          <a:prstGeom prst="rect">
            <a:avLst/>
          </a:prstGeom>
          <a:noFill/>
          <a:ln/>
        </p:spPr>
        <p:txBody>
          <a:bodyPr wrap="square" lIns="0" tIns="0" rIns="0" bIns="0" rtlCol="0" anchor="ctr"/>
          <a:lstStyle/>
          <a:p>
            <a:pPr algn="ctr" indent="0" marL="0">
              <a:buNone/>
            </a:pPr>
            <a:r>
              <a:rPr lang="en-US" sz="1100" b="1" dirty="0">
                <a:solidFill>
                  <a:schemeClr val="tx2"/>
                </a:solidFill>
              </a:rPr>
              <a:t>Markdown</a:t>
            </a:r>
            <a:endParaRPr lang="en-US" sz="1100" dirty="0"/>
          </a:p>
        </p:txBody>
      </p:sp>
      <p:sp>
        <p:nvSpPr>
          <p:cNvPr id="37" name="Text 30"/>
          <p:cNvSpPr txBox="1"/>
          <p:nvPr/>
        </p:nvSpPr>
        <p:spPr>
          <a:xfrm>
            <a:off x="457200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Setup on Windows and Linux, how to build, run and test, and the C function list.</a:t>
            </a:r>
            <a:endParaRPr lang="en-US" sz="1400" dirty="0"/>
          </a:p>
        </p:txBody>
      </p:sp>
      <p:sp>
        <p:nvSpPr>
          <p:cNvPr id="38" name="docs/ card"/>
          <p:cNvSpPr/>
          <p:nvPr/>
        </p:nvSpPr>
        <p:spPr>
          <a:xfrm>
            <a:off x="8046720" y="3840480"/>
            <a:ext cx="3520440" cy="2331720"/>
          </a:xfrm>
          <a:prstGeom prst="roundRect">
            <a:avLst>
              <a:gd name="adj" fmla="val 4706"/>
            </a:avLst>
          </a:prstGeom>
          <a:solidFill>
            <a:schemeClr val="bg2"/>
          </a:solidFill>
          <a:ln/>
        </p:spPr>
      </p:sp>
      <p:sp>
        <p:nvSpPr>
          <p:cNvPr id="39" name="docs/ tile"/>
          <p:cNvSpPr/>
          <p:nvPr/>
        </p:nvSpPr>
        <p:spPr>
          <a:xfrm>
            <a:off x="8321040" y="4114800"/>
            <a:ext cx="640080" cy="640080"/>
          </a:xfrm>
          <a:prstGeom prst="roundRect">
            <a:avLst>
              <a:gd name="adj" fmla="val 24000"/>
            </a:avLst>
          </a:prstGeom>
          <a:solidFill>
            <a:schemeClr val="accent5">
              <a:alpha val="14000"/>
            </a:schemeClr>
          </a:solidFill>
          <a:ln/>
        </p:spPr>
      </p:sp>
      <p:pic>
        <p:nvPicPr>
          <p:cNvPr id="40" name="docs/ icon" descr="preencoded.png">    </p:cNvPr>
          <p:cNvPicPr>
            <a:picLocks noChangeAspect="1"/>
          </p:cNvPicPr>
          <p:nvPr/>
        </p:nvPicPr>
        <p:blipFill>
          <a:blip r:embed="rId6"/>
          <a:stretch>
            <a:fillRect/>
          </a:stretch>
        </p:blipFill>
        <p:spPr>
          <a:xfrm>
            <a:off x="8461858" y="4255618"/>
            <a:ext cx="358445" cy="358445"/>
          </a:xfrm>
          <a:prstGeom prst="rect">
            <a:avLst/>
          </a:prstGeom>
        </p:spPr>
      </p:pic>
      <p:sp>
        <p:nvSpPr>
          <p:cNvPr id="41" name="Text 33"/>
          <p:cNvSpPr txBox="1"/>
          <p:nvPr/>
        </p:nvSpPr>
        <p:spPr>
          <a:xfrm>
            <a:off x="9144000" y="4114800"/>
            <a:ext cx="2286000" cy="31089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docs/</a:t>
            </a:r>
            <a:endParaRPr lang="en-US" sz="1400" dirty="0"/>
          </a:p>
        </p:txBody>
      </p:sp>
      <p:sp>
        <p:nvSpPr>
          <p:cNvPr id="42" name="docs/ tech tag"/>
          <p:cNvSpPr/>
          <p:nvPr/>
        </p:nvSpPr>
        <p:spPr>
          <a:xfrm>
            <a:off x="9144000" y="4480560"/>
            <a:ext cx="1772107" cy="292608"/>
          </a:xfrm>
          <a:prstGeom prst="roundRect">
            <a:avLst>
              <a:gd name="adj" fmla="val 50000"/>
            </a:avLst>
          </a:prstGeom>
          <a:solidFill>
            <a:schemeClr val="accent5">
              <a:alpha val="18000"/>
            </a:schemeClr>
          </a:solidFill>
          <a:ln/>
        </p:spPr>
      </p:sp>
      <p:sp>
        <p:nvSpPr>
          <p:cNvPr id="43" name="Text 35"/>
          <p:cNvSpPr txBox="1"/>
          <p:nvPr/>
        </p:nvSpPr>
        <p:spPr>
          <a:xfrm>
            <a:off x="9144000" y="4480560"/>
            <a:ext cx="1772107" cy="292608"/>
          </a:xfrm>
          <a:prstGeom prst="rect">
            <a:avLst/>
          </a:prstGeom>
          <a:noFill/>
          <a:ln/>
        </p:spPr>
        <p:txBody>
          <a:bodyPr wrap="square" lIns="0" tIns="0" rIns="0" bIns="0" rtlCol="0" anchor="ctr"/>
          <a:lstStyle/>
          <a:p>
            <a:pPr algn="ctr" indent="0" marL="0">
              <a:buNone/>
            </a:pPr>
            <a:r>
              <a:rPr lang="en-US" sz="1100" b="1" dirty="0">
                <a:solidFill>
                  <a:schemeClr val="tx2"/>
                </a:solidFill>
              </a:rPr>
              <a:t>Markdown · PowerPoint</a:t>
            </a:r>
            <a:endParaRPr lang="en-US" sz="1100" dirty="0"/>
          </a:p>
        </p:txBody>
      </p:sp>
      <p:sp>
        <p:nvSpPr>
          <p:cNvPr id="44" name="Text 36"/>
          <p:cNvSpPr txBox="1"/>
          <p:nvPr/>
        </p:nvSpPr>
        <p:spPr>
          <a:xfrm>
            <a:off x="8321040" y="4937760"/>
            <a:ext cx="3017520" cy="1143000"/>
          </a:xfrm>
          <a:prstGeom prst="rect">
            <a:avLst/>
          </a:prstGeom>
          <a:noFill/>
          <a:ln/>
        </p:spPr>
        <p:txBody>
          <a:bodyPr wrap="square" lIns="0" tIns="0" rIns="0" bIns="0" rtlCol="0" anchor="t"/>
          <a:lstStyle/>
          <a:p>
            <a:pPr indent="0" marL="0">
              <a:buNone/>
            </a:pPr>
            <a:r>
              <a:rPr lang="en-US" sz="1400" dirty="0">
                <a:solidFill>
                  <a:schemeClr val="tx1"/>
                </a:solidFill>
              </a:rPr>
              <a:t>ALGORITHMS.md (pseudocode), REPORT_AND_VIVA.md (30 viva answers) and this deck.</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Tests: proof that each part works</a:t>
            </a:r>
            <a:endParaRPr lang="en-US" sz="3600" dirty="0"/>
          </a:p>
        </p:txBody>
      </p:sp>
      <p:sp>
        <p:nvSpPr>
          <p:cNvPr id="3" name="C checks card"/>
          <p:cNvSpPr/>
          <p:nvPr/>
        </p:nvSpPr>
        <p:spPr>
          <a:xfrm>
            <a:off x="548640" y="1417320"/>
            <a:ext cx="2606040" cy="2011680"/>
          </a:xfrm>
          <a:prstGeom prst="roundRect">
            <a:avLst>
              <a:gd name="adj" fmla="val 5455"/>
            </a:avLst>
          </a:prstGeom>
          <a:solidFill>
            <a:schemeClr val="bg2"/>
          </a:solidFill>
          <a:ln/>
        </p:spPr>
      </p:sp>
      <p:sp>
        <p:nvSpPr>
          <p:cNvPr id="4" name="Text 2"/>
          <p:cNvSpPr txBox="1"/>
          <p:nvPr/>
        </p:nvSpPr>
        <p:spPr>
          <a:xfrm>
            <a:off x="822960" y="1554480"/>
            <a:ext cx="2103120" cy="868680"/>
          </a:xfrm>
          <a:prstGeom prst="rect">
            <a:avLst/>
          </a:prstGeom>
          <a:noFill/>
          <a:ln/>
        </p:spPr>
        <p:txBody>
          <a:bodyPr wrap="square" lIns="0" tIns="0" rIns="0" bIns="0" rtlCol="0" anchor="t"/>
          <a:lstStyle/>
          <a:p>
            <a:pPr indent="0" marL="0">
              <a:buNone/>
            </a:pPr>
            <a:r>
              <a:rPr lang="en-US" sz="5600" b="1" dirty="0">
                <a:solidFill>
                  <a:schemeClr val="accent1"/>
                </a:solidFill>
              </a:rPr>
              <a:t>283</a:t>
            </a:r>
            <a:endParaRPr lang="en-US" sz="5600" dirty="0"/>
          </a:p>
        </p:txBody>
      </p:sp>
      <p:sp>
        <p:nvSpPr>
          <p:cNvPr id="5" name="Text 3"/>
          <p:cNvSpPr txBox="1"/>
          <p:nvPr/>
        </p:nvSpPr>
        <p:spPr>
          <a:xfrm>
            <a:off x="822960" y="2450592"/>
            <a:ext cx="2103120" cy="365760"/>
          </a:xfrm>
          <a:prstGeom prst="rect">
            <a:avLst/>
          </a:prstGeom>
          <a:noFill/>
          <a:ln/>
        </p:spPr>
        <p:txBody>
          <a:bodyPr wrap="square" lIns="0" tIns="0" rIns="0" bIns="0" rtlCol="0" anchor="t"/>
          <a:lstStyle/>
          <a:p>
            <a:pPr indent="0" marL="0">
              <a:buNone/>
            </a:pPr>
            <a:r>
              <a:rPr lang="en-US" sz="1800" b="1" dirty="0">
                <a:solidFill>
                  <a:schemeClr val="tx2"/>
                </a:solidFill>
              </a:rPr>
              <a:t>C checks</a:t>
            </a:r>
            <a:endParaRPr lang="en-US" sz="1800" dirty="0"/>
          </a:p>
        </p:txBody>
      </p:sp>
      <p:sp>
        <p:nvSpPr>
          <p:cNvPr id="6" name="Text 4"/>
          <p:cNvSpPr txBox="1"/>
          <p:nvPr/>
        </p:nvSpPr>
        <p:spPr>
          <a:xfrm>
            <a:off x="822960" y="2834640"/>
            <a:ext cx="2194560" cy="502920"/>
          </a:xfrm>
          <a:prstGeom prst="rect">
            <a:avLst/>
          </a:prstGeom>
          <a:noFill/>
          <a:ln/>
        </p:spPr>
        <p:txBody>
          <a:bodyPr wrap="square" lIns="0" tIns="0" rIns="0" bIns="0" rtlCol="0" anchor="t"/>
          <a:lstStyle/>
          <a:p>
            <a:pPr indent="0" marL="0">
              <a:buNone/>
            </a:pPr>
            <a:r>
              <a:rPr lang="en-US" sz="1200" dirty="0">
                <a:solidFill>
                  <a:schemeClr val="tx2"/>
                </a:solidFill>
              </a:rPr>
              <a:t>backend/tests/test_engine.c</a:t>
            </a:r>
            <a:endParaRPr lang="en-US" sz="1200" dirty="0"/>
          </a:p>
        </p:txBody>
      </p:sp>
      <p:sp>
        <p:nvSpPr>
          <p:cNvPr id="7" name="Python tests card"/>
          <p:cNvSpPr/>
          <p:nvPr/>
        </p:nvSpPr>
        <p:spPr>
          <a:xfrm>
            <a:off x="3364992" y="1417320"/>
            <a:ext cx="2606040" cy="2011680"/>
          </a:xfrm>
          <a:prstGeom prst="roundRect">
            <a:avLst>
              <a:gd name="adj" fmla="val 5455"/>
            </a:avLst>
          </a:prstGeom>
          <a:solidFill>
            <a:schemeClr val="bg2"/>
          </a:solidFill>
          <a:ln/>
        </p:spPr>
      </p:sp>
      <p:sp>
        <p:nvSpPr>
          <p:cNvPr id="8" name="Text 6"/>
          <p:cNvSpPr txBox="1"/>
          <p:nvPr/>
        </p:nvSpPr>
        <p:spPr>
          <a:xfrm>
            <a:off x="3639312" y="1554480"/>
            <a:ext cx="2103120" cy="868680"/>
          </a:xfrm>
          <a:prstGeom prst="rect">
            <a:avLst/>
          </a:prstGeom>
          <a:noFill/>
          <a:ln/>
        </p:spPr>
        <p:txBody>
          <a:bodyPr wrap="square" lIns="0" tIns="0" rIns="0" bIns="0" rtlCol="0" anchor="t"/>
          <a:lstStyle/>
          <a:p>
            <a:pPr indent="0" marL="0">
              <a:buNone/>
            </a:pPr>
            <a:r>
              <a:rPr lang="en-US" sz="5600" b="1" dirty="0">
                <a:solidFill>
                  <a:schemeClr val="accent1"/>
                </a:solidFill>
              </a:rPr>
              <a:t>36</a:t>
            </a:r>
            <a:endParaRPr lang="en-US" sz="5600" dirty="0"/>
          </a:p>
        </p:txBody>
      </p:sp>
      <p:sp>
        <p:nvSpPr>
          <p:cNvPr id="9" name="Text 7"/>
          <p:cNvSpPr txBox="1"/>
          <p:nvPr/>
        </p:nvSpPr>
        <p:spPr>
          <a:xfrm>
            <a:off x="3639312" y="2450592"/>
            <a:ext cx="2103120" cy="365760"/>
          </a:xfrm>
          <a:prstGeom prst="rect">
            <a:avLst/>
          </a:prstGeom>
          <a:noFill/>
          <a:ln/>
        </p:spPr>
        <p:txBody>
          <a:bodyPr wrap="square" lIns="0" tIns="0" rIns="0" bIns="0" rtlCol="0" anchor="t"/>
          <a:lstStyle/>
          <a:p>
            <a:pPr indent="0" marL="0">
              <a:buNone/>
            </a:pPr>
            <a:r>
              <a:rPr lang="en-US" sz="1800" b="1" dirty="0">
                <a:solidFill>
                  <a:schemeClr val="tx2"/>
                </a:solidFill>
              </a:rPr>
              <a:t>Python tests</a:t>
            </a:r>
            <a:endParaRPr lang="en-US" sz="1800" dirty="0"/>
          </a:p>
        </p:txBody>
      </p:sp>
      <p:sp>
        <p:nvSpPr>
          <p:cNvPr id="10" name="Text 8"/>
          <p:cNvSpPr txBox="1"/>
          <p:nvPr/>
        </p:nvSpPr>
        <p:spPr>
          <a:xfrm>
            <a:off x="3639312" y="2834640"/>
            <a:ext cx="2194560" cy="502920"/>
          </a:xfrm>
          <a:prstGeom prst="rect">
            <a:avLst/>
          </a:prstGeom>
          <a:noFill/>
          <a:ln/>
        </p:spPr>
        <p:txBody>
          <a:bodyPr wrap="square" lIns="0" tIns="0" rIns="0" bIns="0" rtlCol="0" anchor="t"/>
          <a:lstStyle/>
          <a:p>
            <a:pPr indent="0" marL="0">
              <a:buNone/>
            </a:pPr>
            <a:r>
              <a:rPr lang="en-US" sz="1200" dirty="0">
                <a:solidFill>
                  <a:schemeClr val="tx2"/>
                </a:solidFill>
              </a:rPr>
              <a:t>tests/test_c_bridge.py, test_database.py</a:t>
            </a:r>
            <a:endParaRPr lang="en-US" sz="1200" dirty="0"/>
          </a:p>
        </p:txBody>
      </p:sp>
      <p:sp>
        <p:nvSpPr>
          <p:cNvPr id="11" name="memory errors card"/>
          <p:cNvSpPr/>
          <p:nvPr/>
        </p:nvSpPr>
        <p:spPr>
          <a:xfrm>
            <a:off x="6181344" y="1417320"/>
            <a:ext cx="2606040" cy="2011680"/>
          </a:xfrm>
          <a:prstGeom prst="roundRect">
            <a:avLst>
              <a:gd name="adj" fmla="val 5455"/>
            </a:avLst>
          </a:prstGeom>
          <a:solidFill>
            <a:schemeClr val="bg2"/>
          </a:solidFill>
          <a:ln/>
        </p:spPr>
      </p:sp>
      <p:sp>
        <p:nvSpPr>
          <p:cNvPr id="12" name="Text 10"/>
          <p:cNvSpPr txBox="1"/>
          <p:nvPr/>
        </p:nvSpPr>
        <p:spPr>
          <a:xfrm>
            <a:off x="6455664" y="1554480"/>
            <a:ext cx="2103120" cy="868680"/>
          </a:xfrm>
          <a:prstGeom prst="rect">
            <a:avLst/>
          </a:prstGeom>
          <a:noFill/>
          <a:ln/>
        </p:spPr>
        <p:txBody>
          <a:bodyPr wrap="square" lIns="0" tIns="0" rIns="0" bIns="0" rtlCol="0" anchor="t"/>
          <a:lstStyle/>
          <a:p>
            <a:pPr indent="0" marL="0">
              <a:buNone/>
            </a:pPr>
            <a:r>
              <a:rPr lang="en-US" sz="5600" b="1" dirty="0">
                <a:solidFill>
                  <a:schemeClr val="accent1"/>
                </a:solidFill>
              </a:rPr>
              <a:t>0</a:t>
            </a:r>
            <a:endParaRPr lang="en-US" sz="5600" dirty="0"/>
          </a:p>
        </p:txBody>
      </p:sp>
      <p:sp>
        <p:nvSpPr>
          <p:cNvPr id="13" name="Text 11"/>
          <p:cNvSpPr txBox="1"/>
          <p:nvPr/>
        </p:nvSpPr>
        <p:spPr>
          <a:xfrm>
            <a:off x="6455664" y="2450592"/>
            <a:ext cx="2103120" cy="365760"/>
          </a:xfrm>
          <a:prstGeom prst="rect">
            <a:avLst/>
          </a:prstGeom>
          <a:noFill/>
          <a:ln/>
        </p:spPr>
        <p:txBody>
          <a:bodyPr wrap="square" lIns="0" tIns="0" rIns="0" bIns="0" rtlCol="0" anchor="t"/>
          <a:lstStyle/>
          <a:p>
            <a:pPr indent="0" marL="0">
              <a:buNone/>
            </a:pPr>
            <a:r>
              <a:rPr lang="en-US" sz="1800" b="1" dirty="0">
                <a:solidFill>
                  <a:schemeClr val="tx2"/>
                </a:solidFill>
              </a:rPr>
              <a:t>memory errors</a:t>
            </a:r>
            <a:endParaRPr lang="en-US" sz="1800" dirty="0"/>
          </a:p>
        </p:txBody>
      </p:sp>
      <p:sp>
        <p:nvSpPr>
          <p:cNvPr id="14" name="Text 12"/>
          <p:cNvSpPr txBox="1"/>
          <p:nvPr/>
        </p:nvSpPr>
        <p:spPr>
          <a:xfrm>
            <a:off x="6455664" y="2834640"/>
            <a:ext cx="2194560" cy="502920"/>
          </a:xfrm>
          <a:prstGeom prst="rect">
            <a:avLst/>
          </a:prstGeom>
          <a:noFill/>
          <a:ln/>
        </p:spPr>
        <p:txBody>
          <a:bodyPr wrap="square" lIns="0" tIns="0" rIns="0" bIns="0" rtlCol="0" anchor="t"/>
          <a:lstStyle/>
          <a:p>
            <a:pPr indent="0" marL="0">
              <a:buNone/>
            </a:pPr>
            <a:r>
              <a:rPr lang="en-US" sz="1200" dirty="0">
                <a:solidFill>
                  <a:schemeClr val="tx2"/>
                </a:solidFill>
              </a:rPr>
              <a:t>C tests under AddressSanitizer</a:t>
            </a:r>
            <a:endParaRPr lang="en-US" sz="1200" dirty="0"/>
          </a:p>
        </p:txBody>
      </p:sp>
      <p:sp>
        <p:nvSpPr>
          <p:cNvPr id="15" name="live edge cases card"/>
          <p:cNvSpPr/>
          <p:nvPr/>
        </p:nvSpPr>
        <p:spPr>
          <a:xfrm>
            <a:off x="8997696" y="1417320"/>
            <a:ext cx="2606040" cy="2011680"/>
          </a:xfrm>
          <a:prstGeom prst="roundRect">
            <a:avLst>
              <a:gd name="adj" fmla="val 5455"/>
            </a:avLst>
          </a:prstGeom>
          <a:solidFill>
            <a:schemeClr val="bg2"/>
          </a:solidFill>
          <a:ln/>
        </p:spPr>
      </p:sp>
      <p:sp>
        <p:nvSpPr>
          <p:cNvPr id="16" name="Text 14"/>
          <p:cNvSpPr txBox="1"/>
          <p:nvPr/>
        </p:nvSpPr>
        <p:spPr>
          <a:xfrm>
            <a:off x="9272016" y="1554480"/>
            <a:ext cx="2103120" cy="868680"/>
          </a:xfrm>
          <a:prstGeom prst="rect">
            <a:avLst/>
          </a:prstGeom>
          <a:noFill/>
          <a:ln/>
        </p:spPr>
        <p:txBody>
          <a:bodyPr wrap="square" lIns="0" tIns="0" rIns="0" bIns="0" rtlCol="0" anchor="t"/>
          <a:lstStyle/>
          <a:p>
            <a:pPr indent="0" marL="0">
              <a:buNone/>
            </a:pPr>
            <a:r>
              <a:rPr lang="en-US" sz="5600" b="1" dirty="0">
                <a:solidFill>
                  <a:schemeClr val="accent1"/>
                </a:solidFill>
              </a:rPr>
              <a:t>19</a:t>
            </a:r>
            <a:endParaRPr lang="en-US" sz="5600" dirty="0"/>
          </a:p>
        </p:txBody>
      </p:sp>
      <p:sp>
        <p:nvSpPr>
          <p:cNvPr id="17" name="Text 15"/>
          <p:cNvSpPr txBox="1"/>
          <p:nvPr/>
        </p:nvSpPr>
        <p:spPr>
          <a:xfrm>
            <a:off x="9272016" y="2450592"/>
            <a:ext cx="2103120" cy="365760"/>
          </a:xfrm>
          <a:prstGeom prst="rect">
            <a:avLst/>
          </a:prstGeom>
          <a:noFill/>
          <a:ln/>
        </p:spPr>
        <p:txBody>
          <a:bodyPr wrap="square" lIns="0" tIns="0" rIns="0" bIns="0" rtlCol="0" anchor="t"/>
          <a:lstStyle/>
          <a:p>
            <a:pPr indent="0" marL="0">
              <a:buNone/>
            </a:pPr>
            <a:r>
              <a:rPr lang="en-US" sz="1800" b="1" dirty="0">
                <a:solidFill>
                  <a:schemeClr val="tx2"/>
                </a:solidFill>
              </a:rPr>
              <a:t>live edge cases</a:t>
            </a:r>
            <a:endParaRPr lang="en-US" sz="1800" dirty="0"/>
          </a:p>
        </p:txBody>
      </p:sp>
      <p:sp>
        <p:nvSpPr>
          <p:cNvPr id="18" name="Text 16"/>
          <p:cNvSpPr txBox="1"/>
          <p:nvPr/>
        </p:nvSpPr>
        <p:spPr>
          <a:xfrm>
            <a:off x="9272016" y="2834640"/>
            <a:ext cx="2194560" cy="502920"/>
          </a:xfrm>
          <a:prstGeom prst="rect">
            <a:avLst/>
          </a:prstGeom>
          <a:noFill/>
          <a:ln/>
        </p:spPr>
        <p:txBody>
          <a:bodyPr wrap="square" lIns="0" tIns="0" rIns="0" bIns="0" rtlCol="0" anchor="t"/>
          <a:lstStyle/>
          <a:p>
            <a:pPr indent="0" marL="0">
              <a:buNone/>
            </a:pPr>
            <a:r>
              <a:rPr lang="en-US" sz="1200" dirty="0">
                <a:solidFill>
                  <a:schemeClr val="tx2"/>
                </a:solidFill>
              </a:rPr>
              <a:t>DSA laboratory, Edge cases tab</a:t>
            </a:r>
            <a:endParaRPr lang="en-US" sz="1200" dirty="0"/>
          </a:p>
        </p:txBody>
      </p:sp>
      <p:sp>
        <p:nvSpPr>
          <p:cNvPr id="19" name="backend/tests/test_engine.c card"/>
          <p:cNvSpPr/>
          <p:nvPr/>
        </p:nvSpPr>
        <p:spPr>
          <a:xfrm>
            <a:off x="548640" y="3703320"/>
            <a:ext cx="5440680" cy="2377440"/>
          </a:xfrm>
          <a:prstGeom prst="roundRect">
            <a:avLst>
              <a:gd name="adj" fmla="val 4615"/>
            </a:avLst>
          </a:prstGeom>
          <a:solidFill>
            <a:schemeClr val="bg2"/>
          </a:solidFill>
          <a:ln/>
        </p:spPr>
      </p:sp>
      <p:sp>
        <p:nvSpPr>
          <p:cNvPr id="20" name="backend/tests/test_engine.c tile"/>
          <p:cNvSpPr/>
          <p:nvPr/>
        </p:nvSpPr>
        <p:spPr>
          <a:xfrm>
            <a:off x="822960" y="3977640"/>
            <a:ext cx="640080" cy="640080"/>
          </a:xfrm>
          <a:prstGeom prst="roundRect">
            <a:avLst>
              <a:gd name="adj" fmla="val 24000"/>
            </a:avLst>
          </a:prstGeom>
          <a:solidFill>
            <a:schemeClr val="accent4">
              <a:alpha val="14000"/>
            </a:schemeClr>
          </a:solidFill>
          <a:ln/>
        </p:spPr>
      </p:sp>
      <p:pic>
        <p:nvPicPr>
          <p:cNvPr id="21" name="backend/tests/test_engine.c icon" descr="preencoded.png">    </p:cNvPr>
          <p:cNvPicPr>
            <a:picLocks noChangeAspect="1"/>
          </p:cNvPicPr>
          <p:nvPr/>
        </p:nvPicPr>
        <p:blipFill>
          <a:blip r:embed="rId1"/>
          <a:stretch>
            <a:fillRect/>
          </a:stretch>
        </p:blipFill>
        <p:spPr>
          <a:xfrm>
            <a:off x="963778" y="4118458"/>
            <a:ext cx="358445" cy="358445"/>
          </a:xfrm>
          <a:prstGeom prst="rect">
            <a:avLst/>
          </a:prstGeom>
        </p:spPr>
      </p:pic>
      <p:sp>
        <p:nvSpPr>
          <p:cNvPr id="22" name="Text 19"/>
          <p:cNvSpPr txBox="1"/>
          <p:nvPr/>
        </p:nvSpPr>
        <p:spPr>
          <a:xfrm>
            <a:off x="1645920" y="4069080"/>
            <a:ext cx="4114800" cy="45720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backend/tests/test_engine.c</a:t>
            </a:r>
            <a:endParaRPr lang="en-US" sz="1300" dirty="0"/>
          </a:p>
        </p:txBody>
      </p:sp>
      <p:sp>
        <p:nvSpPr>
          <p:cNvPr id="23" name="Text 20"/>
          <p:cNvSpPr txBox="1"/>
          <p:nvPr/>
        </p:nvSpPr>
        <p:spPr>
          <a:xfrm>
            <a:off x="822960" y="4800600"/>
            <a:ext cx="4892040" cy="1188720"/>
          </a:xfrm>
          <a:prstGeom prst="rect">
            <a:avLst/>
          </a:prstGeom>
          <a:noFill/>
          <a:ln/>
        </p:spPr>
        <p:txBody>
          <a:bodyPr wrap="square" lIns="0" tIns="0" rIns="0" bIns="0" rtlCol="0" anchor="t"/>
          <a:lstStyle/>
          <a:p>
            <a:pPr indent="0" marL="0">
              <a:buNone/>
            </a:pPr>
            <a:r>
              <a:rPr lang="en-US" sz="1400" dirty="0">
                <a:solidFill>
                  <a:schemeClr val="tx1"/>
                </a:solidFill>
              </a:rPr>
              <a:t>Calls the C functions directly: searches with missing IDs, hash collisions, all four sorts, heap order, AVL balance after 1,000 sorted inserts, trie prefixes, knapsack, Dijkstra, FIFO queue</a:t>
            </a:r>
            <a:endParaRPr lang="en-US" sz="1400" dirty="0"/>
          </a:p>
        </p:txBody>
      </p:sp>
      <p:sp>
        <p:nvSpPr>
          <p:cNvPr id="24" name="tests/test_c_bridge.py, test_database.py card"/>
          <p:cNvSpPr/>
          <p:nvPr/>
        </p:nvSpPr>
        <p:spPr>
          <a:xfrm>
            <a:off x="6172200" y="3703320"/>
            <a:ext cx="5440680" cy="2377440"/>
          </a:xfrm>
          <a:prstGeom prst="roundRect">
            <a:avLst>
              <a:gd name="adj" fmla="val 4615"/>
            </a:avLst>
          </a:prstGeom>
          <a:solidFill>
            <a:schemeClr val="bg2"/>
          </a:solidFill>
          <a:ln/>
        </p:spPr>
      </p:sp>
      <p:sp>
        <p:nvSpPr>
          <p:cNvPr id="25" name="tests/test_c_bridge.py, test_database.py tile"/>
          <p:cNvSpPr/>
          <p:nvPr/>
        </p:nvSpPr>
        <p:spPr>
          <a:xfrm>
            <a:off x="6446520" y="3977640"/>
            <a:ext cx="640080" cy="640080"/>
          </a:xfrm>
          <a:prstGeom prst="roundRect">
            <a:avLst>
              <a:gd name="adj" fmla="val 24000"/>
            </a:avLst>
          </a:prstGeom>
          <a:solidFill>
            <a:schemeClr val="accent1">
              <a:alpha val="14000"/>
            </a:schemeClr>
          </a:solidFill>
          <a:ln/>
        </p:spPr>
      </p:sp>
      <p:pic>
        <p:nvPicPr>
          <p:cNvPr id="26" name="tests/test_c_bridge.py, test_database.py icon" descr="preencoded.png">    </p:cNvPr>
          <p:cNvPicPr>
            <a:picLocks noChangeAspect="1"/>
          </p:cNvPicPr>
          <p:nvPr/>
        </p:nvPicPr>
        <p:blipFill>
          <a:blip r:embed="rId2"/>
          <a:stretch>
            <a:fillRect/>
          </a:stretch>
        </p:blipFill>
        <p:spPr>
          <a:xfrm>
            <a:off x="6587338" y="4118458"/>
            <a:ext cx="358445" cy="358445"/>
          </a:xfrm>
          <a:prstGeom prst="rect">
            <a:avLst/>
          </a:prstGeom>
        </p:spPr>
      </p:pic>
      <p:sp>
        <p:nvSpPr>
          <p:cNvPr id="27" name="Text 23"/>
          <p:cNvSpPr txBox="1"/>
          <p:nvPr/>
        </p:nvSpPr>
        <p:spPr>
          <a:xfrm>
            <a:off x="7269480" y="4069080"/>
            <a:ext cx="4114800" cy="45720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tests/test_c_bridge.py, test_database.py</a:t>
            </a:r>
            <a:endParaRPr lang="en-US" sz="1300" dirty="0"/>
          </a:p>
        </p:txBody>
      </p:sp>
      <p:sp>
        <p:nvSpPr>
          <p:cNvPr id="28" name="Text 24"/>
          <p:cNvSpPr txBox="1"/>
          <p:nvPr/>
        </p:nvSpPr>
        <p:spPr>
          <a:xfrm>
            <a:off x="6446520" y="4800600"/>
            <a:ext cx="4892040" cy="1188720"/>
          </a:xfrm>
          <a:prstGeom prst="rect">
            <a:avLst/>
          </a:prstGeom>
          <a:noFill/>
          <a:ln/>
        </p:spPr>
        <p:txBody>
          <a:bodyPr wrap="square" lIns="0" tIns="0" rIns="0" bIns="0" rtlCol="0" anchor="t"/>
          <a:lstStyle/>
          <a:p>
            <a:pPr indent="0" marL="0">
              <a:buNone/>
            </a:pPr>
            <a:r>
              <a:rPr lang="en-US" sz="1400" dirty="0">
                <a:solidFill>
                  <a:schemeClr val="tx1"/>
                </a:solidFill>
              </a:rPr>
              <a:t>Checks the Python side: C sorts against Python's sorted(), knapsack against brute force, invalid prices, insufficient stock, saving to SQLite, seeded history</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How to run it in three steps</a:t>
            </a:r>
            <a:endParaRPr lang="en-US" sz="3600" dirty="0"/>
          </a:p>
        </p:txBody>
      </p:sp>
      <p:sp>
        <p:nvSpPr>
          <p:cNvPr id="3" name="run 1 tile"/>
          <p:cNvSpPr/>
          <p:nvPr/>
        </p:nvSpPr>
        <p:spPr>
          <a:xfrm>
            <a:off x="548640" y="1463040"/>
            <a:ext cx="822960" cy="822960"/>
          </a:xfrm>
          <a:prstGeom prst="roundRect">
            <a:avLst>
              <a:gd name="adj" fmla="val 24000"/>
            </a:avLst>
          </a:prstGeom>
          <a:solidFill>
            <a:schemeClr val="accent1">
              <a:alpha val="14000"/>
            </a:schemeClr>
          </a:solidFill>
          <a:ln/>
        </p:spPr>
      </p:sp>
      <p:pic>
        <p:nvPicPr>
          <p:cNvPr id="4" name="run 1 icon" descr="preencoded.png">    </p:cNvPr>
          <p:cNvPicPr>
            <a:picLocks noChangeAspect="1"/>
          </p:cNvPicPr>
          <p:nvPr/>
        </p:nvPicPr>
        <p:blipFill>
          <a:blip r:embed="rId1"/>
          <a:stretch>
            <a:fillRect/>
          </a:stretch>
        </p:blipFill>
        <p:spPr>
          <a:xfrm>
            <a:off x="729691" y="1644091"/>
            <a:ext cx="460858" cy="460858"/>
          </a:xfrm>
          <a:prstGeom prst="rect">
            <a:avLst/>
          </a:prstGeom>
        </p:spPr>
      </p:pic>
      <p:sp>
        <p:nvSpPr>
          <p:cNvPr id="5" name="Text 2"/>
          <p:cNvSpPr txBox="1"/>
          <p:nvPr/>
        </p:nvSpPr>
        <p:spPr>
          <a:xfrm>
            <a:off x="1645920" y="1463040"/>
            <a:ext cx="5486400" cy="384048"/>
          </a:xfrm>
          <a:prstGeom prst="rect">
            <a:avLst/>
          </a:prstGeom>
          <a:noFill/>
          <a:ln/>
        </p:spPr>
        <p:txBody>
          <a:bodyPr wrap="square" lIns="0" tIns="0" rIns="0" bIns="0" rtlCol="0" anchor="t"/>
          <a:lstStyle/>
          <a:p>
            <a:pPr indent="0" marL="0">
              <a:buNone/>
            </a:pPr>
            <a:r>
              <a:rPr lang="en-US" sz="2000" b="1" dirty="0">
                <a:solidFill>
                  <a:schemeClr val="tx2"/>
                </a:solidFill>
              </a:rPr>
              <a:t>1.  Install the Python packages</a:t>
            </a:r>
            <a:endParaRPr lang="en-US" sz="2000" dirty="0"/>
          </a:p>
        </p:txBody>
      </p:sp>
      <p:sp>
        <p:nvSpPr>
          <p:cNvPr id="6" name="cmd 1"/>
          <p:cNvSpPr/>
          <p:nvPr/>
        </p:nvSpPr>
        <p:spPr>
          <a:xfrm>
            <a:off x="1645920" y="1938528"/>
            <a:ext cx="6035040" cy="457200"/>
          </a:xfrm>
          <a:prstGeom prst="roundRect">
            <a:avLst>
              <a:gd name="adj" fmla="val 16000"/>
            </a:avLst>
          </a:prstGeom>
          <a:solidFill>
            <a:schemeClr val="tx2"/>
          </a:solidFill>
          <a:ln/>
        </p:spPr>
      </p:sp>
      <p:sp>
        <p:nvSpPr>
          <p:cNvPr id="7" name="Text 4"/>
          <p:cNvSpPr txBox="1"/>
          <p:nvPr/>
        </p:nvSpPr>
        <p:spPr>
          <a:xfrm>
            <a:off x="1828800" y="1938528"/>
            <a:ext cx="5760720" cy="4572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pip install -r requirements.txt</a:t>
            </a:r>
            <a:endParaRPr lang="en-US" sz="1500" dirty="0"/>
          </a:p>
        </p:txBody>
      </p:sp>
      <p:sp>
        <p:nvSpPr>
          <p:cNvPr id="8" name="run 2 tile"/>
          <p:cNvSpPr/>
          <p:nvPr/>
        </p:nvSpPr>
        <p:spPr>
          <a:xfrm>
            <a:off x="548640" y="2926080"/>
            <a:ext cx="822960" cy="822960"/>
          </a:xfrm>
          <a:prstGeom prst="roundRect">
            <a:avLst>
              <a:gd name="adj" fmla="val 24000"/>
            </a:avLst>
          </a:prstGeom>
          <a:solidFill>
            <a:schemeClr val="accent1">
              <a:alpha val="14000"/>
            </a:schemeClr>
          </a:solidFill>
          <a:ln/>
        </p:spPr>
      </p:sp>
      <p:pic>
        <p:nvPicPr>
          <p:cNvPr id="9" name="run 2 icon" descr="preencoded.png">    </p:cNvPr>
          <p:cNvPicPr>
            <a:picLocks noChangeAspect="1"/>
          </p:cNvPicPr>
          <p:nvPr/>
        </p:nvPicPr>
        <p:blipFill>
          <a:blip r:embed="rId2"/>
          <a:stretch>
            <a:fillRect/>
          </a:stretch>
        </p:blipFill>
        <p:spPr>
          <a:xfrm>
            <a:off x="729691" y="3107131"/>
            <a:ext cx="460858" cy="460858"/>
          </a:xfrm>
          <a:prstGeom prst="rect">
            <a:avLst/>
          </a:prstGeom>
        </p:spPr>
      </p:pic>
      <p:sp>
        <p:nvSpPr>
          <p:cNvPr id="10" name="Text 6"/>
          <p:cNvSpPr txBox="1"/>
          <p:nvPr/>
        </p:nvSpPr>
        <p:spPr>
          <a:xfrm>
            <a:off x="1645920" y="2926080"/>
            <a:ext cx="5486400" cy="384048"/>
          </a:xfrm>
          <a:prstGeom prst="rect">
            <a:avLst/>
          </a:prstGeom>
          <a:noFill/>
          <a:ln/>
        </p:spPr>
        <p:txBody>
          <a:bodyPr wrap="square" lIns="0" tIns="0" rIns="0" bIns="0" rtlCol="0" anchor="t"/>
          <a:lstStyle/>
          <a:p>
            <a:pPr indent="0" marL="0">
              <a:buNone/>
            </a:pPr>
            <a:r>
              <a:rPr lang="en-US" sz="2000" b="1" dirty="0">
                <a:solidFill>
                  <a:schemeClr val="tx2"/>
                </a:solidFill>
              </a:rPr>
              <a:t>2.  Build the C library and test it</a:t>
            </a:r>
            <a:endParaRPr lang="en-US" sz="2000" dirty="0"/>
          </a:p>
        </p:txBody>
      </p:sp>
      <p:sp>
        <p:nvSpPr>
          <p:cNvPr id="11" name="cmd 2"/>
          <p:cNvSpPr/>
          <p:nvPr/>
        </p:nvSpPr>
        <p:spPr>
          <a:xfrm>
            <a:off x="1645920" y="3401568"/>
            <a:ext cx="6035040" cy="457200"/>
          </a:xfrm>
          <a:prstGeom prst="roundRect">
            <a:avLst>
              <a:gd name="adj" fmla="val 16000"/>
            </a:avLst>
          </a:prstGeom>
          <a:solidFill>
            <a:schemeClr val="tx2"/>
          </a:solidFill>
          <a:ln/>
        </p:spPr>
      </p:sp>
      <p:sp>
        <p:nvSpPr>
          <p:cNvPr id="12" name="Text 8"/>
          <p:cNvSpPr txBox="1"/>
          <p:nvPr/>
        </p:nvSpPr>
        <p:spPr>
          <a:xfrm>
            <a:off x="1828800" y="3401568"/>
            <a:ext cx="5760720" cy="4572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cd backend &amp;&amp; make &amp;&amp; make test</a:t>
            </a:r>
            <a:endParaRPr lang="en-US" sz="1500" dirty="0"/>
          </a:p>
        </p:txBody>
      </p:sp>
      <p:sp>
        <p:nvSpPr>
          <p:cNvPr id="13" name="run 3 tile"/>
          <p:cNvSpPr/>
          <p:nvPr/>
        </p:nvSpPr>
        <p:spPr>
          <a:xfrm>
            <a:off x="548640" y="4389120"/>
            <a:ext cx="822960" cy="822960"/>
          </a:xfrm>
          <a:prstGeom prst="roundRect">
            <a:avLst>
              <a:gd name="adj" fmla="val 24000"/>
            </a:avLst>
          </a:prstGeom>
          <a:solidFill>
            <a:schemeClr val="accent1">
              <a:alpha val="14000"/>
            </a:schemeClr>
          </a:solidFill>
          <a:ln/>
        </p:spPr>
      </p:sp>
      <p:pic>
        <p:nvPicPr>
          <p:cNvPr id="14" name="run 3 icon" descr="preencoded.png">    </p:cNvPr>
          <p:cNvPicPr>
            <a:picLocks noChangeAspect="1"/>
          </p:cNvPicPr>
          <p:nvPr/>
        </p:nvPicPr>
        <p:blipFill>
          <a:blip r:embed="rId3"/>
          <a:stretch>
            <a:fillRect/>
          </a:stretch>
        </p:blipFill>
        <p:spPr>
          <a:xfrm>
            <a:off x="729691" y="4570171"/>
            <a:ext cx="460858" cy="460858"/>
          </a:xfrm>
          <a:prstGeom prst="rect">
            <a:avLst/>
          </a:prstGeom>
        </p:spPr>
      </p:pic>
      <p:sp>
        <p:nvSpPr>
          <p:cNvPr id="15" name="Text 10"/>
          <p:cNvSpPr txBox="1"/>
          <p:nvPr/>
        </p:nvSpPr>
        <p:spPr>
          <a:xfrm>
            <a:off x="1645920" y="4389120"/>
            <a:ext cx="5486400" cy="384048"/>
          </a:xfrm>
          <a:prstGeom prst="rect">
            <a:avLst/>
          </a:prstGeom>
          <a:noFill/>
          <a:ln/>
        </p:spPr>
        <p:txBody>
          <a:bodyPr wrap="square" lIns="0" tIns="0" rIns="0" bIns="0" rtlCol="0" anchor="t"/>
          <a:lstStyle/>
          <a:p>
            <a:pPr indent="0" marL="0">
              <a:buNone/>
            </a:pPr>
            <a:r>
              <a:rPr lang="en-US" sz="2000" b="1" dirty="0">
                <a:solidFill>
                  <a:schemeClr val="tx2"/>
                </a:solidFill>
              </a:rPr>
              <a:t>3.  Start the app</a:t>
            </a:r>
            <a:endParaRPr lang="en-US" sz="2000" dirty="0"/>
          </a:p>
        </p:txBody>
      </p:sp>
      <p:sp>
        <p:nvSpPr>
          <p:cNvPr id="16" name="cmd 3"/>
          <p:cNvSpPr/>
          <p:nvPr/>
        </p:nvSpPr>
        <p:spPr>
          <a:xfrm>
            <a:off x="1645920" y="4864608"/>
            <a:ext cx="6035040" cy="457200"/>
          </a:xfrm>
          <a:prstGeom prst="roundRect">
            <a:avLst>
              <a:gd name="adj" fmla="val 16000"/>
            </a:avLst>
          </a:prstGeom>
          <a:solidFill>
            <a:schemeClr val="tx2"/>
          </a:solidFill>
          <a:ln/>
        </p:spPr>
      </p:sp>
      <p:sp>
        <p:nvSpPr>
          <p:cNvPr id="17" name="Text 12"/>
          <p:cNvSpPr txBox="1"/>
          <p:nvPr/>
        </p:nvSpPr>
        <p:spPr>
          <a:xfrm>
            <a:off x="1828800" y="4864608"/>
            <a:ext cx="5760720" cy="4572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streamlit run app.py</a:t>
            </a:r>
            <a:endParaRPr lang="en-US" sz="1500" dirty="0"/>
          </a:p>
        </p:txBody>
      </p:sp>
      <p:sp>
        <p:nvSpPr>
          <p:cNvPr id="18" name="windows note card"/>
          <p:cNvSpPr/>
          <p:nvPr/>
        </p:nvSpPr>
        <p:spPr>
          <a:xfrm>
            <a:off x="8229600" y="1463040"/>
            <a:ext cx="3383280" cy="4023360"/>
          </a:xfrm>
          <a:prstGeom prst="roundRect">
            <a:avLst>
              <a:gd name="adj" fmla="val 3243"/>
            </a:avLst>
          </a:prstGeom>
          <a:solidFill>
            <a:schemeClr val="bg2"/>
          </a:solidFill>
          <a:ln/>
        </p:spPr>
      </p:sp>
      <p:sp>
        <p:nvSpPr>
          <p:cNvPr id="19" name="windows tile"/>
          <p:cNvSpPr/>
          <p:nvPr/>
        </p:nvSpPr>
        <p:spPr>
          <a:xfrm>
            <a:off x="8503920" y="1737360"/>
            <a:ext cx="640080" cy="640080"/>
          </a:xfrm>
          <a:prstGeom prst="roundRect">
            <a:avLst>
              <a:gd name="adj" fmla="val 24000"/>
            </a:avLst>
          </a:prstGeom>
          <a:solidFill>
            <a:schemeClr val="accent2">
              <a:alpha val="14000"/>
            </a:schemeClr>
          </a:solidFill>
          <a:ln/>
        </p:spPr>
      </p:sp>
      <p:pic>
        <p:nvPicPr>
          <p:cNvPr id="20" name="windows icon" descr="preencoded.png">    </p:cNvPr>
          <p:cNvPicPr>
            <a:picLocks noChangeAspect="1"/>
          </p:cNvPicPr>
          <p:nvPr/>
        </p:nvPicPr>
        <p:blipFill>
          <a:blip r:embed="rId4"/>
          <a:stretch>
            <a:fillRect/>
          </a:stretch>
        </p:blipFill>
        <p:spPr>
          <a:xfrm>
            <a:off x="8644738" y="1878178"/>
            <a:ext cx="358445" cy="358445"/>
          </a:xfrm>
          <a:prstGeom prst="rect">
            <a:avLst/>
          </a:prstGeom>
        </p:spPr>
      </p:pic>
      <p:sp>
        <p:nvSpPr>
          <p:cNvPr id="21" name="Text 15"/>
          <p:cNvSpPr txBox="1"/>
          <p:nvPr/>
        </p:nvSpPr>
        <p:spPr>
          <a:xfrm>
            <a:off x="8503920" y="2560320"/>
            <a:ext cx="2834640" cy="384048"/>
          </a:xfrm>
          <a:prstGeom prst="rect">
            <a:avLst/>
          </a:prstGeom>
          <a:noFill/>
          <a:ln/>
        </p:spPr>
        <p:txBody>
          <a:bodyPr wrap="square" lIns="0" tIns="0" rIns="0" bIns="0" rtlCol="0" anchor="t"/>
          <a:lstStyle/>
          <a:p>
            <a:pPr indent="0" marL="0">
              <a:buNone/>
            </a:pPr>
            <a:r>
              <a:rPr lang="en-US" sz="1800" b="1" dirty="0">
                <a:solidFill>
                  <a:schemeClr val="tx2"/>
                </a:solidFill>
              </a:rPr>
              <a:t>On Windows</a:t>
            </a:r>
            <a:endParaRPr lang="en-US" sz="1800" dirty="0"/>
          </a:p>
        </p:txBody>
      </p:sp>
      <p:sp>
        <p:nvSpPr>
          <p:cNvPr id="22" name="Text 16"/>
          <p:cNvSpPr txBox="1"/>
          <p:nvPr/>
        </p:nvSpPr>
        <p:spPr>
          <a:xfrm>
            <a:off x="8503920" y="3017520"/>
            <a:ext cx="2834640" cy="2194560"/>
          </a:xfrm>
          <a:prstGeom prst="rect">
            <a:avLst/>
          </a:prstGeom>
          <a:noFill/>
          <a:ln/>
        </p:spPr>
        <p:txBody>
          <a:bodyPr wrap="square" lIns="0" tIns="0" rIns="0" bIns="0" rtlCol="0" anchor="t"/>
          <a:lstStyle/>
          <a:p>
            <a:pPr indent="0" marL="0">
              <a:buNone/>
            </a:pPr>
            <a:r>
              <a:rPr lang="en-US" sz="1400" dirty="0">
                <a:solidFill>
                  <a:schemeClr val="tx1"/>
                </a:solidFill>
              </a:rPr>
              <a:t>Install GCC with MSYS2 and use mingw32-make instead of make. It builds stockwise.dll. README.md has the full steps.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0584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731520" y="3520440"/>
            <a:ext cx="10698480" cy="731520"/>
          </a:xfrm>
          <a:prstGeom prst="rect">
            <a:avLst/>
          </a:prstGeom>
          <a:noFill/>
          <a:ln/>
        </p:spPr>
        <p:txBody>
          <a:bodyPr wrap="square" lIns="0" tIns="0" rIns="0" bIns="0" rtlCol="0" anchor="t"/>
          <a:lstStyle/>
          <a:p>
            <a:pPr algn="l" indent="0" marL="0">
              <a:buNone/>
            </a:pPr>
            <a:r>
              <a:rPr lang="en-US" sz="2200" dirty="0">
                <a:solidFill>
                  <a:schemeClr val="bg1"/>
                </a:solidFill>
              </a:rPr>
              <a:t>Screens in app.py  ·  translation in c_bridge.py  ·  algorithms in backend/  ·  data in SQLite</a:t>
            </a:r>
            <a:endParaRPr lang="en-US" sz="2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StockWise">
  <a:themeElements>
    <a:clrScheme name="StockWise">
      <a:dk1>
        <a:srgbClr val="14171F"/>
      </a:dk1>
      <a:lt1>
        <a:srgbClr val="FFFFFF"/>
      </a:lt1>
      <a:dk2>
        <a:srgbClr val="0D366B"/>
      </a:dk2>
      <a:lt2>
        <a:srgbClr val="F2F4F7"/>
      </a:lt2>
      <a:accent1>
        <a:srgbClr val="2A78D6"/>
      </a:accent1>
      <a:accent2>
        <a:srgbClr val="EB6834"/>
      </a:accent2>
      <a:accent3>
        <a:srgbClr val="1BAF7A"/>
      </a:accent3>
      <a:accent4>
        <a:srgbClr val="6250D6"/>
      </a:accent4>
      <a:accent5>
        <a:srgbClr val="D55181"/>
      </a:accent5>
      <a:accent6>
        <a:srgbClr val="C98500"/>
      </a:accent6>
      <a:hlink>
        <a:srgbClr val="1C5CAB"/>
      </a:hlink>
      <a:folHlink>
        <a:srgbClr val="6250D6"/>
      </a:folHlink>
    </a:clrScheme>
    <a:fontScheme name="StockWis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StockWise: project files explained</dc:title>
  <dc:subject>PptxGenJS Presentation</dc:subject>
  <dc:creator>StockWise team</dc:creator>
  <cp:lastModifiedBy>StockWise team</cp:lastModifiedBy>
  <cp:revision>1</cp:revision>
  <dcterms:created xsi:type="dcterms:W3CDTF">2026-10-26T05:29:52Z</dcterms:created>
  <dcterms:modified xsi:type="dcterms:W3CDTF">2026-10-26T05:29:52Z</dcterms:modified>
</cp:coreProperties>
</file>